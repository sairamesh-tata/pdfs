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5.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notesSlides/notesSlide15.xml" ContentType="application/vnd.openxmlformats-officedocument.presentationml.notesSlide+xml"/>
  <Override PartName="/ppt/tags/tag20.xml" ContentType="application/vnd.openxmlformats-officedocument.presentationml.tags+xml"/>
  <Override PartName="/ppt/notesSlides/notesSlide16.xml" ContentType="application/vnd.openxmlformats-officedocument.presentationml.notesSlide+xml"/>
  <Override PartName="/ppt/tags/tag21.xml" ContentType="application/vnd.openxmlformats-officedocument.presentationml.tags+xml"/>
  <Override PartName="/ppt/notesSlides/notesSlide17.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18.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4" r:id="rId2"/>
    <p:sldMasterId id="2147483690" r:id="rId3"/>
    <p:sldMasterId id="2147483706" r:id="rId4"/>
    <p:sldMasterId id="2147483722" r:id="rId5"/>
    <p:sldMasterId id="2147483738" r:id="rId6"/>
  </p:sldMasterIdLst>
  <p:notesMasterIdLst>
    <p:notesMasterId r:id="rId40"/>
  </p:notesMasterIdLst>
  <p:handoutMasterIdLst>
    <p:handoutMasterId r:id="rId41"/>
  </p:handoutMasterIdLst>
  <p:sldIdLst>
    <p:sldId id="256" r:id="rId7"/>
    <p:sldId id="400" r:id="rId8"/>
    <p:sldId id="258" r:id="rId9"/>
    <p:sldId id="320" r:id="rId10"/>
    <p:sldId id="319" r:id="rId11"/>
    <p:sldId id="409" r:id="rId12"/>
    <p:sldId id="402" r:id="rId13"/>
    <p:sldId id="408" r:id="rId14"/>
    <p:sldId id="407" r:id="rId15"/>
    <p:sldId id="406" r:id="rId16"/>
    <p:sldId id="404" r:id="rId17"/>
    <p:sldId id="405" r:id="rId18"/>
    <p:sldId id="321" r:id="rId19"/>
    <p:sldId id="391" r:id="rId20"/>
    <p:sldId id="381" r:id="rId21"/>
    <p:sldId id="317" r:id="rId22"/>
    <p:sldId id="330" r:id="rId23"/>
    <p:sldId id="393" r:id="rId24"/>
    <p:sldId id="392" r:id="rId25"/>
    <p:sldId id="326" r:id="rId26"/>
    <p:sldId id="394" r:id="rId27"/>
    <p:sldId id="395" r:id="rId28"/>
    <p:sldId id="396" r:id="rId29"/>
    <p:sldId id="397" r:id="rId30"/>
    <p:sldId id="324" r:id="rId31"/>
    <p:sldId id="318" r:id="rId32"/>
    <p:sldId id="327" r:id="rId33"/>
    <p:sldId id="398" r:id="rId34"/>
    <p:sldId id="399" r:id="rId35"/>
    <p:sldId id="376" r:id="rId36"/>
    <p:sldId id="377" r:id="rId37"/>
    <p:sldId id="389" r:id="rId38"/>
    <p:sldId id="390" r:id="rId39"/>
  </p:sldIdLst>
  <p:sldSz cx="9144000" cy="6858000" type="screen4x3"/>
  <p:notesSz cx="6934200" cy="9220200"/>
  <p:custDataLst>
    <p:tags r:id="rId42"/>
  </p:custDataLst>
  <p:defaultTextStyle>
    <a:defPPr>
      <a:defRPr lang="en-US"/>
    </a:defPPr>
    <a:lvl1pPr algn="l" rtl="0" fontAlgn="base">
      <a:spcBef>
        <a:spcPct val="0"/>
      </a:spcBef>
      <a:spcAft>
        <a:spcPct val="0"/>
      </a:spcAft>
      <a:defRPr sz="2400" kern="1200">
        <a:solidFill>
          <a:schemeClr val="tx1"/>
        </a:solidFill>
        <a:latin typeface="Arial" charset="0"/>
        <a:ea typeface="+mn-ea"/>
        <a:cs typeface="Arial" charset="0"/>
      </a:defRPr>
    </a:lvl1pPr>
    <a:lvl2pPr marL="457200" algn="l" rtl="0" fontAlgn="base">
      <a:spcBef>
        <a:spcPct val="0"/>
      </a:spcBef>
      <a:spcAft>
        <a:spcPct val="0"/>
      </a:spcAft>
      <a:defRPr sz="2400" kern="1200">
        <a:solidFill>
          <a:schemeClr val="tx1"/>
        </a:solidFill>
        <a:latin typeface="Arial" charset="0"/>
        <a:ea typeface="+mn-ea"/>
        <a:cs typeface="Arial" charset="0"/>
      </a:defRPr>
    </a:lvl2pPr>
    <a:lvl3pPr marL="914400" algn="l" rtl="0" fontAlgn="base">
      <a:spcBef>
        <a:spcPct val="0"/>
      </a:spcBef>
      <a:spcAft>
        <a:spcPct val="0"/>
      </a:spcAft>
      <a:defRPr sz="2400" kern="1200">
        <a:solidFill>
          <a:schemeClr val="tx1"/>
        </a:solidFill>
        <a:latin typeface="Arial" charset="0"/>
        <a:ea typeface="+mn-ea"/>
        <a:cs typeface="Arial" charset="0"/>
      </a:defRPr>
    </a:lvl3pPr>
    <a:lvl4pPr marL="1371600" algn="l" rtl="0" fontAlgn="base">
      <a:spcBef>
        <a:spcPct val="0"/>
      </a:spcBef>
      <a:spcAft>
        <a:spcPct val="0"/>
      </a:spcAft>
      <a:defRPr sz="2400" kern="1200">
        <a:solidFill>
          <a:schemeClr val="tx1"/>
        </a:solidFill>
        <a:latin typeface="Arial" charset="0"/>
        <a:ea typeface="+mn-ea"/>
        <a:cs typeface="Arial" charset="0"/>
      </a:defRPr>
    </a:lvl4pPr>
    <a:lvl5pPr marL="1828800" algn="l" rtl="0" fontAlgn="base">
      <a:spcBef>
        <a:spcPct val="0"/>
      </a:spcBef>
      <a:spcAft>
        <a:spcPct val="0"/>
      </a:spcAft>
      <a:defRPr sz="2400" kern="1200">
        <a:solidFill>
          <a:schemeClr val="tx1"/>
        </a:solidFill>
        <a:latin typeface="Arial" charset="0"/>
        <a:ea typeface="+mn-ea"/>
        <a:cs typeface="Arial" charset="0"/>
      </a:defRPr>
    </a:lvl5pPr>
    <a:lvl6pPr marL="2286000" algn="l" defTabSz="914400" rtl="0" eaLnBrk="1" latinLnBrk="0" hangingPunct="1">
      <a:defRPr sz="2400" kern="1200">
        <a:solidFill>
          <a:schemeClr val="tx1"/>
        </a:solidFill>
        <a:latin typeface="Arial" charset="0"/>
        <a:ea typeface="+mn-ea"/>
        <a:cs typeface="Arial" charset="0"/>
      </a:defRPr>
    </a:lvl6pPr>
    <a:lvl7pPr marL="2743200" algn="l" defTabSz="914400" rtl="0" eaLnBrk="1" latinLnBrk="0" hangingPunct="1">
      <a:defRPr sz="2400" kern="1200">
        <a:solidFill>
          <a:schemeClr val="tx1"/>
        </a:solidFill>
        <a:latin typeface="Arial" charset="0"/>
        <a:ea typeface="+mn-ea"/>
        <a:cs typeface="Arial" charset="0"/>
      </a:defRPr>
    </a:lvl7pPr>
    <a:lvl8pPr marL="3200400" algn="l" defTabSz="914400" rtl="0" eaLnBrk="1" latinLnBrk="0" hangingPunct="1">
      <a:defRPr sz="2400" kern="1200">
        <a:solidFill>
          <a:schemeClr val="tx1"/>
        </a:solidFill>
        <a:latin typeface="Arial" charset="0"/>
        <a:ea typeface="+mn-ea"/>
        <a:cs typeface="Arial" charset="0"/>
      </a:defRPr>
    </a:lvl8pPr>
    <a:lvl9pPr marL="3657600" algn="l" defTabSz="914400" rtl="0" eaLnBrk="1" latinLnBrk="0" hangingPunct="1">
      <a:defRPr sz="2400"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CC66"/>
    <a:srgbClr val="FFFFCC"/>
    <a:srgbClr val="FFFF66"/>
    <a:srgbClr val="FFCC00"/>
    <a:srgbClr val="CC00CC"/>
    <a:srgbClr val="00FF00"/>
    <a:srgbClr val="0033C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2539" autoAdjust="0"/>
    <p:restoredTop sz="94714" autoAdjust="0"/>
  </p:normalViewPr>
  <p:slideViewPr>
    <p:cSldViewPr>
      <p:cViewPr varScale="1">
        <p:scale>
          <a:sx n="106" d="100"/>
          <a:sy n="106" d="100"/>
        </p:scale>
        <p:origin x="-78" y="-1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p:cViewPr varScale="1">
        <p:scale>
          <a:sx n="80" d="100"/>
          <a:sy n="80" d="100"/>
        </p:scale>
        <p:origin x="-1452" y="-102"/>
      </p:cViewPr>
      <p:guideLst>
        <p:guide orient="horz" pos="2904"/>
        <p:guide pos="218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gs" Target="tags/tag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5" Type="http://schemas.openxmlformats.org/officeDocument/2006/relationships/image" Target="../media/image13.wmf"/><Relationship Id="rId4"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0.wmf"/><Relationship Id="rId5" Type="http://schemas.openxmlformats.org/officeDocument/2006/relationships/image" Target="../media/image14.wmf"/><Relationship Id="rId4"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4"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5.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4"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1" y="0"/>
            <a:ext cx="3005448" cy="461325"/>
          </a:xfrm>
          <a:prstGeom prst="rect">
            <a:avLst/>
          </a:prstGeom>
          <a:noFill/>
          <a:ln w="9525">
            <a:noFill/>
            <a:miter lim="800000"/>
            <a:headEnd/>
            <a:tailEnd/>
          </a:ln>
          <a:effectLst/>
        </p:spPr>
        <p:txBody>
          <a:bodyPr vert="horz" wrap="square" lIns="92301" tIns="46151" rIns="92301" bIns="46151" numCol="1" anchor="t" anchorCtr="0" compatLnSpc="1">
            <a:prstTxWarp prst="textNoShape">
              <a:avLst/>
            </a:prstTxWarp>
          </a:bodyPr>
          <a:lstStyle>
            <a:lvl1pPr defTabSz="923103" eaLnBrk="1" hangingPunct="1">
              <a:defRPr sz="1200">
                <a:cs typeface="+mn-cs"/>
              </a:defRPr>
            </a:lvl1pPr>
          </a:lstStyle>
          <a:p>
            <a:pPr>
              <a:defRPr/>
            </a:pPr>
            <a:endParaRPr lang="en-US"/>
          </a:p>
        </p:txBody>
      </p:sp>
      <p:sp>
        <p:nvSpPr>
          <p:cNvPr id="9219" name="Rectangle 3"/>
          <p:cNvSpPr>
            <a:spLocks noGrp="1" noChangeArrowheads="1"/>
          </p:cNvSpPr>
          <p:nvPr>
            <p:ph type="dt" sz="quarter" idx="1"/>
          </p:nvPr>
        </p:nvSpPr>
        <p:spPr bwMode="auto">
          <a:xfrm>
            <a:off x="3927183" y="0"/>
            <a:ext cx="3005448" cy="461325"/>
          </a:xfrm>
          <a:prstGeom prst="rect">
            <a:avLst/>
          </a:prstGeom>
          <a:noFill/>
          <a:ln w="9525">
            <a:noFill/>
            <a:miter lim="800000"/>
            <a:headEnd/>
            <a:tailEnd/>
          </a:ln>
          <a:effectLst/>
        </p:spPr>
        <p:txBody>
          <a:bodyPr vert="horz" wrap="square" lIns="92301" tIns="46151" rIns="92301" bIns="46151" numCol="1" anchor="t" anchorCtr="0" compatLnSpc="1">
            <a:prstTxWarp prst="textNoShape">
              <a:avLst/>
            </a:prstTxWarp>
          </a:bodyPr>
          <a:lstStyle>
            <a:lvl1pPr algn="r" defTabSz="923103" eaLnBrk="1" hangingPunct="1">
              <a:defRPr sz="1200">
                <a:cs typeface="+mn-cs"/>
              </a:defRPr>
            </a:lvl1pPr>
          </a:lstStyle>
          <a:p>
            <a:pPr>
              <a:defRPr/>
            </a:pPr>
            <a:endParaRPr lang="en-US"/>
          </a:p>
        </p:txBody>
      </p:sp>
      <p:sp>
        <p:nvSpPr>
          <p:cNvPr id="9220" name="Rectangle 4"/>
          <p:cNvSpPr>
            <a:spLocks noGrp="1" noChangeArrowheads="1"/>
          </p:cNvSpPr>
          <p:nvPr>
            <p:ph type="ftr" sz="quarter" idx="2"/>
          </p:nvPr>
        </p:nvSpPr>
        <p:spPr bwMode="auto">
          <a:xfrm>
            <a:off x="1" y="8757301"/>
            <a:ext cx="3005448" cy="461325"/>
          </a:xfrm>
          <a:prstGeom prst="rect">
            <a:avLst/>
          </a:prstGeom>
          <a:noFill/>
          <a:ln w="9525">
            <a:noFill/>
            <a:miter lim="800000"/>
            <a:headEnd/>
            <a:tailEnd/>
          </a:ln>
          <a:effectLst/>
        </p:spPr>
        <p:txBody>
          <a:bodyPr vert="horz" wrap="square" lIns="92301" tIns="46151" rIns="92301" bIns="46151" numCol="1" anchor="b" anchorCtr="0" compatLnSpc="1">
            <a:prstTxWarp prst="textNoShape">
              <a:avLst/>
            </a:prstTxWarp>
          </a:bodyPr>
          <a:lstStyle>
            <a:lvl1pPr defTabSz="923103" eaLnBrk="1" hangingPunct="1">
              <a:defRPr sz="1200">
                <a:cs typeface="+mn-cs"/>
              </a:defRPr>
            </a:lvl1pPr>
          </a:lstStyle>
          <a:p>
            <a:pPr>
              <a:defRPr/>
            </a:pPr>
            <a:endParaRPr lang="en-US"/>
          </a:p>
        </p:txBody>
      </p:sp>
      <p:sp>
        <p:nvSpPr>
          <p:cNvPr id="9221" name="Rectangle 5"/>
          <p:cNvSpPr>
            <a:spLocks noGrp="1" noChangeArrowheads="1"/>
          </p:cNvSpPr>
          <p:nvPr>
            <p:ph type="sldNum" sz="quarter" idx="3"/>
          </p:nvPr>
        </p:nvSpPr>
        <p:spPr bwMode="auto">
          <a:xfrm>
            <a:off x="3927183" y="8757301"/>
            <a:ext cx="3005448" cy="461325"/>
          </a:xfrm>
          <a:prstGeom prst="rect">
            <a:avLst/>
          </a:prstGeom>
          <a:noFill/>
          <a:ln w="9525">
            <a:noFill/>
            <a:miter lim="800000"/>
            <a:headEnd/>
            <a:tailEnd/>
          </a:ln>
          <a:effectLst/>
        </p:spPr>
        <p:txBody>
          <a:bodyPr vert="horz" wrap="square" lIns="92301" tIns="46151" rIns="92301" bIns="46151" numCol="1" anchor="b" anchorCtr="0" compatLnSpc="1">
            <a:prstTxWarp prst="textNoShape">
              <a:avLst/>
            </a:prstTxWarp>
          </a:bodyPr>
          <a:lstStyle>
            <a:lvl1pPr algn="r" defTabSz="923103" eaLnBrk="1" hangingPunct="1">
              <a:defRPr sz="1200">
                <a:cs typeface="+mn-cs"/>
              </a:defRPr>
            </a:lvl1pPr>
          </a:lstStyle>
          <a:p>
            <a:pPr>
              <a:defRPr/>
            </a:pPr>
            <a:fld id="{11FB7D24-3BA4-4BEA-A290-97AE2C765A38}" type="slidenum">
              <a:rPr lang="en-US"/>
              <a:pPr>
                <a:defRPr/>
              </a:pPr>
              <a:t>‹#›</a:t>
            </a:fld>
            <a:endParaRPr lang="en-US"/>
          </a:p>
        </p:txBody>
      </p:sp>
    </p:spTree>
    <p:extLst>
      <p:ext uri="{BB962C8B-B14F-4D97-AF65-F5344CB8AC3E}">
        <p14:creationId xmlns:p14="http://schemas.microsoft.com/office/powerpoint/2010/main" val="2169253974"/>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1" y="0"/>
            <a:ext cx="3005448" cy="461325"/>
          </a:xfrm>
          <a:prstGeom prst="rect">
            <a:avLst/>
          </a:prstGeom>
          <a:noFill/>
          <a:ln w="9525">
            <a:noFill/>
            <a:miter lim="800000"/>
            <a:headEnd/>
            <a:tailEnd/>
          </a:ln>
          <a:effectLst/>
        </p:spPr>
        <p:txBody>
          <a:bodyPr vert="horz" wrap="square" lIns="92301" tIns="46151" rIns="92301" bIns="46151" numCol="1" anchor="t" anchorCtr="0" compatLnSpc="1">
            <a:prstTxWarp prst="textNoShape">
              <a:avLst/>
            </a:prstTxWarp>
          </a:bodyPr>
          <a:lstStyle>
            <a:lvl1pPr defTabSz="923103" eaLnBrk="1" hangingPunct="1">
              <a:defRPr sz="1200">
                <a:cs typeface="+mn-cs"/>
              </a:defRPr>
            </a:lvl1pPr>
          </a:lstStyle>
          <a:p>
            <a:pPr>
              <a:defRPr/>
            </a:pPr>
            <a:endParaRPr lang="en-US"/>
          </a:p>
        </p:txBody>
      </p:sp>
      <p:sp>
        <p:nvSpPr>
          <p:cNvPr id="7171" name="Rectangle 3"/>
          <p:cNvSpPr>
            <a:spLocks noGrp="1" noChangeArrowheads="1"/>
          </p:cNvSpPr>
          <p:nvPr>
            <p:ph type="dt" idx="1"/>
          </p:nvPr>
        </p:nvSpPr>
        <p:spPr bwMode="auto">
          <a:xfrm>
            <a:off x="3927183" y="0"/>
            <a:ext cx="3005448" cy="461325"/>
          </a:xfrm>
          <a:prstGeom prst="rect">
            <a:avLst/>
          </a:prstGeom>
          <a:noFill/>
          <a:ln w="9525">
            <a:noFill/>
            <a:miter lim="800000"/>
            <a:headEnd/>
            <a:tailEnd/>
          </a:ln>
          <a:effectLst/>
        </p:spPr>
        <p:txBody>
          <a:bodyPr vert="horz" wrap="square" lIns="92301" tIns="46151" rIns="92301" bIns="46151" numCol="1" anchor="t" anchorCtr="0" compatLnSpc="1">
            <a:prstTxWarp prst="textNoShape">
              <a:avLst/>
            </a:prstTxWarp>
          </a:bodyPr>
          <a:lstStyle>
            <a:lvl1pPr algn="r" defTabSz="923103" eaLnBrk="1" hangingPunct="1">
              <a:defRPr sz="1200">
                <a:cs typeface="+mn-cs"/>
              </a:defRPr>
            </a:lvl1pPr>
          </a:lstStyle>
          <a:p>
            <a:pPr>
              <a:defRPr/>
            </a:pPr>
            <a:endParaRPr lang="en-US"/>
          </a:p>
        </p:txBody>
      </p:sp>
      <p:sp>
        <p:nvSpPr>
          <p:cNvPr id="29700" name="Rectangle 4"/>
          <p:cNvSpPr>
            <a:spLocks noGrp="1" noRot="1" noChangeAspect="1" noChangeArrowheads="1" noTextEdit="1"/>
          </p:cNvSpPr>
          <p:nvPr>
            <p:ph type="sldImg" idx="2"/>
          </p:nvPr>
        </p:nvSpPr>
        <p:spPr bwMode="auto">
          <a:xfrm>
            <a:off x="1162050" y="690563"/>
            <a:ext cx="4610100" cy="3457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3" name="Rectangle 5"/>
          <p:cNvSpPr>
            <a:spLocks noGrp="1" noChangeArrowheads="1"/>
          </p:cNvSpPr>
          <p:nvPr>
            <p:ph type="body" sz="quarter" idx="3"/>
          </p:nvPr>
        </p:nvSpPr>
        <p:spPr bwMode="auto">
          <a:xfrm>
            <a:off x="694048" y="4380225"/>
            <a:ext cx="5546104" cy="4148776"/>
          </a:xfrm>
          <a:prstGeom prst="rect">
            <a:avLst/>
          </a:prstGeom>
          <a:noFill/>
          <a:ln w="9525">
            <a:noFill/>
            <a:miter lim="800000"/>
            <a:headEnd/>
            <a:tailEnd/>
          </a:ln>
          <a:effectLst/>
        </p:spPr>
        <p:txBody>
          <a:bodyPr vert="horz" wrap="square" lIns="92301" tIns="46151" rIns="92301" bIns="4615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7174" name="Rectangle 6"/>
          <p:cNvSpPr>
            <a:spLocks noGrp="1" noChangeArrowheads="1"/>
          </p:cNvSpPr>
          <p:nvPr>
            <p:ph type="ftr" sz="quarter" idx="4"/>
          </p:nvPr>
        </p:nvSpPr>
        <p:spPr bwMode="auto">
          <a:xfrm>
            <a:off x="1" y="8757301"/>
            <a:ext cx="3005448" cy="461325"/>
          </a:xfrm>
          <a:prstGeom prst="rect">
            <a:avLst/>
          </a:prstGeom>
          <a:noFill/>
          <a:ln w="9525">
            <a:noFill/>
            <a:miter lim="800000"/>
            <a:headEnd/>
            <a:tailEnd/>
          </a:ln>
          <a:effectLst/>
        </p:spPr>
        <p:txBody>
          <a:bodyPr vert="horz" wrap="square" lIns="92301" tIns="46151" rIns="92301" bIns="46151" numCol="1" anchor="b" anchorCtr="0" compatLnSpc="1">
            <a:prstTxWarp prst="textNoShape">
              <a:avLst/>
            </a:prstTxWarp>
          </a:bodyPr>
          <a:lstStyle>
            <a:lvl1pPr defTabSz="923103" eaLnBrk="1" hangingPunct="1">
              <a:defRPr sz="1200">
                <a:cs typeface="+mn-cs"/>
              </a:defRPr>
            </a:lvl1pPr>
          </a:lstStyle>
          <a:p>
            <a:pPr>
              <a:defRPr/>
            </a:pPr>
            <a:endParaRPr lang="en-US"/>
          </a:p>
        </p:txBody>
      </p:sp>
      <p:sp>
        <p:nvSpPr>
          <p:cNvPr id="7175" name="Rectangle 7"/>
          <p:cNvSpPr>
            <a:spLocks noGrp="1" noChangeArrowheads="1"/>
          </p:cNvSpPr>
          <p:nvPr>
            <p:ph type="sldNum" sz="quarter" idx="5"/>
          </p:nvPr>
        </p:nvSpPr>
        <p:spPr bwMode="auto">
          <a:xfrm>
            <a:off x="3927183" y="8757301"/>
            <a:ext cx="3005448" cy="461325"/>
          </a:xfrm>
          <a:prstGeom prst="rect">
            <a:avLst/>
          </a:prstGeom>
          <a:noFill/>
          <a:ln w="9525">
            <a:noFill/>
            <a:miter lim="800000"/>
            <a:headEnd/>
            <a:tailEnd/>
          </a:ln>
          <a:effectLst/>
        </p:spPr>
        <p:txBody>
          <a:bodyPr vert="horz" wrap="square" lIns="92301" tIns="46151" rIns="92301" bIns="46151" numCol="1" anchor="b" anchorCtr="0" compatLnSpc="1">
            <a:prstTxWarp prst="textNoShape">
              <a:avLst/>
            </a:prstTxWarp>
          </a:bodyPr>
          <a:lstStyle>
            <a:lvl1pPr algn="r" defTabSz="923103" eaLnBrk="1" hangingPunct="1">
              <a:defRPr sz="1200">
                <a:cs typeface="+mn-cs"/>
              </a:defRPr>
            </a:lvl1pPr>
          </a:lstStyle>
          <a:p>
            <a:pPr>
              <a:defRPr/>
            </a:pPr>
            <a:fld id="{AA2321A8-E892-45FC-AB2A-3F9A05A339EE}" type="slidenum">
              <a:rPr lang="en-US"/>
              <a:pPr>
                <a:defRPr/>
              </a:pPr>
              <a:t>‹#›</a:t>
            </a:fld>
            <a:endParaRPr lang="en-US"/>
          </a:p>
        </p:txBody>
      </p:sp>
    </p:spTree>
    <p:extLst>
      <p:ext uri="{BB962C8B-B14F-4D97-AF65-F5344CB8AC3E}">
        <p14:creationId xmlns:p14="http://schemas.microsoft.com/office/powerpoint/2010/main" val="1168302633"/>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103" eaLnBrk="0" hangingPunct="0">
              <a:spcBef>
                <a:spcPct val="30000"/>
              </a:spcBef>
              <a:defRPr sz="1200">
                <a:solidFill>
                  <a:schemeClr val="tx1"/>
                </a:solidFill>
                <a:latin typeface="Arial" charset="0"/>
              </a:defRPr>
            </a:lvl1pPr>
            <a:lvl2pPr marL="735966" indent="-283064" defTabSz="923103" eaLnBrk="0" hangingPunct="0">
              <a:spcBef>
                <a:spcPct val="30000"/>
              </a:spcBef>
              <a:defRPr sz="1200">
                <a:solidFill>
                  <a:schemeClr val="tx1"/>
                </a:solidFill>
                <a:latin typeface="Arial" charset="0"/>
              </a:defRPr>
            </a:lvl2pPr>
            <a:lvl3pPr marL="1132256" indent="-226451" defTabSz="923103" eaLnBrk="0" hangingPunct="0">
              <a:spcBef>
                <a:spcPct val="30000"/>
              </a:spcBef>
              <a:defRPr sz="1200">
                <a:solidFill>
                  <a:schemeClr val="tx1"/>
                </a:solidFill>
                <a:latin typeface="Arial" charset="0"/>
              </a:defRPr>
            </a:lvl3pPr>
            <a:lvl4pPr marL="1585158" indent="-226451" defTabSz="923103" eaLnBrk="0" hangingPunct="0">
              <a:spcBef>
                <a:spcPct val="30000"/>
              </a:spcBef>
              <a:defRPr sz="1200">
                <a:solidFill>
                  <a:schemeClr val="tx1"/>
                </a:solidFill>
                <a:latin typeface="Arial" charset="0"/>
              </a:defRPr>
            </a:lvl4pPr>
            <a:lvl5pPr marL="2038060" indent="-226451" defTabSz="923103" eaLnBrk="0" hangingPunct="0">
              <a:spcBef>
                <a:spcPct val="30000"/>
              </a:spcBef>
              <a:defRPr sz="1200">
                <a:solidFill>
                  <a:schemeClr val="tx1"/>
                </a:solidFill>
                <a:latin typeface="Arial" charset="0"/>
              </a:defRPr>
            </a:lvl5pPr>
            <a:lvl6pPr marL="2490963" indent="-226451" defTabSz="923103" eaLnBrk="0" fontAlgn="base" hangingPunct="0">
              <a:spcBef>
                <a:spcPct val="30000"/>
              </a:spcBef>
              <a:spcAft>
                <a:spcPct val="0"/>
              </a:spcAft>
              <a:defRPr sz="1200">
                <a:solidFill>
                  <a:schemeClr val="tx1"/>
                </a:solidFill>
                <a:latin typeface="Arial" charset="0"/>
              </a:defRPr>
            </a:lvl6pPr>
            <a:lvl7pPr marL="2943865" indent="-226451" defTabSz="923103" eaLnBrk="0" fontAlgn="base" hangingPunct="0">
              <a:spcBef>
                <a:spcPct val="30000"/>
              </a:spcBef>
              <a:spcAft>
                <a:spcPct val="0"/>
              </a:spcAft>
              <a:defRPr sz="1200">
                <a:solidFill>
                  <a:schemeClr val="tx1"/>
                </a:solidFill>
                <a:latin typeface="Arial" charset="0"/>
              </a:defRPr>
            </a:lvl7pPr>
            <a:lvl8pPr marL="3396767" indent="-226451" defTabSz="923103" eaLnBrk="0" fontAlgn="base" hangingPunct="0">
              <a:spcBef>
                <a:spcPct val="30000"/>
              </a:spcBef>
              <a:spcAft>
                <a:spcPct val="0"/>
              </a:spcAft>
              <a:defRPr sz="1200">
                <a:solidFill>
                  <a:schemeClr val="tx1"/>
                </a:solidFill>
                <a:latin typeface="Arial" charset="0"/>
              </a:defRPr>
            </a:lvl8pPr>
            <a:lvl9pPr marL="3849670" indent="-226451" defTabSz="923103"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3C788A33-3D9F-4FBC-87E9-890F418DBDF9}" type="slidenum">
              <a:rPr lang="en-US" altLang="en-US" smtClean="0">
                <a:cs typeface="Arial" charset="0"/>
              </a:rPr>
              <a:pPr eaLnBrk="1" hangingPunct="1">
                <a:spcBef>
                  <a:spcPct val="0"/>
                </a:spcBef>
              </a:pPr>
              <a:t>1</a:t>
            </a:fld>
            <a:endParaRPr lang="en-US" altLang="en-US" smtClean="0">
              <a:cs typeface="Arial" charset="0"/>
            </a:endParaRPr>
          </a:p>
        </p:txBody>
      </p:sp>
      <p:sp>
        <p:nvSpPr>
          <p:cNvPr id="30724" name="Rectangle 2"/>
          <p:cNvSpPr>
            <a:spLocks noGrp="1" noRot="1" noChangeAspect="1" noChangeArrowheads="1" noTextEdit="1"/>
          </p:cNvSpPr>
          <p:nvPr>
            <p:ph type="sldImg"/>
          </p:nvPr>
        </p:nvSpPr>
        <p:spPr>
          <a:ln/>
        </p:spPr>
      </p:sp>
      <p:sp>
        <p:nvSpPr>
          <p:cNvPr id="307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 name="Header Placeholder 2"/>
          <p:cNvSpPr>
            <a:spLocks noGrp="1"/>
          </p:cNvSpPr>
          <p:nvPr>
            <p:ph type="hdr" sz="quarter" idx="10"/>
          </p:nvPr>
        </p:nvSpPr>
        <p:spPr/>
        <p:txBody>
          <a:bodyPr/>
          <a:lstStyle/>
          <a:p>
            <a:pPr>
              <a:defRPr/>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31747"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58794235-F0DA-4586-9817-834AC37C3CF5}" type="slidenum">
              <a:rPr lang="en-US" altLang="en-US"/>
              <a:pPr algn="r" eaLnBrk="1" hangingPunct="1">
                <a:spcBef>
                  <a:spcPct val="0"/>
                </a:spcBef>
              </a:pPr>
              <a:t>3</a:t>
            </a:fld>
            <a:endParaRPr lang="en-US" altLang="en-US"/>
          </a:p>
        </p:txBody>
      </p:sp>
      <p:sp>
        <p:nvSpPr>
          <p:cNvPr id="31748" name="Rectangle 2"/>
          <p:cNvSpPr>
            <a:spLocks noGrp="1" noRot="1" noChangeAspect="1" noChangeArrowheads="1" noTextEdit="1"/>
          </p:cNvSpPr>
          <p:nvPr>
            <p:ph type="sldImg"/>
          </p:nvPr>
        </p:nvSpPr>
        <p:spPr>
          <a:ln/>
        </p:spPr>
      </p:sp>
      <p:sp>
        <p:nvSpPr>
          <p:cNvPr id="317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3</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32771"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65F0F77E-A3CC-4CEF-AADD-AAB35C81B5D1}" type="slidenum">
              <a:rPr lang="en-US" altLang="en-US"/>
              <a:pPr algn="r" eaLnBrk="1" hangingPunct="1">
                <a:spcBef>
                  <a:spcPct val="0"/>
                </a:spcBef>
              </a:pPr>
              <a:t>4</a:t>
            </a:fld>
            <a:endParaRPr lang="en-US" altLang="en-US"/>
          </a:p>
        </p:txBody>
      </p:sp>
      <p:sp>
        <p:nvSpPr>
          <p:cNvPr id="32772" name="Rectangle 2"/>
          <p:cNvSpPr>
            <a:spLocks noGrp="1" noRot="1" noChangeAspect="1" noChangeArrowheads="1" noTextEdit="1"/>
          </p:cNvSpPr>
          <p:nvPr>
            <p:ph type="sldImg"/>
          </p:nvPr>
        </p:nvSpPr>
        <p:spPr>
          <a:ln/>
        </p:spPr>
      </p:sp>
      <p:sp>
        <p:nvSpPr>
          <p:cNvPr id="327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4</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33795"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5A451EDF-A684-4E21-B7B5-7240366EAC37}" type="slidenum">
              <a:rPr lang="en-US" altLang="en-US"/>
              <a:pPr algn="r" eaLnBrk="1" hangingPunct="1">
                <a:spcBef>
                  <a:spcPct val="0"/>
                </a:spcBef>
              </a:pPr>
              <a:t>5</a:t>
            </a:fld>
            <a:endParaRPr lang="en-US" altLang="en-US"/>
          </a:p>
        </p:txBody>
      </p:sp>
      <p:sp>
        <p:nvSpPr>
          <p:cNvPr id="33796" name="Rectangle 2"/>
          <p:cNvSpPr>
            <a:spLocks noGrp="1" noRot="1" noChangeAspect="1" noChangeArrowheads="1" noTextEdit="1"/>
          </p:cNvSpPr>
          <p:nvPr>
            <p:ph type="sldImg"/>
          </p:nvPr>
        </p:nvSpPr>
        <p:spPr>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5</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34819"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F28D6222-CA0F-4B4D-943B-FF86A8C149C0}" type="slidenum">
              <a:rPr lang="en-US" altLang="en-US"/>
              <a:pPr algn="r" eaLnBrk="1" hangingPunct="1">
                <a:spcBef>
                  <a:spcPct val="0"/>
                </a:spcBef>
              </a:pPr>
              <a:t>13</a:t>
            </a:fld>
            <a:endParaRPr lang="en-US" altLang="en-US"/>
          </a:p>
        </p:txBody>
      </p:sp>
      <p:sp>
        <p:nvSpPr>
          <p:cNvPr id="34820" name="Rectangle 2"/>
          <p:cNvSpPr>
            <a:spLocks noGrp="1" noRot="1" noChangeAspect="1" noChangeArrowheads="1" noTextEdit="1"/>
          </p:cNvSpPr>
          <p:nvPr>
            <p:ph type="sldImg"/>
          </p:nvPr>
        </p:nvSpPr>
        <p:spPr>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13</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35843"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3D85E7A7-4400-48B2-AD35-28A8EDC20CC5}" type="slidenum">
              <a:rPr lang="en-US" altLang="en-US"/>
              <a:pPr algn="r" eaLnBrk="1" hangingPunct="1">
                <a:spcBef>
                  <a:spcPct val="0"/>
                </a:spcBef>
              </a:pPr>
              <a:t>14</a:t>
            </a:fld>
            <a:endParaRPr lang="en-US" altLang="en-US"/>
          </a:p>
        </p:txBody>
      </p:sp>
      <p:sp>
        <p:nvSpPr>
          <p:cNvPr id="35844" name="Rectangle 2"/>
          <p:cNvSpPr>
            <a:spLocks noGrp="1" noRot="1" noChangeAspect="1" noChangeArrowheads="1" noTextEdit="1"/>
          </p:cNvSpPr>
          <p:nvPr>
            <p:ph type="sldImg"/>
          </p:nvPr>
        </p:nvSpPr>
        <p:spPr>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14</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36867"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61AA9661-91E0-4D88-B26B-05B03D36B89A}" type="slidenum">
              <a:rPr lang="en-US" altLang="en-US"/>
              <a:pPr algn="r" eaLnBrk="1" hangingPunct="1">
                <a:spcBef>
                  <a:spcPct val="0"/>
                </a:spcBef>
              </a:pPr>
              <a:t>16</a:t>
            </a:fld>
            <a:endParaRPr lang="en-US" altLang="en-US"/>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16</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37891"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E66A488A-78B8-4E45-B1EA-8439DC768C40}" type="slidenum">
              <a:rPr lang="en-US" altLang="en-US"/>
              <a:pPr algn="r" eaLnBrk="1" hangingPunct="1">
                <a:spcBef>
                  <a:spcPct val="0"/>
                </a:spcBef>
              </a:pPr>
              <a:t>17</a:t>
            </a:fld>
            <a:endParaRPr lang="en-US" altLang="en-US"/>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17</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38915"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C2B07DA6-02B6-4AC9-9533-85D926D83C66}" type="slidenum">
              <a:rPr lang="en-US" altLang="en-US"/>
              <a:pPr algn="r" eaLnBrk="1" hangingPunct="1">
                <a:spcBef>
                  <a:spcPct val="0"/>
                </a:spcBef>
              </a:pPr>
              <a:t>19</a:t>
            </a:fld>
            <a:endParaRPr lang="en-US" altLang="en-US"/>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19</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39939"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6DF03149-B1BF-4981-B1EB-0F8290752FC1}" type="slidenum">
              <a:rPr lang="en-US" altLang="en-US"/>
              <a:pPr algn="r" eaLnBrk="1" hangingPunct="1">
                <a:spcBef>
                  <a:spcPct val="0"/>
                </a:spcBef>
              </a:pPr>
              <a:t>20</a:t>
            </a:fld>
            <a:endParaRPr lang="en-US" altLang="en-US"/>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20</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40963"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6543F95C-7753-4BD9-BF38-744290D2B5FA}" type="slidenum">
              <a:rPr lang="en-US" altLang="en-US"/>
              <a:pPr algn="r" eaLnBrk="1" hangingPunct="1">
                <a:spcBef>
                  <a:spcPct val="0"/>
                </a:spcBef>
              </a:pPr>
              <a:t>21</a:t>
            </a:fld>
            <a:endParaRPr lang="en-US" altLang="en-US"/>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21</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41987"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23862ECC-94D2-41BE-AC3B-13C9E63DFC57}" type="slidenum">
              <a:rPr lang="en-US" altLang="en-US"/>
              <a:pPr algn="r" eaLnBrk="1" hangingPunct="1">
                <a:spcBef>
                  <a:spcPct val="0"/>
                </a:spcBef>
              </a:pPr>
              <a:t>22</a:t>
            </a:fld>
            <a:endParaRPr lang="en-US" altLang="en-US"/>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22</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43011"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679FA6E6-B2D8-4FB6-BEE7-6E5B76463CFA}" type="slidenum">
              <a:rPr lang="en-US" altLang="en-US"/>
              <a:pPr algn="r" eaLnBrk="1" hangingPunct="1">
                <a:spcBef>
                  <a:spcPct val="0"/>
                </a:spcBef>
              </a:pPr>
              <a:t>23</a:t>
            </a:fld>
            <a:endParaRPr lang="en-US" altLang="en-US"/>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23</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44035"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CCE07EB4-6ED5-4CE9-9845-4CD16BF613B0}" type="slidenum">
              <a:rPr lang="en-US" altLang="en-US"/>
              <a:pPr algn="r" eaLnBrk="1" hangingPunct="1">
                <a:spcBef>
                  <a:spcPct val="0"/>
                </a:spcBef>
              </a:pPr>
              <a:t>24</a:t>
            </a:fld>
            <a:endParaRPr lang="en-US" altLang="en-US"/>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24</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45059"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AE75895C-ED69-4B03-9A61-75277DFEED08}" type="slidenum">
              <a:rPr lang="en-US" altLang="en-US"/>
              <a:pPr algn="r" eaLnBrk="1" hangingPunct="1">
                <a:spcBef>
                  <a:spcPct val="0"/>
                </a:spcBef>
              </a:pPr>
              <a:t>25</a:t>
            </a:fld>
            <a:endParaRPr lang="en-US" altLang="en-US"/>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25</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46083"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D1E7BAF3-EA4C-4152-A9A7-961E75EA9635}" type="slidenum">
              <a:rPr lang="en-US" altLang="en-US"/>
              <a:pPr algn="r" eaLnBrk="1" hangingPunct="1">
                <a:spcBef>
                  <a:spcPct val="0"/>
                </a:spcBef>
              </a:pPr>
              <a:t>26</a:t>
            </a:fld>
            <a:endParaRPr lang="en-US" altLang="en-US"/>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26</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txBox="1">
            <a:spLocks noGrp="1" noChangeArrowheads="1"/>
          </p:cNvSpPr>
          <p:nvPr/>
        </p:nvSpPr>
        <p:spPr bwMode="auto">
          <a:xfrm>
            <a:off x="1" y="0"/>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eaLnBrk="1" hangingPunct="1">
              <a:spcBef>
                <a:spcPct val="0"/>
              </a:spcBef>
            </a:pPr>
            <a:r>
              <a:rPr lang="en-US" altLang="en-US"/>
              <a:t>QTM1310/ Sharpe</a:t>
            </a:r>
          </a:p>
        </p:txBody>
      </p:sp>
      <p:sp>
        <p:nvSpPr>
          <p:cNvPr id="48131" name="Rectangle 7"/>
          <p:cNvSpPr txBox="1">
            <a:spLocks noGrp="1" noChangeArrowheads="1"/>
          </p:cNvSpPr>
          <p:nvPr/>
        </p:nvSpPr>
        <p:spPr bwMode="auto">
          <a:xfrm>
            <a:off x="3927183" y="8757301"/>
            <a:ext cx="3005448" cy="46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1" tIns="46151" rIns="92301" bIns="46151" anchor="b"/>
          <a:lstStyle>
            <a:lvl1pPr defTabSz="931863" eaLnBrk="0" hangingPunct="0">
              <a:spcBef>
                <a:spcPct val="30000"/>
              </a:spcBef>
              <a:defRPr sz="1200">
                <a:solidFill>
                  <a:schemeClr val="tx1"/>
                </a:solidFill>
                <a:latin typeface="Arial" charset="0"/>
              </a:defRPr>
            </a:lvl1pPr>
            <a:lvl2pPr marL="742950" indent="-285750" defTabSz="931863" eaLnBrk="0" hangingPunct="0">
              <a:spcBef>
                <a:spcPct val="30000"/>
              </a:spcBef>
              <a:defRPr sz="1200">
                <a:solidFill>
                  <a:schemeClr val="tx1"/>
                </a:solidFill>
                <a:latin typeface="Arial" charset="0"/>
              </a:defRPr>
            </a:lvl2pPr>
            <a:lvl3pPr marL="1143000" indent="-228600" defTabSz="931863" eaLnBrk="0" hangingPunct="0">
              <a:spcBef>
                <a:spcPct val="30000"/>
              </a:spcBef>
              <a:defRPr sz="1200">
                <a:solidFill>
                  <a:schemeClr val="tx1"/>
                </a:solidFill>
                <a:latin typeface="Arial" charset="0"/>
              </a:defRPr>
            </a:lvl3pPr>
            <a:lvl4pPr marL="1600200" indent="-228600" defTabSz="931863" eaLnBrk="0" hangingPunct="0">
              <a:spcBef>
                <a:spcPct val="30000"/>
              </a:spcBef>
              <a:defRPr sz="1200">
                <a:solidFill>
                  <a:schemeClr val="tx1"/>
                </a:solidFill>
                <a:latin typeface="Arial" charset="0"/>
              </a:defRPr>
            </a:lvl4pPr>
            <a:lvl5pPr marL="2057400" indent="-228600" defTabSz="931863" eaLnBrk="0" hangingPunct="0">
              <a:spcBef>
                <a:spcPct val="30000"/>
              </a:spcBef>
              <a:defRPr sz="1200">
                <a:solidFill>
                  <a:schemeClr val="tx1"/>
                </a:solidFill>
                <a:latin typeface="Arial" charset="0"/>
              </a:defRPr>
            </a:lvl5pPr>
            <a:lvl6pPr marL="2514600" indent="-228600" defTabSz="931863" eaLnBrk="0" fontAlgn="base" hangingPunct="0">
              <a:spcBef>
                <a:spcPct val="30000"/>
              </a:spcBef>
              <a:spcAft>
                <a:spcPct val="0"/>
              </a:spcAft>
              <a:defRPr sz="1200">
                <a:solidFill>
                  <a:schemeClr val="tx1"/>
                </a:solidFill>
                <a:latin typeface="Arial" charset="0"/>
              </a:defRPr>
            </a:lvl6pPr>
            <a:lvl7pPr marL="2971800" indent="-228600" defTabSz="931863" eaLnBrk="0" fontAlgn="base" hangingPunct="0">
              <a:spcBef>
                <a:spcPct val="30000"/>
              </a:spcBef>
              <a:spcAft>
                <a:spcPct val="0"/>
              </a:spcAft>
              <a:defRPr sz="1200">
                <a:solidFill>
                  <a:schemeClr val="tx1"/>
                </a:solidFill>
                <a:latin typeface="Arial" charset="0"/>
              </a:defRPr>
            </a:lvl7pPr>
            <a:lvl8pPr marL="3429000" indent="-228600" defTabSz="931863" eaLnBrk="0" fontAlgn="base" hangingPunct="0">
              <a:spcBef>
                <a:spcPct val="30000"/>
              </a:spcBef>
              <a:spcAft>
                <a:spcPct val="0"/>
              </a:spcAft>
              <a:defRPr sz="1200">
                <a:solidFill>
                  <a:schemeClr val="tx1"/>
                </a:solidFill>
                <a:latin typeface="Arial" charset="0"/>
              </a:defRPr>
            </a:lvl8pPr>
            <a:lvl9pPr marL="3886200" indent="-228600" defTabSz="931863"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EBE1F765-8836-4260-B577-59B10E9E7D60}" type="slidenum">
              <a:rPr lang="en-US" altLang="en-US"/>
              <a:pPr algn="r" eaLnBrk="1" hangingPunct="1">
                <a:spcBef>
                  <a:spcPct val="0"/>
                </a:spcBef>
              </a:pPr>
              <a:t>27</a:t>
            </a:fld>
            <a:endParaRPr lang="en-US" altLang="en-US"/>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2" name="Slide Number Placeholder 1"/>
          <p:cNvSpPr>
            <a:spLocks noGrp="1"/>
          </p:cNvSpPr>
          <p:nvPr>
            <p:ph type="sldNum" sz="quarter" idx="10"/>
          </p:nvPr>
        </p:nvSpPr>
        <p:spPr/>
        <p:txBody>
          <a:bodyPr/>
          <a:lstStyle/>
          <a:p>
            <a:pPr>
              <a:defRPr/>
            </a:pPr>
            <a:fld id="{AA2321A8-E892-45FC-AB2A-3F9A05A339EE}" type="slidenum">
              <a:rPr lang="en-US" smtClean="0"/>
              <a:pPr>
                <a:defRPr/>
              </a:pPr>
              <a:t>27</a:t>
            </a:fld>
            <a:endParaRPr lang="en-US"/>
          </a:p>
        </p:txBody>
      </p:sp>
      <p:sp>
        <p:nvSpPr>
          <p:cNvPr id="4" name="Header Placeholder 3"/>
          <p:cNvSpPr>
            <a:spLocks noGrp="1"/>
          </p:cNvSpPr>
          <p:nvPr>
            <p:ph type="hdr" sz="quarter" idx="11"/>
          </p:nvPr>
        </p:nvSpPr>
        <p:spPr/>
        <p:txBody>
          <a:bodyPr/>
          <a:lstStyle/>
          <a:p>
            <a:pPr>
              <a:defRPr/>
            </a:pP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1"/>
          </p:nvPr>
        </p:nvSpPr>
        <p:spPr/>
        <p:txBody>
          <a:bodyPr/>
          <a:lstStyle/>
          <a:p>
            <a:pPr>
              <a:defRPr/>
            </a:pPr>
            <a:fld id="{AA2321A8-E892-45FC-AB2A-3F9A05A339EE}" type="slidenum">
              <a:rPr lang="en-US" smtClean="0"/>
              <a:pPr>
                <a:defRPr/>
              </a:pPr>
              <a:t>31</a:t>
            </a:fld>
            <a:endParaRPr lang="en-US"/>
          </a:p>
        </p:txBody>
      </p:sp>
      <p:sp>
        <p:nvSpPr>
          <p:cNvPr id="7" name="Header Placeholder 6"/>
          <p:cNvSpPr>
            <a:spLocks noGrp="1"/>
          </p:cNvSpPr>
          <p:nvPr>
            <p:ph type="hdr" sz="quarter" idx="12"/>
          </p:nvPr>
        </p:nvSpPr>
        <p:spPr/>
        <p:txBody>
          <a:bodyPr/>
          <a:lstStyle/>
          <a:p>
            <a:pPr>
              <a:defRPr/>
            </a:pPr>
            <a:endParaRPr lang="en-US"/>
          </a:p>
        </p:txBody>
      </p:sp>
    </p:spTree>
    <p:extLst>
      <p:ext uri="{BB962C8B-B14F-4D97-AF65-F5344CB8AC3E}">
        <p14:creationId xmlns:p14="http://schemas.microsoft.com/office/powerpoint/2010/main" val="3496444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Slide Number Placeholder 26"/>
          <p:cNvSpPr>
            <a:spLocks noGrp="1"/>
          </p:cNvSpPr>
          <p:nvPr>
            <p:ph type="sldNum" sz="quarter" idx="10"/>
          </p:nvPr>
        </p:nvSpPr>
        <p:spPr/>
        <p:txBody>
          <a:bodyPr/>
          <a:lstStyle>
            <a:lvl1pPr>
              <a:defRPr/>
            </a:lvl1pPr>
          </a:lstStyle>
          <a:p>
            <a:pPr>
              <a:defRPr/>
            </a:pPr>
            <a:fld id="{AFB214E4-29BD-45F1-8179-77AF628DDBDE}" type="slidenum">
              <a:rPr lang="en-US"/>
              <a:pPr>
                <a:defRPr/>
              </a:pPr>
              <a:t>‹#›</a:t>
            </a:fld>
            <a:endParaRPr lang="en-US"/>
          </a:p>
        </p:txBody>
      </p:sp>
    </p:spTree>
    <p:extLst>
      <p:ext uri="{BB962C8B-B14F-4D97-AF65-F5344CB8AC3E}">
        <p14:creationId xmlns:p14="http://schemas.microsoft.com/office/powerpoint/2010/main" val="411947754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26"/>
          <p:cNvSpPr>
            <a:spLocks noGrp="1"/>
          </p:cNvSpPr>
          <p:nvPr>
            <p:ph type="sldNum" sz="quarter" idx="10"/>
          </p:nvPr>
        </p:nvSpPr>
        <p:spPr/>
        <p:txBody>
          <a:bodyPr/>
          <a:lstStyle>
            <a:lvl1pPr>
              <a:defRPr/>
            </a:lvl1pPr>
          </a:lstStyle>
          <a:p>
            <a:pPr>
              <a:defRPr/>
            </a:pPr>
            <a:fld id="{80A8814C-0178-473E-82D9-6E9A0CF54BCB}" type="slidenum">
              <a:rPr lang="en-US"/>
              <a:pPr>
                <a:defRPr/>
              </a:pPr>
              <a:t>‹#›</a:t>
            </a:fld>
            <a:endParaRPr lang="en-US"/>
          </a:p>
        </p:txBody>
      </p:sp>
    </p:spTree>
    <p:extLst>
      <p:ext uri="{BB962C8B-B14F-4D97-AF65-F5344CB8AC3E}">
        <p14:creationId xmlns:p14="http://schemas.microsoft.com/office/powerpoint/2010/main" val="95272694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26"/>
          <p:cNvSpPr>
            <a:spLocks noGrp="1"/>
          </p:cNvSpPr>
          <p:nvPr>
            <p:ph type="sldNum" sz="quarter" idx="10"/>
          </p:nvPr>
        </p:nvSpPr>
        <p:spPr/>
        <p:txBody>
          <a:bodyPr/>
          <a:lstStyle>
            <a:lvl1pPr>
              <a:defRPr/>
            </a:lvl1pPr>
          </a:lstStyle>
          <a:p>
            <a:pPr>
              <a:defRPr/>
            </a:pPr>
            <a:fld id="{771788FA-DB91-4039-B0FF-C4D89C3A29F2}" type="slidenum">
              <a:rPr lang="en-US"/>
              <a:pPr>
                <a:defRPr/>
              </a:pPr>
              <a:t>‹#›</a:t>
            </a:fld>
            <a:endParaRPr lang="en-US"/>
          </a:p>
        </p:txBody>
      </p:sp>
    </p:spTree>
    <p:extLst>
      <p:ext uri="{BB962C8B-B14F-4D97-AF65-F5344CB8AC3E}">
        <p14:creationId xmlns:p14="http://schemas.microsoft.com/office/powerpoint/2010/main" val="161417068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481138"/>
            <a:ext cx="40386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138"/>
            <a:ext cx="40386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26"/>
          <p:cNvSpPr>
            <a:spLocks noGrp="1"/>
          </p:cNvSpPr>
          <p:nvPr>
            <p:ph type="sldNum" sz="quarter" idx="10"/>
          </p:nvPr>
        </p:nvSpPr>
        <p:spPr/>
        <p:txBody>
          <a:bodyPr/>
          <a:lstStyle>
            <a:lvl1pPr>
              <a:defRPr/>
            </a:lvl1pPr>
          </a:lstStyle>
          <a:p>
            <a:pPr>
              <a:defRPr/>
            </a:pPr>
            <a:fld id="{F3141C67-EF01-46CB-9285-72D14006F472}" type="slidenum">
              <a:rPr lang="en-US"/>
              <a:pPr>
                <a:defRPr/>
              </a:pPr>
              <a:t>‹#›</a:t>
            </a:fld>
            <a:endParaRPr lang="en-US"/>
          </a:p>
        </p:txBody>
      </p:sp>
    </p:spTree>
    <p:extLst>
      <p:ext uri="{BB962C8B-B14F-4D97-AF65-F5344CB8AC3E}">
        <p14:creationId xmlns:p14="http://schemas.microsoft.com/office/powerpoint/2010/main" val="3278559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26"/>
          <p:cNvSpPr>
            <a:spLocks noGrp="1"/>
          </p:cNvSpPr>
          <p:nvPr>
            <p:ph type="sldNum" sz="quarter" idx="10"/>
          </p:nvPr>
        </p:nvSpPr>
        <p:spPr/>
        <p:txBody>
          <a:bodyPr/>
          <a:lstStyle>
            <a:lvl1pPr>
              <a:defRPr/>
            </a:lvl1pPr>
          </a:lstStyle>
          <a:p>
            <a:pPr>
              <a:defRPr/>
            </a:pPr>
            <a:fld id="{AC6C532B-DA4C-49CD-860D-5C55BA44AF88}" type="slidenum">
              <a:rPr lang="en-US"/>
              <a:pPr>
                <a:defRPr/>
              </a:pPr>
              <a:t>‹#›</a:t>
            </a:fld>
            <a:endParaRPr lang="en-US"/>
          </a:p>
        </p:txBody>
      </p:sp>
    </p:spTree>
    <p:extLst>
      <p:ext uri="{BB962C8B-B14F-4D97-AF65-F5344CB8AC3E}">
        <p14:creationId xmlns:p14="http://schemas.microsoft.com/office/powerpoint/2010/main" val="3878760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6"/>
          <p:cNvSpPr>
            <a:spLocks noGrp="1"/>
          </p:cNvSpPr>
          <p:nvPr>
            <p:ph type="sldNum" sz="quarter" idx="10"/>
          </p:nvPr>
        </p:nvSpPr>
        <p:spPr/>
        <p:txBody>
          <a:bodyPr/>
          <a:lstStyle>
            <a:lvl1pPr>
              <a:defRPr/>
            </a:lvl1pPr>
          </a:lstStyle>
          <a:p>
            <a:pPr>
              <a:defRPr/>
            </a:pPr>
            <a:fld id="{1029C029-E2CD-48FE-8EC0-AD6E5FDF1724}" type="slidenum">
              <a:rPr lang="en-US"/>
              <a:pPr>
                <a:defRPr/>
              </a:pPr>
              <a:t>‹#›</a:t>
            </a:fld>
            <a:endParaRPr lang="en-US"/>
          </a:p>
        </p:txBody>
      </p:sp>
    </p:spTree>
    <p:extLst>
      <p:ext uri="{BB962C8B-B14F-4D97-AF65-F5344CB8AC3E}">
        <p14:creationId xmlns:p14="http://schemas.microsoft.com/office/powerpoint/2010/main" val="4028166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26"/>
          <p:cNvSpPr>
            <a:spLocks noGrp="1"/>
          </p:cNvSpPr>
          <p:nvPr>
            <p:ph type="sldNum" sz="quarter" idx="10"/>
          </p:nvPr>
        </p:nvSpPr>
        <p:spPr/>
        <p:txBody>
          <a:bodyPr/>
          <a:lstStyle>
            <a:lvl1pPr>
              <a:defRPr/>
            </a:lvl1pPr>
          </a:lstStyle>
          <a:p>
            <a:pPr>
              <a:defRPr/>
            </a:pPr>
            <a:fld id="{39698C34-D674-4EF2-B741-783E2C806E27}" type="slidenum">
              <a:rPr lang="en-US"/>
              <a:pPr>
                <a:defRPr/>
              </a:pPr>
              <a:t>‹#›</a:t>
            </a:fld>
            <a:endParaRPr lang="en-US"/>
          </a:p>
        </p:txBody>
      </p:sp>
    </p:spTree>
    <p:extLst>
      <p:ext uri="{BB962C8B-B14F-4D97-AF65-F5344CB8AC3E}">
        <p14:creationId xmlns:p14="http://schemas.microsoft.com/office/powerpoint/2010/main" val="15255293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26"/>
          <p:cNvSpPr>
            <a:spLocks noGrp="1"/>
          </p:cNvSpPr>
          <p:nvPr>
            <p:ph type="sldNum" sz="quarter" idx="10"/>
          </p:nvPr>
        </p:nvSpPr>
        <p:spPr/>
        <p:txBody>
          <a:bodyPr/>
          <a:lstStyle>
            <a:lvl1pPr>
              <a:defRPr/>
            </a:lvl1pPr>
          </a:lstStyle>
          <a:p>
            <a:pPr>
              <a:defRPr/>
            </a:pPr>
            <a:fld id="{876CC88E-5183-42BF-8528-0EFC0F48F50F}" type="slidenum">
              <a:rPr lang="en-US"/>
              <a:pPr>
                <a:defRPr/>
              </a:pPr>
              <a:t>‹#›</a:t>
            </a:fld>
            <a:endParaRPr lang="en-US"/>
          </a:p>
        </p:txBody>
      </p:sp>
    </p:spTree>
    <p:extLst>
      <p:ext uri="{BB962C8B-B14F-4D97-AF65-F5344CB8AC3E}">
        <p14:creationId xmlns:p14="http://schemas.microsoft.com/office/powerpoint/2010/main" val="3921367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26"/>
          <p:cNvSpPr>
            <a:spLocks noGrp="1"/>
          </p:cNvSpPr>
          <p:nvPr>
            <p:ph type="sldNum" sz="quarter" idx="10"/>
          </p:nvPr>
        </p:nvSpPr>
        <p:spPr/>
        <p:txBody>
          <a:bodyPr/>
          <a:lstStyle>
            <a:lvl1pPr>
              <a:defRPr/>
            </a:lvl1pPr>
          </a:lstStyle>
          <a:p>
            <a:pPr>
              <a:defRPr/>
            </a:pPr>
            <a:fld id="{3E6BF8C2-41E1-4040-A3C5-397548431B9B}" type="slidenum">
              <a:rPr lang="en-US"/>
              <a:pPr>
                <a:defRPr/>
              </a:pPr>
              <a:t>‹#›</a:t>
            </a:fld>
            <a:endParaRPr lang="en-US"/>
          </a:p>
        </p:txBody>
      </p:sp>
    </p:spTree>
    <p:extLst>
      <p:ext uri="{BB962C8B-B14F-4D97-AF65-F5344CB8AC3E}">
        <p14:creationId xmlns:p14="http://schemas.microsoft.com/office/powerpoint/2010/main" val="1103216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26"/>
          <p:cNvSpPr>
            <a:spLocks noGrp="1"/>
          </p:cNvSpPr>
          <p:nvPr>
            <p:ph type="sldNum" sz="quarter" idx="10"/>
          </p:nvPr>
        </p:nvSpPr>
        <p:spPr/>
        <p:txBody>
          <a:bodyPr/>
          <a:lstStyle>
            <a:lvl1pPr>
              <a:defRPr/>
            </a:lvl1pPr>
          </a:lstStyle>
          <a:p>
            <a:pPr>
              <a:defRPr/>
            </a:pPr>
            <a:fld id="{220E6ED5-A417-4EE0-B22D-B53E09944836}" type="slidenum">
              <a:rPr lang="en-US"/>
              <a:pPr>
                <a:defRPr/>
              </a:pPr>
              <a:t>‹#›</a:t>
            </a:fld>
            <a:endParaRPr lang="en-US"/>
          </a:p>
        </p:txBody>
      </p:sp>
    </p:spTree>
    <p:extLst>
      <p:ext uri="{BB962C8B-B14F-4D97-AF65-F5344CB8AC3E}">
        <p14:creationId xmlns:p14="http://schemas.microsoft.com/office/powerpoint/2010/main" val="60602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73246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7324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26"/>
          <p:cNvSpPr>
            <a:spLocks noGrp="1"/>
          </p:cNvSpPr>
          <p:nvPr>
            <p:ph type="sldNum" sz="quarter" idx="10"/>
          </p:nvPr>
        </p:nvSpPr>
        <p:spPr/>
        <p:txBody>
          <a:bodyPr/>
          <a:lstStyle>
            <a:lvl1pPr>
              <a:defRPr/>
            </a:lvl1pPr>
          </a:lstStyle>
          <a:p>
            <a:pPr>
              <a:defRPr/>
            </a:pPr>
            <a:fld id="{FF71AD92-ED1B-4054-9622-CC7E30CAD01E}" type="slidenum">
              <a:rPr lang="en-US"/>
              <a:pPr>
                <a:defRPr/>
              </a:pPr>
              <a:t>‹#›</a:t>
            </a:fld>
            <a:endParaRPr lang="en-US"/>
          </a:p>
        </p:txBody>
      </p:sp>
    </p:spTree>
    <p:extLst>
      <p:ext uri="{BB962C8B-B14F-4D97-AF65-F5344CB8AC3E}">
        <p14:creationId xmlns:p14="http://schemas.microsoft.com/office/powerpoint/2010/main" val="2626957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F21FD31-B483-4D99-962E-CCBCB26F3C3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736404395"/>
      </p:ext>
    </p:extLst>
  </p:cSld>
  <p:clrMapOvr>
    <a:masterClrMapping/>
  </p:clrMapOvr>
  <p:transition spd="slow">
    <p:pull dir="l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A388006-8DF5-481F-A848-BA0F2BDCDF8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33739949"/>
      </p:ext>
    </p:extLst>
  </p:cSld>
  <p:clrMapOvr>
    <a:masterClrMapping/>
  </p:clrMapOvr>
  <p:transition spd="slow">
    <p:pull dir="l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CA22006-DB74-4386-8575-D8FA168DC2B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857884230"/>
      </p:ext>
    </p:extLst>
  </p:cSld>
  <p:clrMapOvr>
    <a:masterClrMapping/>
  </p:clrMapOvr>
  <p:transition spd="slow">
    <p:pull dir="l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9128093-9029-4CA5-8B4D-1404ACF6B36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148129830"/>
      </p:ext>
    </p:extLst>
  </p:cSld>
  <p:clrMapOvr>
    <a:masterClrMapping/>
  </p:clrMapOvr>
  <p:transition spd="slow">
    <p:pull dir="l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192BED7-0B39-4409-B4E6-94527000901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110907979"/>
      </p:ext>
    </p:extLst>
  </p:cSld>
  <p:clrMapOvr>
    <a:masterClrMapping/>
  </p:clrMapOvr>
  <p:transition spd="slow">
    <p:pull dir="l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DCA48D3-6C72-432F-AA22-95E4F0AE7D7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287978639"/>
      </p:ext>
    </p:extLst>
  </p:cSld>
  <p:clrMapOvr>
    <a:masterClrMapping/>
  </p:clrMapOvr>
  <p:transition spd="slow">
    <p:pull dir="l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2DB7805-3D60-49F3-949C-2ADF6FF63FD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261143402"/>
      </p:ext>
    </p:extLst>
  </p:cSld>
  <p:clrMapOvr>
    <a:masterClrMapping/>
  </p:clrMapOvr>
  <p:transition spd="slow">
    <p:pull dir="l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FE93B1A-F5D0-4127-8C85-4AAF3D5F8B3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67244863"/>
      </p:ext>
    </p:extLst>
  </p:cSld>
  <p:clrMapOvr>
    <a:masterClrMapping/>
  </p:clrMapOvr>
  <p:transition spd="slow">
    <p:pull dir="l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574A659-A7BF-4804-A05D-A4DD10458E9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623631554"/>
      </p:ext>
    </p:extLst>
  </p:cSld>
  <p:clrMapOvr>
    <a:masterClrMapping/>
  </p:clrMapOvr>
  <p:transition spd="slow">
    <p:pull dir="l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1871745-014F-46DF-AFCD-E8428ABD322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360230076"/>
      </p:ext>
    </p:extLst>
  </p:cSld>
  <p:clrMapOvr>
    <a:masterClrMapping/>
  </p:clrMapOvr>
  <p:transition spd="slow">
    <p:pull dir="l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9699AFF-D5B3-41F7-8E88-643E8A019F5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475637574"/>
      </p:ext>
    </p:extLst>
  </p:cSld>
  <p:clrMapOvr>
    <a:masterClrMapping/>
  </p:clrMapOvr>
  <p:transition spd="slow">
    <p:pull dir="l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9369BC0-6B1E-4187-A810-BF4E9D63156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189913016"/>
      </p:ext>
    </p:extLst>
  </p:cSld>
  <p:clrMapOvr>
    <a:masterClrMapping/>
  </p:clrMapOvr>
  <p:transition spd="slow">
    <p:pull dir="l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0EA47CF-7AD8-425C-95F1-070E21FB7F0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90742613"/>
      </p:ext>
    </p:extLst>
  </p:cSld>
  <p:clrMapOvr>
    <a:masterClrMapping/>
  </p:clrMapOvr>
  <p:transition spd="slow">
    <p:pull dir="lu"/>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B2204B0E-C54B-4CF7-9FCD-8082EA58146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390956224"/>
      </p:ext>
    </p:extLst>
  </p:cSld>
  <p:clrMapOvr>
    <a:masterClrMapping/>
  </p:clrMapOvr>
  <p:transition spd="slow">
    <p:pull dir="lu"/>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245225"/>
            <a:ext cx="2133600" cy="47625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124200" y="6245225"/>
            <a:ext cx="2895600" cy="47625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6553200" y="6245225"/>
            <a:ext cx="2133600" cy="476250"/>
          </a:xfrm>
        </p:spPr>
        <p:txBody>
          <a:bodyPr/>
          <a:lstStyle>
            <a:lvl1pPr>
              <a:defRPr/>
            </a:lvl1pPr>
          </a:lstStyle>
          <a:p>
            <a:fld id="{8963673F-B384-43A4-8057-5A01A155185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031587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F21FD31-B483-4D99-962E-CCBCB26F3C3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95475541"/>
      </p:ext>
    </p:extLst>
  </p:cSld>
  <p:clrMapOvr>
    <a:masterClrMapping/>
  </p:clrMapOvr>
  <p:transition spd="slow">
    <p:pull dir="lu"/>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A388006-8DF5-481F-A848-BA0F2BDCDF8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329960667"/>
      </p:ext>
    </p:extLst>
  </p:cSld>
  <p:clrMapOvr>
    <a:masterClrMapping/>
  </p:clrMapOvr>
  <p:transition spd="slow">
    <p:pull dir="lu"/>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CA22006-DB74-4386-8575-D8FA168DC2B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62429457"/>
      </p:ext>
    </p:extLst>
  </p:cSld>
  <p:clrMapOvr>
    <a:masterClrMapping/>
  </p:clrMapOvr>
  <p:transition spd="slow">
    <p:pull dir="lu"/>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9128093-9029-4CA5-8B4D-1404ACF6B36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79295223"/>
      </p:ext>
    </p:extLst>
  </p:cSld>
  <p:clrMapOvr>
    <a:masterClrMapping/>
  </p:clrMapOvr>
  <p:transition spd="slow">
    <p:pull dir="lu"/>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192BED7-0B39-4409-B4E6-94527000901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14687483"/>
      </p:ext>
    </p:extLst>
  </p:cSld>
  <p:clrMapOvr>
    <a:masterClrMapping/>
  </p:clrMapOvr>
  <p:transition spd="slow">
    <p:pull dir="lu"/>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DCA48D3-6C72-432F-AA22-95E4F0AE7D7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733810215"/>
      </p:ext>
    </p:extLst>
  </p:cSld>
  <p:clrMapOvr>
    <a:masterClrMapping/>
  </p:clrMapOvr>
  <p:transition spd="slow">
    <p:pull dir="lu"/>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2DB7805-3D60-49F3-949C-2ADF6FF63FD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53531266"/>
      </p:ext>
    </p:extLst>
  </p:cSld>
  <p:clrMapOvr>
    <a:masterClrMapping/>
  </p:clrMapOvr>
  <p:transition spd="slow">
    <p:pull dir="lu"/>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FE93B1A-F5D0-4127-8C85-4AAF3D5F8B3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684826593"/>
      </p:ext>
    </p:extLst>
  </p:cSld>
  <p:clrMapOvr>
    <a:masterClrMapping/>
  </p:clrMapOvr>
  <p:transition spd="slow">
    <p:pull dir="lu"/>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574A659-A7BF-4804-A05D-A4DD10458E9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760425826"/>
      </p:ext>
    </p:extLst>
  </p:cSld>
  <p:clrMapOvr>
    <a:masterClrMapping/>
  </p:clrMapOvr>
  <p:transition spd="slow">
    <p:pull dir="lu"/>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1871745-014F-46DF-AFCD-E8428ABD322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033147865"/>
      </p:ext>
    </p:extLst>
  </p:cSld>
  <p:clrMapOvr>
    <a:masterClrMapping/>
  </p:clrMapOvr>
  <p:transition spd="slow">
    <p:pull dir="lu"/>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9699AFF-D5B3-41F7-8E88-643E8A019F5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814491041"/>
      </p:ext>
    </p:extLst>
  </p:cSld>
  <p:clrMapOvr>
    <a:masterClrMapping/>
  </p:clrMapOvr>
  <p:transition spd="slow">
    <p:pull dir="lu"/>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9369BC0-6B1E-4187-A810-BF4E9D63156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781512554"/>
      </p:ext>
    </p:extLst>
  </p:cSld>
  <p:clrMapOvr>
    <a:masterClrMapping/>
  </p:clrMapOvr>
  <p:transition spd="slow">
    <p:pull dir="lu"/>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0EA47CF-7AD8-425C-95F1-070E21FB7F0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073909654"/>
      </p:ext>
    </p:extLst>
  </p:cSld>
  <p:clrMapOvr>
    <a:masterClrMapping/>
  </p:clrMapOvr>
  <p:transition spd="slow">
    <p:pull dir="lu"/>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B2204B0E-C54B-4CF7-9FCD-8082EA58146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37841542"/>
      </p:ext>
    </p:extLst>
  </p:cSld>
  <p:clrMapOvr>
    <a:masterClrMapping/>
  </p:clrMapOvr>
  <p:transition spd="slow">
    <p:pull dir="lu"/>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245225"/>
            <a:ext cx="2133600" cy="47625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124200" y="6245225"/>
            <a:ext cx="2895600" cy="47625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6553200" y="6245225"/>
            <a:ext cx="2133600" cy="476250"/>
          </a:xfrm>
        </p:spPr>
        <p:txBody>
          <a:bodyPr/>
          <a:lstStyle>
            <a:lvl1pPr>
              <a:defRPr/>
            </a:lvl1pPr>
          </a:lstStyle>
          <a:p>
            <a:fld id="{8963673F-B384-43A4-8057-5A01A155185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9862727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F21FD31-B483-4D99-962E-CCBCB26F3C3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54699808"/>
      </p:ext>
    </p:extLst>
  </p:cSld>
  <p:clrMapOvr>
    <a:masterClrMapping/>
  </p:clrMapOvr>
  <p:transition spd="slow">
    <p:pull dir="lu"/>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A388006-8DF5-481F-A848-BA0F2BDCDF8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847987724"/>
      </p:ext>
    </p:extLst>
  </p:cSld>
  <p:clrMapOvr>
    <a:masterClrMapping/>
  </p:clrMapOvr>
  <p:transition spd="slow">
    <p:pull dir="lu"/>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CA22006-DB74-4386-8575-D8FA168DC2B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067478941"/>
      </p:ext>
    </p:extLst>
  </p:cSld>
  <p:clrMapOvr>
    <a:masterClrMapping/>
  </p:clrMapOvr>
  <p:transition spd="slow">
    <p:pull dir="lu"/>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9128093-9029-4CA5-8B4D-1404ACF6B36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034360182"/>
      </p:ext>
    </p:extLst>
  </p:cSld>
  <p:clrMapOvr>
    <a:masterClrMapping/>
  </p:clrMapOvr>
  <p:transition spd="slow">
    <p:pull dir="lu"/>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192BED7-0B39-4409-B4E6-94527000901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489553732"/>
      </p:ext>
    </p:extLst>
  </p:cSld>
  <p:clrMapOvr>
    <a:masterClrMapping/>
  </p:clrMapOvr>
  <p:transition spd="slow">
    <p:pull dir="lu"/>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DCA48D3-6C72-432F-AA22-95E4F0AE7D7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84448940"/>
      </p:ext>
    </p:extLst>
  </p:cSld>
  <p:clrMapOvr>
    <a:masterClrMapping/>
  </p:clrMapOvr>
  <p:transition spd="slow">
    <p:pull dir="lu"/>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2DB7805-3D60-49F3-949C-2ADF6FF63FD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90930485"/>
      </p:ext>
    </p:extLst>
  </p:cSld>
  <p:clrMapOvr>
    <a:masterClrMapping/>
  </p:clrMapOvr>
  <p:transition spd="slow">
    <p:pull dir="lu"/>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FE93B1A-F5D0-4127-8C85-4AAF3D5F8B3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965916881"/>
      </p:ext>
    </p:extLst>
  </p:cSld>
  <p:clrMapOvr>
    <a:masterClrMapping/>
  </p:clrMapOvr>
  <p:transition spd="slow">
    <p:pull dir="lu"/>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574A659-A7BF-4804-A05D-A4DD10458E9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594564645"/>
      </p:ext>
    </p:extLst>
  </p:cSld>
  <p:clrMapOvr>
    <a:masterClrMapping/>
  </p:clrMapOvr>
  <p:transition spd="slow">
    <p:pull dir="lu"/>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1871745-014F-46DF-AFCD-E8428ABD322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87066997"/>
      </p:ext>
    </p:extLst>
  </p:cSld>
  <p:clrMapOvr>
    <a:masterClrMapping/>
  </p:clrMapOvr>
  <p:transition spd="slow">
    <p:pull dir="lu"/>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9699AFF-D5B3-41F7-8E88-643E8A019F5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44669069"/>
      </p:ext>
    </p:extLst>
  </p:cSld>
  <p:clrMapOvr>
    <a:masterClrMapping/>
  </p:clrMapOvr>
  <p:transition spd="slow">
    <p:pull dir="lu"/>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9369BC0-6B1E-4187-A810-BF4E9D63156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9079028"/>
      </p:ext>
    </p:extLst>
  </p:cSld>
  <p:clrMapOvr>
    <a:masterClrMapping/>
  </p:clrMapOvr>
  <p:transition spd="slow">
    <p:pull dir="lu"/>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0EA47CF-7AD8-425C-95F1-070E21FB7F0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537204225"/>
      </p:ext>
    </p:extLst>
  </p:cSld>
  <p:clrMapOvr>
    <a:masterClrMapping/>
  </p:clrMapOvr>
  <p:transition spd="slow">
    <p:pull dir="lu"/>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B2204B0E-C54B-4CF7-9FCD-8082EA58146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320326448"/>
      </p:ext>
    </p:extLst>
  </p:cSld>
  <p:clrMapOvr>
    <a:masterClrMapping/>
  </p:clrMapOvr>
  <p:transition spd="slow">
    <p:pull dir="lu"/>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245225"/>
            <a:ext cx="2133600" cy="47625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124200" y="6245225"/>
            <a:ext cx="2895600" cy="47625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6553200" y="6245225"/>
            <a:ext cx="2133600" cy="476250"/>
          </a:xfrm>
        </p:spPr>
        <p:txBody>
          <a:bodyPr/>
          <a:lstStyle>
            <a:lvl1pPr>
              <a:defRPr/>
            </a:lvl1pPr>
          </a:lstStyle>
          <a:p>
            <a:fld id="{8963673F-B384-43A4-8057-5A01A155185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1038150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F21FD31-B483-4D99-962E-CCBCB26F3C3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2107644"/>
      </p:ext>
    </p:extLst>
  </p:cSld>
  <p:clrMapOvr>
    <a:masterClrMapping/>
  </p:clrMapOvr>
  <p:transition spd="slow">
    <p:pull dir="lu"/>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A388006-8DF5-481F-A848-BA0F2BDCDF8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804337831"/>
      </p:ext>
    </p:extLst>
  </p:cSld>
  <p:clrMapOvr>
    <a:masterClrMapping/>
  </p:clrMapOvr>
  <p:transition spd="slow">
    <p:pull dir="lu"/>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CA22006-DB74-4386-8575-D8FA168DC2B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887497640"/>
      </p:ext>
    </p:extLst>
  </p:cSld>
  <p:clrMapOvr>
    <a:masterClrMapping/>
  </p:clrMapOvr>
  <p:transition spd="slow">
    <p:pull dir="lu"/>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9128093-9029-4CA5-8B4D-1404ACF6B36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695158552"/>
      </p:ext>
    </p:extLst>
  </p:cSld>
  <p:clrMapOvr>
    <a:masterClrMapping/>
  </p:clrMapOvr>
  <p:transition spd="slow">
    <p:pull dir="lu"/>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192BED7-0B39-4409-B4E6-94527000901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122568031"/>
      </p:ext>
    </p:extLst>
  </p:cSld>
  <p:clrMapOvr>
    <a:masterClrMapping/>
  </p:clrMapOvr>
  <p:transition spd="slow">
    <p:pull dir="lu"/>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DCA48D3-6C72-432F-AA22-95E4F0AE7D7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692688928"/>
      </p:ext>
    </p:extLst>
  </p:cSld>
  <p:clrMapOvr>
    <a:masterClrMapping/>
  </p:clrMapOvr>
  <p:transition spd="slow">
    <p:pull dir="lu"/>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2DB7805-3D60-49F3-949C-2ADF6FF63FD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253083251"/>
      </p:ext>
    </p:extLst>
  </p:cSld>
  <p:clrMapOvr>
    <a:masterClrMapping/>
  </p:clrMapOvr>
  <p:transition spd="slow">
    <p:pull dir="lu"/>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FE93B1A-F5D0-4127-8C85-4AAF3D5F8B3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869720670"/>
      </p:ext>
    </p:extLst>
  </p:cSld>
  <p:clrMapOvr>
    <a:masterClrMapping/>
  </p:clrMapOvr>
  <p:transition spd="slow">
    <p:pull dir="lu"/>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574A659-A7BF-4804-A05D-A4DD10458E9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732890519"/>
      </p:ext>
    </p:extLst>
  </p:cSld>
  <p:clrMapOvr>
    <a:masterClrMapping/>
  </p:clrMapOvr>
  <p:transition spd="slow">
    <p:pull dir="lu"/>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1871745-014F-46DF-AFCD-E8428ABD322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681912687"/>
      </p:ext>
    </p:extLst>
  </p:cSld>
  <p:clrMapOvr>
    <a:masterClrMapping/>
  </p:clrMapOvr>
  <p:transition spd="slow">
    <p:pull dir="lu"/>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9699AFF-D5B3-41F7-8E88-643E8A019F5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57714842"/>
      </p:ext>
    </p:extLst>
  </p:cSld>
  <p:clrMapOvr>
    <a:masterClrMapping/>
  </p:clrMapOvr>
  <p:transition spd="slow">
    <p:pull dir="lu"/>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9369BC0-6B1E-4187-A810-BF4E9D63156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243345572"/>
      </p:ext>
    </p:extLst>
  </p:cSld>
  <p:clrMapOvr>
    <a:masterClrMapping/>
  </p:clrMapOvr>
  <p:transition spd="slow">
    <p:pull dir="lu"/>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0EA47CF-7AD8-425C-95F1-070E21FB7F0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951678724"/>
      </p:ext>
    </p:extLst>
  </p:cSld>
  <p:clrMapOvr>
    <a:masterClrMapping/>
  </p:clrMapOvr>
  <p:transition spd="slow">
    <p:pull dir="lu"/>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B2204B0E-C54B-4CF7-9FCD-8082EA58146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337329043"/>
      </p:ext>
    </p:extLst>
  </p:cSld>
  <p:clrMapOvr>
    <a:masterClrMapping/>
  </p:clrMapOvr>
  <p:transition spd="slow">
    <p:pull dir="lu"/>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245225"/>
            <a:ext cx="2133600" cy="47625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124200" y="6245225"/>
            <a:ext cx="2895600" cy="47625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6553200" y="6245225"/>
            <a:ext cx="2133600" cy="476250"/>
          </a:xfrm>
        </p:spPr>
        <p:txBody>
          <a:bodyPr/>
          <a:lstStyle>
            <a:lvl1pPr>
              <a:defRPr/>
            </a:lvl1pPr>
          </a:lstStyle>
          <a:p>
            <a:fld id="{8963673F-B384-43A4-8057-5A01A155185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88614829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F21FD31-B483-4D99-962E-CCBCB26F3C3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869460555"/>
      </p:ext>
    </p:extLst>
  </p:cSld>
  <p:clrMapOvr>
    <a:masterClrMapping/>
  </p:clrMapOvr>
  <p:transition spd="slow">
    <p:pull dir="lu"/>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A388006-8DF5-481F-A848-BA0F2BDCDF8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528799681"/>
      </p:ext>
    </p:extLst>
  </p:cSld>
  <p:clrMapOvr>
    <a:masterClrMapping/>
  </p:clrMapOvr>
  <p:transition spd="slow">
    <p:pull dir="lu"/>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CA22006-DB74-4386-8575-D8FA168DC2B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564718639"/>
      </p:ext>
    </p:extLst>
  </p:cSld>
  <p:clrMapOvr>
    <a:masterClrMapping/>
  </p:clrMapOvr>
  <p:transition spd="slow">
    <p:pull dir="lu"/>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9128093-9029-4CA5-8B4D-1404ACF6B36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25179348"/>
      </p:ext>
    </p:extLst>
  </p:cSld>
  <p:clrMapOvr>
    <a:masterClrMapping/>
  </p:clrMapOvr>
  <p:transition spd="slow">
    <p:pull dir="lu"/>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192BED7-0B39-4409-B4E6-94527000901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54013162"/>
      </p:ext>
    </p:extLst>
  </p:cSld>
  <p:clrMapOvr>
    <a:masterClrMapping/>
  </p:clrMapOvr>
  <p:transition spd="slow">
    <p:pull dir="lu"/>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DCA48D3-6C72-432F-AA22-95E4F0AE7D7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602025433"/>
      </p:ext>
    </p:extLst>
  </p:cSld>
  <p:clrMapOvr>
    <a:masterClrMapping/>
  </p:clrMapOvr>
  <p:transition spd="slow">
    <p:pull dir="lu"/>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2DB7805-3D60-49F3-949C-2ADF6FF63FD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133221979"/>
      </p:ext>
    </p:extLst>
  </p:cSld>
  <p:clrMapOvr>
    <a:masterClrMapping/>
  </p:clrMapOvr>
  <p:transition spd="slow">
    <p:pull dir="lu"/>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FE93B1A-F5D0-4127-8C85-4AAF3D5F8B3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22700585"/>
      </p:ext>
    </p:extLst>
  </p:cSld>
  <p:clrMapOvr>
    <a:masterClrMapping/>
  </p:clrMapOvr>
  <p:transition spd="slow">
    <p:pull dir="lu"/>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574A659-A7BF-4804-A05D-A4DD10458E9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87605588"/>
      </p:ext>
    </p:extLst>
  </p:cSld>
  <p:clrMapOvr>
    <a:masterClrMapping/>
  </p:clrMapOvr>
  <p:transition spd="slow">
    <p:pull dir="lu"/>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1871745-014F-46DF-AFCD-E8428ABD322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22304756"/>
      </p:ext>
    </p:extLst>
  </p:cSld>
  <p:clrMapOvr>
    <a:masterClrMapping/>
  </p:clrMapOvr>
  <p:transition spd="slow">
    <p:pull dir="lu"/>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9699AFF-D5B3-41F7-8E88-643E8A019F5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148773737"/>
      </p:ext>
    </p:extLst>
  </p:cSld>
  <p:clrMapOvr>
    <a:masterClrMapping/>
  </p:clrMapOvr>
  <p:transition spd="slow">
    <p:pull dir="lu"/>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9369BC0-6B1E-4187-A810-BF4E9D63156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400319489"/>
      </p:ext>
    </p:extLst>
  </p:cSld>
  <p:clrMapOvr>
    <a:masterClrMapping/>
  </p:clrMapOvr>
  <p:transition spd="slow">
    <p:pull dir="lu"/>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0EA47CF-7AD8-425C-95F1-070E21FB7F0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631713866"/>
      </p:ext>
    </p:extLst>
  </p:cSld>
  <p:clrMapOvr>
    <a:masterClrMapping/>
  </p:clrMapOvr>
  <p:transition spd="slow">
    <p:pull dir="lu"/>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B2204B0E-C54B-4CF7-9FCD-8082EA58146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325831416"/>
      </p:ext>
    </p:extLst>
  </p:cSld>
  <p:clrMapOvr>
    <a:masterClrMapping/>
  </p:clrMapOvr>
  <p:transition spd="slow">
    <p:pull dir="lu"/>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245225"/>
            <a:ext cx="2133600" cy="47625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124200" y="6245225"/>
            <a:ext cx="2895600" cy="47625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6553200" y="6245225"/>
            <a:ext cx="2133600" cy="476250"/>
          </a:xfrm>
        </p:spPr>
        <p:txBody>
          <a:bodyPr/>
          <a:lstStyle>
            <a:lvl1pPr>
              <a:defRPr/>
            </a:lvl1pPr>
          </a:lstStyle>
          <a:p>
            <a:fld id="{8963673F-B384-43A4-8057-5A01A155185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96000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6"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6" Type="http://schemas.openxmlformats.org/officeDocument/2006/relationships/theme" Target="../theme/theme4.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6" Type="http://schemas.openxmlformats.org/officeDocument/2006/relationships/theme" Target="../theme/theme5.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slideLayout" Target="../slideLayouts/slideLayout84.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6" Type="http://schemas.openxmlformats.org/officeDocument/2006/relationships/theme" Target="../theme/theme6.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5" Type="http://schemas.openxmlformats.org/officeDocument/2006/relationships/slideLayout" Target="../slideLayouts/slideLayout8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descr="screen_plain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44000" cy="687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ight Triangle 9"/>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sz="1800"/>
          </a:p>
        </p:txBody>
      </p: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a:p>
        </p:txBody>
      </p:sp>
      <p:sp>
        <p:nvSpPr>
          <p:cNvPr id="1029"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5" name="Slide Number Placeholder 26"/>
          <p:cNvSpPr>
            <a:spLocks noGrp="1"/>
          </p:cNvSpPr>
          <p:nvPr>
            <p:ph type="sldNum" sz="quarter" idx="4"/>
          </p:nvPr>
        </p:nvSpPr>
        <p:spPr>
          <a:xfrm>
            <a:off x="8305800" y="6264275"/>
            <a:ext cx="366713"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Verdana" pitchFamily="34" charset="0"/>
              </a:defRPr>
            </a:lvl1pPr>
          </a:lstStyle>
          <a:p>
            <a:pPr>
              <a:defRPr/>
            </a:pPr>
            <a:fld id="{10B4E917-FDF5-45A2-A766-89F7C812E5B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iming>
    <p:tnLst>
      <p:par>
        <p:cTn id="1" dur="indefinite" restart="never" nodeType="tmRoot"/>
      </p:par>
    </p:tnLst>
  </p:timing>
  <p:hf hdr="0" ftr="0"/>
  <p:txStyles>
    <p:titleStyle>
      <a:lvl1pPr algn="l" rtl="0" eaLnBrk="0" fontAlgn="base" hangingPunct="0">
        <a:spcBef>
          <a:spcPct val="0"/>
        </a:spcBef>
        <a:spcAft>
          <a:spcPct val="0"/>
        </a:spcAft>
        <a:defRPr sz="4100" b="1">
          <a:solidFill>
            <a:schemeClr val="tx2"/>
          </a:solidFill>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cs typeface="Arial" charset="0"/>
        </a:defRPr>
      </a:lvl2pPr>
      <a:lvl3pPr algn="l" rtl="0" eaLnBrk="0" fontAlgn="base" hangingPunct="0">
        <a:spcBef>
          <a:spcPct val="0"/>
        </a:spcBef>
        <a:spcAft>
          <a:spcPct val="0"/>
        </a:spcAft>
        <a:defRPr sz="4100" b="1">
          <a:solidFill>
            <a:schemeClr val="tx2"/>
          </a:solidFill>
          <a:latin typeface="Lucida Sans Unicode" pitchFamily="34" charset="0"/>
          <a:cs typeface="Arial" charset="0"/>
        </a:defRPr>
      </a:lvl3pPr>
      <a:lvl4pPr algn="l" rtl="0" eaLnBrk="0" fontAlgn="base" hangingPunct="0">
        <a:spcBef>
          <a:spcPct val="0"/>
        </a:spcBef>
        <a:spcAft>
          <a:spcPct val="0"/>
        </a:spcAft>
        <a:defRPr sz="4100" b="1">
          <a:solidFill>
            <a:schemeClr val="tx2"/>
          </a:solidFill>
          <a:latin typeface="Lucida Sans Unicode" pitchFamily="34" charset="0"/>
          <a:cs typeface="Arial" charset="0"/>
        </a:defRPr>
      </a:lvl4pPr>
      <a:lvl5pPr algn="l" rtl="0" eaLnBrk="0" fontAlgn="base" hangingPunct="0">
        <a:spcBef>
          <a:spcPct val="0"/>
        </a:spcBef>
        <a:spcAft>
          <a:spcPct val="0"/>
        </a:spcAft>
        <a:defRPr sz="4100" b="1">
          <a:solidFill>
            <a:schemeClr val="tx2"/>
          </a:solidFill>
          <a:latin typeface="Lucida Sans Unicode" pitchFamily="34" charset="0"/>
          <a:cs typeface="Arial" charset="0"/>
        </a:defRPr>
      </a:lvl5pPr>
      <a:lvl6pPr marL="457200" algn="l" rtl="0" fontAlgn="base">
        <a:spcBef>
          <a:spcPct val="0"/>
        </a:spcBef>
        <a:spcAft>
          <a:spcPct val="0"/>
        </a:spcAft>
        <a:defRPr sz="4100" b="1">
          <a:solidFill>
            <a:schemeClr val="tx2"/>
          </a:solidFill>
          <a:latin typeface="Lucida Sans Unicode" pitchFamily="34" charset="0"/>
          <a:cs typeface="Arial" charset="0"/>
        </a:defRPr>
      </a:lvl6pPr>
      <a:lvl7pPr marL="914400" algn="l" rtl="0" fontAlgn="base">
        <a:spcBef>
          <a:spcPct val="0"/>
        </a:spcBef>
        <a:spcAft>
          <a:spcPct val="0"/>
        </a:spcAft>
        <a:defRPr sz="4100" b="1">
          <a:solidFill>
            <a:schemeClr val="tx2"/>
          </a:solidFill>
          <a:latin typeface="Lucida Sans Unicode" pitchFamily="34" charset="0"/>
          <a:cs typeface="Arial" charset="0"/>
        </a:defRPr>
      </a:lvl7pPr>
      <a:lvl8pPr marL="1371600" algn="l" rtl="0" fontAlgn="base">
        <a:spcBef>
          <a:spcPct val="0"/>
        </a:spcBef>
        <a:spcAft>
          <a:spcPct val="0"/>
        </a:spcAft>
        <a:defRPr sz="4100" b="1">
          <a:solidFill>
            <a:schemeClr val="tx2"/>
          </a:solidFill>
          <a:latin typeface="Lucida Sans Unicode" pitchFamily="34" charset="0"/>
          <a:cs typeface="Arial" charset="0"/>
        </a:defRPr>
      </a:lvl8pPr>
      <a:lvl9pPr marL="1828800" algn="l" rtl="0" fontAlgn="base">
        <a:spcBef>
          <a:spcPct val="0"/>
        </a:spcBef>
        <a:spcAft>
          <a:spcPct val="0"/>
        </a:spcAft>
        <a:defRPr sz="4100" b="1">
          <a:solidFill>
            <a:schemeClr val="tx2"/>
          </a:solidFill>
          <a:latin typeface="Lucida Sans Unicode" pitchFamily="34" charset="0"/>
          <a:cs typeface="Arial" charset="0"/>
        </a:defRPr>
      </a:lvl9pPr>
    </p:titleStyle>
    <p:bodyStyle>
      <a:lvl1pPr marL="365125" indent="-255588" algn="l" rtl="0" eaLnBrk="0" fontAlgn="base" hangingPunct="0">
        <a:spcBef>
          <a:spcPts val="400"/>
        </a:spcBef>
        <a:spcAft>
          <a:spcPct val="0"/>
        </a:spcAft>
        <a:buClr>
          <a:schemeClr val="accent1"/>
        </a:buClr>
        <a:buSzPct val="68000"/>
        <a:buFont typeface="Wingdings 3" pitchFamily="18" charset="2"/>
        <a:buChar char=""/>
        <a:defRPr sz="2700" b="1">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itchFamily="34" charset="0"/>
        <a:buChar char="◦"/>
        <a:defRPr sz="2300" b="1">
          <a:solidFill>
            <a:schemeClr val="tx1"/>
          </a:solidFill>
          <a:latin typeface="+mn-lt"/>
          <a:cs typeface="+mn-cs"/>
        </a:defRPr>
      </a:lvl2pPr>
      <a:lvl3pPr marL="858838" indent="-228600" algn="l" rtl="0" eaLnBrk="0" fontAlgn="base" hangingPunct="0">
        <a:spcBef>
          <a:spcPts val="350"/>
        </a:spcBef>
        <a:spcAft>
          <a:spcPct val="0"/>
        </a:spcAft>
        <a:buClr>
          <a:schemeClr val="accent2"/>
        </a:buClr>
        <a:buSzPct val="100000"/>
        <a:buFont typeface="Wingdings 2" pitchFamily="18" charset="2"/>
        <a:buChar char=""/>
        <a:defRPr sz="2100">
          <a:solidFill>
            <a:schemeClr val="tx1"/>
          </a:solidFill>
          <a:latin typeface="+mn-lt"/>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i="1">
          <a:solidFill>
            <a:schemeClr val="tx1"/>
          </a:solidFill>
          <a:latin typeface="+mn-lt"/>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i="1">
          <a:solidFill>
            <a:schemeClr val="tx1"/>
          </a:solidFill>
          <a:latin typeface="+mn-lt"/>
          <a:cs typeface="+mn-cs"/>
        </a:defRPr>
      </a:lvl5pPr>
      <a:lvl6pPr marL="1828800" indent="-228600" algn="l" rtl="0" fontAlgn="base">
        <a:spcBef>
          <a:spcPts val="350"/>
        </a:spcBef>
        <a:spcAft>
          <a:spcPct val="0"/>
        </a:spcAft>
        <a:buClr>
          <a:schemeClr val="accent2"/>
        </a:buClr>
        <a:buFont typeface="Wingdings 2" pitchFamily="18" charset="2"/>
        <a:buChar char=""/>
        <a:defRPr i="1">
          <a:solidFill>
            <a:schemeClr val="tx1"/>
          </a:solidFill>
          <a:latin typeface="+mn-lt"/>
          <a:cs typeface="+mn-cs"/>
        </a:defRPr>
      </a:lvl6pPr>
      <a:lvl7pPr marL="2286000" indent="-228600" algn="l" rtl="0" fontAlgn="base">
        <a:spcBef>
          <a:spcPts val="350"/>
        </a:spcBef>
        <a:spcAft>
          <a:spcPct val="0"/>
        </a:spcAft>
        <a:buClr>
          <a:schemeClr val="accent2"/>
        </a:buClr>
        <a:buFont typeface="Wingdings 2" pitchFamily="18" charset="2"/>
        <a:buChar char=""/>
        <a:defRPr i="1">
          <a:solidFill>
            <a:schemeClr val="tx1"/>
          </a:solidFill>
          <a:latin typeface="+mn-lt"/>
          <a:cs typeface="+mn-cs"/>
        </a:defRPr>
      </a:lvl7pPr>
      <a:lvl8pPr marL="2743200" indent="-228600" algn="l" rtl="0" fontAlgn="base">
        <a:spcBef>
          <a:spcPts val="350"/>
        </a:spcBef>
        <a:spcAft>
          <a:spcPct val="0"/>
        </a:spcAft>
        <a:buClr>
          <a:schemeClr val="accent2"/>
        </a:buClr>
        <a:buFont typeface="Wingdings 2" pitchFamily="18" charset="2"/>
        <a:buChar char=""/>
        <a:defRPr i="1">
          <a:solidFill>
            <a:schemeClr val="tx1"/>
          </a:solidFill>
          <a:latin typeface="+mn-lt"/>
          <a:cs typeface="+mn-cs"/>
        </a:defRPr>
      </a:lvl8pPr>
      <a:lvl9pPr marL="3200400" indent="-228600" algn="l" rtl="0" fontAlgn="base">
        <a:spcBef>
          <a:spcPts val="350"/>
        </a:spcBef>
        <a:spcAft>
          <a:spcPct val="0"/>
        </a:spcAft>
        <a:buClr>
          <a:schemeClr val="accent2"/>
        </a:buClr>
        <a:buFont typeface="Wingdings 2" pitchFamily="18" charset="2"/>
        <a:buChar char=""/>
        <a:defRPr i="1">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D0FF71">
            <a:alpha val="61176"/>
          </a:srgb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0" hangingPunct="0">
              <a:defRPr sz="1400"/>
            </a:lvl1pPr>
          </a:lstStyle>
          <a:p>
            <a:pPr>
              <a:defRPr/>
            </a:pPr>
            <a:endParaRPr lang="en-US">
              <a:solidFill>
                <a:srgbClr val="000000"/>
              </a:solidFill>
              <a:latin typeface="Times New Roman" pitchFamily="18" charset="0"/>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0" hangingPunct="0">
              <a:defRPr sz="1400"/>
            </a:lvl1pPr>
          </a:lstStyle>
          <a:p>
            <a:pPr>
              <a:defRPr/>
            </a:pPr>
            <a:endParaRPr lang="en-US">
              <a:solidFill>
                <a:srgbClr val="000000"/>
              </a:solidFill>
              <a:latin typeface="Times New Roman" pitchFamily="18" charset="0"/>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DA2D3A02-DCBE-4BED-969D-B5A1FE8D99B7}" type="slidenum">
              <a:rPr lang="en-US">
                <a:solidFill>
                  <a:srgbClr val="000000"/>
                </a:solidFill>
                <a:latin typeface="Times New Roman" pitchFamily="18" charset="0"/>
                <a:cs typeface="+mn-cs"/>
              </a:rPr>
              <a:pPr>
                <a:defRPr/>
              </a:pPr>
              <a:t>‹#›</a:t>
            </a:fld>
            <a:endParaRPr lang="en-US">
              <a:solidFill>
                <a:srgbClr val="000000"/>
              </a:solidFill>
              <a:latin typeface="Times New Roman" pitchFamily="18" charset="0"/>
              <a:cs typeface="+mn-cs"/>
            </a:endParaRPr>
          </a:p>
        </p:txBody>
      </p:sp>
    </p:spTree>
    <p:extLst>
      <p:ext uri="{BB962C8B-B14F-4D97-AF65-F5344CB8AC3E}">
        <p14:creationId xmlns:p14="http://schemas.microsoft.com/office/powerpoint/2010/main" val="328194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Lst>
  <p:transition spd="slow">
    <p:pull dir="lu"/>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D0FF71">
            <a:alpha val="61176"/>
          </a:srgb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0" hangingPunct="0">
              <a:defRPr sz="1400"/>
            </a:lvl1pPr>
          </a:lstStyle>
          <a:p>
            <a:pPr>
              <a:defRPr/>
            </a:pPr>
            <a:endParaRPr lang="en-US">
              <a:solidFill>
                <a:srgbClr val="000000"/>
              </a:solidFill>
              <a:latin typeface="Times New Roman" pitchFamily="18" charset="0"/>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0" hangingPunct="0">
              <a:defRPr sz="1400"/>
            </a:lvl1pPr>
          </a:lstStyle>
          <a:p>
            <a:pPr>
              <a:defRPr/>
            </a:pPr>
            <a:endParaRPr lang="en-US">
              <a:solidFill>
                <a:srgbClr val="000000"/>
              </a:solidFill>
              <a:latin typeface="Times New Roman" pitchFamily="18" charset="0"/>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DA2D3A02-DCBE-4BED-969D-B5A1FE8D99B7}" type="slidenum">
              <a:rPr lang="en-US">
                <a:solidFill>
                  <a:srgbClr val="000000"/>
                </a:solidFill>
                <a:latin typeface="Times New Roman" pitchFamily="18" charset="0"/>
                <a:cs typeface="+mn-cs"/>
              </a:rPr>
              <a:pPr>
                <a:defRPr/>
              </a:pPr>
              <a:t>‹#›</a:t>
            </a:fld>
            <a:endParaRPr lang="en-US">
              <a:solidFill>
                <a:srgbClr val="000000"/>
              </a:solidFill>
              <a:latin typeface="Times New Roman" pitchFamily="18" charset="0"/>
              <a:cs typeface="+mn-cs"/>
            </a:endParaRPr>
          </a:p>
        </p:txBody>
      </p:sp>
    </p:spTree>
    <p:extLst>
      <p:ext uri="{BB962C8B-B14F-4D97-AF65-F5344CB8AC3E}">
        <p14:creationId xmlns:p14="http://schemas.microsoft.com/office/powerpoint/2010/main" val="106354981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Lst>
  <p:transition spd="slow">
    <p:pull dir="lu"/>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D0FF71">
            <a:alpha val="61176"/>
          </a:srgb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0" hangingPunct="0">
              <a:defRPr sz="1400"/>
            </a:lvl1pPr>
          </a:lstStyle>
          <a:p>
            <a:pPr>
              <a:defRPr/>
            </a:pPr>
            <a:endParaRPr lang="en-US">
              <a:solidFill>
                <a:srgbClr val="000000"/>
              </a:solidFill>
              <a:latin typeface="Times New Roman" pitchFamily="18" charset="0"/>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0" hangingPunct="0">
              <a:defRPr sz="1400"/>
            </a:lvl1pPr>
          </a:lstStyle>
          <a:p>
            <a:pPr>
              <a:defRPr/>
            </a:pPr>
            <a:endParaRPr lang="en-US">
              <a:solidFill>
                <a:srgbClr val="000000"/>
              </a:solidFill>
              <a:latin typeface="Times New Roman" pitchFamily="18" charset="0"/>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DA2D3A02-DCBE-4BED-969D-B5A1FE8D99B7}" type="slidenum">
              <a:rPr lang="en-US">
                <a:solidFill>
                  <a:srgbClr val="000000"/>
                </a:solidFill>
                <a:latin typeface="Times New Roman" pitchFamily="18" charset="0"/>
                <a:cs typeface="+mn-cs"/>
              </a:rPr>
              <a:pPr>
                <a:defRPr/>
              </a:pPr>
              <a:t>‹#›</a:t>
            </a:fld>
            <a:endParaRPr lang="en-US">
              <a:solidFill>
                <a:srgbClr val="000000"/>
              </a:solidFill>
              <a:latin typeface="Times New Roman" pitchFamily="18" charset="0"/>
              <a:cs typeface="+mn-cs"/>
            </a:endParaRPr>
          </a:p>
        </p:txBody>
      </p:sp>
    </p:spTree>
    <p:extLst>
      <p:ext uri="{BB962C8B-B14F-4D97-AF65-F5344CB8AC3E}">
        <p14:creationId xmlns:p14="http://schemas.microsoft.com/office/powerpoint/2010/main" val="21266223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Lst>
  <p:transition spd="slow">
    <p:pull dir="lu"/>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D0FF71">
            <a:alpha val="61176"/>
          </a:srgb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0" hangingPunct="0">
              <a:defRPr sz="1400"/>
            </a:lvl1pPr>
          </a:lstStyle>
          <a:p>
            <a:pPr>
              <a:defRPr/>
            </a:pPr>
            <a:endParaRPr lang="en-US">
              <a:solidFill>
                <a:srgbClr val="000000"/>
              </a:solidFill>
              <a:latin typeface="Times New Roman" pitchFamily="18" charset="0"/>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0" hangingPunct="0">
              <a:defRPr sz="1400"/>
            </a:lvl1pPr>
          </a:lstStyle>
          <a:p>
            <a:pPr>
              <a:defRPr/>
            </a:pPr>
            <a:endParaRPr lang="en-US">
              <a:solidFill>
                <a:srgbClr val="000000"/>
              </a:solidFill>
              <a:latin typeface="Times New Roman" pitchFamily="18" charset="0"/>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DA2D3A02-DCBE-4BED-969D-B5A1FE8D99B7}" type="slidenum">
              <a:rPr lang="en-US">
                <a:solidFill>
                  <a:srgbClr val="000000"/>
                </a:solidFill>
                <a:latin typeface="Times New Roman" pitchFamily="18" charset="0"/>
                <a:cs typeface="+mn-cs"/>
              </a:rPr>
              <a:pPr>
                <a:defRPr/>
              </a:pPr>
              <a:t>‹#›</a:t>
            </a:fld>
            <a:endParaRPr lang="en-US">
              <a:solidFill>
                <a:srgbClr val="000000"/>
              </a:solidFill>
              <a:latin typeface="Times New Roman" pitchFamily="18" charset="0"/>
              <a:cs typeface="+mn-cs"/>
            </a:endParaRPr>
          </a:p>
        </p:txBody>
      </p:sp>
    </p:spTree>
    <p:extLst>
      <p:ext uri="{BB962C8B-B14F-4D97-AF65-F5344CB8AC3E}">
        <p14:creationId xmlns:p14="http://schemas.microsoft.com/office/powerpoint/2010/main" val="2870786610"/>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Lst>
  <p:transition spd="slow">
    <p:pull dir="lu"/>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D0FF71">
            <a:alpha val="61176"/>
          </a:srgb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0" hangingPunct="0">
              <a:defRPr sz="1400"/>
            </a:lvl1pPr>
          </a:lstStyle>
          <a:p>
            <a:pPr>
              <a:defRPr/>
            </a:pPr>
            <a:endParaRPr lang="en-US">
              <a:solidFill>
                <a:srgbClr val="000000"/>
              </a:solidFill>
              <a:latin typeface="Times New Roman" pitchFamily="18" charset="0"/>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0" hangingPunct="0">
              <a:defRPr sz="1400"/>
            </a:lvl1pPr>
          </a:lstStyle>
          <a:p>
            <a:pPr>
              <a:defRPr/>
            </a:pPr>
            <a:endParaRPr lang="en-US">
              <a:solidFill>
                <a:srgbClr val="000000"/>
              </a:solidFill>
              <a:latin typeface="Times New Roman" pitchFamily="18" charset="0"/>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DA2D3A02-DCBE-4BED-969D-B5A1FE8D99B7}" type="slidenum">
              <a:rPr lang="en-US">
                <a:solidFill>
                  <a:srgbClr val="000000"/>
                </a:solidFill>
                <a:latin typeface="Times New Roman" pitchFamily="18" charset="0"/>
                <a:cs typeface="+mn-cs"/>
              </a:rPr>
              <a:pPr>
                <a:defRPr/>
              </a:pPr>
              <a:t>‹#›</a:t>
            </a:fld>
            <a:endParaRPr lang="en-US">
              <a:solidFill>
                <a:srgbClr val="000000"/>
              </a:solidFill>
              <a:latin typeface="Times New Roman" pitchFamily="18" charset="0"/>
              <a:cs typeface="+mn-cs"/>
            </a:endParaRPr>
          </a:p>
        </p:txBody>
      </p:sp>
    </p:spTree>
    <p:extLst>
      <p:ext uri="{BB962C8B-B14F-4D97-AF65-F5344CB8AC3E}">
        <p14:creationId xmlns:p14="http://schemas.microsoft.com/office/powerpoint/2010/main" val="278843342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Lst>
  <p:transition spd="slow">
    <p:pull dir="lu"/>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www.candywarehouse.com/mms.html" TargetMode="Externa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13.wmf"/><Relationship Id="rId2" Type="http://schemas.openxmlformats.org/officeDocument/2006/relationships/slideLayout" Target="../slideLayouts/slideLayout26.xml"/><Relationship Id="rId1" Type="http://schemas.openxmlformats.org/officeDocument/2006/relationships/vmlDrawing" Target="../drawings/vmlDrawing2.vml"/><Relationship Id="rId6" Type="http://schemas.openxmlformats.org/officeDocument/2006/relationships/image" Target="../media/image10.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slideLayout" Target="../slideLayouts/slideLayout7.xml"/><Relationship Id="rId7" Type="http://schemas.openxmlformats.org/officeDocument/2006/relationships/oleObject" Target="../embeddings/oleObject8.bin"/><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image" Target="../media/image14.wmf"/><Relationship Id="rId5" Type="http://schemas.openxmlformats.org/officeDocument/2006/relationships/oleObject" Target="../embeddings/oleObject7.bin"/><Relationship Id="rId4"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15.wmf"/></Relationships>
</file>

<file path=ppt/slides/_rels/slide18.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4.bin"/><Relationship Id="rId18" Type="http://schemas.openxmlformats.org/officeDocument/2006/relationships/image" Target="../media/image20.wmf"/><Relationship Id="rId3" Type="http://schemas.openxmlformats.org/officeDocument/2006/relationships/slideLayout" Target="../slideLayouts/slideLayout2.xml"/><Relationship Id="rId7" Type="http://schemas.openxmlformats.org/officeDocument/2006/relationships/oleObject" Target="../embeddings/oleObject11.bin"/><Relationship Id="rId12" Type="http://schemas.openxmlformats.org/officeDocument/2006/relationships/image" Target="../media/image19.wmf"/><Relationship Id="rId17" Type="http://schemas.openxmlformats.org/officeDocument/2006/relationships/oleObject" Target="../embeddings/oleObject17.bin"/><Relationship Id="rId2" Type="http://schemas.openxmlformats.org/officeDocument/2006/relationships/tags" Target="../tags/tag12.xml"/><Relationship Id="rId16" Type="http://schemas.openxmlformats.org/officeDocument/2006/relationships/oleObject" Target="../embeddings/oleObject16.bin"/><Relationship Id="rId1" Type="http://schemas.openxmlformats.org/officeDocument/2006/relationships/vmlDrawing" Target="../drawings/vmlDrawing4.vml"/><Relationship Id="rId6" Type="http://schemas.openxmlformats.org/officeDocument/2006/relationships/image" Target="../media/image16.wmf"/><Relationship Id="rId11" Type="http://schemas.openxmlformats.org/officeDocument/2006/relationships/oleObject" Target="../embeddings/oleObject13.bin"/><Relationship Id="rId5" Type="http://schemas.openxmlformats.org/officeDocument/2006/relationships/oleObject" Target="../embeddings/oleObject10.bin"/><Relationship Id="rId15" Type="http://schemas.openxmlformats.org/officeDocument/2006/relationships/oleObject" Target="../embeddings/oleObject15.bin"/><Relationship Id="rId10" Type="http://schemas.openxmlformats.org/officeDocument/2006/relationships/image" Target="../media/image18.wmf"/><Relationship Id="rId4" Type="http://schemas.openxmlformats.org/officeDocument/2006/relationships/image" Target="../media/image21.jpeg"/><Relationship Id="rId9" Type="http://schemas.openxmlformats.org/officeDocument/2006/relationships/oleObject" Target="../embeddings/oleObject12.bin"/><Relationship Id="rId14" Type="http://schemas.openxmlformats.org/officeDocument/2006/relationships/image" Target="../media/image14.wmf"/></Relationships>
</file>

<file path=ppt/slides/_rels/slide19.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slideLayout" Target="../slideLayouts/slideLayout7.xml"/><Relationship Id="rId7" Type="http://schemas.openxmlformats.org/officeDocument/2006/relationships/oleObject" Target="../embeddings/oleObject19.bin"/><Relationship Id="rId12" Type="http://schemas.openxmlformats.org/officeDocument/2006/relationships/image" Target="../media/image25.wmf"/><Relationship Id="rId2" Type="http://schemas.openxmlformats.org/officeDocument/2006/relationships/tags" Target="../tags/tag13.xml"/><Relationship Id="rId1" Type="http://schemas.openxmlformats.org/officeDocument/2006/relationships/vmlDrawing" Target="../drawings/vmlDrawing5.vml"/><Relationship Id="rId6" Type="http://schemas.openxmlformats.org/officeDocument/2006/relationships/image" Target="../media/image22.wmf"/><Relationship Id="rId11" Type="http://schemas.openxmlformats.org/officeDocument/2006/relationships/oleObject" Target="../embeddings/oleObject21.bin"/><Relationship Id="rId5" Type="http://schemas.openxmlformats.org/officeDocument/2006/relationships/oleObject" Target="../embeddings/oleObject18.bin"/><Relationship Id="rId10" Type="http://schemas.openxmlformats.org/officeDocument/2006/relationships/image" Target="../media/image24.wmf"/><Relationship Id="rId4" Type="http://schemas.openxmlformats.org/officeDocument/2006/relationships/notesSlide" Target="../notesSlides/notesSlide9.xml"/><Relationship Id="rId9" Type="http://schemas.openxmlformats.org/officeDocument/2006/relationships/oleObject" Target="../embeddings/oleObject20.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5.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26.e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7.xml"/><Relationship Id="rId4" Type="http://schemas.openxmlformats.org/officeDocument/2006/relationships/image" Target="../media/image29.jpeg"/></Relationships>
</file>

<file path=ppt/slides/_rels/slide24.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slideLayout" Target="../slideLayouts/slideLayout7.xml"/><Relationship Id="rId7" Type="http://schemas.openxmlformats.org/officeDocument/2006/relationships/oleObject" Target="../embeddings/oleObject23.bin"/><Relationship Id="rId2" Type="http://schemas.openxmlformats.org/officeDocument/2006/relationships/tags" Target="../tags/tag18.xml"/><Relationship Id="rId1" Type="http://schemas.openxmlformats.org/officeDocument/2006/relationships/vmlDrawing" Target="../drawings/vmlDrawing6.vml"/><Relationship Id="rId6" Type="http://schemas.openxmlformats.org/officeDocument/2006/relationships/image" Target="../media/image23.wmf"/><Relationship Id="rId11" Type="http://schemas.openxmlformats.org/officeDocument/2006/relationships/image" Target="../media/image31.emf"/><Relationship Id="rId5" Type="http://schemas.openxmlformats.org/officeDocument/2006/relationships/oleObject" Target="../embeddings/oleObject22.bin"/><Relationship Id="rId10" Type="http://schemas.openxmlformats.org/officeDocument/2006/relationships/image" Target="../media/image30.wmf"/><Relationship Id="rId4" Type="http://schemas.openxmlformats.org/officeDocument/2006/relationships/notesSlide" Target="../notesSlides/notesSlide14.xml"/><Relationship Id="rId9" Type="http://schemas.openxmlformats.org/officeDocument/2006/relationships/oleObject" Target="../embeddings/oleObject24.bin"/></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xml"/><Relationship Id="rId1" Type="http://schemas.openxmlformats.org/officeDocument/2006/relationships/vmlDrawing" Target="../drawings/vmlDrawing7.vml"/><Relationship Id="rId6" Type="http://schemas.openxmlformats.org/officeDocument/2006/relationships/image" Target="../media/image30.wmf"/><Relationship Id="rId5" Type="http://schemas.openxmlformats.org/officeDocument/2006/relationships/oleObject" Target="../embeddings/oleObject25.bin"/><Relationship Id="rId4"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21.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6.xml"/><Relationship Id="rId1" Type="http://schemas.openxmlformats.org/officeDocument/2006/relationships/tags" Target="../tags/tag22.xml"/><Relationship Id="rId5" Type="http://schemas.openxmlformats.org/officeDocument/2006/relationships/image" Target="../media/image35.jpeg"/><Relationship Id="rId4" Type="http://schemas.openxmlformats.org/officeDocument/2006/relationships/image" Target="../media/image34.jpeg"/></Relationships>
</file>

<file path=ppt/slides/_rels/slide29.xml.rels><?xml version="1.0" encoding="UTF-8" standalone="yes"?>
<Relationships xmlns="http://schemas.openxmlformats.org/package/2006/relationships"><Relationship Id="rId8" Type="http://schemas.openxmlformats.org/officeDocument/2006/relationships/image" Target="../media/image34.jpeg"/><Relationship Id="rId13" Type="http://schemas.openxmlformats.org/officeDocument/2006/relationships/image" Target="../media/image39.wmf"/><Relationship Id="rId3" Type="http://schemas.openxmlformats.org/officeDocument/2006/relationships/slideLayout" Target="../slideLayouts/slideLayout7.xml"/><Relationship Id="rId7" Type="http://schemas.openxmlformats.org/officeDocument/2006/relationships/image" Target="../media/image37.wmf"/><Relationship Id="rId12" Type="http://schemas.openxmlformats.org/officeDocument/2006/relationships/oleObject" Target="../embeddings/oleObject29.bin"/><Relationship Id="rId2" Type="http://schemas.openxmlformats.org/officeDocument/2006/relationships/tags" Target="../tags/tag23.xml"/><Relationship Id="rId1" Type="http://schemas.openxmlformats.org/officeDocument/2006/relationships/vmlDrawing" Target="../drawings/vmlDrawing8.vml"/><Relationship Id="rId6" Type="http://schemas.openxmlformats.org/officeDocument/2006/relationships/oleObject" Target="../embeddings/oleObject27.bin"/><Relationship Id="rId11" Type="http://schemas.openxmlformats.org/officeDocument/2006/relationships/image" Target="../media/image40.png"/><Relationship Id="rId5" Type="http://schemas.openxmlformats.org/officeDocument/2006/relationships/image" Target="../media/image36.wmf"/><Relationship Id="rId15" Type="http://schemas.openxmlformats.org/officeDocument/2006/relationships/image" Target="../media/image42.jpeg"/><Relationship Id="rId10" Type="http://schemas.openxmlformats.org/officeDocument/2006/relationships/image" Target="../media/image38.wmf"/><Relationship Id="rId4" Type="http://schemas.openxmlformats.org/officeDocument/2006/relationships/oleObject" Target="../embeddings/oleObject26.bin"/><Relationship Id="rId9" Type="http://schemas.openxmlformats.org/officeDocument/2006/relationships/oleObject" Target="../embeddings/oleObject28.bin"/><Relationship Id="rId14" Type="http://schemas.openxmlformats.org/officeDocument/2006/relationships/image" Target="../media/image41.emf"/></Relationships>
</file>

<file path=ppt/slides/_rels/slide30.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1.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slideLayout" Target="../slideLayouts/slideLayout2.xml"/><Relationship Id="rId7" Type="http://schemas.openxmlformats.org/officeDocument/2006/relationships/oleObject" Target="../embeddings/oleObject31.bin"/><Relationship Id="rId2" Type="http://schemas.openxmlformats.org/officeDocument/2006/relationships/tags" Target="../tags/tag25.xml"/><Relationship Id="rId1" Type="http://schemas.openxmlformats.org/officeDocument/2006/relationships/vmlDrawing" Target="../drawings/vmlDrawing9.vml"/><Relationship Id="rId6" Type="http://schemas.openxmlformats.org/officeDocument/2006/relationships/image" Target="../media/image44.wmf"/><Relationship Id="rId5" Type="http://schemas.openxmlformats.org/officeDocument/2006/relationships/oleObject" Target="../embeddings/oleObject30.bin"/><Relationship Id="rId10" Type="http://schemas.openxmlformats.org/officeDocument/2006/relationships/image" Target="../media/image46.wmf"/><Relationship Id="rId4" Type="http://schemas.openxmlformats.org/officeDocument/2006/relationships/notesSlide" Target="../notesSlides/notesSlide18.xml"/><Relationship Id="rId9" Type="http://schemas.openxmlformats.org/officeDocument/2006/relationships/oleObject" Target="../embeddings/oleObject32.bin"/></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7.xml"/><Relationship Id="rId1" Type="http://schemas.openxmlformats.org/officeDocument/2006/relationships/tags" Target="../tags/tag26.xml"/></Relationships>
</file>

<file path=ppt/slides/_rels/slide3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slideLayout" Target="../slideLayouts/slideLayout7.xml"/><Relationship Id="rId1" Type="http://schemas.openxmlformats.org/officeDocument/2006/relationships/tags" Target="../tags/tag27.xml"/><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3"/>
          <p:cNvSpPr>
            <a:spLocks noChangeArrowheads="1"/>
          </p:cNvSpPr>
          <p:nvPr/>
        </p:nvSpPr>
        <p:spPr bwMode="auto">
          <a:xfrm>
            <a:off x="609600" y="1143000"/>
            <a:ext cx="7772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ctr" eaLnBrk="1" hangingPunct="1">
              <a:buFont typeface="Wingdings 3" pitchFamily="18" charset="2"/>
              <a:buNone/>
            </a:pPr>
            <a:r>
              <a:rPr lang="en-US" altLang="en-US" sz="4400">
                <a:solidFill>
                  <a:schemeClr val="tx2"/>
                </a:solidFill>
              </a:rPr>
              <a:t>Chapters 20, 21</a:t>
            </a:r>
          </a:p>
          <a:p>
            <a:pPr algn="ctr" eaLnBrk="1" hangingPunct="1">
              <a:buFont typeface="Wingdings 3" pitchFamily="18" charset="2"/>
              <a:buNone/>
            </a:pPr>
            <a:r>
              <a:rPr lang="en-US" altLang="en-US" sz="4400">
                <a:solidFill>
                  <a:schemeClr val="tx2"/>
                </a:solidFill>
              </a:rPr>
              <a:t>Testing Hypotheses</a:t>
            </a:r>
          </a:p>
          <a:p>
            <a:pPr algn="ctr" eaLnBrk="1" hangingPunct="1">
              <a:buFont typeface="Wingdings 3" pitchFamily="18" charset="2"/>
              <a:buNone/>
            </a:pPr>
            <a:r>
              <a:rPr lang="en-US" altLang="en-US" sz="4400">
                <a:solidFill>
                  <a:schemeClr val="tx2"/>
                </a:solidFill>
              </a:rPr>
              <a:t>about Proportions</a:t>
            </a:r>
          </a:p>
        </p:txBody>
      </p:sp>
      <p:sp>
        <p:nvSpPr>
          <p:cNvPr id="2051"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2052"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CF561238-D2E7-44C4-8C1D-BCC22B974E9D}" type="slidenum">
              <a:rPr lang="en-US" altLang="en-US" sz="1000">
                <a:latin typeface="Verdana" pitchFamily="34" charset="0"/>
              </a:rPr>
              <a:pPr algn="r" eaLnBrk="1" hangingPunct="1">
                <a:spcBef>
                  <a:spcPct val="0"/>
                </a:spcBef>
                <a:buClrTx/>
                <a:buSzTx/>
                <a:buFontTx/>
                <a:buNone/>
              </a:pPr>
              <a:t>1</a:t>
            </a:fld>
            <a:endParaRPr lang="en-US" altLang="en-US" sz="1000">
              <a:latin typeface="Verdana" pitchFamily="34" charset="0"/>
            </a:endParaRPr>
          </a:p>
        </p:txBody>
      </p:sp>
      <p:pic>
        <p:nvPicPr>
          <p:cNvPr id="2054" name="Picture 6" descr="Image result for hypothesis testing for population propor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1255" y="3317383"/>
            <a:ext cx="2493319" cy="24384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68362"/>
          </a:xfrm>
        </p:spPr>
        <p:txBody>
          <a:bodyPr/>
          <a:lstStyle/>
          <a:p>
            <a:pPr algn="ctr">
              <a:defRPr/>
            </a:pPr>
            <a:r>
              <a:rPr lang="en-US" dirty="0" smtClean="0"/>
              <a:t>Example</a:t>
            </a:r>
            <a:endParaRPr lang="en-US" dirty="0"/>
          </a:p>
        </p:txBody>
      </p:sp>
      <p:sp>
        <p:nvSpPr>
          <p:cNvPr id="3075" name="Content Placeholder 5"/>
          <p:cNvSpPr>
            <a:spLocks noGrp="1"/>
          </p:cNvSpPr>
          <p:nvPr>
            <p:ph idx="1"/>
          </p:nvPr>
        </p:nvSpPr>
        <p:spPr>
          <a:xfrm>
            <a:off x="457200" y="1447800"/>
            <a:ext cx="8229600" cy="4559300"/>
          </a:xfrm>
          <a:solidFill>
            <a:srgbClr val="FFCC66"/>
          </a:solidFill>
        </p:spPr>
        <p:txBody>
          <a:bodyPr/>
          <a:lstStyle/>
          <a:p>
            <a:r>
              <a:rPr lang="en-US" altLang="en-US" dirty="0" smtClean="0"/>
              <a:t>Cellphone companies have discovered that college students, their biggest customers, have difficulty setting up all the features of their smart phones, so they have developed what they hope are simpler instructions.</a:t>
            </a:r>
          </a:p>
          <a:p>
            <a:r>
              <a:rPr lang="en-US" altLang="en-US" dirty="0" smtClean="0"/>
              <a:t>The goal is to have at least 96% of customers succeed.  The new instructions are tested on 200 students, of whom 188 (94%) were successful. </a:t>
            </a:r>
          </a:p>
          <a:p>
            <a:r>
              <a:rPr lang="en-US" altLang="en-US" dirty="0" smtClean="0"/>
              <a:t>Is this evidence that the new instructions fail to meet the companies’ goal? </a:t>
            </a:r>
          </a:p>
        </p:txBody>
      </p:sp>
      <p:sp>
        <p:nvSpPr>
          <p:cNvPr id="3076"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fld id="{7992BCF4-4DD0-4B7D-9C36-20E826C14D47}" type="slidenum">
              <a:rPr lang="en-US" altLang="en-US" sz="1000" b="0" smtClean="0">
                <a:latin typeface="Verdana" pitchFamily="34" charset="0"/>
              </a:rPr>
              <a:pPr eaLnBrk="1" hangingPunct="1">
                <a:spcBef>
                  <a:spcPct val="0"/>
                </a:spcBef>
                <a:buClrTx/>
                <a:buSzTx/>
                <a:buFontTx/>
                <a:buNone/>
              </a:pPr>
              <a:t>2</a:t>
            </a:fld>
            <a:endParaRPr lang="en-US" altLang="en-US" sz="1000" b="0" smtClean="0">
              <a:latin typeface="Verdana" pitchFamily="34" charset="0"/>
            </a:endParaRPr>
          </a:p>
        </p:txBody>
      </p:sp>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4099"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4100"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4101"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211BFD40-3E7E-4763-9605-0C66BBA16673}" type="slidenum">
              <a:rPr lang="en-US" altLang="en-US" sz="1000">
                <a:latin typeface="Verdana" pitchFamily="34" charset="0"/>
              </a:rPr>
              <a:pPr algn="r" eaLnBrk="1" hangingPunct="1">
                <a:spcBef>
                  <a:spcPct val="0"/>
                </a:spcBef>
                <a:buClrTx/>
                <a:buSzTx/>
                <a:buFontTx/>
                <a:buNone/>
              </a:pPr>
              <a:t>3</a:t>
            </a:fld>
            <a:endParaRPr lang="en-US" altLang="en-US" sz="1000">
              <a:latin typeface="Verdana" pitchFamily="34" charset="0"/>
            </a:endParaRPr>
          </a:p>
        </p:txBody>
      </p:sp>
      <p:sp>
        <p:nvSpPr>
          <p:cNvPr id="4102" name="Text Box 7"/>
          <p:cNvSpPr txBox="1">
            <a:spLocks noChangeArrowheads="1"/>
          </p:cNvSpPr>
          <p:nvPr/>
        </p:nvSpPr>
        <p:spPr bwMode="auto">
          <a:xfrm>
            <a:off x="381000" y="609600"/>
            <a:ext cx="8458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a:latin typeface="Arial" charset="0"/>
              </a:rPr>
              <a:t>The Dow Jones Industrial Average closing prices for the bull market 1982-1986:</a:t>
            </a:r>
          </a:p>
        </p:txBody>
      </p:sp>
      <p:pic>
        <p:nvPicPr>
          <p:cNvPr id="4103"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8475" y="2032000"/>
            <a:ext cx="5607050" cy="3606800"/>
          </a:xfrm>
          <a:prstGeom prst="rect">
            <a:avLst/>
          </a:prstGeom>
          <a:solidFill>
            <a:srgbClr val="FFCC66"/>
          </a:solidFill>
          <a:ln>
            <a:noFill/>
          </a:ln>
        </p:spPr>
      </p:pic>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5123"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5124"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5125"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CEBE11CC-8C52-420D-ADFD-EDE273B837B7}" type="slidenum">
              <a:rPr lang="en-US" altLang="en-US" sz="1000">
                <a:latin typeface="Verdana" pitchFamily="34" charset="0"/>
              </a:rPr>
              <a:pPr algn="r" eaLnBrk="1" hangingPunct="1">
                <a:spcBef>
                  <a:spcPct val="0"/>
                </a:spcBef>
                <a:buClrTx/>
                <a:buSzTx/>
                <a:buFontTx/>
                <a:buNone/>
              </a:pPr>
              <a:t>4</a:t>
            </a:fld>
            <a:endParaRPr lang="en-US" altLang="en-US" sz="1000">
              <a:latin typeface="Verdana" pitchFamily="34" charset="0"/>
            </a:endParaRPr>
          </a:p>
        </p:txBody>
      </p:sp>
      <p:sp>
        <p:nvSpPr>
          <p:cNvPr id="5126" name="Text Box 6"/>
          <p:cNvSpPr txBox="1">
            <a:spLocks noChangeArrowheads="1"/>
          </p:cNvSpPr>
          <p:nvPr/>
        </p:nvSpPr>
        <p:spPr bwMode="auto">
          <a:xfrm>
            <a:off x="304800" y="228600"/>
            <a:ext cx="84582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a:latin typeface="Arial" charset="0"/>
              </a:rPr>
              <a:t>QUESTION: Is the Dow just as likely to move higher as it is to move lower on any given day?</a:t>
            </a:r>
          </a:p>
          <a:p>
            <a:pPr eaLnBrk="1" hangingPunct="1">
              <a:spcBef>
                <a:spcPct val="0"/>
              </a:spcBef>
              <a:buClrTx/>
              <a:buSzTx/>
              <a:buFontTx/>
              <a:buNone/>
            </a:pPr>
            <a:endParaRPr lang="en-US" altLang="en-US" sz="2400" b="0">
              <a:latin typeface="Arial" charset="0"/>
            </a:endParaRPr>
          </a:p>
          <a:p>
            <a:pPr eaLnBrk="1" hangingPunct="1">
              <a:spcBef>
                <a:spcPct val="0"/>
              </a:spcBef>
              <a:buClrTx/>
              <a:buSzTx/>
              <a:buFontTx/>
              <a:buNone/>
            </a:pPr>
            <a:r>
              <a:rPr lang="en-US" altLang="en-US" sz="2400" b="0">
                <a:latin typeface="Arial" charset="0"/>
              </a:rPr>
              <a:t>Out of the 1112 trading days in that period, the average increased on 573 days (sample proportion = 0.51530. </a:t>
            </a:r>
          </a:p>
          <a:p>
            <a:pPr eaLnBrk="1" hangingPunct="1">
              <a:spcBef>
                <a:spcPct val="0"/>
              </a:spcBef>
              <a:buClrTx/>
              <a:buSzTx/>
              <a:buFontTx/>
              <a:buNone/>
            </a:pPr>
            <a:endParaRPr lang="en-US" altLang="en-US" sz="2400" b="0">
              <a:latin typeface="Arial" charset="0"/>
            </a:endParaRPr>
          </a:p>
          <a:p>
            <a:pPr eaLnBrk="1" hangingPunct="1">
              <a:spcBef>
                <a:spcPct val="0"/>
              </a:spcBef>
              <a:buClrTx/>
              <a:buSzTx/>
              <a:buFontTx/>
              <a:buNone/>
            </a:pPr>
            <a:endParaRPr lang="en-US" altLang="en-US" sz="2400" b="0">
              <a:latin typeface="Arial" charset="0"/>
            </a:endParaRPr>
          </a:p>
          <a:p>
            <a:pPr eaLnBrk="1" hangingPunct="1">
              <a:spcBef>
                <a:spcPct val="0"/>
              </a:spcBef>
              <a:buClrTx/>
              <a:buSzTx/>
              <a:buFontTx/>
              <a:buNone/>
            </a:pPr>
            <a:endParaRPr lang="en-US" altLang="en-US" sz="2400" b="0">
              <a:latin typeface="Arial" charset="0"/>
            </a:endParaRPr>
          </a:p>
          <a:p>
            <a:pPr eaLnBrk="1" hangingPunct="1">
              <a:spcBef>
                <a:spcPct val="0"/>
              </a:spcBef>
              <a:buClrTx/>
              <a:buSzTx/>
              <a:buFontTx/>
              <a:buNone/>
            </a:pPr>
            <a:r>
              <a:rPr lang="en-US" altLang="en-US" sz="2400" b="0">
                <a:latin typeface="Arial" charset="0"/>
              </a:rPr>
              <a:t>That </a:t>
            </a:r>
            <a:r>
              <a:rPr lang="en-US" altLang="en-US" sz="2400" b="0" i="1">
                <a:latin typeface="Arial" charset="0"/>
              </a:rPr>
              <a:t>is </a:t>
            </a:r>
            <a:r>
              <a:rPr lang="en-US" altLang="en-US" sz="2400" b="0">
                <a:latin typeface="Arial" charset="0"/>
              </a:rPr>
              <a:t>more “up” days than “down” days.</a:t>
            </a:r>
          </a:p>
          <a:p>
            <a:pPr eaLnBrk="1" hangingPunct="1">
              <a:spcBef>
                <a:spcPct val="0"/>
              </a:spcBef>
              <a:buClrTx/>
              <a:buSzTx/>
              <a:buFontTx/>
              <a:buNone/>
            </a:pPr>
            <a:endParaRPr lang="en-US" altLang="en-US" sz="2400" b="0">
              <a:latin typeface="Arial" charset="0"/>
            </a:endParaRPr>
          </a:p>
          <a:p>
            <a:pPr eaLnBrk="1" hangingPunct="1">
              <a:spcBef>
                <a:spcPct val="0"/>
              </a:spcBef>
              <a:buClrTx/>
              <a:buSzTx/>
              <a:buFontTx/>
              <a:buNone/>
            </a:pPr>
            <a:r>
              <a:rPr lang="en-US" altLang="en-US" sz="2400" b="0">
                <a:latin typeface="Arial" charset="0"/>
              </a:rPr>
              <a:t>But </a:t>
            </a:r>
            <a:r>
              <a:rPr lang="en-US" altLang="en-US" sz="2400" b="0" i="1">
                <a:solidFill>
                  <a:srgbClr val="0000FF"/>
                </a:solidFill>
                <a:latin typeface="Arial" charset="0"/>
              </a:rPr>
              <a:t>is it far enough from 0.50</a:t>
            </a:r>
            <a:r>
              <a:rPr lang="en-US" altLang="en-US" sz="2400" b="0">
                <a:latin typeface="Arial" charset="0"/>
              </a:rPr>
              <a:t> to cast doubt on the assumption of equally likely up or down movement?</a:t>
            </a:r>
          </a:p>
        </p:txBody>
      </p:sp>
      <p:graphicFrame>
        <p:nvGraphicFramePr>
          <p:cNvPr id="5127" name="Object 1"/>
          <p:cNvGraphicFramePr>
            <a:graphicFrameLocks noChangeAspect="1"/>
          </p:cNvGraphicFramePr>
          <p:nvPr/>
        </p:nvGraphicFramePr>
        <p:xfrm>
          <a:off x="914400" y="2209800"/>
          <a:ext cx="6557963" cy="533400"/>
        </p:xfrm>
        <a:graphic>
          <a:graphicData uri="http://schemas.openxmlformats.org/presentationml/2006/ole">
            <mc:AlternateContent xmlns:mc="http://schemas.openxmlformats.org/markup-compatibility/2006">
              <mc:Choice xmlns:v="urn:schemas-microsoft-com:vml" Requires="v">
                <p:oleObj spid="_x0000_s5145" name="Equation" r:id="rId5" imgW="2413000" imgH="203200" progId="Equation.DSMT4">
                  <p:embed/>
                </p:oleObj>
              </mc:Choice>
              <mc:Fallback>
                <p:oleObj name="Equation" r:id="rId5" imgW="2413000" imgH="203200"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2209800"/>
                        <a:ext cx="65579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6147"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6148"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6149"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A57CBDB1-D215-41A8-A5D1-B3D4C222A377}" type="slidenum">
              <a:rPr lang="en-US" altLang="en-US" sz="1000">
                <a:latin typeface="Verdana" pitchFamily="34" charset="0"/>
              </a:rPr>
              <a:pPr algn="r" eaLnBrk="1" hangingPunct="1">
                <a:spcBef>
                  <a:spcPct val="0"/>
                </a:spcBef>
                <a:buClrTx/>
                <a:buSzTx/>
                <a:buFontTx/>
                <a:buNone/>
              </a:pPr>
              <a:t>5</a:t>
            </a:fld>
            <a:endParaRPr lang="en-US" altLang="en-US" sz="1000">
              <a:latin typeface="Verdana" pitchFamily="34" charset="0"/>
            </a:endParaRPr>
          </a:p>
        </p:txBody>
      </p:sp>
      <p:sp>
        <p:nvSpPr>
          <p:cNvPr id="6150" name="Text Box 6"/>
          <p:cNvSpPr txBox="1">
            <a:spLocks noChangeArrowheads="1"/>
          </p:cNvSpPr>
          <p:nvPr/>
        </p:nvSpPr>
        <p:spPr bwMode="auto">
          <a:xfrm>
            <a:off x="304800" y="152400"/>
            <a:ext cx="86106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ctr" eaLnBrk="1" hangingPunct="1">
              <a:spcBef>
                <a:spcPct val="0"/>
              </a:spcBef>
              <a:buClrTx/>
              <a:buSzTx/>
              <a:buFontTx/>
              <a:buNone/>
            </a:pPr>
            <a:r>
              <a:rPr lang="en-US" altLang="en-US" sz="3200">
                <a:solidFill>
                  <a:srgbClr val="0033CC"/>
                </a:solidFill>
                <a:latin typeface="Arial" charset="0"/>
              </a:rPr>
              <a:t>Rigorous Evaluation of the data: Hypothesis Testing</a:t>
            </a:r>
          </a:p>
        </p:txBody>
      </p:sp>
      <p:sp>
        <p:nvSpPr>
          <p:cNvPr id="6151" name="Text Box 7"/>
          <p:cNvSpPr txBox="1">
            <a:spLocks noChangeArrowheads="1"/>
          </p:cNvSpPr>
          <p:nvPr/>
        </p:nvSpPr>
        <p:spPr bwMode="auto">
          <a:xfrm>
            <a:off x="381000" y="1143000"/>
            <a:ext cx="84582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a:latin typeface="Arial" charset="0"/>
              </a:rPr>
              <a:t>To test whether the daily fluctuations are equally likely to be up as down, we assume that they are, and that any apparent difference from 50% is just random fluctuation.</a:t>
            </a:r>
          </a:p>
        </p:txBody>
      </p:sp>
      <p:pic>
        <p:nvPicPr>
          <p:cNvPr id="6152"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7800" y="2400300"/>
            <a:ext cx="34798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CC">
            <a:alpha val="61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7772400" cy="762000"/>
          </a:xfrm>
        </p:spPr>
        <p:txBody>
          <a:bodyPr/>
          <a:lstStyle/>
          <a:p>
            <a:pPr algn="l"/>
            <a:r>
              <a:rPr lang="en-US" sz="4000" dirty="0" smtClean="0">
                <a:solidFill>
                  <a:srgbClr val="669900"/>
                </a:solidFill>
              </a:rPr>
              <a:t>Hypotheses</a:t>
            </a:r>
            <a:endParaRPr lang="en-US" sz="4000" dirty="0">
              <a:solidFill>
                <a:srgbClr val="669900"/>
              </a:solidFill>
            </a:endParaRPr>
          </a:p>
        </p:txBody>
      </p:sp>
      <p:sp>
        <p:nvSpPr>
          <p:cNvPr id="3" name="Content Placeholder 2"/>
          <p:cNvSpPr>
            <a:spLocks noGrp="1"/>
          </p:cNvSpPr>
          <p:nvPr>
            <p:ph idx="1"/>
          </p:nvPr>
        </p:nvSpPr>
        <p:spPr>
          <a:xfrm>
            <a:off x="381000" y="1295400"/>
            <a:ext cx="8382000" cy="1981200"/>
          </a:xfrm>
          <a:solidFill>
            <a:srgbClr val="FFCC66"/>
          </a:solidFill>
        </p:spPr>
        <p:txBody>
          <a:bodyPr/>
          <a:lstStyle/>
          <a:p>
            <a:pPr marL="0" indent="0">
              <a:buNone/>
            </a:pPr>
            <a:r>
              <a:rPr lang="en-US" sz="2400" dirty="0" smtClean="0"/>
              <a:t>In its simplest form, a hypothesis is </a:t>
            </a:r>
            <a:r>
              <a:rPr lang="en-US" sz="2400" dirty="0" smtClean="0">
                <a:solidFill>
                  <a:srgbClr val="C00000"/>
                </a:solidFill>
              </a:rPr>
              <a:t>a claim or statement </a:t>
            </a:r>
            <a:r>
              <a:rPr lang="en-US" sz="2400" dirty="0" smtClean="0"/>
              <a:t>about the value of a single population </a:t>
            </a:r>
            <a:r>
              <a:rPr lang="en-US" sz="2400" dirty="0" smtClean="0"/>
              <a:t>parameter.</a:t>
            </a:r>
            <a:endParaRPr lang="en-US" sz="2400" dirty="0" smtClean="0"/>
          </a:p>
          <a:p>
            <a:pPr marL="0" indent="0">
              <a:buNone/>
            </a:pPr>
            <a:endParaRPr lang="en-US" sz="1200" dirty="0"/>
          </a:p>
          <a:p>
            <a:pPr marL="0" indent="0">
              <a:buNone/>
            </a:pPr>
            <a:r>
              <a:rPr lang="en-US" sz="2400" dirty="0" smtClean="0">
                <a:solidFill>
                  <a:srgbClr val="0070C0"/>
                </a:solidFill>
              </a:rPr>
              <a:t>The following are examples of hypotheses about population proportions:</a:t>
            </a:r>
            <a:endParaRPr lang="en-US" sz="2400" dirty="0">
              <a:solidFill>
                <a:srgbClr val="0070C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510684460"/>
              </p:ext>
            </p:extLst>
          </p:nvPr>
        </p:nvGraphicFramePr>
        <p:xfrm>
          <a:off x="533400" y="3429000"/>
          <a:ext cx="7993936" cy="3108960"/>
        </p:xfrm>
        <a:graphic>
          <a:graphicData uri="http://schemas.openxmlformats.org/drawingml/2006/table">
            <a:tbl>
              <a:tblPr firstRow="1" bandRow="1">
                <a:tableStyleId>{F5AB1C69-6EDB-4FF4-983F-18BD219EF322}</a:tableStyleId>
              </a:tblPr>
              <a:tblGrid>
                <a:gridCol w="1447800"/>
                <a:gridCol w="3463568"/>
                <a:gridCol w="3082568"/>
              </a:tblGrid>
              <a:tr h="370840">
                <a:tc>
                  <a:txBody>
                    <a:bodyPr/>
                    <a:lstStyle/>
                    <a:p>
                      <a:pPr algn="ctr"/>
                      <a:r>
                        <a:rPr lang="en-US" b="0" dirty="0" smtClean="0">
                          <a:solidFill>
                            <a:schemeClr val="bg1"/>
                          </a:solidFill>
                        </a:rPr>
                        <a:t>Hypothesis</a:t>
                      </a:r>
                      <a:endParaRPr lang="en-US" b="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9900"/>
                    </a:solidFill>
                  </a:tcPr>
                </a:tc>
                <a:tc>
                  <a:txBody>
                    <a:bodyPr/>
                    <a:lstStyle/>
                    <a:p>
                      <a:pPr algn="ctr"/>
                      <a:r>
                        <a:rPr lang="en-US" b="0" dirty="0" smtClean="0">
                          <a:solidFill>
                            <a:schemeClr val="bg1"/>
                          </a:solidFill>
                        </a:rPr>
                        <a:t>Population Proportion</a:t>
                      </a:r>
                      <a:r>
                        <a:rPr lang="en-US" b="0" baseline="0" dirty="0" smtClean="0">
                          <a:solidFill>
                            <a:schemeClr val="bg1"/>
                          </a:solidFill>
                        </a:rPr>
                        <a:t> of Interest</a:t>
                      </a:r>
                      <a:endParaRPr lang="en-US" b="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9900"/>
                    </a:solidFill>
                  </a:tcPr>
                </a:tc>
                <a:tc>
                  <a:txBody>
                    <a:bodyPr/>
                    <a:lstStyle/>
                    <a:p>
                      <a:pPr algn="ctr"/>
                      <a:r>
                        <a:rPr lang="en-US" b="0" smtClean="0">
                          <a:solidFill>
                            <a:schemeClr val="bg1"/>
                          </a:solidFill>
                        </a:rPr>
                        <a:t>The Hypothesis</a:t>
                      </a:r>
                      <a:r>
                        <a:rPr lang="en-US" b="0" baseline="0" smtClean="0">
                          <a:solidFill>
                            <a:schemeClr val="bg1"/>
                          </a:solidFill>
                        </a:rPr>
                        <a:t> says . . .</a:t>
                      </a:r>
                      <a:endParaRPr lang="en-US" b="0" dirty="0">
                        <a:solidFill>
                          <a:schemeClr val="bg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9900"/>
                    </a:solidFill>
                  </a:tcPr>
                </a:tc>
              </a:tr>
              <a:tr h="370840">
                <a:tc>
                  <a:txBody>
                    <a:bodyPr/>
                    <a:lstStyle/>
                    <a:p>
                      <a:pPr algn="ctr"/>
                      <a:r>
                        <a:rPr lang="en-US" sz="1600" i="1" dirty="0" smtClean="0">
                          <a:solidFill>
                            <a:srgbClr val="C00000"/>
                          </a:solidFill>
                        </a:rPr>
                        <a:t>p</a:t>
                      </a:r>
                      <a:r>
                        <a:rPr lang="en-US" sz="1600" dirty="0" smtClean="0">
                          <a:solidFill>
                            <a:srgbClr val="C00000"/>
                          </a:solidFill>
                        </a:rPr>
                        <a:t> &lt; 0.25</a:t>
                      </a:r>
                      <a:endParaRPr lang="en-US" sz="1600" dirty="0">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smtClean="0">
                          <a:solidFill>
                            <a:srgbClr val="C00000"/>
                          </a:solidFill>
                        </a:rPr>
                        <a:t>Where</a:t>
                      </a:r>
                      <a:r>
                        <a:rPr lang="en-US" sz="1600" i="1" dirty="0" smtClean="0">
                          <a:solidFill>
                            <a:srgbClr val="C00000"/>
                          </a:solidFill>
                        </a:rPr>
                        <a:t> p </a:t>
                      </a:r>
                      <a:r>
                        <a:rPr lang="en-US" sz="1600" dirty="0" smtClean="0">
                          <a:solidFill>
                            <a:srgbClr val="C00000"/>
                          </a:solidFill>
                        </a:rPr>
                        <a:t>is the proportion of      e-mail messages that included an attachment</a:t>
                      </a:r>
                      <a:endParaRPr lang="en-US" sz="160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smtClean="0">
                          <a:solidFill>
                            <a:srgbClr val="C00000"/>
                          </a:solidFill>
                        </a:rPr>
                        <a:t>Less than 25% of the e-mail messages sent included an attachment</a:t>
                      </a:r>
                      <a:endParaRPr lang="en-US" sz="1600" dirty="0">
                        <a:solidFill>
                          <a:srgbClr val="C00000"/>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sz="1600" i="1" dirty="0" smtClean="0">
                          <a:solidFill>
                            <a:srgbClr val="C00000"/>
                          </a:solidFill>
                        </a:rPr>
                        <a:t>p</a:t>
                      </a:r>
                      <a:r>
                        <a:rPr lang="en-US" sz="1600" dirty="0" smtClean="0">
                          <a:solidFill>
                            <a:srgbClr val="C00000"/>
                          </a:solidFill>
                        </a:rPr>
                        <a:t> &gt; 0.8</a:t>
                      </a:r>
                      <a:endParaRPr lang="en-US" sz="1600" dirty="0">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smtClean="0">
                          <a:solidFill>
                            <a:srgbClr val="C00000"/>
                          </a:solidFill>
                        </a:rPr>
                        <a:t>Where </a:t>
                      </a:r>
                      <a:r>
                        <a:rPr lang="en-US" sz="1600" i="1" dirty="0" smtClean="0">
                          <a:solidFill>
                            <a:srgbClr val="C00000"/>
                          </a:solidFill>
                        </a:rPr>
                        <a:t>p</a:t>
                      </a:r>
                      <a:r>
                        <a:rPr lang="en-US" sz="1600" dirty="0" smtClean="0">
                          <a:solidFill>
                            <a:srgbClr val="C00000"/>
                          </a:solidFill>
                        </a:rPr>
                        <a:t> is the proportion</a:t>
                      </a:r>
                      <a:r>
                        <a:rPr lang="en-US" sz="1600" baseline="0" dirty="0" smtClean="0">
                          <a:solidFill>
                            <a:srgbClr val="C00000"/>
                          </a:solidFill>
                        </a:rPr>
                        <a:t> of      e-mail messages that were longer than 500 characters</a:t>
                      </a:r>
                      <a:endParaRPr lang="en-US" sz="160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smtClean="0">
                          <a:solidFill>
                            <a:srgbClr val="C00000"/>
                          </a:solidFill>
                        </a:rPr>
                        <a:t>More than 80% of the e-mail messages sent</a:t>
                      </a:r>
                      <a:r>
                        <a:rPr lang="en-US" sz="1600" baseline="0" dirty="0" smtClean="0">
                          <a:solidFill>
                            <a:srgbClr val="C00000"/>
                          </a:solidFill>
                        </a:rPr>
                        <a:t> were longer than 500 characters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sz="1600" i="1" dirty="0" smtClean="0">
                          <a:solidFill>
                            <a:srgbClr val="C00000"/>
                          </a:solidFill>
                        </a:rPr>
                        <a:t>p</a:t>
                      </a:r>
                      <a:r>
                        <a:rPr lang="en-US" sz="1600" dirty="0" smtClean="0">
                          <a:solidFill>
                            <a:srgbClr val="C00000"/>
                          </a:solidFill>
                        </a:rPr>
                        <a:t> = 0.3</a:t>
                      </a:r>
                      <a:endParaRPr lang="en-US" sz="1600" dirty="0">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C00000"/>
                          </a:solidFill>
                        </a:rPr>
                        <a:t>Where </a:t>
                      </a:r>
                      <a:r>
                        <a:rPr lang="en-US" sz="1600" i="1" dirty="0" smtClean="0">
                          <a:solidFill>
                            <a:srgbClr val="C00000"/>
                          </a:solidFill>
                        </a:rPr>
                        <a:t>p</a:t>
                      </a:r>
                      <a:r>
                        <a:rPr lang="en-US" sz="1600" dirty="0" smtClean="0">
                          <a:solidFill>
                            <a:srgbClr val="C00000"/>
                          </a:solidFill>
                        </a:rPr>
                        <a:t> is the proportion</a:t>
                      </a:r>
                      <a:r>
                        <a:rPr lang="en-US" sz="1600" baseline="0" dirty="0" smtClean="0">
                          <a:solidFill>
                            <a:srgbClr val="C00000"/>
                          </a:solidFill>
                        </a:rPr>
                        <a:t> of      e-mail messages that were sent to multiple recipients</a:t>
                      </a:r>
                      <a:endParaRPr lang="en-US" sz="1600" dirty="0" smtClean="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smtClean="0">
                          <a:solidFill>
                            <a:srgbClr val="C00000"/>
                          </a:solidFill>
                        </a:rPr>
                        <a:t>30% of the e-mail messages sent were sent to multiple recipients</a:t>
                      </a:r>
                      <a:endParaRPr lang="en-US" sz="1600" dirty="0">
                        <a:solidFill>
                          <a:srgbClr val="C00000"/>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Rounded Rectangular Callout 6"/>
          <p:cNvSpPr/>
          <p:nvPr/>
        </p:nvSpPr>
        <p:spPr bwMode="auto">
          <a:xfrm>
            <a:off x="1880315" y="1524000"/>
            <a:ext cx="6553200" cy="1524000"/>
          </a:xfrm>
          <a:prstGeom prst="wedgeRoundRectCallout">
            <a:avLst>
              <a:gd name="adj1" fmla="val 25811"/>
              <a:gd name="adj2" fmla="val 82959"/>
              <a:gd name="adj3" fmla="val 16667"/>
            </a:avLst>
          </a:prstGeom>
          <a:solidFill>
            <a:srgbClr val="0070C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algn="ctr" eaLnBrk="0" hangingPunct="0"/>
            <a:r>
              <a:rPr lang="en-US" dirty="0">
                <a:solidFill>
                  <a:srgbClr val="FFFFFF"/>
                </a:solidFill>
                <a:latin typeface="Comic Sans MS"/>
                <a:cs typeface="+mn-cs"/>
              </a:rPr>
              <a:t>Hypotheses are </a:t>
            </a:r>
            <a:r>
              <a:rPr lang="en-US" dirty="0">
                <a:solidFill>
                  <a:srgbClr val="FFFF00"/>
                </a:solidFill>
                <a:latin typeface="Comic Sans MS"/>
                <a:cs typeface="+mn-cs"/>
              </a:rPr>
              <a:t>ALWAYS</a:t>
            </a:r>
            <a:r>
              <a:rPr lang="en-US" dirty="0">
                <a:solidFill>
                  <a:srgbClr val="FFFFFF"/>
                </a:solidFill>
                <a:latin typeface="Comic Sans MS"/>
                <a:cs typeface="+mn-cs"/>
              </a:rPr>
              <a:t> statements about the </a:t>
            </a:r>
            <a:r>
              <a:rPr lang="en-US" dirty="0">
                <a:solidFill>
                  <a:srgbClr val="FFFF00"/>
                </a:solidFill>
                <a:latin typeface="Comic Sans MS"/>
                <a:cs typeface="+mn-cs"/>
              </a:rPr>
              <a:t>population characteristic </a:t>
            </a:r>
            <a:r>
              <a:rPr lang="en-US" dirty="0">
                <a:solidFill>
                  <a:srgbClr val="FFFFFF"/>
                </a:solidFill>
                <a:latin typeface="Comic Sans MS"/>
                <a:cs typeface="+mn-cs"/>
              </a:rPr>
              <a:t>– </a:t>
            </a:r>
            <a:r>
              <a:rPr lang="en-US" u="sng" dirty="0">
                <a:solidFill>
                  <a:srgbClr val="FFFFFF"/>
                </a:solidFill>
                <a:latin typeface="Comic Sans MS"/>
                <a:cs typeface="+mn-cs"/>
              </a:rPr>
              <a:t>NEVER</a:t>
            </a:r>
            <a:r>
              <a:rPr lang="en-US" dirty="0">
                <a:solidFill>
                  <a:srgbClr val="FFFFFF"/>
                </a:solidFill>
                <a:latin typeface="Comic Sans MS"/>
                <a:cs typeface="+mn-cs"/>
              </a:rPr>
              <a:t> the sample statistic.</a:t>
            </a:r>
          </a:p>
        </p:txBody>
      </p:sp>
    </p:spTree>
    <p:extLst>
      <p:ext uri="{BB962C8B-B14F-4D97-AF65-F5344CB8AC3E}">
        <p14:creationId xmlns:p14="http://schemas.microsoft.com/office/powerpoint/2010/main" val="6050252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7458" name="Rectangle 2"/>
          <p:cNvSpPr>
            <a:spLocks noGrp="1" noChangeArrowheads="1"/>
          </p:cNvSpPr>
          <p:nvPr>
            <p:ph type="title"/>
          </p:nvPr>
        </p:nvSpPr>
        <p:spPr>
          <a:xfrm>
            <a:off x="304800" y="228600"/>
            <a:ext cx="8077200" cy="914400"/>
          </a:xfrm>
        </p:spPr>
        <p:txBody>
          <a:bodyPr/>
          <a:lstStyle/>
          <a:p>
            <a:pPr algn="l"/>
            <a:r>
              <a:rPr lang="en-US" sz="4000" b="0" dirty="0">
                <a:solidFill>
                  <a:srgbClr val="669900"/>
                </a:solidFill>
                <a:latin typeface="Comic Sans MS" pitchFamily="66" charset="0"/>
              </a:rPr>
              <a:t>Hypothesis statements:</a:t>
            </a:r>
          </a:p>
        </p:txBody>
      </p:sp>
      <p:sp>
        <p:nvSpPr>
          <p:cNvPr id="787459" name="Rectangle 3"/>
          <p:cNvSpPr>
            <a:spLocks noGrp="1" noChangeArrowheads="1"/>
          </p:cNvSpPr>
          <p:nvPr>
            <p:ph type="body" idx="1"/>
          </p:nvPr>
        </p:nvSpPr>
        <p:spPr>
          <a:xfrm>
            <a:off x="381000" y="1295400"/>
            <a:ext cx="8534400" cy="5181600"/>
          </a:xfrm>
          <a:solidFill>
            <a:srgbClr val="FFCC66"/>
          </a:solidFill>
        </p:spPr>
        <p:txBody>
          <a:bodyPr/>
          <a:lstStyle/>
          <a:p>
            <a:pPr marL="0" indent="0">
              <a:buFontTx/>
              <a:buNone/>
            </a:pPr>
            <a:r>
              <a:rPr lang="en-US" sz="2800" b="0" dirty="0">
                <a:latin typeface="Comic Sans MS" pitchFamily="66" charset="0"/>
              </a:rPr>
              <a:t>The</a:t>
            </a:r>
            <a:r>
              <a:rPr lang="en-US" sz="2800" dirty="0">
                <a:latin typeface="Comic Sans MS" pitchFamily="66" charset="0"/>
              </a:rPr>
              <a:t> </a:t>
            </a:r>
            <a:r>
              <a:rPr lang="en-US" sz="2800" dirty="0">
                <a:solidFill>
                  <a:srgbClr val="C00000"/>
                </a:solidFill>
                <a:latin typeface="Comic Sans MS" pitchFamily="66" charset="0"/>
              </a:rPr>
              <a:t>null hypothesis</a:t>
            </a:r>
            <a:r>
              <a:rPr lang="en-US" sz="2800" dirty="0">
                <a:latin typeface="Comic Sans MS" pitchFamily="66" charset="0"/>
              </a:rPr>
              <a:t>, </a:t>
            </a:r>
            <a:r>
              <a:rPr lang="en-US" sz="2800" b="0" dirty="0">
                <a:latin typeface="Comic Sans MS" pitchFamily="66" charset="0"/>
              </a:rPr>
              <a:t>denoted by </a:t>
            </a:r>
            <a:r>
              <a:rPr lang="en-US" sz="2800" dirty="0">
                <a:solidFill>
                  <a:srgbClr val="0070C0"/>
                </a:solidFill>
                <a:latin typeface="Comic Sans MS" pitchFamily="66" charset="0"/>
              </a:rPr>
              <a:t>H</a:t>
            </a:r>
            <a:r>
              <a:rPr lang="en-US" sz="2800" baseline="-25000" dirty="0">
                <a:solidFill>
                  <a:srgbClr val="0070C0"/>
                </a:solidFill>
                <a:latin typeface="Comic Sans MS" pitchFamily="66" charset="0"/>
              </a:rPr>
              <a:t>0</a:t>
            </a:r>
            <a:r>
              <a:rPr lang="en-US" sz="2800" dirty="0">
                <a:latin typeface="Comic Sans MS" pitchFamily="66" charset="0"/>
              </a:rPr>
              <a:t>, </a:t>
            </a:r>
            <a:r>
              <a:rPr lang="en-US" altLang="en-US" sz="2800" b="0" dirty="0" smtClean="0">
                <a:latin typeface="Comic Sans MS" panose="030F0702030302020204" pitchFamily="66" charset="0"/>
              </a:rPr>
              <a:t>specifies a population model parameter and proposes a value for that parameter</a:t>
            </a:r>
            <a:endParaRPr lang="en-US" sz="2800" dirty="0">
              <a:latin typeface="Comic Sans MS" pitchFamily="66" charset="0"/>
            </a:endParaRPr>
          </a:p>
          <a:p>
            <a:pPr marL="0" indent="0">
              <a:buFontTx/>
              <a:buNone/>
            </a:pPr>
            <a:endParaRPr lang="en-US" sz="2800" dirty="0">
              <a:latin typeface="Comic Sans MS" pitchFamily="66" charset="0"/>
            </a:endParaRPr>
          </a:p>
          <a:p>
            <a:pPr marL="0" indent="0">
              <a:buFontTx/>
              <a:buNone/>
            </a:pPr>
            <a:r>
              <a:rPr lang="en-US" sz="2800" b="0" dirty="0">
                <a:latin typeface="Comic Sans MS" pitchFamily="66" charset="0"/>
              </a:rPr>
              <a:t>The</a:t>
            </a:r>
            <a:r>
              <a:rPr lang="en-US" sz="2800" dirty="0">
                <a:latin typeface="Comic Sans MS" pitchFamily="66" charset="0"/>
              </a:rPr>
              <a:t> </a:t>
            </a:r>
            <a:r>
              <a:rPr lang="en-US" sz="2800" dirty="0">
                <a:solidFill>
                  <a:srgbClr val="C00000"/>
                </a:solidFill>
                <a:latin typeface="Comic Sans MS" pitchFamily="66" charset="0"/>
              </a:rPr>
              <a:t>alternative hypothesis</a:t>
            </a:r>
            <a:r>
              <a:rPr lang="en-US" sz="2800" dirty="0">
                <a:latin typeface="Comic Sans MS" pitchFamily="66" charset="0"/>
              </a:rPr>
              <a:t>, </a:t>
            </a:r>
            <a:r>
              <a:rPr lang="en-US" sz="2800" b="0" dirty="0">
                <a:latin typeface="Comic Sans MS" pitchFamily="66" charset="0"/>
              </a:rPr>
              <a:t>denoted by </a:t>
            </a:r>
            <a:r>
              <a:rPr lang="en-US" sz="2800" dirty="0" smtClean="0">
                <a:solidFill>
                  <a:srgbClr val="0070C0"/>
                </a:solidFill>
                <a:latin typeface="Comic Sans MS" pitchFamily="66" charset="0"/>
              </a:rPr>
              <a:t>H</a:t>
            </a:r>
            <a:r>
              <a:rPr lang="en-US" sz="2800" baseline="-25000" dirty="0" smtClean="0">
                <a:solidFill>
                  <a:srgbClr val="0070C0"/>
                </a:solidFill>
                <a:latin typeface="Comic Sans MS" pitchFamily="66" charset="0"/>
              </a:rPr>
              <a:t>a</a:t>
            </a:r>
            <a:r>
              <a:rPr lang="en-US" sz="2800" dirty="0" smtClean="0">
                <a:latin typeface="Comic Sans MS" pitchFamily="66" charset="0"/>
              </a:rPr>
              <a:t>, </a:t>
            </a:r>
            <a:r>
              <a:rPr lang="en-US" sz="2800" b="0" dirty="0" smtClean="0">
                <a:latin typeface="Comic Sans MS" pitchFamily="66" charset="0"/>
              </a:rPr>
              <a:t>is </a:t>
            </a:r>
            <a:r>
              <a:rPr lang="en-US" sz="2800" b="0" dirty="0">
                <a:latin typeface="Comic Sans MS" pitchFamily="66" charset="0"/>
              </a:rPr>
              <a:t>the</a:t>
            </a:r>
            <a:r>
              <a:rPr lang="en-US" sz="2800" dirty="0">
                <a:latin typeface="Comic Sans MS" pitchFamily="66" charset="0"/>
              </a:rPr>
              <a:t> </a:t>
            </a:r>
            <a:r>
              <a:rPr lang="en-US" sz="2800" dirty="0">
                <a:solidFill>
                  <a:srgbClr val="C00000"/>
                </a:solidFill>
                <a:latin typeface="Comic Sans MS" pitchFamily="66" charset="0"/>
              </a:rPr>
              <a:t>competing claim</a:t>
            </a:r>
            <a:r>
              <a:rPr lang="en-US" sz="2800" dirty="0" smtClean="0">
                <a:latin typeface="Comic Sans MS" pitchFamily="66" charset="0"/>
              </a:rPr>
              <a:t>.</a:t>
            </a:r>
          </a:p>
          <a:p>
            <a:pPr marL="0" indent="0">
              <a:buFontTx/>
              <a:buNone/>
            </a:pPr>
            <a:endParaRPr lang="en-US" sz="2800" dirty="0">
              <a:latin typeface="Comic Sans MS" pitchFamily="66" charset="0"/>
            </a:endParaRPr>
          </a:p>
          <a:p>
            <a:pPr marL="0" indent="0">
              <a:buFontTx/>
              <a:buNone/>
            </a:pPr>
            <a:r>
              <a:rPr lang="en-US" sz="2800" b="0" dirty="0" smtClean="0">
                <a:latin typeface="Comic Sans MS" pitchFamily="66" charset="0"/>
              </a:rPr>
              <a:t>Two possible conclusions in a hypothesis test are:</a:t>
            </a:r>
          </a:p>
          <a:p>
            <a:pPr marL="2746375"/>
            <a:r>
              <a:rPr lang="en-US" sz="2800" dirty="0" smtClean="0">
                <a:solidFill>
                  <a:srgbClr val="0070C0"/>
                </a:solidFill>
                <a:latin typeface="Comic Sans MS" pitchFamily="66" charset="0"/>
              </a:rPr>
              <a:t>Reject H</a:t>
            </a:r>
            <a:r>
              <a:rPr lang="en-US" sz="2800" baseline="-25000" dirty="0" smtClean="0">
                <a:solidFill>
                  <a:srgbClr val="0070C0"/>
                </a:solidFill>
                <a:latin typeface="Comic Sans MS" pitchFamily="66" charset="0"/>
              </a:rPr>
              <a:t>0</a:t>
            </a:r>
          </a:p>
          <a:p>
            <a:pPr marL="2746375"/>
            <a:r>
              <a:rPr lang="en-US" sz="2800" dirty="0" smtClean="0">
                <a:solidFill>
                  <a:srgbClr val="0070C0"/>
                </a:solidFill>
                <a:latin typeface="Comic Sans MS" pitchFamily="66" charset="0"/>
              </a:rPr>
              <a:t>Fail to reject H</a:t>
            </a:r>
            <a:r>
              <a:rPr lang="en-US" sz="2800" baseline="-25000" dirty="0" smtClean="0">
                <a:solidFill>
                  <a:srgbClr val="0070C0"/>
                </a:solidFill>
                <a:latin typeface="Comic Sans MS" pitchFamily="66" charset="0"/>
              </a:rPr>
              <a:t>0</a:t>
            </a:r>
            <a:endParaRPr lang="en-US" sz="2800" baseline="-25000" dirty="0">
              <a:solidFill>
                <a:srgbClr val="0070C0"/>
              </a:solidFill>
              <a:latin typeface="Comic Sans MS" pitchFamily="66" charset="0"/>
            </a:endParaRPr>
          </a:p>
        </p:txBody>
      </p:sp>
      <p:sp>
        <p:nvSpPr>
          <p:cNvPr id="2" name="Rounded Rectangular Callout 1"/>
          <p:cNvSpPr/>
          <p:nvPr/>
        </p:nvSpPr>
        <p:spPr bwMode="auto">
          <a:xfrm>
            <a:off x="609600" y="3162837"/>
            <a:ext cx="8153400" cy="1752600"/>
          </a:xfrm>
          <a:prstGeom prst="wedgeRoundRectCallout">
            <a:avLst>
              <a:gd name="adj1" fmla="val -20513"/>
              <a:gd name="adj2" fmla="val -79860"/>
              <a:gd name="adj3" fmla="val 16667"/>
            </a:avLst>
          </a:prstGeom>
          <a:solidFill>
            <a:srgbClr val="0070C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bg1"/>
                </a:solidFill>
                <a:effectLst/>
                <a:latin typeface="Comic Sans MS" panose="030F0702030302020204" pitchFamily="66" charset="0"/>
              </a:rPr>
              <a:t>In carrying out a test of H</a:t>
            </a:r>
            <a:r>
              <a:rPr kumimoji="0" lang="en-US" sz="2400" b="0" i="0" u="none" strike="noStrike" cap="none" normalizeH="0" baseline="-25000" dirty="0" smtClean="0">
                <a:ln>
                  <a:noFill/>
                </a:ln>
                <a:solidFill>
                  <a:schemeClr val="bg1"/>
                </a:solidFill>
                <a:effectLst/>
                <a:latin typeface="Comic Sans MS" panose="030F0702030302020204" pitchFamily="66" charset="0"/>
              </a:rPr>
              <a:t>0</a:t>
            </a:r>
            <a:r>
              <a:rPr kumimoji="0" lang="en-US" sz="2400" b="0" i="0" u="none" strike="noStrike" cap="none" normalizeH="0" baseline="0" dirty="0" smtClean="0">
                <a:ln>
                  <a:noFill/>
                </a:ln>
                <a:solidFill>
                  <a:schemeClr val="bg1"/>
                </a:solidFill>
                <a:effectLst/>
                <a:latin typeface="Comic Sans MS" panose="030F0702030302020204" pitchFamily="66" charset="0"/>
              </a:rPr>
              <a:t> versus H</a:t>
            </a:r>
            <a:r>
              <a:rPr kumimoji="0" lang="en-US" sz="2400" b="0" i="0" u="none" strike="noStrike" cap="none" normalizeH="0" baseline="-25000" dirty="0" smtClean="0">
                <a:ln>
                  <a:noFill/>
                </a:ln>
                <a:solidFill>
                  <a:schemeClr val="bg1"/>
                </a:solidFill>
                <a:effectLst/>
                <a:latin typeface="Comic Sans MS" panose="030F0702030302020204" pitchFamily="66" charset="0"/>
              </a:rPr>
              <a:t>a</a:t>
            </a:r>
            <a:r>
              <a:rPr kumimoji="0" lang="en-US" sz="2400" b="0" i="0" u="none" strike="noStrike" cap="none" normalizeH="0" baseline="0" dirty="0" smtClean="0">
                <a:ln>
                  <a:noFill/>
                </a:ln>
                <a:solidFill>
                  <a:schemeClr val="bg1"/>
                </a:solidFill>
                <a:effectLst/>
                <a:latin typeface="Comic Sans MS" panose="030F0702030302020204" pitchFamily="66" charset="0"/>
              </a:rPr>
              <a:t>, the null hypothesis H</a:t>
            </a:r>
            <a:r>
              <a:rPr kumimoji="0" lang="en-US" sz="2400" b="0" i="0" u="none" strike="noStrike" cap="none" normalizeH="0" baseline="-25000" dirty="0" smtClean="0">
                <a:ln>
                  <a:noFill/>
                </a:ln>
                <a:solidFill>
                  <a:schemeClr val="bg1"/>
                </a:solidFill>
                <a:effectLst/>
                <a:latin typeface="Comic Sans MS" panose="030F0702030302020204" pitchFamily="66" charset="0"/>
              </a:rPr>
              <a:t>0</a:t>
            </a:r>
            <a:r>
              <a:rPr kumimoji="0" lang="en-US" sz="2400" b="0" i="0" u="none" strike="noStrike" cap="none" normalizeH="0" baseline="0" dirty="0" smtClean="0">
                <a:ln>
                  <a:noFill/>
                </a:ln>
                <a:solidFill>
                  <a:schemeClr val="bg1"/>
                </a:solidFill>
                <a:effectLst/>
                <a:latin typeface="Comic Sans MS" panose="030F0702030302020204" pitchFamily="66" charset="0"/>
              </a:rPr>
              <a:t> is </a:t>
            </a:r>
            <a:r>
              <a:rPr kumimoji="0" lang="en-US" sz="2400" b="1" i="0" u="none" strike="noStrike" cap="none" normalizeH="0" baseline="0" dirty="0" smtClean="0">
                <a:ln>
                  <a:noFill/>
                </a:ln>
                <a:solidFill>
                  <a:srgbClr val="FFFF00"/>
                </a:solidFill>
                <a:effectLst/>
                <a:latin typeface="Comic Sans MS" panose="030F0702030302020204" pitchFamily="66" charset="0"/>
              </a:rPr>
              <a:t>rejected</a:t>
            </a:r>
            <a:r>
              <a:rPr kumimoji="0" lang="en-US" sz="2400" b="0" i="0" u="none" strike="noStrike" cap="none" normalizeH="0" baseline="0" dirty="0" smtClean="0">
                <a:ln>
                  <a:noFill/>
                </a:ln>
                <a:solidFill>
                  <a:schemeClr val="bg1"/>
                </a:solidFill>
                <a:effectLst/>
                <a:latin typeface="Comic Sans MS" panose="030F0702030302020204" pitchFamily="66" charset="0"/>
              </a:rPr>
              <a:t> in favor of the alternative</a:t>
            </a:r>
            <a:r>
              <a:rPr kumimoji="0" lang="en-US" sz="2400" b="0" i="0" u="none" strike="noStrike" cap="none" normalizeH="0" dirty="0" smtClean="0">
                <a:ln>
                  <a:noFill/>
                </a:ln>
                <a:solidFill>
                  <a:schemeClr val="bg1"/>
                </a:solidFill>
                <a:effectLst/>
                <a:latin typeface="Comic Sans MS" panose="030F0702030302020204" pitchFamily="66" charset="0"/>
              </a:rPr>
              <a:t> hypothesis H</a:t>
            </a:r>
            <a:r>
              <a:rPr kumimoji="0" lang="en-US" sz="2400" b="0" i="0" u="none" strike="noStrike" cap="none" normalizeH="0" baseline="-25000" dirty="0" smtClean="0">
                <a:ln>
                  <a:noFill/>
                </a:ln>
                <a:solidFill>
                  <a:schemeClr val="bg1"/>
                </a:solidFill>
                <a:effectLst/>
                <a:latin typeface="Comic Sans MS" panose="030F0702030302020204" pitchFamily="66" charset="0"/>
              </a:rPr>
              <a:t>a</a:t>
            </a:r>
            <a:r>
              <a:rPr kumimoji="0" lang="en-US" sz="2400" b="0" i="0" u="none" strike="noStrike" cap="none" normalizeH="0" dirty="0" smtClean="0">
                <a:ln>
                  <a:noFill/>
                </a:ln>
                <a:solidFill>
                  <a:schemeClr val="bg1"/>
                </a:solidFill>
                <a:effectLst/>
                <a:latin typeface="Comic Sans MS" panose="030F0702030302020204" pitchFamily="66" charset="0"/>
              </a:rPr>
              <a:t> </a:t>
            </a:r>
            <a:r>
              <a:rPr kumimoji="0" lang="en-US" sz="2400" b="0" i="0" u="none" strike="noStrike" cap="none" normalizeH="0" dirty="0" smtClean="0">
                <a:ln>
                  <a:noFill/>
                </a:ln>
                <a:solidFill>
                  <a:srgbClr val="FFFF00"/>
                </a:solidFill>
                <a:effectLst/>
                <a:latin typeface="Comic Sans MS" panose="030F0702030302020204" pitchFamily="66" charset="0"/>
              </a:rPr>
              <a:t>ONLY</a:t>
            </a:r>
            <a:r>
              <a:rPr kumimoji="0" lang="en-US" sz="2400" b="0" i="0" u="none" strike="noStrike" cap="none" normalizeH="0" dirty="0" smtClean="0">
                <a:ln>
                  <a:noFill/>
                </a:ln>
                <a:solidFill>
                  <a:schemeClr val="bg1"/>
                </a:solidFill>
                <a:effectLst/>
                <a:latin typeface="Comic Sans MS" panose="030F0702030302020204" pitchFamily="66" charset="0"/>
              </a:rPr>
              <a:t> if the sample data provide </a:t>
            </a:r>
            <a:r>
              <a:rPr kumimoji="0" lang="en-US" sz="2400" b="0" i="0" u="none" strike="noStrike" cap="none" normalizeH="0" dirty="0" smtClean="0">
                <a:ln>
                  <a:noFill/>
                </a:ln>
                <a:solidFill>
                  <a:srgbClr val="FFFF00"/>
                </a:solidFill>
                <a:effectLst/>
                <a:latin typeface="Comic Sans MS" panose="030F0702030302020204" pitchFamily="66" charset="0"/>
              </a:rPr>
              <a:t>convincing evidence that H</a:t>
            </a:r>
            <a:r>
              <a:rPr kumimoji="0" lang="en-US" sz="2400" b="0" i="0" u="none" strike="noStrike" cap="none" normalizeH="0" baseline="-25000" dirty="0" smtClean="0">
                <a:ln>
                  <a:noFill/>
                </a:ln>
                <a:solidFill>
                  <a:srgbClr val="FFFF00"/>
                </a:solidFill>
                <a:effectLst/>
                <a:latin typeface="Comic Sans MS" panose="030F0702030302020204" pitchFamily="66" charset="0"/>
              </a:rPr>
              <a:t>0</a:t>
            </a:r>
            <a:r>
              <a:rPr kumimoji="0" lang="en-US" sz="2400" b="0" i="0" u="none" strike="noStrike" cap="none" normalizeH="0" dirty="0" smtClean="0">
                <a:ln>
                  <a:noFill/>
                </a:ln>
                <a:solidFill>
                  <a:srgbClr val="FFFF00"/>
                </a:solidFill>
                <a:effectLst/>
                <a:latin typeface="Comic Sans MS" panose="030F0702030302020204" pitchFamily="66" charset="0"/>
              </a:rPr>
              <a:t> is false</a:t>
            </a:r>
            <a:r>
              <a:rPr kumimoji="0" lang="en-US" sz="2400" b="0" i="0" u="none" strike="noStrike" cap="none" normalizeH="0" dirty="0" smtClean="0">
                <a:ln>
                  <a:noFill/>
                </a:ln>
                <a:solidFill>
                  <a:schemeClr val="bg1"/>
                </a:solidFill>
                <a:effectLst/>
                <a:latin typeface="Comic Sans MS" panose="030F0702030302020204" pitchFamily="66" charset="0"/>
              </a:rPr>
              <a:t>.</a:t>
            </a:r>
            <a:endParaRPr kumimoji="0" lang="en-US" sz="2400" b="0" i="0" u="none" strike="noStrike" cap="none" normalizeH="0" baseline="0" dirty="0" smtClean="0">
              <a:ln>
                <a:noFill/>
              </a:ln>
              <a:solidFill>
                <a:schemeClr val="bg1"/>
              </a:solidFill>
              <a:effectLst/>
              <a:latin typeface="Comic Sans MS" panose="030F0702030302020204" pitchFamily="66" charset="0"/>
            </a:endParaRPr>
          </a:p>
        </p:txBody>
      </p:sp>
      <p:sp>
        <p:nvSpPr>
          <p:cNvPr id="9" name="Rounded Rectangular Callout 8"/>
          <p:cNvSpPr/>
          <p:nvPr/>
        </p:nvSpPr>
        <p:spPr bwMode="auto">
          <a:xfrm>
            <a:off x="1524000" y="3200400"/>
            <a:ext cx="7071619" cy="1143000"/>
          </a:xfrm>
          <a:prstGeom prst="wedgeRoundRectCallout">
            <a:avLst>
              <a:gd name="adj1" fmla="val -20513"/>
              <a:gd name="adj2" fmla="val -79860"/>
              <a:gd name="adj3" fmla="val 16667"/>
            </a:avLst>
          </a:prstGeom>
          <a:solidFill>
            <a:srgbClr val="C000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bg1"/>
                </a:solidFill>
                <a:effectLst/>
                <a:latin typeface="Comic Sans MS" panose="030F0702030302020204" pitchFamily="66" charset="0"/>
              </a:rPr>
              <a:t>If the sample data do not provide such evidence, </a:t>
            </a:r>
            <a:r>
              <a:rPr kumimoji="0" lang="en-US" sz="2400" b="0" i="0" u="none" strike="noStrike" cap="none" normalizeH="0" baseline="0" dirty="0" smtClean="0">
                <a:ln>
                  <a:noFill/>
                </a:ln>
                <a:solidFill>
                  <a:srgbClr val="FFFF00"/>
                </a:solidFill>
                <a:effectLst/>
                <a:latin typeface="Comic Sans MS" panose="030F0702030302020204" pitchFamily="66" charset="0"/>
              </a:rPr>
              <a:t>H</a:t>
            </a:r>
            <a:r>
              <a:rPr kumimoji="0" lang="en-US" sz="2400" b="0" i="0" u="none" strike="noStrike" cap="none" normalizeH="0" baseline="-25000" dirty="0" smtClean="0">
                <a:ln>
                  <a:noFill/>
                </a:ln>
                <a:solidFill>
                  <a:srgbClr val="FFFF00"/>
                </a:solidFill>
                <a:effectLst/>
                <a:latin typeface="Comic Sans MS" panose="030F0702030302020204" pitchFamily="66" charset="0"/>
              </a:rPr>
              <a:t>0</a:t>
            </a:r>
            <a:r>
              <a:rPr kumimoji="0" lang="en-US" sz="2400" b="0" i="0" u="none" strike="noStrike" cap="none" normalizeH="0" baseline="0" dirty="0" smtClean="0">
                <a:ln>
                  <a:noFill/>
                </a:ln>
                <a:solidFill>
                  <a:srgbClr val="FFFF00"/>
                </a:solidFill>
                <a:effectLst/>
                <a:latin typeface="Comic Sans MS" panose="030F0702030302020204" pitchFamily="66" charset="0"/>
              </a:rPr>
              <a:t> is not rejected</a:t>
            </a:r>
            <a:r>
              <a:rPr kumimoji="0" lang="en-US" sz="2400" b="0" i="0" u="none" strike="noStrike" cap="none" normalizeH="0" baseline="0" dirty="0" smtClean="0">
                <a:ln>
                  <a:noFill/>
                </a:ln>
                <a:solidFill>
                  <a:schemeClr val="bg1"/>
                </a:solidFill>
                <a:effectLst/>
                <a:latin typeface="Comic Sans MS" panose="030F0702030302020204" pitchFamily="66" charset="0"/>
              </a:rPr>
              <a:t>.</a:t>
            </a:r>
          </a:p>
        </p:txBody>
      </p:sp>
      <p:sp>
        <p:nvSpPr>
          <p:cNvPr id="4" name="Rounded Rectangular Callout 3"/>
          <p:cNvSpPr/>
          <p:nvPr/>
        </p:nvSpPr>
        <p:spPr bwMode="auto">
          <a:xfrm>
            <a:off x="1295400" y="3667934"/>
            <a:ext cx="7086600" cy="1247503"/>
          </a:xfrm>
          <a:prstGeom prst="wedgeRoundRectCallout">
            <a:avLst/>
          </a:prstGeom>
          <a:solidFill>
            <a:srgbClr val="6699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bg1"/>
                </a:solidFill>
                <a:effectLst/>
                <a:latin typeface="Comic Sans MS" panose="030F0702030302020204" pitchFamily="66" charset="0"/>
              </a:rPr>
              <a:t>Notice that the </a:t>
            </a:r>
            <a:r>
              <a:rPr kumimoji="0" lang="en-US" sz="2400" b="0" i="0" u="none" strike="noStrike" cap="none" normalizeH="0" baseline="0" dirty="0" smtClean="0">
                <a:ln>
                  <a:noFill/>
                </a:ln>
                <a:solidFill>
                  <a:srgbClr val="FFFF00"/>
                </a:solidFill>
                <a:effectLst/>
                <a:latin typeface="Comic Sans MS" panose="030F0702030302020204" pitchFamily="66" charset="0"/>
              </a:rPr>
              <a:t>conclusions are made about the null hypothesis </a:t>
            </a:r>
            <a:r>
              <a:rPr kumimoji="0" lang="en-US" sz="2400" b="0" i="0" u="sng" strike="noStrike" cap="none" normalizeH="0" baseline="0" dirty="0" smtClean="0">
                <a:ln>
                  <a:noFill/>
                </a:ln>
                <a:solidFill>
                  <a:schemeClr val="bg1"/>
                </a:solidFill>
                <a:effectLst/>
                <a:latin typeface="Comic Sans MS" panose="030F0702030302020204" pitchFamily="66" charset="0"/>
              </a:rPr>
              <a:t>NOT</a:t>
            </a:r>
            <a:r>
              <a:rPr kumimoji="0" lang="en-US" sz="2400" b="0" i="0" u="none" strike="noStrike" cap="none" normalizeH="0" baseline="0" dirty="0" smtClean="0">
                <a:ln>
                  <a:noFill/>
                </a:ln>
                <a:solidFill>
                  <a:schemeClr val="bg1"/>
                </a:solidFill>
                <a:effectLst/>
                <a:latin typeface="Comic Sans MS" panose="030F0702030302020204" pitchFamily="66" charset="0"/>
              </a:rPr>
              <a:t> about the alternative!</a:t>
            </a:r>
          </a:p>
        </p:txBody>
      </p:sp>
    </p:spTree>
    <p:extLst>
      <p:ext uri="{BB962C8B-B14F-4D97-AF65-F5344CB8AC3E}">
        <p14:creationId xmlns:p14="http://schemas.microsoft.com/office/powerpoint/2010/main" val="28597275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745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8745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8745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8745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7459" grpId="0" build="p" autoUpdateAnimBg="0"/>
      <p:bldP spid="2" grpId="0" animBg="1"/>
      <p:bldP spid="9"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bg>
      <p:bgPr>
        <a:solidFill>
          <a:srgbClr val="FFFFCC">
            <a:alpha val="60784"/>
          </a:srgbClr>
        </a:solidFill>
        <a:effectLst/>
      </p:bgPr>
    </p:bg>
    <p:spTree>
      <p:nvGrpSpPr>
        <p:cNvPr id="1" name=""/>
        <p:cNvGrpSpPr/>
        <p:nvPr/>
      </p:nvGrpSpPr>
      <p:grpSpPr>
        <a:xfrm>
          <a:off x="0" y="0"/>
          <a:ext cx="0" cy="0"/>
          <a:chOff x="0" y="0"/>
          <a:chExt cx="0" cy="0"/>
        </a:xfrm>
      </p:grpSpPr>
      <p:sp>
        <p:nvSpPr>
          <p:cNvPr id="788482" name="Rectangle 2"/>
          <p:cNvSpPr>
            <a:spLocks noGrp="1" noChangeArrowheads="1"/>
          </p:cNvSpPr>
          <p:nvPr>
            <p:ph type="title"/>
          </p:nvPr>
        </p:nvSpPr>
        <p:spPr>
          <a:xfrm>
            <a:off x="228600" y="304800"/>
            <a:ext cx="8229600" cy="762000"/>
          </a:xfrm>
        </p:spPr>
        <p:txBody>
          <a:bodyPr/>
          <a:lstStyle/>
          <a:p>
            <a:pPr algn="l"/>
            <a:r>
              <a:rPr lang="en-US" sz="4000" dirty="0">
                <a:solidFill>
                  <a:srgbClr val="669900"/>
                </a:solidFill>
                <a:latin typeface="Comic Sans MS" pitchFamily="66" charset="0"/>
              </a:rPr>
              <a:t>The Form of Hypotheses:</a:t>
            </a:r>
          </a:p>
        </p:txBody>
      </p:sp>
      <p:sp>
        <p:nvSpPr>
          <p:cNvPr id="788483" name="Rectangle 3"/>
          <p:cNvSpPr>
            <a:spLocks noGrp="1" noChangeArrowheads="1"/>
          </p:cNvSpPr>
          <p:nvPr>
            <p:ph type="body" idx="1"/>
          </p:nvPr>
        </p:nvSpPr>
        <p:spPr>
          <a:xfrm>
            <a:off x="114300" y="1447800"/>
            <a:ext cx="8839200" cy="4572000"/>
          </a:xfrm>
          <a:solidFill>
            <a:srgbClr val="FFCC66"/>
          </a:solidFill>
        </p:spPr>
        <p:txBody>
          <a:bodyPr/>
          <a:lstStyle/>
          <a:p>
            <a:pPr marL="0" indent="0">
              <a:buFontTx/>
              <a:buNone/>
            </a:pPr>
            <a:r>
              <a:rPr lang="en-US" sz="2800" dirty="0">
                <a:solidFill>
                  <a:srgbClr val="0070C0"/>
                </a:solidFill>
                <a:latin typeface="Comic Sans MS" pitchFamily="66" charset="0"/>
              </a:rPr>
              <a:t>Null hypothesis</a:t>
            </a:r>
          </a:p>
          <a:p>
            <a:pPr marL="0" indent="0">
              <a:buFontTx/>
              <a:buNone/>
            </a:pPr>
            <a:r>
              <a:rPr lang="en-US" sz="2800" dirty="0">
                <a:solidFill>
                  <a:srgbClr val="00CC00"/>
                </a:solidFill>
                <a:latin typeface="Comic Sans MS" pitchFamily="66" charset="0"/>
              </a:rPr>
              <a:t>   </a:t>
            </a:r>
            <a:r>
              <a:rPr lang="en-US" sz="2800" dirty="0">
                <a:latin typeface="Comic Sans MS" pitchFamily="66" charset="0"/>
              </a:rPr>
              <a:t>H</a:t>
            </a:r>
            <a:r>
              <a:rPr lang="en-US" sz="2800" baseline="-25000" dirty="0">
                <a:latin typeface="Comic Sans MS" pitchFamily="66" charset="0"/>
              </a:rPr>
              <a:t>0</a:t>
            </a:r>
            <a:r>
              <a:rPr lang="en-US" sz="2800" dirty="0">
                <a:latin typeface="Comic Sans MS" pitchFamily="66" charset="0"/>
              </a:rPr>
              <a:t>: population characteristic = hypothesized value</a:t>
            </a:r>
          </a:p>
          <a:p>
            <a:pPr marL="0" indent="0">
              <a:buFontTx/>
              <a:buNone/>
            </a:pPr>
            <a:endParaRPr lang="en-US" sz="2800" dirty="0">
              <a:solidFill>
                <a:srgbClr val="00CC00"/>
              </a:solidFill>
              <a:latin typeface="Comic Sans MS" pitchFamily="66" charset="0"/>
            </a:endParaRPr>
          </a:p>
          <a:p>
            <a:pPr marL="0" indent="0">
              <a:buFontTx/>
              <a:buNone/>
            </a:pPr>
            <a:r>
              <a:rPr lang="en-US" sz="2800" dirty="0">
                <a:solidFill>
                  <a:srgbClr val="0070C0"/>
                </a:solidFill>
                <a:latin typeface="Comic Sans MS" pitchFamily="66" charset="0"/>
              </a:rPr>
              <a:t>Alternative hypothesis</a:t>
            </a:r>
          </a:p>
          <a:p>
            <a:pPr marL="0" indent="0">
              <a:buFontTx/>
              <a:buNone/>
            </a:pPr>
            <a:r>
              <a:rPr lang="en-US" sz="2800" dirty="0">
                <a:solidFill>
                  <a:srgbClr val="00CC00"/>
                </a:solidFill>
                <a:latin typeface="Comic Sans MS" pitchFamily="66" charset="0"/>
              </a:rPr>
              <a:t>   </a:t>
            </a:r>
            <a:r>
              <a:rPr lang="en-US" sz="2800" dirty="0">
                <a:latin typeface="Comic Sans MS" pitchFamily="66" charset="0"/>
              </a:rPr>
              <a:t>H</a:t>
            </a:r>
            <a:r>
              <a:rPr lang="en-US" sz="2800" baseline="-25000" dirty="0">
                <a:latin typeface="Comic Sans MS" pitchFamily="66" charset="0"/>
              </a:rPr>
              <a:t>a</a:t>
            </a:r>
            <a:r>
              <a:rPr lang="en-US" sz="2800" dirty="0">
                <a:latin typeface="Comic Sans MS" pitchFamily="66" charset="0"/>
              </a:rPr>
              <a:t>: population characteristic &gt; hypothesized value</a:t>
            </a:r>
          </a:p>
          <a:p>
            <a:pPr marL="0" indent="0">
              <a:buFontTx/>
              <a:buNone/>
            </a:pPr>
            <a:r>
              <a:rPr lang="en-US" sz="2800" dirty="0">
                <a:latin typeface="Comic Sans MS" pitchFamily="66" charset="0"/>
              </a:rPr>
              <a:t>   H</a:t>
            </a:r>
            <a:r>
              <a:rPr lang="en-US" sz="2800" baseline="-25000" dirty="0">
                <a:latin typeface="Comic Sans MS" pitchFamily="66" charset="0"/>
              </a:rPr>
              <a:t>a</a:t>
            </a:r>
            <a:r>
              <a:rPr lang="en-US" sz="2800" dirty="0">
                <a:latin typeface="Comic Sans MS" pitchFamily="66" charset="0"/>
              </a:rPr>
              <a:t>: population characteristic &lt; hypothesized value</a:t>
            </a:r>
          </a:p>
          <a:p>
            <a:pPr marL="0" indent="0">
              <a:buFontTx/>
              <a:buNone/>
            </a:pPr>
            <a:r>
              <a:rPr lang="en-US" sz="2800" dirty="0">
                <a:latin typeface="Comic Sans MS" pitchFamily="66" charset="0"/>
              </a:rPr>
              <a:t>   H</a:t>
            </a:r>
            <a:r>
              <a:rPr lang="en-US" sz="2800" baseline="-25000" dirty="0">
                <a:latin typeface="Comic Sans MS" pitchFamily="66" charset="0"/>
              </a:rPr>
              <a:t>a</a:t>
            </a:r>
            <a:r>
              <a:rPr lang="en-US" sz="2800" dirty="0">
                <a:latin typeface="Comic Sans MS" pitchFamily="66" charset="0"/>
              </a:rPr>
              <a:t>: population characteristic ≠ hypothesized value</a:t>
            </a:r>
          </a:p>
          <a:p>
            <a:pPr marL="0" indent="0">
              <a:buFontTx/>
              <a:buNone/>
            </a:pPr>
            <a:endParaRPr lang="en-US" sz="2800" dirty="0">
              <a:latin typeface="Comic Sans MS" pitchFamily="66" charset="0"/>
            </a:endParaRPr>
          </a:p>
          <a:p>
            <a:pPr marL="0" indent="0">
              <a:buFontTx/>
              <a:buNone/>
            </a:pPr>
            <a:endParaRPr lang="en-US" sz="2800" dirty="0">
              <a:latin typeface="Comic Sans MS" pitchFamily="66" charset="0"/>
            </a:endParaRPr>
          </a:p>
        </p:txBody>
      </p:sp>
      <p:sp>
        <p:nvSpPr>
          <p:cNvPr id="788494" name="Line 14"/>
          <p:cNvSpPr>
            <a:spLocks noChangeShapeType="1"/>
          </p:cNvSpPr>
          <p:nvPr/>
        </p:nvSpPr>
        <p:spPr bwMode="auto">
          <a:xfrm>
            <a:off x="2971800" y="2419350"/>
            <a:ext cx="0" cy="1143000"/>
          </a:xfrm>
          <a:prstGeom prst="line">
            <a:avLst/>
          </a:prstGeom>
          <a:noFill/>
          <a:ln w="381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00"/>
              </a:solidFill>
              <a:latin typeface="Times New Roman" pitchFamily="18" charset="0"/>
              <a:cs typeface="+mn-cs"/>
            </a:endParaRPr>
          </a:p>
        </p:txBody>
      </p:sp>
      <p:sp>
        <p:nvSpPr>
          <p:cNvPr id="788495" name="Line 15"/>
          <p:cNvSpPr>
            <a:spLocks noChangeShapeType="1"/>
          </p:cNvSpPr>
          <p:nvPr/>
        </p:nvSpPr>
        <p:spPr bwMode="auto">
          <a:xfrm>
            <a:off x="7315200" y="2419350"/>
            <a:ext cx="0" cy="1143000"/>
          </a:xfrm>
          <a:prstGeom prst="line">
            <a:avLst/>
          </a:prstGeom>
          <a:noFill/>
          <a:ln w="381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00"/>
              </a:solidFill>
              <a:latin typeface="Times New Roman" pitchFamily="18" charset="0"/>
              <a:cs typeface="+mn-cs"/>
            </a:endParaRPr>
          </a:p>
        </p:txBody>
      </p:sp>
      <p:sp>
        <p:nvSpPr>
          <p:cNvPr id="788496" name="Oval 16"/>
          <p:cNvSpPr>
            <a:spLocks noChangeArrowheads="1"/>
          </p:cNvSpPr>
          <p:nvPr/>
        </p:nvSpPr>
        <p:spPr bwMode="auto">
          <a:xfrm>
            <a:off x="5181600" y="3505200"/>
            <a:ext cx="533400" cy="533400"/>
          </a:xfrm>
          <a:prstGeom prst="ellipse">
            <a:avLst/>
          </a:prstGeom>
          <a:noFill/>
          <a:ln w="38100" algn="ctr">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latin typeface="Times New Roman" pitchFamily="18" charset="0"/>
              <a:cs typeface="+mn-cs"/>
            </a:endParaRPr>
          </a:p>
        </p:txBody>
      </p:sp>
      <p:sp>
        <p:nvSpPr>
          <p:cNvPr id="788499" name="Oval 19"/>
          <p:cNvSpPr>
            <a:spLocks noChangeArrowheads="1"/>
          </p:cNvSpPr>
          <p:nvPr/>
        </p:nvSpPr>
        <p:spPr bwMode="auto">
          <a:xfrm>
            <a:off x="5124450" y="3505200"/>
            <a:ext cx="609600" cy="1066800"/>
          </a:xfrm>
          <a:prstGeom prst="ellipse">
            <a:avLst/>
          </a:prstGeom>
          <a:noFill/>
          <a:ln w="38100" algn="ctr">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latin typeface="Times New Roman" pitchFamily="18" charset="0"/>
              <a:cs typeface="+mn-cs"/>
            </a:endParaRPr>
          </a:p>
        </p:txBody>
      </p:sp>
      <p:sp>
        <p:nvSpPr>
          <p:cNvPr id="788500" name="AutoShape 20"/>
          <p:cNvSpPr>
            <a:spLocks noChangeArrowheads="1"/>
          </p:cNvSpPr>
          <p:nvPr/>
        </p:nvSpPr>
        <p:spPr bwMode="auto">
          <a:xfrm>
            <a:off x="836023" y="1295400"/>
            <a:ext cx="4800600" cy="1600200"/>
          </a:xfrm>
          <a:prstGeom prst="wedgeRoundRectCallout">
            <a:avLst>
              <a:gd name="adj1" fmla="val 40265"/>
              <a:gd name="adj2" fmla="val 173302"/>
              <a:gd name="adj3" fmla="val 16667"/>
            </a:avLst>
          </a:prstGeom>
          <a:solidFill>
            <a:srgbClr val="669900"/>
          </a:solidFill>
          <a:ln>
            <a:noFill/>
          </a:ln>
          <a:effectLst/>
          <a:extLst/>
        </p:spPr>
        <p:txBody>
          <a:bodyPr/>
          <a:lstStyle/>
          <a:p>
            <a:pPr algn="ctr"/>
            <a:r>
              <a:rPr lang="en-US" dirty="0">
                <a:solidFill>
                  <a:srgbClr val="FFFFFF"/>
                </a:solidFill>
                <a:latin typeface="Comic Sans MS"/>
                <a:cs typeface="+mn-cs"/>
              </a:rPr>
              <a:t>This one is considered a </a:t>
            </a:r>
            <a:r>
              <a:rPr lang="en-US" dirty="0">
                <a:solidFill>
                  <a:srgbClr val="FFFF00"/>
                </a:solidFill>
                <a:latin typeface="Comic Sans MS"/>
                <a:cs typeface="+mn-cs"/>
              </a:rPr>
              <a:t>two-tailed test</a:t>
            </a:r>
            <a:r>
              <a:rPr lang="en-US" dirty="0">
                <a:solidFill>
                  <a:srgbClr val="FFFFFF"/>
                </a:solidFill>
                <a:latin typeface="Comic Sans MS"/>
                <a:cs typeface="+mn-cs"/>
              </a:rPr>
              <a:t> because you are interested in both </a:t>
            </a:r>
            <a:r>
              <a:rPr lang="en-US" dirty="0">
                <a:solidFill>
                  <a:srgbClr val="FFFFFF"/>
                </a:solidFill>
                <a:latin typeface="Comic Sans MS"/>
                <a:cs typeface="+mn-cs"/>
              </a:rPr>
              <a:t>directions.</a:t>
            </a:r>
            <a:endParaRPr lang="en-US" dirty="0">
              <a:solidFill>
                <a:srgbClr val="FFFFFF"/>
              </a:solidFill>
              <a:latin typeface="Comic Sans MS"/>
              <a:cs typeface="+mn-cs"/>
            </a:endParaRPr>
          </a:p>
        </p:txBody>
      </p:sp>
      <p:sp>
        <p:nvSpPr>
          <p:cNvPr id="788502" name="Oval 22"/>
          <p:cNvSpPr>
            <a:spLocks noChangeArrowheads="1"/>
          </p:cNvSpPr>
          <p:nvPr/>
        </p:nvSpPr>
        <p:spPr bwMode="auto">
          <a:xfrm>
            <a:off x="5181600" y="4572000"/>
            <a:ext cx="533400" cy="533400"/>
          </a:xfrm>
          <a:prstGeom prst="ellipse">
            <a:avLst/>
          </a:prstGeom>
          <a:noFill/>
          <a:ln w="38100" algn="ctr">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latin typeface="Times New Roman" pitchFamily="18" charset="0"/>
              <a:cs typeface="+mn-cs"/>
            </a:endParaRPr>
          </a:p>
        </p:txBody>
      </p:sp>
      <p:sp>
        <p:nvSpPr>
          <p:cNvPr id="788492" name="AutoShape 12"/>
          <p:cNvSpPr>
            <a:spLocks noChangeArrowheads="1"/>
          </p:cNvSpPr>
          <p:nvPr/>
        </p:nvSpPr>
        <p:spPr bwMode="auto">
          <a:xfrm>
            <a:off x="2438400" y="3132908"/>
            <a:ext cx="4800600" cy="1058092"/>
          </a:xfrm>
          <a:prstGeom prst="wedgeRoundRectCallout">
            <a:avLst>
              <a:gd name="adj1" fmla="val 8236"/>
              <a:gd name="adj2" fmla="val -99421"/>
              <a:gd name="adj3" fmla="val 16667"/>
            </a:avLst>
          </a:prstGeom>
          <a:solidFill>
            <a:srgbClr val="0070C0"/>
          </a:solidFill>
          <a:ln>
            <a:noFill/>
          </a:ln>
          <a:effectLst/>
          <a:extLst/>
        </p:spPr>
        <p:txBody>
          <a:bodyPr/>
          <a:lstStyle/>
          <a:p>
            <a:pPr algn="ctr"/>
            <a:r>
              <a:rPr lang="en-US" dirty="0">
                <a:solidFill>
                  <a:srgbClr val="FFFFFF"/>
                </a:solidFill>
                <a:latin typeface="Comic Sans MS"/>
                <a:cs typeface="+mn-cs"/>
              </a:rPr>
              <a:t>The null hypothesis always includes the equal case.</a:t>
            </a:r>
          </a:p>
        </p:txBody>
      </p:sp>
      <p:sp>
        <p:nvSpPr>
          <p:cNvPr id="788491" name="AutoShape 11"/>
          <p:cNvSpPr>
            <a:spLocks noChangeArrowheads="1"/>
          </p:cNvSpPr>
          <p:nvPr/>
        </p:nvSpPr>
        <p:spPr bwMode="auto">
          <a:xfrm>
            <a:off x="3886200" y="3810000"/>
            <a:ext cx="5029200" cy="1562100"/>
          </a:xfrm>
          <a:prstGeom prst="wedgeRoundRectCallout">
            <a:avLst>
              <a:gd name="adj1" fmla="val 9819"/>
              <a:gd name="adj2" fmla="val -134755"/>
              <a:gd name="adj3" fmla="val 16667"/>
            </a:avLst>
          </a:prstGeom>
          <a:solidFill>
            <a:srgbClr val="C00000"/>
          </a:solidFill>
          <a:ln>
            <a:noFill/>
          </a:ln>
          <a:effectLst/>
          <a:extLst/>
        </p:spPr>
        <p:txBody>
          <a:bodyPr/>
          <a:lstStyle/>
          <a:p>
            <a:pPr algn="ctr"/>
            <a:r>
              <a:rPr lang="en-US" dirty="0">
                <a:solidFill>
                  <a:srgbClr val="FFFFFF"/>
                </a:solidFill>
                <a:latin typeface="Comic Sans MS"/>
                <a:cs typeface="+mn-cs"/>
              </a:rPr>
              <a:t>This hypothesized value is a specific number determined by the context of the problem</a:t>
            </a:r>
          </a:p>
        </p:txBody>
      </p:sp>
      <p:sp>
        <p:nvSpPr>
          <p:cNvPr id="788498" name="AutoShape 18"/>
          <p:cNvSpPr>
            <a:spLocks noChangeArrowheads="1"/>
          </p:cNvSpPr>
          <p:nvPr/>
        </p:nvSpPr>
        <p:spPr bwMode="auto">
          <a:xfrm>
            <a:off x="4419600" y="4495800"/>
            <a:ext cx="3581400" cy="1752600"/>
          </a:xfrm>
          <a:prstGeom prst="wedgeRoundRectCallout">
            <a:avLst>
              <a:gd name="adj1" fmla="val -22472"/>
              <a:gd name="adj2" fmla="val -78440"/>
              <a:gd name="adj3" fmla="val 16667"/>
            </a:avLst>
          </a:prstGeom>
          <a:solidFill>
            <a:srgbClr val="0070C0"/>
          </a:solidFill>
          <a:ln>
            <a:noFill/>
          </a:ln>
          <a:effectLst/>
          <a:extLst/>
        </p:spPr>
        <p:txBody>
          <a:bodyPr/>
          <a:lstStyle/>
          <a:p>
            <a:pPr algn="ctr"/>
            <a:r>
              <a:rPr lang="en-US" dirty="0">
                <a:solidFill>
                  <a:srgbClr val="FFFFFF"/>
                </a:solidFill>
                <a:latin typeface="Comic Sans MS"/>
                <a:cs typeface="+mn-cs"/>
              </a:rPr>
              <a:t>This sign is determined by the context of the problem.</a:t>
            </a:r>
          </a:p>
        </p:txBody>
      </p:sp>
      <p:sp>
        <p:nvSpPr>
          <p:cNvPr id="788493" name="AutoShape 13"/>
          <p:cNvSpPr>
            <a:spLocks noChangeArrowheads="1"/>
          </p:cNvSpPr>
          <p:nvPr/>
        </p:nvSpPr>
        <p:spPr bwMode="auto">
          <a:xfrm>
            <a:off x="907869" y="4572000"/>
            <a:ext cx="7162800" cy="1905000"/>
          </a:xfrm>
          <a:prstGeom prst="wedgeRoundRectCallout">
            <a:avLst>
              <a:gd name="adj1" fmla="val 903"/>
              <a:gd name="adj2" fmla="val -80583"/>
              <a:gd name="adj3" fmla="val 16667"/>
            </a:avLst>
          </a:prstGeom>
          <a:solidFill>
            <a:srgbClr val="C00000"/>
          </a:solidFill>
          <a:ln>
            <a:noFill/>
          </a:ln>
          <a:effectLst/>
          <a:extLst/>
        </p:spPr>
        <p:txBody>
          <a:bodyPr/>
          <a:lstStyle/>
          <a:p>
            <a:pPr algn="ctr"/>
            <a:r>
              <a:rPr lang="en-US" sz="2600" dirty="0">
                <a:solidFill>
                  <a:srgbClr val="FFFFFF"/>
                </a:solidFill>
                <a:latin typeface="Comic Sans MS"/>
                <a:cs typeface="+mn-cs"/>
              </a:rPr>
              <a:t>Notice that the alternative hypothesis uses the same population characteristic and the same hypothesized value  as the null hypothesis.</a:t>
            </a:r>
          </a:p>
        </p:txBody>
      </p:sp>
      <p:sp>
        <p:nvSpPr>
          <p:cNvPr id="788501" name="AutoShape 21"/>
          <p:cNvSpPr>
            <a:spLocks noChangeArrowheads="1"/>
          </p:cNvSpPr>
          <p:nvPr/>
        </p:nvSpPr>
        <p:spPr bwMode="auto">
          <a:xfrm>
            <a:off x="304800" y="4800600"/>
            <a:ext cx="4800600" cy="1752600"/>
          </a:xfrm>
          <a:prstGeom prst="wedgeRoundRectCallout">
            <a:avLst>
              <a:gd name="adj1" fmla="val 53472"/>
              <a:gd name="adj2" fmla="val -66486"/>
              <a:gd name="adj3" fmla="val 16667"/>
            </a:avLst>
          </a:prstGeom>
          <a:solidFill>
            <a:srgbClr val="669900"/>
          </a:solidFill>
          <a:ln>
            <a:noFill/>
          </a:ln>
          <a:effectLst/>
          <a:extLst/>
        </p:spPr>
        <p:txBody>
          <a:bodyPr/>
          <a:lstStyle/>
          <a:p>
            <a:pPr algn="ctr"/>
            <a:r>
              <a:rPr lang="en-US" dirty="0">
                <a:solidFill>
                  <a:srgbClr val="FFFFFF"/>
                </a:solidFill>
                <a:latin typeface="Comic Sans MS"/>
                <a:cs typeface="+mn-cs"/>
              </a:rPr>
              <a:t>These are considered </a:t>
            </a:r>
            <a:r>
              <a:rPr lang="en-US" dirty="0">
                <a:solidFill>
                  <a:srgbClr val="FFFF00"/>
                </a:solidFill>
                <a:latin typeface="Comic Sans MS"/>
                <a:cs typeface="+mn-cs"/>
              </a:rPr>
              <a:t>one-tailed tests</a:t>
            </a:r>
            <a:r>
              <a:rPr lang="en-US" dirty="0">
                <a:solidFill>
                  <a:srgbClr val="FFFFFF"/>
                </a:solidFill>
                <a:latin typeface="Comic Sans MS"/>
                <a:cs typeface="+mn-cs"/>
              </a:rPr>
              <a:t> because you are only interested in one direction.</a:t>
            </a:r>
          </a:p>
        </p:txBody>
      </p:sp>
      <p:sp>
        <p:nvSpPr>
          <p:cNvPr id="788503" name="AutoShape 23"/>
          <p:cNvSpPr>
            <a:spLocks noChangeArrowheads="1"/>
          </p:cNvSpPr>
          <p:nvPr/>
        </p:nvSpPr>
        <p:spPr bwMode="auto">
          <a:xfrm>
            <a:off x="2438400" y="5486400"/>
            <a:ext cx="4800600" cy="1219200"/>
          </a:xfrm>
          <a:prstGeom prst="wedgeRoundRectCallout">
            <a:avLst>
              <a:gd name="adj1" fmla="val -35796"/>
              <a:gd name="adj2" fmla="val -37668"/>
              <a:gd name="adj3" fmla="val 16667"/>
            </a:avLst>
          </a:prstGeom>
          <a:solidFill>
            <a:srgbClr val="0070C0"/>
          </a:solidFill>
          <a:ln>
            <a:noFill/>
          </a:ln>
          <a:effectLst/>
          <a:extLst/>
        </p:spPr>
        <p:txBody>
          <a:bodyPr/>
          <a:lstStyle/>
          <a:p>
            <a:pPr algn="ctr"/>
            <a:r>
              <a:rPr lang="en-US" dirty="0">
                <a:solidFill>
                  <a:srgbClr val="FFFFFF"/>
                </a:solidFill>
                <a:latin typeface="Comic Sans MS"/>
                <a:cs typeface="+mn-cs"/>
              </a:rPr>
              <a:t>Let’s practice writing hypothesis statements.</a:t>
            </a:r>
          </a:p>
        </p:txBody>
      </p:sp>
    </p:spTree>
    <p:extLst>
      <p:ext uri="{BB962C8B-B14F-4D97-AF65-F5344CB8AC3E}">
        <p14:creationId xmlns:p14="http://schemas.microsoft.com/office/powerpoint/2010/main" val="170950873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4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8492"/>
                                        </p:tgtEl>
                                        <p:attrNameLst>
                                          <p:attrName>style.visibility</p:attrName>
                                        </p:attrNameLst>
                                      </p:cBhvr>
                                      <p:to>
                                        <p:strVal val="visible"/>
                                      </p:to>
                                    </p:set>
                                  </p:childTnLst>
                                  <p:subTnLst>
                                    <p:set>
                                      <p:cBhvr override="childStyle">
                                        <p:cTn dur="1" fill="hold" display="0" masterRel="nextClick" afterEffect="1"/>
                                        <p:tgtEl>
                                          <p:spTgt spid="788492"/>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88491"/>
                                        </p:tgtEl>
                                        <p:attrNameLst>
                                          <p:attrName>style.visibility</p:attrName>
                                        </p:attrNameLst>
                                      </p:cBhvr>
                                      <p:to>
                                        <p:strVal val="visible"/>
                                      </p:to>
                                    </p:set>
                                  </p:childTnLst>
                                  <p:subTnLst>
                                    <p:set>
                                      <p:cBhvr override="childStyle">
                                        <p:cTn dur="1" fill="hold" display="0" masterRel="nextClick" afterEffect="1"/>
                                        <p:tgtEl>
                                          <p:spTgt spid="788491"/>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8848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88483">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88493"/>
                                        </p:tgtEl>
                                        <p:attrNameLst>
                                          <p:attrName>style.visibility</p:attrName>
                                        </p:attrNameLst>
                                      </p:cBhvr>
                                      <p:to>
                                        <p:strVal val="visible"/>
                                      </p:to>
                                    </p:set>
                                  </p:childTnLst>
                                  <p:subTnLst>
                                    <p:set>
                                      <p:cBhvr override="childStyle">
                                        <p:cTn dur="1" fill="hold" display="0" masterRel="nextClick" afterEffect="1"/>
                                        <p:tgtEl>
                                          <p:spTgt spid="788493"/>
                                        </p:tgtEl>
                                        <p:attrNameLst>
                                          <p:attrName>style.visibility</p:attrName>
                                        </p:attrNameLst>
                                      </p:cBhvr>
                                      <p:to>
                                        <p:strVal val="hidden"/>
                                      </p:to>
                                    </p:set>
                                  </p:subTnLst>
                                </p:cTn>
                              </p:par>
                              <p:par>
                                <p:cTn id="25" presetID="22" presetClass="entr" presetSubtype="1" fill="hold" grpId="0" nodeType="withEffect">
                                  <p:stCondLst>
                                    <p:cond delay="0"/>
                                  </p:stCondLst>
                                  <p:childTnLst>
                                    <p:set>
                                      <p:cBhvr>
                                        <p:cTn id="26" dur="1" fill="hold">
                                          <p:stCondLst>
                                            <p:cond delay="0"/>
                                          </p:stCondLst>
                                        </p:cTn>
                                        <p:tgtEl>
                                          <p:spTgt spid="788495"/>
                                        </p:tgtEl>
                                        <p:attrNameLst>
                                          <p:attrName>style.visibility</p:attrName>
                                        </p:attrNameLst>
                                      </p:cBhvr>
                                      <p:to>
                                        <p:strVal val="visible"/>
                                      </p:to>
                                    </p:set>
                                    <p:animEffect transition="in" filter="wipe(up)">
                                      <p:cBhvr>
                                        <p:cTn id="27" dur="500"/>
                                        <p:tgtEl>
                                          <p:spTgt spid="788495"/>
                                        </p:tgtEl>
                                      </p:cBhvr>
                                    </p:animEffect>
                                  </p:childTnLst>
                                  <p:subTnLst>
                                    <p:set>
                                      <p:cBhvr override="childStyle">
                                        <p:cTn dur="1" fill="hold" display="0" masterRel="nextClick" afterEffect="1"/>
                                        <p:tgtEl>
                                          <p:spTgt spid="788495"/>
                                        </p:tgtEl>
                                        <p:attrNameLst>
                                          <p:attrName>style.visibility</p:attrName>
                                        </p:attrNameLst>
                                      </p:cBhvr>
                                      <p:to>
                                        <p:strVal val="hidden"/>
                                      </p:to>
                                    </p:set>
                                  </p:subTnLst>
                                </p:cTn>
                              </p:par>
                              <p:par>
                                <p:cTn id="28" presetID="22" presetClass="entr" presetSubtype="1" fill="hold" grpId="0" nodeType="withEffect">
                                  <p:stCondLst>
                                    <p:cond delay="0"/>
                                  </p:stCondLst>
                                  <p:childTnLst>
                                    <p:set>
                                      <p:cBhvr>
                                        <p:cTn id="29" dur="1" fill="hold">
                                          <p:stCondLst>
                                            <p:cond delay="0"/>
                                          </p:stCondLst>
                                        </p:cTn>
                                        <p:tgtEl>
                                          <p:spTgt spid="788494"/>
                                        </p:tgtEl>
                                        <p:attrNameLst>
                                          <p:attrName>style.visibility</p:attrName>
                                        </p:attrNameLst>
                                      </p:cBhvr>
                                      <p:to>
                                        <p:strVal val="visible"/>
                                      </p:to>
                                    </p:set>
                                    <p:animEffect transition="in" filter="wipe(up)">
                                      <p:cBhvr>
                                        <p:cTn id="30" dur="500"/>
                                        <p:tgtEl>
                                          <p:spTgt spid="788494"/>
                                        </p:tgtEl>
                                      </p:cBhvr>
                                    </p:animEffect>
                                  </p:childTnLst>
                                  <p:subTnLst>
                                    <p:set>
                                      <p:cBhvr override="childStyle">
                                        <p:cTn dur="1" fill="hold" display="0" masterRel="nextClick" afterEffect="1"/>
                                        <p:tgtEl>
                                          <p:spTgt spid="788494"/>
                                        </p:tgtEl>
                                        <p:attrNameLst>
                                          <p:attrName>style.visibility</p:attrName>
                                        </p:attrNameLst>
                                      </p:cBhvr>
                                      <p:to>
                                        <p:strVal val="hidden"/>
                                      </p:to>
                                    </p:set>
                                  </p:sub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88498"/>
                                        </p:tgtEl>
                                        <p:attrNameLst>
                                          <p:attrName>style.visibility</p:attrName>
                                        </p:attrNameLst>
                                      </p:cBhvr>
                                      <p:to>
                                        <p:strVal val="visible"/>
                                      </p:to>
                                    </p:set>
                                  </p:childTnLst>
                                  <p:subTnLst>
                                    <p:set>
                                      <p:cBhvr override="childStyle">
                                        <p:cTn dur="1" fill="hold" display="0" masterRel="nextClick" afterEffect="1"/>
                                        <p:tgtEl>
                                          <p:spTgt spid="788498"/>
                                        </p:tgtEl>
                                        <p:attrNameLst>
                                          <p:attrName>style.visibility</p:attrName>
                                        </p:attrNameLst>
                                      </p:cBhvr>
                                      <p:to>
                                        <p:strVal val="hidden"/>
                                      </p:to>
                                    </p:set>
                                  </p:subTnLst>
                                </p:cTn>
                              </p:par>
                              <p:par>
                                <p:cTn id="35" presetID="1" presetClass="entr" presetSubtype="0" fill="hold" grpId="0" nodeType="withEffect">
                                  <p:stCondLst>
                                    <p:cond delay="0"/>
                                  </p:stCondLst>
                                  <p:childTnLst>
                                    <p:set>
                                      <p:cBhvr>
                                        <p:cTn id="36" dur="1" fill="hold">
                                          <p:stCondLst>
                                            <p:cond delay="0"/>
                                          </p:stCondLst>
                                        </p:cTn>
                                        <p:tgtEl>
                                          <p:spTgt spid="788496"/>
                                        </p:tgtEl>
                                        <p:attrNameLst>
                                          <p:attrName>style.visibility</p:attrName>
                                        </p:attrNameLst>
                                      </p:cBhvr>
                                      <p:to>
                                        <p:strVal val="visible"/>
                                      </p:to>
                                    </p:set>
                                  </p:childTnLst>
                                  <p:subTnLst>
                                    <p:set>
                                      <p:cBhvr override="childStyle">
                                        <p:cTn dur="1" fill="hold" display="0" masterRel="nextClick" afterEffect="1"/>
                                        <p:tgtEl>
                                          <p:spTgt spid="788496"/>
                                        </p:tgtEl>
                                        <p:attrNameLst>
                                          <p:attrName>style.visibility</p:attrName>
                                        </p:attrNameLst>
                                      </p:cBhvr>
                                      <p:to>
                                        <p:strVal val="hidden"/>
                                      </p:to>
                                    </p:set>
                                  </p:sub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88483">
                                            <p:txEl>
                                              <p:pRg st="5" end="5"/>
                                            </p:txEl>
                                          </p:spTgt>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88483">
                                            <p:txEl>
                                              <p:pRg st="6" end="6"/>
                                            </p:txEl>
                                          </p:spTgt>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88501"/>
                                        </p:tgtEl>
                                        <p:attrNameLst>
                                          <p:attrName>style.visibility</p:attrName>
                                        </p:attrNameLst>
                                      </p:cBhvr>
                                      <p:to>
                                        <p:strVal val="visible"/>
                                      </p:to>
                                    </p:set>
                                  </p:childTnLst>
                                  <p:subTnLst>
                                    <p:set>
                                      <p:cBhvr override="childStyle">
                                        <p:cTn dur="1" fill="hold" display="0" masterRel="nextClick" afterEffect="1"/>
                                        <p:tgtEl>
                                          <p:spTgt spid="788501"/>
                                        </p:tgtEl>
                                        <p:attrNameLst>
                                          <p:attrName>style.visibility</p:attrName>
                                        </p:attrNameLst>
                                      </p:cBhvr>
                                      <p:to>
                                        <p:strVal val="hidden"/>
                                      </p:to>
                                    </p:set>
                                  </p:subTnLst>
                                </p:cTn>
                              </p:par>
                              <p:par>
                                <p:cTn id="49" presetID="1" presetClass="entr" presetSubtype="0" fill="hold" grpId="0" nodeType="withEffect">
                                  <p:stCondLst>
                                    <p:cond delay="0"/>
                                  </p:stCondLst>
                                  <p:childTnLst>
                                    <p:set>
                                      <p:cBhvr>
                                        <p:cTn id="50" dur="1" fill="hold">
                                          <p:stCondLst>
                                            <p:cond delay="0"/>
                                          </p:stCondLst>
                                        </p:cTn>
                                        <p:tgtEl>
                                          <p:spTgt spid="788499"/>
                                        </p:tgtEl>
                                        <p:attrNameLst>
                                          <p:attrName>style.visibility</p:attrName>
                                        </p:attrNameLst>
                                      </p:cBhvr>
                                      <p:to>
                                        <p:strVal val="visible"/>
                                      </p:to>
                                    </p:set>
                                  </p:childTnLst>
                                  <p:subTnLst>
                                    <p:set>
                                      <p:cBhvr override="childStyle">
                                        <p:cTn dur="1" fill="hold" display="0" masterRel="nextClick" afterEffect="1"/>
                                        <p:tgtEl>
                                          <p:spTgt spid="788499"/>
                                        </p:tgtEl>
                                        <p:attrNameLst>
                                          <p:attrName>style.visibility</p:attrName>
                                        </p:attrNameLst>
                                      </p:cBhvr>
                                      <p:to>
                                        <p:strVal val="hidden"/>
                                      </p:to>
                                    </p:set>
                                  </p:sub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88500"/>
                                        </p:tgtEl>
                                        <p:attrNameLst>
                                          <p:attrName>style.visibility</p:attrName>
                                        </p:attrNameLst>
                                      </p:cBhvr>
                                      <p:to>
                                        <p:strVal val="visible"/>
                                      </p:to>
                                    </p:set>
                                  </p:childTnLst>
                                  <p:subTnLst>
                                    <p:set>
                                      <p:cBhvr override="childStyle">
                                        <p:cTn dur="1" fill="hold" display="0" masterRel="nextClick" afterEffect="1"/>
                                        <p:tgtEl>
                                          <p:spTgt spid="788500"/>
                                        </p:tgtEl>
                                        <p:attrNameLst>
                                          <p:attrName>style.visibility</p:attrName>
                                        </p:attrNameLst>
                                      </p:cBhvr>
                                      <p:to>
                                        <p:strVal val="hidden"/>
                                      </p:to>
                                    </p:set>
                                  </p:subTnLst>
                                </p:cTn>
                              </p:par>
                              <p:par>
                                <p:cTn id="55" presetID="1" presetClass="entr" presetSubtype="0" fill="hold" grpId="0" nodeType="withEffect">
                                  <p:stCondLst>
                                    <p:cond delay="0"/>
                                  </p:stCondLst>
                                  <p:childTnLst>
                                    <p:set>
                                      <p:cBhvr>
                                        <p:cTn id="56" dur="1" fill="hold">
                                          <p:stCondLst>
                                            <p:cond delay="0"/>
                                          </p:stCondLst>
                                        </p:cTn>
                                        <p:tgtEl>
                                          <p:spTgt spid="788502"/>
                                        </p:tgtEl>
                                        <p:attrNameLst>
                                          <p:attrName>style.visibility</p:attrName>
                                        </p:attrNameLst>
                                      </p:cBhvr>
                                      <p:to>
                                        <p:strVal val="visible"/>
                                      </p:to>
                                    </p:set>
                                  </p:childTnLst>
                                  <p:subTnLst>
                                    <p:set>
                                      <p:cBhvr override="childStyle">
                                        <p:cTn dur="1" fill="hold" display="0" masterRel="nextClick" afterEffect="1"/>
                                        <p:tgtEl>
                                          <p:spTgt spid="788502"/>
                                        </p:tgtEl>
                                        <p:attrNameLst>
                                          <p:attrName>style.visibility</p:attrName>
                                        </p:attrNameLst>
                                      </p:cBhvr>
                                      <p:to>
                                        <p:strVal val="hidden"/>
                                      </p:to>
                                    </p:set>
                                  </p:sub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7885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83" grpId="0" build="p" autoUpdateAnimBg="0"/>
      <p:bldP spid="788494" grpId="0" animBg="1"/>
      <p:bldP spid="788495" grpId="0" animBg="1"/>
      <p:bldP spid="788496" grpId="0" animBg="1"/>
      <p:bldP spid="788499" grpId="0" animBg="1"/>
      <p:bldP spid="788500" grpId="0" animBg="1"/>
      <p:bldP spid="788502" grpId="0" animBg="1"/>
      <p:bldP spid="788492" grpId="0" animBg="1"/>
      <p:bldP spid="788491" grpId="0" animBg="1"/>
      <p:bldP spid="788498" grpId="0" animBg="1"/>
      <p:bldP spid="788493" grpId="0" animBg="1"/>
      <p:bldP spid="788501" grpId="0" animBg="1"/>
      <p:bldP spid="78850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CC">
            <a:alpha val="60784"/>
          </a:srgbClr>
        </a:solidFill>
        <a:effectLst/>
      </p:bgPr>
    </p:bg>
    <p:spTree>
      <p:nvGrpSpPr>
        <p:cNvPr id="1" name=""/>
        <p:cNvGrpSpPr/>
        <p:nvPr/>
      </p:nvGrpSpPr>
      <p:grpSpPr>
        <a:xfrm>
          <a:off x="0" y="0"/>
          <a:ext cx="0" cy="0"/>
          <a:chOff x="0" y="0"/>
          <a:chExt cx="0" cy="0"/>
        </a:xfrm>
      </p:grpSpPr>
      <p:sp>
        <p:nvSpPr>
          <p:cNvPr id="789506" name="Text Box 2"/>
          <p:cNvSpPr txBox="1">
            <a:spLocks noChangeArrowheads="1"/>
          </p:cNvSpPr>
          <p:nvPr/>
        </p:nvSpPr>
        <p:spPr bwMode="auto">
          <a:xfrm>
            <a:off x="304800" y="533400"/>
            <a:ext cx="8534400" cy="1815882"/>
          </a:xfrm>
          <a:prstGeom prst="rect">
            <a:avLst/>
          </a:prstGeom>
          <a:solidFill>
            <a:srgbClr val="FFCC66"/>
          </a:solidFill>
          <a:ln>
            <a:noFill/>
          </a:ln>
          <a:effectLst/>
          <a:extLst/>
        </p:spPr>
        <p:txBody>
          <a:bodyPr>
            <a:spAutoFit/>
          </a:bodyPr>
          <a:lstStyle/>
          <a:p>
            <a:r>
              <a:rPr lang="en-US" sz="2800" dirty="0">
                <a:solidFill>
                  <a:srgbClr val="000000"/>
                </a:solidFill>
                <a:latin typeface="Comic Sans MS"/>
                <a:cs typeface="Times New Roman" pitchFamily="18" charset="0"/>
              </a:rPr>
              <a:t>In a study, researchers were interested in determining if sample data support the claim that more than one in four young adults live with their parents.</a:t>
            </a:r>
          </a:p>
        </p:txBody>
      </p:sp>
      <p:sp>
        <p:nvSpPr>
          <p:cNvPr id="789507" name="AutoShape 3"/>
          <p:cNvSpPr>
            <a:spLocks noChangeArrowheads="1"/>
          </p:cNvSpPr>
          <p:nvPr/>
        </p:nvSpPr>
        <p:spPr bwMode="auto">
          <a:xfrm>
            <a:off x="278674" y="1295400"/>
            <a:ext cx="1905000" cy="762000"/>
          </a:xfrm>
          <a:custGeom>
            <a:avLst/>
            <a:gdLst>
              <a:gd name="G0" fmla="+- 1061 0 0"/>
              <a:gd name="G1" fmla="+- 21600 0 1061"/>
              <a:gd name="G2" fmla="+- 21600 0 1061"/>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61" y="10800"/>
                </a:moveTo>
                <a:cubicBezTo>
                  <a:pt x="1061" y="16179"/>
                  <a:pt x="5421" y="20539"/>
                  <a:pt x="10800" y="20539"/>
                </a:cubicBezTo>
                <a:cubicBezTo>
                  <a:pt x="16179" y="20539"/>
                  <a:pt x="20539" y="16179"/>
                  <a:pt x="20539" y="10800"/>
                </a:cubicBezTo>
                <a:cubicBezTo>
                  <a:pt x="20539" y="5421"/>
                  <a:pt x="16179" y="1061"/>
                  <a:pt x="10800" y="1061"/>
                </a:cubicBezTo>
                <a:cubicBezTo>
                  <a:pt x="5421" y="1061"/>
                  <a:pt x="1061" y="5421"/>
                  <a:pt x="1061" y="10800"/>
                </a:cubicBezTo>
                <a:close/>
              </a:path>
            </a:pathLst>
          </a:custGeom>
          <a:solidFill>
            <a:srgbClr val="C00000"/>
          </a:solidFill>
          <a:ln w="9525">
            <a:solidFill>
              <a:srgbClr val="C00000"/>
            </a:solidFill>
            <a:round/>
            <a:headEnd/>
            <a:tailEnd/>
          </a:ln>
          <a:effectLst/>
          <a:extLst/>
        </p:spPr>
        <p:txBody>
          <a:bodyPr wrap="none" anchor="ctr"/>
          <a:lstStyle/>
          <a:p>
            <a:endParaRPr lang="en-US">
              <a:solidFill>
                <a:srgbClr val="000000"/>
              </a:solidFill>
              <a:latin typeface="Times New Roman" pitchFamily="18" charset="0"/>
              <a:cs typeface="+mn-cs"/>
            </a:endParaRPr>
          </a:p>
        </p:txBody>
      </p:sp>
      <p:sp>
        <p:nvSpPr>
          <p:cNvPr id="789509" name="Text Box 5"/>
          <p:cNvSpPr txBox="1">
            <a:spLocks noChangeArrowheads="1"/>
          </p:cNvSpPr>
          <p:nvPr/>
        </p:nvSpPr>
        <p:spPr bwMode="auto">
          <a:xfrm>
            <a:off x="1676400" y="4798817"/>
            <a:ext cx="33528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3200" dirty="0">
                <a:solidFill>
                  <a:srgbClr val="669900"/>
                </a:solidFill>
                <a:latin typeface="Comic Sans MS"/>
                <a:cs typeface="+mn-cs"/>
              </a:rPr>
              <a:t>H</a:t>
            </a:r>
            <a:r>
              <a:rPr lang="en-US" sz="3200" baseline="-25000" dirty="0">
                <a:solidFill>
                  <a:srgbClr val="669900"/>
                </a:solidFill>
                <a:latin typeface="Comic Sans MS"/>
                <a:cs typeface="+mn-cs"/>
              </a:rPr>
              <a:t>0</a:t>
            </a:r>
            <a:r>
              <a:rPr lang="en-US" sz="3200" dirty="0">
                <a:solidFill>
                  <a:srgbClr val="669900"/>
                </a:solidFill>
                <a:latin typeface="Comic Sans MS"/>
                <a:cs typeface="+mn-cs"/>
              </a:rPr>
              <a:t>: </a:t>
            </a:r>
            <a:r>
              <a:rPr lang="en-US" sz="3200" i="1" dirty="0">
                <a:solidFill>
                  <a:srgbClr val="669900"/>
                </a:solidFill>
                <a:latin typeface="Comic Sans MS"/>
                <a:cs typeface="+mn-cs"/>
              </a:rPr>
              <a:t>p</a:t>
            </a:r>
            <a:r>
              <a:rPr lang="en-US" sz="3200" dirty="0">
                <a:solidFill>
                  <a:srgbClr val="669900"/>
                </a:solidFill>
                <a:latin typeface="Comic Sans MS"/>
                <a:cs typeface="+mn-cs"/>
              </a:rPr>
              <a:t> = </a:t>
            </a:r>
            <a:r>
              <a:rPr lang="en-US" sz="3200" dirty="0">
                <a:solidFill>
                  <a:srgbClr val="669900"/>
                </a:solidFill>
                <a:latin typeface="Comic Sans MS"/>
                <a:cs typeface="+mn-cs"/>
              </a:rPr>
              <a:t>0.25</a:t>
            </a:r>
            <a:endParaRPr lang="en-US" sz="3200" dirty="0">
              <a:solidFill>
                <a:srgbClr val="669900"/>
              </a:solidFill>
              <a:latin typeface="Comic Sans MS"/>
              <a:cs typeface="+mn-cs"/>
            </a:endParaRPr>
          </a:p>
          <a:p>
            <a:pPr>
              <a:spcBef>
                <a:spcPct val="50000"/>
              </a:spcBef>
            </a:pPr>
            <a:r>
              <a:rPr lang="en-US" sz="3200" dirty="0">
                <a:solidFill>
                  <a:srgbClr val="669900"/>
                </a:solidFill>
                <a:latin typeface="Comic Sans MS"/>
                <a:cs typeface="+mn-cs"/>
              </a:rPr>
              <a:t>H</a:t>
            </a:r>
            <a:r>
              <a:rPr lang="en-US" sz="3200" baseline="-25000" dirty="0">
                <a:solidFill>
                  <a:srgbClr val="669900"/>
                </a:solidFill>
                <a:latin typeface="Comic Sans MS"/>
                <a:cs typeface="+mn-cs"/>
              </a:rPr>
              <a:t>a</a:t>
            </a:r>
            <a:r>
              <a:rPr lang="en-US" sz="3200" dirty="0">
                <a:solidFill>
                  <a:srgbClr val="669900"/>
                </a:solidFill>
                <a:latin typeface="Comic Sans MS"/>
                <a:cs typeface="+mn-cs"/>
              </a:rPr>
              <a:t>: </a:t>
            </a:r>
            <a:r>
              <a:rPr lang="en-US" sz="3200" i="1" dirty="0">
                <a:solidFill>
                  <a:srgbClr val="669900"/>
                </a:solidFill>
                <a:latin typeface="Comic Sans MS"/>
                <a:cs typeface="+mn-cs"/>
              </a:rPr>
              <a:t>p</a:t>
            </a:r>
            <a:r>
              <a:rPr lang="en-US" sz="3200" dirty="0">
                <a:solidFill>
                  <a:srgbClr val="669900"/>
                </a:solidFill>
                <a:latin typeface="Comic Sans MS"/>
                <a:cs typeface="+mn-cs"/>
              </a:rPr>
              <a:t> &gt; </a:t>
            </a:r>
            <a:r>
              <a:rPr lang="en-US" sz="3200" dirty="0">
                <a:solidFill>
                  <a:srgbClr val="669900"/>
                </a:solidFill>
                <a:latin typeface="Comic Sans MS"/>
                <a:cs typeface="+mn-cs"/>
              </a:rPr>
              <a:t>0.25</a:t>
            </a:r>
            <a:endParaRPr lang="en-US" sz="3200" dirty="0">
              <a:solidFill>
                <a:srgbClr val="669900"/>
              </a:solidFill>
              <a:latin typeface="Comic Sans MS"/>
              <a:cs typeface="+mn-cs"/>
            </a:endParaRPr>
          </a:p>
        </p:txBody>
      </p:sp>
      <p:sp>
        <p:nvSpPr>
          <p:cNvPr id="3" name="TextBox 2"/>
          <p:cNvSpPr txBox="1"/>
          <p:nvPr/>
        </p:nvSpPr>
        <p:spPr>
          <a:xfrm>
            <a:off x="304800" y="2572941"/>
            <a:ext cx="8534400" cy="1261884"/>
          </a:xfrm>
          <a:prstGeom prst="rect">
            <a:avLst/>
          </a:prstGeom>
          <a:solidFill>
            <a:srgbClr val="FFCC66"/>
          </a:solidFill>
        </p:spPr>
        <p:txBody>
          <a:bodyPr wrap="square" rtlCol="0">
            <a:spAutoFit/>
          </a:bodyPr>
          <a:lstStyle/>
          <a:p>
            <a:r>
              <a:rPr lang="en-US" sz="2800" dirty="0">
                <a:solidFill>
                  <a:srgbClr val="0070C0"/>
                </a:solidFill>
                <a:latin typeface="Comic Sans MS"/>
                <a:cs typeface="Times New Roman" pitchFamily="18" charset="0"/>
              </a:rPr>
              <a:t>Define the population </a:t>
            </a:r>
            <a:r>
              <a:rPr lang="en-US" sz="2800" dirty="0" smtClean="0">
                <a:solidFill>
                  <a:srgbClr val="0070C0"/>
                </a:solidFill>
                <a:latin typeface="Comic Sans MS"/>
                <a:cs typeface="Times New Roman" pitchFamily="18" charset="0"/>
              </a:rPr>
              <a:t>parameter:</a:t>
            </a:r>
            <a:endParaRPr lang="en-US" sz="2800" dirty="0">
              <a:solidFill>
                <a:srgbClr val="0070C0"/>
              </a:solidFill>
              <a:latin typeface="Comic Sans MS"/>
              <a:cs typeface="Times New Roman" pitchFamily="18" charset="0"/>
            </a:endParaRPr>
          </a:p>
          <a:p>
            <a:pPr algn="ctr"/>
            <a:r>
              <a:rPr lang="en-US" i="1" dirty="0">
                <a:solidFill>
                  <a:srgbClr val="000000"/>
                </a:solidFill>
                <a:latin typeface="Comic Sans MS"/>
                <a:cs typeface="Times New Roman" pitchFamily="18" charset="0"/>
              </a:rPr>
              <a:t>p</a:t>
            </a:r>
            <a:r>
              <a:rPr lang="en-US" dirty="0">
                <a:solidFill>
                  <a:srgbClr val="000000"/>
                </a:solidFill>
                <a:latin typeface="Comic Sans MS"/>
                <a:cs typeface="Times New Roman" pitchFamily="18" charset="0"/>
              </a:rPr>
              <a:t> = the proportion of young adults who </a:t>
            </a:r>
            <a:endParaRPr lang="en-US" dirty="0">
              <a:solidFill>
                <a:srgbClr val="000000"/>
              </a:solidFill>
              <a:latin typeface="Comic Sans MS"/>
              <a:cs typeface="Times New Roman" pitchFamily="18" charset="0"/>
            </a:endParaRPr>
          </a:p>
          <a:p>
            <a:pPr algn="ctr"/>
            <a:r>
              <a:rPr lang="en-US" dirty="0">
                <a:solidFill>
                  <a:srgbClr val="000000"/>
                </a:solidFill>
                <a:latin typeface="Comic Sans MS"/>
                <a:cs typeface="Times New Roman" pitchFamily="18" charset="0"/>
              </a:rPr>
              <a:t>live </a:t>
            </a:r>
            <a:r>
              <a:rPr lang="en-US" dirty="0">
                <a:solidFill>
                  <a:srgbClr val="000000"/>
                </a:solidFill>
                <a:latin typeface="Comic Sans MS"/>
                <a:cs typeface="Times New Roman" pitchFamily="18" charset="0"/>
              </a:rPr>
              <a:t>with their </a:t>
            </a:r>
            <a:r>
              <a:rPr lang="en-US" dirty="0">
                <a:solidFill>
                  <a:srgbClr val="000000"/>
                </a:solidFill>
                <a:latin typeface="Comic Sans MS"/>
                <a:cs typeface="Times New Roman" pitchFamily="18" charset="0"/>
              </a:rPr>
              <a:t>parents</a:t>
            </a:r>
            <a:endParaRPr lang="en-US" dirty="0">
              <a:solidFill>
                <a:srgbClr val="000000"/>
              </a:solidFill>
              <a:latin typeface="Comic Sans MS"/>
              <a:cs typeface="Times New Roman" pitchFamily="18" charset="0"/>
            </a:endParaRPr>
          </a:p>
        </p:txBody>
      </p:sp>
      <p:sp>
        <p:nvSpPr>
          <p:cNvPr id="4" name="TextBox 3"/>
          <p:cNvSpPr txBox="1"/>
          <p:nvPr/>
        </p:nvSpPr>
        <p:spPr>
          <a:xfrm>
            <a:off x="304800" y="4096941"/>
            <a:ext cx="8534400" cy="523220"/>
          </a:xfrm>
          <a:prstGeom prst="rect">
            <a:avLst/>
          </a:prstGeom>
          <a:noFill/>
        </p:spPr>
        <p:txBody>
          <a:bodyPr wrap="square" rtlCol="0">
            <a:spAutoFit/>
          </a:bodyPr>
          <a:lstStyle/>
          <a:p>
            <a:pPr>
              <a:spcBef>
                <a:spcPct val="50000"/>
              </a:spcBef>
            </a:pPr>
            <a:r>
              <a:rPr lang="en-US" sz="2800" dirty="0">
                <a:solidFill>
                  <a:srgbClr val="C00000"/>
                </a:solidFill>
                <a:latin typeface="Comic Sans MS"/>
                <a:cs typeface="+mn-cs"/>
              </a:rPr>
              <a:t>State </a:t>
            </a:r>
            <a:r>
              <a:rPr lang="en-US" sz="2800" dirty="0">
                <a:solidFill>
                  <a:srgbClr val="C00000"/>
                </a:solidFill>
                <a:latin typeface="Comic Sans MS"/>
                <a:cs typeface="+mn-cs"/>
              </a:rPr>
              <a:t>the hypotheses </a:t>
            </a:r>
            <a:r>
              <a:rPr lang="en-US" sz="2800" dirty="0">
                <a:solidFill>
                  <a:srgbClr val="C00000"/>
                </a:solidFill>
                <a:latin typeface="Comic Sans MS"/>
                <a:cs typeface="+mn-cs"/>
              </a:rPr>
              <a:t>:</a:t>
            </a:r>
            <a:endParaRPr lang="en-US" sz="2800" dirty="0">
              <a:solidFill>
                <a:srgbClr val="C00000"/>
              </a:solidFill>
              <a:latin typeface="Comic Sans MS"/>
              <a:cs typeface="+mn-cs"/>
            </a:endParaRPr>
          </a:p>
        </p:txBody>
      </p:sp>
      <p:sp>
        <p:nvSpPr>
          <p:cNvPr id="789513" name="AutoShape 9"/>
          <p:cNvSpPr>
            <a:spLocks noChangeArrowheads="1"/>
          </p:cNvSpPr>
          <p:nvPr/>
        </p:nvSpPr>
        <p:spPr bwMode="auto">
          <a:xfrm>
            <a:off x="838200" y="5181467"/>
            <a:ext cx="4800600" cy="1371600"/>
          </a:xfrm>
          <a:prstGeom prst="wedgeRoundRectCallout">
            <a:avLst>
              <a:gd name="adj1" fmla="val -14708"/>
              <a:gd name="adj2" fmla="val -85516"/>
              <a:gd name="adj3" fmla="val 16667"/>
            </a:avLst>
          </a:prstGeom>
          <a:solidFill>
            <a:srgbClr val="C00000"/>
          </a:solidFill>
          <a:ln>
            <a:noFill/>
          </a:ln>
          <a:effectLst/>
          <a:extLst/>
        </p:spPr>
        <p:txBody>
          <a:bodyPr/>
          <a:lstStyle/>
          <a:p>
            <a:pPr algn="ctr"/>
            <a:r>
              <a:rPr lang="en-US" dirty="0">
                <a:solidFill>
                  <a:srgbClr val="FFFFFF"/>
                </a:solidFill>
                <a:latin typeface="Comic Sans MS"/>
                <a:cs typeface="+mn-cs"/>
              </a:rPr>
              <a:t>What words indicate the direction of the alternative hypothesis?</a:t>
            </a:r>
          </a:p>
        </p:txBody>
      </p:sp>
      <p:pic>
        <p:nvPicPr>
          <p:cNvPr id="48131" name="Picture 3" descr="C:\Users\Owner\AppData\Local\Microsoft\Windows\Temporary Internet Files\Content.IE5\PC34II6B\MC900341839[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0914" y="4864608"/>
            <a:ext cx="2373086" cy="1993392"/>
          </a:xfrm>
          <a:prstGeom prst="rect">
            <a:avLst/>
          </a:prstGeom>
          <a:noFill/>
          <a:extLst>
            <a:ext uri="{909E8E84-426E-40DD-AFC4-6F175D3DCCD1}">
              <a14:hiddenFill xmlns:a14="http://schemas.microsoft.com/office/drawing/2010/main">
                <a:solidFill>
                  <a:srgbClr val="FFFFFF"/>
                </a:solidFill>
              </a14:hiddenFill>
            </a:ext>
          </a:extLst>
        </p:spPr>
      </p:pic>
      <p:sp>
        <p:nvSpPr>
          <p:cNvPr id="789512" name="AutoShape 8"/>
          <p:cNvSpPr>
            <a:spLocks noChangeArrowheads="1"/>
          </p:cNvSpPr>
          <p:nvPr/>
        </p:nvSpPr>
        <p:spPr bwMode="auto">
          <a:xfrm>
            <a:off x="4457700" y="4239484"/>
            <a:ext cx="2819400" cy="1371600"/>
          </a:xfrm>
          <a:prstGeom prst="wedgeRoundRectCallout">
            <a:avLst>
              <a:gd name="adj1" fmla="val -72130"/>
              <a:gd name="adj2" fmla="val -68056"/>
              <a:gd name="adj3" fmla="val 16667"/>
            </a:avLst>
          </a:prstGeom>
          <a:solidFill>
            <a:srgbClr val="0070C0"/>
          </a:solidFill>
          <a:ln>
            <a:noFill/>
          </a:ln>
          <a:effectLst/>
          <a:extLst/>
        </p:spPr>
        <p:txBody>
          <a:bodyPr/>
          <a:lstStyle/>
          <a:p>
            <a:pPr algn="ctr"/>
            <a:r>
              <a:rPr lang="en-US" dirty="0">
                <a:solidFill>
                  <a:srgbClr val="FFFFFF"/>
                </a:solidFill>
                <a:latin typeface="Comic Sans MS"/>
                <a:cs typeface="+mn-cs"/>
              </a:rPr>
              <a:t>What is the hypothesized value?</a:t>
            </a:r>
          </a:p>
        </p:txBody>
      </p:sp>
      <p:sp>
        <p:nvSpPr>
          <p:cNvPr id="5" name="Rounded Rectangular Callout 4"/>
          <p:cNvSpPr/>
          <p:nvPr/>
        </p:nvSpPr>
        <p:spPr bwMode="auto">
          <a:xfrm>
            <a:off x="762000" y="3027149"/>
            <a:ext cx="7391400" cy="1615351"/>
          </a:xfrm>
          <a:prstGeom prst="wedgeRoundRectCallout">
            <a:avLst>
              <a:gd name="adj1" fmla="val -21540"/>
              <a:gd name="adj2" fmla="val 66543"/>
              <a:gd name="adj3" fmla="val 16667"/>
            </a:avLst>
          </a:prstGeom>
          <a:solidFill>
            <a:srgbClr val="6699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algn="ctr" eaLnBrk="0" hangingPunct="0"/>
            <a:r>
              <a:rPr lang="en-US" dirty="0">
                <a:solidFill>
                  <a:srgbClr val="FFFFFF"/>
                </a:solidFill>
                <a:latin typeface="Comic Sans MS"/>
                <a:cs typeface="+mn-cs"/>
              </a:rPr>
              <a:t>It is acceptable to write the null hypothesis as:</a:t>
            </a:r>
          </a:p>
          <a:p>
            <a:pPr algn="ctr" eaLnBrk="0" hangingPunct="0"/>
            <a:endParaRPr lang="en-US" sz="2800" dirty="0">
              <a:solidFill>
                <a:srgbClr val="FFFF00"/>
              </a:solidFill>
              <a:latin typeface="Comic Sans MS"/>
              <a:cs typeface="+mn-cs"/>
            </a:endParaRPr>
          </a:p>
          <a:p>
            <a:pPr algn="ctr" eaLnBrk="0" hangingPunct="0"/>
            <a:r>
              <a:rPr lang="en-US" sz="2800" dirty="0">
                <a:solidFill>
                  <a:srgbClr val="FFFF00"/>
                </a:solidFill>
                <a:latin typeface="Comic Sans MS"/>
                <a:cs typeface="+mn-cs"/>
              </a:rPr>
              <a:t>H</a:t>
            </a:r>
            <a:r>
              <a:rPr lang="en-US" sz="2800" baseline="-25000" dirty="0">
                <a:solidFill>
                  <a:srgbClr val="FFFF00"/>
                </a:solidFill>
                <a:latin typeface="Comic Sans MS"/>
                <a:cs typeface="+mn-cs"/>
              </a:rPr>
              <a:t>0</a:t>
            </a:r>
            <a:r>
              <a:rPr lang="en-US" sz="2800" dirty="0">
                <a:solidFill>
                  <a:srgbClr val="FFFF00"/>
                </a:solidFill>
                <a:latin typeface="Comic Sans MS"/>
                <a:cs typeface="+mn-cs"/>
              </a:rPr>
              <a:t>: </a:t>
            </a:r>
            <a:r>
              <a:rPr lang="en-US" sz="2800" i="1" dirty="0">
                <a:solidFill>
                  <a:srgbClr val="FFFF00"/>
                </a:solidFill>
                <a:latin typeface="Comic Sans MS"/>
                <a:cs typeface="+mn-cs"/>
              </a:rPr>
              <a:t>p</a:t>
            </a:r>
            <a:r>
              <a:rPr lang="en-US" sz="2800" dirty="0">
                <a:solidFill>
                  <a:srgbClr val="FFFF00"/>
                </a:solidFill>
                <a:latin typeface="Comic Sans MS"/>
                <a:cs typeface="+mn-cs"/>
              </a:rPr>
              <a:t> ≤ 0.25</a:t>
            </a:r>
          </a:p>
        </p:txBody>
      </p:sp>
    </p:spTree>
    <p:extLst>
      <p:ext uri="{BB962C8B-B14F-4D97-AF65-F5344CB8AC3E}">
        <p14:creationId xmlns:p14="http://schemas.microsoft.com/office/powerpoint/2010/main" val="5068307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89512"/>
                                        </p:tgtEl>
                                        <p:attrNameLst>
                                          <p:attrName>style.visibility</p:attrName>
                                        </p:attrNameLst>
                                      </p:cBhvr>
                                      <p:to>
                                        <p:strVal val="visible"/>
                                      </p:to>
                                    </p:set>
                                  </p:childTnLst>
                                  <p:subTnLst>
                                    <p:set>
                                      <p:cBhvr override="childStyle">
                                        <p:cTn dur="1" fill="hold" display="0" masterRel="nextClick" afterEffect="1"/>
                                        <p:tgtEl>
                                          <p:spTgt spid="789512"/>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89513"/>
                                        </p:tgtEl>
                                        <p:attrNameLst>
                                          <p:attrName>style.visibility</p:attrName>
                                        </p:attrNameLst>
                                      </p:cBhvr>
                                      <p:to>
                                        <p:strVal val="visible"/>
                                      </p:to>
                                    </p:set>
                                  </p:childTnLst>
                                  <p:subTnLst>
                                    <p:set>
                                      <p:cBhvr override="childStyle">
                                        <p:cTn dur="1" fill="hold" display="0" masterRel="nextClick" afterEffect="1"/>
                                        <p:tgtEl>
                                          <p:spTgt spid="789513"/>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89507"/>
                                        </p:tgtEl>
                                        <p:attrNameLst>
                                          <p:attrName>style.visibility</p:attrName>
                                        </p:attrNameLst>
                                      </p:cBhvr>
                                      <p:to>
                                        <p:strVal val="visible"/>
                                      </p:to>
                                    </p:set>
                                  </p:childTnLst>
                                  <p:subTnLst>
                                    <p:set>
                                      <p:cBhvr override="childStyle">
                                        <p:cTn dur="1" fill="hold" display="0" masterRel="nextClick" afterEffect="1"/>
                                        <p:tgtEl>
                                          <p:spTgt spid="789507"/>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8950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07" grpId="0" animBg="1"/>
      <p:bldP spid="789509" grpId="0"/>
      <p:bldP spid="3" grpId="0" animBg="1"/>
      <p:bldP spid="4" grpId="0"/>
      <p:bldP spid="789513" grpId="0" animBg="1"/>
      <p:bldP spid="789512" grpId="0"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CC">
            <a:alpha val="61000"/>
          </a:srgbClr>
        </a:solidFill>
        <a:effectLst/>
      </p:bgPr>
    </p:bg>
    <p:spTree>
      <p:nvGrpSpPr>
        <p:cNvPr id="1" name=""/>
        <p:cNvGrpSpPr/>
        <p:nvPr/>
      </p:nvGrpSpPr>
      <p:grpSpPr>
        <a:xfrm>
          <a:off x="0" y="0"/>
          <a:ext cx="0" cy="0"/>
          <a:chOff x="0" y="0"/>
          <a:chExt cx="0" cy="0"/>
        </a:xfrm>
      </p:grpSpPr>
      <p:pic>
        <p:nvPicPr>
          <p:cNvPr id="49154" name="Picture 2" descr="C:\Users\Owner\AppData\Local\Microsoft\Windows\Temporary Internet Files\Content.IE5\PC34II6B\MC900383244[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63375" y="5029200"/>
            <a:ext cx="2680625" cy="1828800"/>
          </a:xfrm>
          <a:prstGeom prst="rect">
            <a:avLst/>
          </a:prstGeom>
          <a:noFill/>
          <a:extLst>
            <a:ext uri="{909E8E84-426E-40DD-AFC4-6F175D3DCCD1}">
              <a14:hiddenFill xmlns:a14="http://schemas.microsoft.com/office/drawing/2010/main">
                <a:solidFill>
                  <a:srgbClr val="FFFFFF"/>
                </a:solidFill>
              </a14:hiddenFill>
            </a:ext>
          </a:extLst>
        </p:spPr>
      </p:pic>
      <p:sp>
        <p:nvSpPr>
          <p:cNvPr id="790530" name="Text Box 2"/>
          <p:cNvSpPr txBox="1">
            <a:spLocks noChangeArrowheads="1"/>
          </p:cNvSpPr>
          <p:nvPr/>
        </p:nvSpPr>
        <p:spPr bwMode="auto">
          <a:xfrm>
            <a:off x="304800" y="381000"/>
            <a:ext cx="8458200" cy="2677656"/>
          </a:xfrm>
          <a:prstGeom prst="rect">
            <a:avLst/>
          </a:prstGeom>
          <a:solidFill>
            <a:srgbClr val="FFCC66"/>
          </a:solidFill>
          <a:ln>
            <a:noFill/>
          </a:ln>
          <a:effectLst/>
          <a:extLst/>
        </p:spPr>
        <p:txBody>
          <a:bodyPr>
            <a:spAutoFit/>
          </a:bodyPr>
          <a:lstStyle/>
          <a:p>
            <a:r>
              <a:rPr lang="en-US" dirty="0">
                <a:solidFill>
                  <a:srgbClr val="000000"/>
                </a:solidFill>
                <a:latin typeface="Comic Sans MS"/>
                <a:cs typeface="+mn-cs"/>
              </a:rPr>
              <a:t>A study included data from a survey of 1752 people ages 13 to 39.  One of the survey questions asked participants how satisfied they were with their current financial situation.  Suppose you want to determine if the survey data provide convincing evidence that fewer than 10% of adults 19 to 39 are very satisfied with their current financial situation.</a:t>
            </a:r>
            <a:endParaRPr lang="en-US" dirty="0">
              <a:solidFill>
                <a:srgbClr val="000000"/>
              </a:solidFill>
              <a:latin typeface="Comic Sans MS"/>
              <a:cs typeface="+mn-cs"/>
            </a:endParaRPr>
          </a:p>
        </p:txBody>
      </p:sp>
      <p:sp>
        <p:nvSpPr>
          <p:cNvPr id="790531" name="AutoShape 3"/>
          <p:cNvSpPr>
            <a:spLocks noChangeArrowheads="1"/>
          </p:cNvSpPr>
          <p:nvPr/>
        </p:nvSpPr>
        <p:spPr bwMode="auto">
          <a:xfrm>
            <a:off x="5562600" y="1765663"/>
            <a:ext cx="2209800" cy="609600"/>
          </a:xfrm>
          <a:custGeom>
            <a:avLst/>
            <a:gdLst>
              <a:gd name="G0" fmla="+- 2020 0 0"/>
              <a:gd name="G1" fmla="+- 21600 0 2020"/>
              <a:gd name="G2" fmla="+- 21600 0 202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020" y="10800"/>
                </a:moveTo>
                <a:cubicBezTo>
                  <a:pt x="2020" y="15649"/>
                  <a:pt x="5951" y="19580"/>
                  <a:pt x="10800" y="19580"/>
                </a:cubicBezTo>
                <a:cubicBezTo>
                  <a:pt x="15649" y="19580"/>
                  <a:pt x="19580" y="15649"/>
                  <a:pt x="19580" y="10800"/>
                </a:cubicBezTo>
                <a:cubicBezTo>
                  <a:pt x="19580" y="5951"/>
                  <a:pt x="15649" y="2020"/>
                  <a:pt x="10800" y="2020"/>
                </a:cubicBezTo>
                <a:cubicBezTo>
                  <a:pt x="5951" y="2020"/>
                  <a:pt x="2020" y="5951"/>
                  <a:pt x="2020" y="10800"/>
                </a:cubicBezTo>
                <a:close/>
              </a:path>
            </a:pathLst>
          </a:custGeom>
          <a:solidFill>
            <a:srgbClr val="C00000"/>
          </a:solidFill>
          <a:ln w="9525">
            <a:solidFill>
              <a:srgbClr val="C00000"/>
            </a:solidFill>
            <a:round/>
            <a:headEnd/>
            <a:tailEnd/>
          </a:ln>
          <a:effectLst/>
          <a:extLst/>
        </p:spPr>
        <p:txBody>
          <a:bodyPr wrap="none" anchor="ctr"/>
          <a:lstStyle/>
          <a:p>
            <a:endParaRPr lang="en-US">
              <a:solidFill>
                <a:srgbClr val="000000"/>
              </a:solidFill>
              <a:latin typeface="Times New Roman" pitchFamily="18" charset="0"/>
              <a:cs typeface="+mn-cs"/>
            </a:endParaRPr>
          </a:p>
        </p:txBody>
      </p:sp>
      <p:sp>
        <p:nvSpPr>
          <p:cNvPr id="790533" name="Text Box 5"/>
          <p:cNvSpPr txBox="1">
            <a:spLocks noChangeArrowheads="1"/>
          </p:cNvSpPr>
          <p:nvPr/>
        </p:nvSpPr>
        <p:spPr bwMode="auto">
          <a:xfrm>
            <a:off x="1123941" y="5181600"/>
            <a:ext cx="33528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3200" dirty="0">
                <a:solidFill>
                  <a:srgbClr val="669900"/>
                </a:solidFill>
                <a:latin typeface="Comic Sans MS"/>
                <a:cs typeface="+mn-cs"/>
              </a:rPr>
              <a:t>H</a:t>
            </a:r>
            <a:r>
              <a:rPr lang="en-US" sz="3200" baseline="-25000" dirty="0">
                <a:solidFill>
                  <a:srgbClr val="669900"/>
                </a:solidFill>
                <a:latin typeface="Comic Sans MS"/>
                <a:cs typeface="+mn-cs"/>
              </a:rPr>
              <a:t>0</a:t>
            </a:r>
            <a:r>
              <a:rPr lang="en-US" sz="3200" dirty="0">
                <a:solidFill>
                  <a:srgbClr val="669900"/>
                </a:solidFill>
                <a:latin typeface="Comic Sans MS"/>
                <a:cs typeface="+mn-cs"/>
              </a:rPr>
              <a:t>: </a:t>
            </a:r>
            <a:r>
              <a:rPr lang="en-US" sz="3200" i="1" dirty="0">
                <a:solidFill>
                  <a:srgbClr val="669900"/>
                </a:solidFill>
                <a:latin typeface="Comic Sans MS"/>
                <a:cs typeface="+mn-cs"/>
              </a:rPr>
              <a:t>p</a:t>
            </a:r>
            <a:r>
              <a:rPr lang="en-US" sz="3200" dirty="0">
                <a:solidFill>
                  <a:srgbClr val="669900"/>
                </a:solidFill>
                <a:latin typeface="Comic Sans MS"/>
                <a:cs typeface="+mn-cs"/>
              </a:rPr>
              <a:t> </a:t>
            </a:r>
            <a:r>
              <a:rPr lang="en-US" sz="3200" dirty="0">
                <a:solidFill>
                  <a:srgbClr val="669900"/>
                </a:solidFill>
                <a:latin typeface="Comic Sans MS"/>
                <a:cs typeface="+mn-cs"/>
              </a:rPr>
              <a:t>= </a:t>
            </a:r>
            <a:r>
              <a:rPr lang="en-US" sz="3200" dirty="0">
                <a:solidFill>
                  <a:srgbClr val="669900"/>
                </a:solidFill>
                <a:latin typeface="Comic Sans MS"/>
                <a:cs typeface="+mn-cs"/>
              </a:rPr>
              <a:t>0.10</a:t>
            </a:r>
            <a:endParaRPr lang="en-US" sz="3200" dirty="0">
              <a:solidFill>
                <a:srgbClr val="669900"/>
              </a:solidFill>
              <a:latin typeface="Comic Sans MS"/>
              <a:cs typeface="+mn-cs"/>
            </a:endParaRPr>
          </a:p>
          <a:p>
            <a:pPr>
              <a:spcBef>
                <a:spcPct val="50000"/>
              </a:spcBef>
            </a:pPr>
            <a:r>
              <a:rPr lang="en-US" sz="3200" dirty="0">
                <a:solidFill>
                  <a:srgbClr val="669900"/>
                </a:solidFill>
                <a:latin typeface="Comic Sans MS"/>
                <a:cs typeface="+mn-cs"/>
              </a:rPr>
              <a:t>H</a:t>
            </a:r>
            <a:r>
              <a:rPr lang="en-US" sz="3200" baseline="-25000" dirty="0">
                <a:solidFill>
                  <a:srgbClr val="669900"/>
                </a:solidFill>
                <a:latin typeface="Comic Sans MS"/>
                <a:cs typeface="+mn-cs"/>
              </a:rPr>
              <a:t>a</a:t>
            </a:r>
            <a:r>
              <a:rPr lang="en-US" sz="3200" dirty="0">
                <a:solidFill>
                  <a:srgbClr val="669900"/>
                </a:solidFill>
                <a:latin typeface="Comic Sans MS"/>
                <a:cs typeface="+mn-cs"/>
              </a:rPr>
              <a:t>: </a:t>
            </a:r>
            <a:r>
              <a:rPr lang="en-US" sz="3200" i="1" dirty="0">
                <a:solidFill>
                  <a:srgbClr val="669900"/>
                </a:solidFill>
                <a:latin typeface="Comic Sans MS"/>
                <a:cs typeface="+mn-cs"/>
              </a:rPr>
              <a:t>p</a:t>
            </a:r>
            <a:r>
              <a:rPr lang="en-US" sz="3200" dirty="0">
                <a:solidFill>
                  <a:srgbClr val="669900"/>
                </a:solidFill>
                <a:latin typeface="Comic Sans MS"/>
                <a:cs typeface="+mn-cs"/>
              </a:rPr>
              <a:t> </a:t>
            </a:r>
            <a:r>
              <a:rPr lang="en-US" sz="3200" dirty="0">
                <a:solidFill>
                  <a:srgbClr val="669900"/>
                </a:solidFill>
                <a:latin typeface="Comic Sans MS"/>
                <a:cs typeface="+mn-cs"/>
              </a:rPr>
              <a:t>&lt; </a:t>
            </a:r>
            <a:r>
              <a:rPr lang="en-US" sz="3200" dirty="0">
                <a:solidFill>
                  <a:srgbClr val="669900"/>
                </a:solidFill>
                <a:latin typeface="Comic Sans MS"/>
                <a:cs typeface="+mn-cs"/>
              </a:rPr>
              <a:t>0.10</a:t>
            </a:r>
            <a:endParaRPr lang="en-US" sz="3200" dirty="0">
              <a:solidFill>
                <a:srgbClr val="669900"/>
              </a:solidFill>
              <a:latin typeface="Comic Sans MS"/>
              <a:cs typeface="+mn-cs"/>
            </a:endParaRPr>
          </a:p>
        </p:txBody>
      </p:sp>
      <p:sp>
        <p:nvSpPr>
          <p:cNvPr id="790541" name="AutoShape 13"/>
          <p:cNvSpPr>
            <a:spLocks noChangeArrowheads="1"/>
          </p:cNvSpPr>
          <p:nvPr/>
        </p:nvSpPr>
        <p:spPr bwMode="auto">
          <a:xfrm>
            <a:off x="4038600" y="4977584"/>
            <a:ext cx="4800600" cy="1371600"/>
          </a:xfrm>
          <a:prstGeom prst="wedgeRoundRectCallout">
            <a:avLst>
              <a:gd name="adj1" fmla="val -50081"/>
              <a:gd name="adj2" fmla="val -64564"/>
              <a:gd name="adj3" fmla="val 16667"/>
            </a:avLst>
          </a:prstGeom>
          <a:solidFill>
            <a:srgbClr val="C00000"/>
          </a:solidFill>
          <a:ln>
            <a:noFill/>
          </a:ln>
          <a:effectLst/>
          <a:extLst/>
        </p:spPr>
        <p:txBody>
          <a:bodyPr/>
          <a:lstStyle/>
          <a:p>
            <a:pPr algn="ctr"/>
            <a:r>
              <a:rPr lang="en-US" dirty="0">
                <a:solidFill>
                  <a:srgbClr val="FFFFFF"/>
                </a:solidFill>
                <a:latin typeface="Comic Sans MS"/>
                <a:cs typeface="+mn-cs"/>
              </a:rPr>
              <a:t>What words indicate the direction of the alternative hypothesis?</a:t>
            </a:r>
          </a:p>
        </p:txBody>
      </p:sp>
      <p:sp>
        <p:nvSpPr>
          <p:cNvPr id="14" name="TextBox 13"/>
          <p:cNvSpPr txBox="1"/>
          <p:nvPr/>
        </p:nvSpPr>
        <p:spPr>
          <a:xfrm>
            <a:off x="304800" y="3157716"/>
            <a:ext cx="8534400" cy="1261884"/>
          </a:xfrm>
          <a:prstGeom prst="rect">
            <a:avLst/>
          </a:prstGeom>
          <a:solidFill>
            <a:srgbClr val="FFCC66"/>
          </a:solidFill>
        </p:spPr>
        <p:txBody>
          <a:bodyPr wrap="square" rtlCol="0">
            <a:spAutoFit/>
          </a:bodyPr>
          <a:lstStyle/>
          <a:p>
            <a:r>
              <a:rPr lang="en-US" sz="2800" dirty="0">
                <a:solidFill>
                  <a:srgbClr val="0070C0"/>
                </a:solidFill>
                <a:latin typeface="Comic Sans MS"/>
                <a:cs typeface="Times New Roman" pitchFamily="18" charset="0"/>
              </a:rPr>
              <a:t>Define the population </a:t>
            </a:r>
            <a:r>
              <a:rPr lang="en-US" sz="2800" dirty="0" smtClean="0">
                <a:solidFill>
                  <a:srgbClr val="0070C0"/>
                </a:solidFill>
                <a:latin typeface="Comic Sans MS"/>
                <a:cs typeface="Times New Roman" pitchFamily="18" charset="0"/>
              </a:rPr>
              <a:t>parameter:</a:t>
            </a:r>
            <a:endParaRPr lang="en-US" sz="2800" dirty="0">
              <a:solidFill>
                <a:srgbClr val="0070C0"/>
              </a:solidFill>
              <a:latin typeface="Comic Sans MS"/>
              <a:cs typeface="Times New Roman" pitchFamily="18" charset="0"/>
            </a:endParaRPr>
          </a:p>
          <a:p>
            <a:pPr algn="ctr"/>
            <a:r>
              <a:rPr lang="en-US" i="1" dirty="0">
                <a:solidFill>
                  <a:srgbClr val="000000"/>
                </a:solidFill>
                <a:latin typeface="Comic Sans MS"/>
                <a:cs typeface="Times New Roman" pitchFamily="18" charset="0"/>
              </a:rPr>
              <a:t>p</a:t>
            </a:r>
            <a:r>
              <a:rPr lang="en-US" dirty="0">
                <a:solidFill>
                  <a:srgbClr val="000000"/>
                </a:solidFill>
                <a:latin typeface="Comic Sans MS"/>
                <a:cs typeface="Times New Roman" pitchFamily="18" charset="0"/>
              </a:rPr>
              <a:t> = the proportion of </a:t>
            </a:r>
            <a:r>
              <a:rPr lang="en-US" dirty="0">
                <a:solidFill>
                  <a:srgbClr val="000000"/>
                </a:solidFill>
                <a:latin typeface="Comic Sans MS"/>
                <a:cs typeface="Times New Roman" pitchFamily="18" charset="0"/>
              </a:rPr>
              <a:t>adults ages 19 to 39 who are very satisfied with their current financial situation</a:t>
            </a:r>
            <a:endParaRPr lang="en-US" dirty="0">
              <a:solidFill>
                <a:srgbClr val="000000"/>
              </a:solidFill>
              <a:latin typeface="Comic Sans MS"/>
              <a:cs typeface="Times New Roman" pitchFamily="18" charset="0"/>
            </a:endParaRPr>
          </a:p>
        </p:txBody>
      </p:sp>
      <p:sp>
        <p:nvSpPr>
          <p:cNvPr id="15" name="TextBox 14"/>
          <p:cNvSpPr txBox="1"/>
          <p:nvPr/>
        </p:nvSpPr>
        <p:spPr>
          <a:xfrm>
            <a:off x="304800" y="4505980"/>
            <a:ext cx="8534400" cy="523220"/>
          </a:xfrm>
          <a:prstGeom prst="rect">
            <a:avLst/>
          </a:prstGeom>
          <a:noFill/>
        </p:spPr>
        <p:txBody>
          <a:bodyPr wrap="square" rtlCol="0">
            <a:spAutoFit/>
          </a:bodyPr>
          <a:lstStyle/>
          <a:p>
            <a:pPr>
              <a:spcBef>
                <a:spcPct val="50000"/>
              </a:spcBef>
            </a:pPr>
            <a:r>
              <a:rPr lang="en-US" sz="2800" dirty="0">
                <a:solidFill>
                  <a:srgbClr val="C00000"/>
                </a:solidFill>
                <a:latin typeface="Comic Sans MS"/>
                <a:cs typeface="+mn-cs"/>
              </a:rPr>
              <a:t>State </a:t>
            </a:r>
            <a:r>
              <a:rPr lang="en-US" sz="2800" dirty="0">
                <a:solidFill>
                  <a:srgbClr val="C00000"/>
                </a:solidFill>
                <a:latin typeface="Comic Sans MS"/>
                <a:cs typeface="+mn-cs"/>
              </a:rPr>
              <a:t>the hypotheses </a:t>
            </a:r>
            <a:r>
              <a:rPr lang="en-US" sz="2800" dirty="0">
                <a:solidFill>
                  <a:srgbClr val="C00000"/>
                </a:solidFill>
                <a:latin typeface="Comic Sans MS"/>
                <a:cs typeface="+mn-cs"/>
              </a:rPr>
              <a:t>:</a:t>
            </a:r>
            <a:endParaRPr lang="en-US" sz="2800" dirty="0">
              <a:solidFill>
                <a:srgbClr val="C00000"/>
              </a:solidFill>
              <a:latin typeface="Comic Sans MS"/>
              <a:cs typeface="+mn-cs"/>
            </a:endParaRPr>
          </a:p>
        </p:txBody>
      </p:sp>
    </p:spTree>
    <p:extLst>
      <p:ext uri="{BB962C8B-B14F-4D97-AF65-F5344CB8AC3E}">
        <p14:creationId xmlns:p14="http://schemas.microsoft.com/office/powerpoint/2010/main" val="16520488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90541"/>
                                        </p:tgtEl>
                                        <p:attrNameLst>
                                          <p:attrName>style.visibility</p:attrName>
                                        </p:attrNameLst>
                                      </p:cBhvr>
                                      <p:to>
                                        <p:strVal val="visible"/>
                                      </p:to>
                                    </p:set>
                                  </p:childTnLst>
                                  <p:subTnLst>
                                    <p:set>
                                      <p:cBhvr override="childStyle">
                                        <p:cTn dur="1" fill="hold" display="0" masterRel="nextClick" afterEffect="1"/>
                                        <p:tgtEl>
                                          <p:spTgt spid="790541"/>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90531"/>
                                        </p:tgtEl>
                                        <p:attrNameLst>
                                          <p:attrName>style.visibility</p:attrName>
                                        </p:attrNameLst>
                                      </p:cBhvr>
                                      <p:to>
                                        <p:strVal val="visible"/>
                                      </p:to>
                                    </p:set>
                                  </p:childTnLst>
                                  <p:subTnLst>
                                    <p:set>
                                      <p:cBhvr override="childStyle">
                                        <p:cTn dur="1" fill="hold" display="0" masterRel="nextClick" afterEffect="1"/>
                                        <p:tgtEl>
                                          <p:spTgt spid="790531"/>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0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0531" grpId="0" animBg="1"/>
      <p:bldP spid="790533" grpId="0"/>
      <p:bldP spid="790541" grpId="0" animBg="1"/>
      <p:bldP spid="14" grpId="0" animBg="1"/>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CC">
            <a:alpha val="61000"/>
          </a:srgbClr>
        </a:solidFill>
        <a:effectLst/>
      </p:bgPr>
    </p:bg>
    <p:spTree>
      <p:nvGrpSpPr>
        <p:cNvPr id="1" name=""/>
        <p:cNvGrpSpPr/>
        <p:nvPr/>
      </p:nvGrpSpPr>
      <p:grpSpPr>
        <a:xfrm>
          <a:off x="0" y="0"/>
          <a:ext cx="0" cy="0"/>
          <a:chOff x="0" y="0"/>
          <a:chExt cx="0" cy="0"/>
        </a:xfrm>
      </p:grpSpPr>
      <p:sp>
        <p:nvSpPr>
          <p:cNvPr id="791554" name="Text Box 2"/>
          <p:cNvSpPr txBox="1">
            <a:spLocks noChangeArrowheads="1"/>
          </p:cNvSpPr>
          <p:nvPr/>
        </p:nvSpPr>
        <p:spPr bwMode="auto">
          <a:xfrm>
            <a:off x="304800" y="381000"/>
            <a:ext cx="8534400" cy="1569660"/>
          </a:xfrm>
          <a:prstGeom prst="rect">
            <a:avLst/>
          </a:prstGeom>
          <a:solidFill>
            <a:srgbClr val="FFCC66"/>
          </a:solidFill>
          <a:ln>
            <a:noFill/>
          </a:ln>
          <a:effectLst/>
          <a:extLst/>
        </p:spPr>
        <p:txBody>
          <a:bodyPr>
            <a:spAutoFit/>
          </a:bodyPr>
          <a:lstStyle/>
          <a:p>
            <a:pPr>
              <a:spcBef>
                <a:spcPct val="50000"/>
              </a:spcBef>
            </a:pPr>
            <a:r>
              <a:rPr lang="en-US" dirty="0">
                <a:solidFill>
                  <a:srgbClr val="000000"/>
                </a:solidFill>
                <a:latin typeface="Comic Sans MS"/>
                <a:cs typeface="+mn-cs"/>
              </a:rPr>
              <a:t>The manufacturer of M&amp;Ms claims that 40% of plain M&amp;Ms are brown.  A sample of M&amp;Ms will be used to determine if the proportion of brown M&amp;Ms is different from what the manufacturer claims. </a:t>
            </a:r>
            <a:endParaRPr lang="en-US" dirty="0">
              <a:solidFill>
                <a:srgbClr val="000000"/>
              </a:solidFill>
              <a:latin typeface="Comic Sans MS"/>
              <a:cs typeface="+mn-cs"/>
            </a:endParaRPr>
          </a:p>
        </p:txBody>
      </p:sp>
      <p:sp>
        <p:nvSpPr>
          <p:cNvPr id="791556" name="AutoShape 4"/>
          <p:cNvSpPr>
            <a:spLocks noChangeArrowheads="1"/>
          </p:cNvSpPr>
          <p:nvPr/>
        </p:nvSpPr>
        <p:spPr bwMode="auto">
          <a:xfrm>
            <a:off x="6858000" y="990600"/>
            <a:ext cx="1828800" cy="685800"/>
          </a:xfrm>
          <a:custGeom>
            <a:avLst/>
            <a:gdLst>
              <a:gd name="G0" fmla="+- 2020 0 0"/>
              <a:gd name="G1" fmla="+- 21600 0 2020"/>
              <a:gd name="G2" fmla="+- 21600 0 202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020" y="10800"/>
                </a:moveTo>
                <a:cubicBezTo>
                  <a:pt x="2020" y="15649"/>
                  <a:pt x="5951" y="19580"/>
                  <a:pt x="10800" y="19580"/>
                </a:cubicBezTo>
                <a:cubicBezTo>
                  <a:pt x="15649" y="19580"/>
                  <a:pt x="19580" y="15649"/>
                  <a:pt x="19580" y="10800"/>
                </a:cubicBezTo>
                <a:cubicBezTo>
                  <a:pt x="19580" y="5951"/>
                  <a:pt x="15649" y="2020"/>
                  <a:pt x="10800" y="2020"/>
                </a:cubicBezTo>
                <a:cubicBezTo>
                  <a:pt x="5951" y="2020"/>
                  <a:pt x="2020" y="5951"/>
                  <a:pt x="2020" y="10800"/>
                </a:cubicBezTo>
                <a:close/>
              </a:path>
            </a:pathLst>
          </a:custGeom>
          <a:solidFill>
            <a:srgbClr val="C00000"/>
          </a:solidFill>
          <a:ln w="9525">
            <a:solidFill>
              <a:srgbClr val="C00000"/>
            </a:solidFill>
            <a:round/>
            <a:headEnd/>
            <a:tailEnd/>
          </a:ln>
          <a:effectLst/>
          <a:extLst/>
        </p:spPr>
        <p:txBody>
          <a:bodyPr wrap="none" anchor="ctr"/>
          <a:lstStyle/>
          <a:p>
            <a:endParaRPr lang="en-US">
              <a:solidFill>
                <a:srgbClr val="000000"/>
              </a:solidFill>
              <a:latin typeface="Times New Roman" pitchFamily="18" charset="0"/>
              <a:cs typeface="+mn-cs"/>
            </a:endParaRPr>
          </a:p>
        </p:txBody>
      </p:sp>
      <p:sp>
        <p:nvSpPr>
          <p:cNvPr id="791558" name="Text Box 6"/>
          <p:cNvSpPr txBox="1">
            <a:spLocks noChangeArrowheads="1"/>
          </p:cNvSpPr>
          <p:nvPr/>
        </p:nvSpPr>
        <p:spPr bwMode="auto">
          <a:xfrm>
            <a:off x="3657600" y="4343400"/>
            <a:ext cx="33528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3200" dirty="0">
                <a:solidFill>
                  <a:srgbClr val="669900"/>
                </a:solidFill>
                <a:latin typeface="Comic Sans MS"/>
                <a:cs typeface="+mn-cs"/>
              </a:rPr>
              <a:t>H</a:t>
            </a:r>
            <a:r>
              <a:rPr lang="en-US" sz="3200" baseline="-25000" dirty="0">
                <a:solidFill>
                  <a:srgbClr val="669900"/>
                </a:solidFill>
                <a:latin typeface="Comic Sans MS"/>
                <a:cs typeface="+mn-cs"/>
              </a:rPr>
              <a:t>0</a:t>
            </a:r>
            <a:r>
              <a:rPr lang="en-US" sz="3200" dirty="0">
                <a:solidFill>
                  <a:srgbClr val="669900"/>
                </a:solidFill>
                <a:latin typeface="Comic Sans MS"/>
                <a:cs typeface="+mn-cs"/>
              </a:rPr>
              <a:t>: </a:t>
            </a:r>
            <a:r>
              <a:rPr lang="en-US" sz="3200" i="1" dirty="0">
                <a:solidFill>
                  <a:srgbClr val="669900"/>
                </a:solidFill>
                <a:latin typeface="Comic Sans MS"/>
                <a:cs typeface="+mn-cs"/>
              </a:rPr>
              <a:t>p</a:t>
            </a:r>
            <a:r>
              <a:rPr lang="en-US" sz="3200" dirty="0">
                <a:solidFill>
                  <a:srgbClr val="669900"/>
                </a:solidFill>
                <a:latin typeface="Comic Sans MS"/>
                <a:cs typeface="+mn-cs"/>
              </a:rPr>
              <a:t> </a:t>
            </a:r>
            <a:r>
              <a:rPr lang="en-US" sz="3200" dirty="0">
                <a:solidFill>
                  <a:srgbClr val="669900"/>
                </a:solidFill>
                <a:latin typeface="Comic Sans MS"/>
                <a:cs typeface="+mn-cs"/>
              </a:rPr>
              <a:t>= </a:t>
            </a:r>
            <a:r>
              <a:rPr lang="en-US" sz="3200" dirty="0">
                <a:solidFill>
                  <a:srgbClr val="669900"/>
                </a:solidFill>
                <a:latin typeface="Comic Sans MS"/>
                <a:cs typeface="+mn-cs"/>
              </a:rPr>
              <a:t>0.40</a:t>
            </a:r>
            <a:endParaRPr lang="en-US" sz="3200" dirty="0">
              <a:solidFill>
                <a:srgbClr val="669900"/>
              </a:solidFill>
              <a:latin typeface="Comic Sans MS"/>
              <a:cs typeface="+mn-cs"/>
            </a:endParaRPr>
          </a:p>
          <a:p>
            <a:pPr>
              <a:spcBef>
                <a:spcPct val="50000"/>
              </a:spcBef>
            </a:pPr>
            <a:r>
              <a:rPr lang="en-US" sz="3200" dirty="0">
                <a:solidFill>
                  <a:srgbClr val="669900"/>
                </a:solidFill>
                <a:latin typeface="Comic Sans MS"/>
                <a:cs typeface="+mn-cs"/>
              </a:rPr>
              <a:t>H</a:t>
            </a:r>
            <a:r>
              <a:rPr lang="en-US" sz="3200" baseline="-25000" dirty="0">
                <a:solidFill>
                  <a:srgbClr val="669900"/>
                </a:solidFill>
                <a:latin typeface="Comic Sans MS"/>
                <a:cs typeface="+mn-cs"/>
              </a:rPr>
              <a:t>a</a:t>
            </a:r>
            <a:r>
              <a:rPr lang="en-US" sz="3200" dirty="0">
                <a:solidFill>
                  <a:srgbClr val="669900"/>
                </a:solidFill>
                <a:latin typeface="Comic Sans MS"/>
                <a:cs typeface="+mn-cs"/>
              </a:rPr>
              <a:t>: </a:t>
            </a:r>
            <a:r>
              <a:rPr lang="en-US" sz="3200" i="1" dirty="0">
                <a:solidFill>
                  <a:srgbClr val="669900"/>
                </a:solidFill>
                <a:latin typeface="Comic Sans MS"/>
                <a:cs typeface="+mn-cs"/>
              </a:rPr>
              <a:t>p</a:t>
            </a:r>
            <a:r>
              <a:rPr lang="en-US" sz="3200" dirty="0">
                <a:solidFill>
                  <a:srgbClr val="669900"/>
                </a:solidFill>
                <a:latin typeface="Comic Sans MS"/>
                <a:cs typeface="+mn-cs"/>
              </a:rPr>
              <a:t> </a:t>
            </a:r>
            <a:r>
              <a:rPr lang="en-US" sz="3200" dirty="0">
                <a:solidFill>
                  <a:srgbClr val="669900"/>
                </a:solidFill>
                <a:latin typeface="Comic Sans MS"/>
                <a:cs typeface="+mn-cs"/>
              </a:rPr>
              <a:t>≠ </a:t>
            </a:r>
            <a:r>
              <a:rPr lang="en-US" sz="3200" dirty="0">
                <a:solidFill>
                  <a:srgbClr val="669900"/>
                </a:solidFill>
                <a:latin typeface="Comic Sans MS"/>
                <a:cs typeface="+mn-cs"/>
              </a:rPr>
              <a:t>0.40</a:t>
            </a:r>
            <a:endParaRPr lang="en-US" sz="3200" dirty="0">
              <a:solidFill>
                <a:srgbClr val="669900"/>
              </a:solidFill>
              <a:latin typeface="Comic Sans MS"/>
              <a:cs typeface="+mn-cs"/>
            </a:endParaRPr>
          </a:p>
        </p:txBody>
      </p:sp>
      <p:sp>
        <p:nvSpPr>
          <p:cNvPr id="791563" name="AutoShape 11"/>
          <p:cNvSpPr>
            <a:spLocks noChangeArrowheads="1"/>
          </p:cNvSpPr>
          <p:nvPr/>
        </p:nvSpPr>
        <p:spPr bwMode="auto">
          <a:xfrm>
            <a:off x="4038600" y="3955010"/>
            <a:ext cx="4800600" cy="1371600"/>
          </a:xfrm>
          <a:prstGeom prst="wedgeRoundRectCallout">
            <a:avLst>
              <a:gd name="adj1" fmla="val -63471"/>
              <a:gd name="adj2" fmla="val -61667"/>
              <a:gd name="adj3" fmla="val 16667"/>
            </a:avLst>
          </a:prstGeom>
          <a:solidFill>
            <a:srgbClr val="C00000"/>
          </a:solidFill>
          <a:ln>
            <a:noFill/>
          </a:ln>
          <a:effectLst/>
          <a:extLst/>
        </p:spPr>
        <p:txBody>
          <a:bodyPr/>
          <a:lstStyle/>
          <a:p>
            <a:pPr algn="ctr"/>
            <a:r>
              <a:rPr lang="en-US" dirty="0">
                <a:solidFill>
                  <a:srgbClr val="FFFFFF"/>
                </a:solidFill>
                <a:latin typeface="Comic Sans MS"/>
                <a:cs typeface="+mn-cs"/>
              </a:rPr>
              <a:t>What words indicate the direction of the alternative hypothesis?</a:t>
            </a:r>
          </a:p>
        </p:txBody>
      </p:sp>
      <p:sp>
        <p:nvSpPr>
          <p:cNvPr id="10" name="TextBox 9"/>
          <p:cNvSpPr txBox="1"/>
          <p:nvPr/>
        </p:nvSpPr>
        <p:spPr>
          <a:xfrm>
            <a:off x="304800" y="2057400"/>
            <a:ext cx="8534400" cy="1077218"/>
          </a:xfrm>
          <a:prstGeom prst="rect">
            <a:avLst/>
          </a:prstGeom>
          <a:solidFill>
            <a:srgbClr val="FFCC66"/>
          </a:solidFill>
        </p:spPr>
        <p:txBody>
          <a:bodyPr wrap="square" rtlCol="0">
            <a:spAutoFit/>
          </a:bodyPr>
          <a:lstStyle/>
          <a:p>
            <a:r>
              <a:rPr lang="en-US" sz="2800" dirty="0">
                <a:solidFill>
                  <a:srgbClr val="0070C0"/>
                </a:solidFill>
                <a:latin typeface="Comic Sans MS"/>
                <a:cs typeface="Times New Roman" pitchFamily="18" charset="0"/>
              </a:rPr>
              <a:t>Define the population </a:t>
            </a:r>
            <a:r>
              <a:rPr lang="en-US" sz="2800" dirty="0" smtClean="0">
                <a:solidFill>
                  <a:srgbClr val="0070C0"/>
                </a:solidFill>
                <a:latin typeface="Comic Sans MS"/>
                <a:cs typeface="Times New Roman" pitchFamily="18" charset="0"/>
              </a:rPr>
              <a:t>parameter:</a:t>
            </a:r>
            <a:endParaRPr lang="en-US" sz="2800" dirty="0">
              <a:solidFill>
                <a:srgbClr val="0070C0"/>
              </a:solidFill>
              <a:latin typeface="Comic Sans MS"/>
              <a:cs typeface="Times New Roman" pitchFamily="18" charset="0"/>
            </a:endParaRPr>
          </a:p>
          <a:p>
            <a:endParaRPr lang="en-US" sz="1200" dirty="0">
              <a:solidFill>
                <a:srgbClr val="0070C0"/>
              </a:solidFill>
              <a:latin typeface="Comic Sans MS"/>
              <a:cs typeface="Times New Roman" pitchFamily="18" charset="0"/>
            </a:endParaRPr>
          </a:p>
          <a:p>
            <a:pPr algn="ctr"/>
            <a:r>
              <a:rPr lang="en-US" i="1" dirty="0">
                <a:solidFill>
                  <a:srgbClr val="000000"/>
                </a:solidFill>
                <a:latin typeface="Comic Sans MS"/>
                <a:cs typeface="Times New Roman" pitchFamily="18" charset="0"/>
              </a:rPr>
              <a:t>p</a:t>
            </a:r>
            <a:r>
              <a:rPr lang="en-US" dirty="0">
                <a:solidFill>
                  <a:srgbClr val="000000"/>
                </a:solidFill>
                <a:latin typeface="Comic Sans MS"/>
                <a:cs typeface="Times New Roman" pitchFamily="18" charset="0"/>
              </a:rPr>
              <a:t> = the proportion of </a:t>
            </a:r>
            <a:r>
              <a:rPr lang="en-US" dirty="0">
                <a:solidFill>
                  <a:srgbClr val="000000"/>
                </a:solidFill>
                <a:latin typeface="Comic Sans MS"/>
                <a:cs typeface="Times New Roman" pitchFamily="18" charset="0"/>
              </a:rPr>
              <a:t>plain M&amp;Ms that are brown</a:t>
            </a:r>
            <a:endParaRPr lang="en-US" dirty="0">
              <a:solidFill>
                <a:srgbClr val="000000"/>
              </a:solidFill>
              <a:latin typeface="Comic Sans MS"/>
              <a:cs typeface="Times New Roman" pitchFamily="18" charset="0"/>
            </a:endParaRPr>
          </a:p>
        </p:txBody>
      </p:sp>
      <p:sp>
        <p:nvSpPr>
          <p:cNvPr id="11" name="TextBox 10"/>
          <p:cNvSpPr txBox="1"/>
          <p:nvPr/>
        </p:nvSpPr>
        <p:spPr>
          <a:xfrm>
            <a:off x="304800" y="3431790"/>
            <a:ext cx="8534400" cy="523220"/>
          </a:xfrm>
          <a:prstGeom prst="rect">
            <a:avLst/>
          </a:prstGeom>
          <a:noFill/>
        </p:spPr>
        <p:txBody>
          <a:bodyPr wrap="square" rtlCol="0">
            <a:spAutoFit/>
          </a:bodyPr>
          <a:lstStyle/>
          <a:p>
            <a:pPr>
              <a:spcBef>
                <a:spcPct val="50000"/>
              </a:spcBef>
            </a:pPr>
            <a:r>
              <a:rPr lang="en-US" sz="2800" dirty="0">
                <a:solidFill>
                  <a:srgbClr val="C00000"/>
                </a:solidFill>
                <a:latin typeface="Comic Sans MS"/>
                <a:cs typeface="+mn-cs"/>
              </a:rPr>
              <a:t>State </a:t>
            </a:r>
            <a:r>
              <a:rPr lang="en-US" sz="2800" dirty="0">
                <a:solidFill>
                  <a:srgbClr val="C00000"/>
                </a:solidFill>
                <a:latin typeface="Comic Sans MS"/>
                <a:cs typeface="+mn-cs"/>
              </a:rPr>
              <a:t>the hypotheses </a:t>
            </a:r>
            <a:r>
              <a:rPr lang="en-US" sz="2800" dirty="0">
                <a:solidFill>
                  <a:srgbClr val="C00000"/>
                </a:solidFill>
                <a:latin typeface="Comic Sans MS"/>
                <a:cs typeface="+mn-cs"/>
              </a:rPr>
              <a:t>:</a:t>
            </a:r>
            <a:endParaRPr lang="en-US" sz="2800" dirty="0">
              <a:solidFill>
                <a:srgbClr val="C00000"/>
              </a:solidFill>
              <a:latin typeface="Comic Sans MS"/>
              <a:cs typeface="+mn-cs"/>
            </a:endParaRPr>
          </a:p>
        </p:txBody>
      </p:sp>
      <p:pic>
        <p:nvPicPr>
          <p:cNvPr id="12" name="Picture 9" descr="M&amp;M`s Candy: 56-Ounce Bag">
            <a:hlinkClick r:id="rId2"/>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837"/>
          <a:stretch/>
        </p:blipFill>
        <p:spPr bwMode="auto">
          <a:xfrm>
            <a:off x="17417" y="4380796"/>
            <a:ext cx="3328988" cy="2521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058236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91563"/>
                                        </p:tgtEl>
                                        <p:attrNameLst>
                                          <p:attrName>style.visibility</p:attrName>
                                        </p:attrNameLst>
                                      </p:cBhvr>
                                      <p:to>
                                        <p:strVal val="visible"/>
                                      </p:to>
                                    </p:set>
                                  </p:childTnLst>
                                  <p:subTnLst>
                                    <p:set>
                                      <p:cBhvr override="childStyle">
                                        <p:cTn dur="1" fill="hold" display="0" masterRel="nextClick" afterEffect="1"/>
                                        <p:tgtEl>
                                          <p:spTgt spid="79156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791556"/>
                                        </p:tgtEl>
                                        <p:attrNameLst>
                                          <p:attrName>style.visibility</p:attrName>
                                        </p:attrNameLst>
                                      </p:cBhvr>
                                      <p:to>
                                        <p:strVal val="visible"/>
                                      </p:to>
                                    </p:set>
                                    <p:animEffect transition="in" filter="blinds(horizontal)">
                                      <p:cBhvr>
                                        <p:cTn id="19" dur="500"/>
                                        <p:tgtEl>
                                          <p:spTgt spid="791556"/>
                                        </p:tgtEl>
                                      </p:cBhvr>
                                    </p:animEffect>
                                  </p:childTnLst>
                                  <p:subTnLst>
                                    <p:set>
                                      <p:cBhvr override="childStyle">
                                        <p:cTn dur="1" fill="hold" display="0" masterRel="nextClick" afterEffect="1"/>
                                        <p:tgtEl>
                                          <p:spTgt spid="791556"/>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915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1556" grpId="0" animBg="1"/>
      <p:bldP spid="791558" grpId="0"/>
      <p:bldP spid="791563" grpId="0" animBg="1"/>
      <p:bldP spid="10" grpId="0" animBg="1"/>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CC">
            <a:alpha val="61000"/>
          </a:srgbClr>
        </a:solidFill>
        <a:effectLst/>
      </p:bgPr>
    </p:bg>
    <p:spTree>
      <p:nvGrpSpPr>
        <p:cNvPr id="1" name=""/>
        <p:cNvGrpSpPr/>
        <p:nvPr/>
      </p:nvGrpSpPr>
      <p:grpSpPr>
        <a:xfrm>
          <a:off x="0" y="0"/>
          <a:ext cx="0" cy="0"/>
          <a:chOff x="0" y="0"/>
          <a:chExt cx="0" cy="0"/>
        </a:xfrm>
      </p:grpSpPr>
      <p:sp>
        <p:nvSpPr>
          <p:cNvPr id="793602" name="Rectangle 2"/>
          <p:cNvSpPr>
            <a:spLocks noGrp="1" noChangeArrowheads="1"/>
          </p:cNvSpPr>
          <p:nvPr>
            <p:ph type="title" sz="quarter"/>
          </p:nvPr>
        </p:nvSpPr>
        <p:spPr>
          <a:solidFill>
            <a:srgbClr val="FFCC66"/>
          </a:solidFill>
        </p:spPr>
        <p:txBody>
          <a:bodyPr/>
          <a:lstStyle/>
          <a:p>
            <a:pPr algn="l"/>
            <a:r>
              <a:rPr lang="en-US" sz="2800" dirty="0">
                <a:solidFill>
                  <a:srgbClr val="0070C0"/>
                </a:solidFill>
                <a:latin typeface="Comic Sans MS" pitchFamily="66" charset="0"/>
              </a:rPr>
              <a:t>For each pair of hypotheses, indicate which are not legitimate and explain why</a:t>
            </a:r>
          </a:p>
        </p:txBody>
      </p:sp>
      <p:graphicFrame>
        <p:nvGraphicFramePr>
          <p:cNvPr id="793619" name="Object 19"/>
          <p:cNvGraphicFramePr>
            <a:graphicFrameLocks noGrp="1" noChangeAspect="1"/>
          </p:cNvGraphicFramePr>
          <p:nvPr>
            <p:ph sz="quarter" idx="1"/>
            <p:extLst>
              <p:ext uri="{D42A27DB-BD31-4B8C-83A1-F6EECF244321}">
                <p14:modId xmlns:p14="http://schemas.microsoft.com/office/powerpoint/2010/main" val="2932000763"/>
              </p:ext>
            </p:extLst>
          </p:nvPr>
        </p:nvGraphicFramePr>
        <p:xfrm>
          <a:off x="838200" y="2747855"/>
          <a:ext cx="5421313" cy="722313"/>
        </p:xfrm>
        <a:graphic>
          <a:graphicData uri="http://schemas.openxmlformats.org/presentationml/2006/ole">
            <mc:AlternateContent xmlns:mc="http://schemas.openxmlformats.org/markup-compatibility/2006">
              <mc:Choice xmlns:v="urn:schemas-microsoft-com:vml" Requires="v">
                <p:oleObj spid="_x0000_s61522" name="Equation" r:id="rId3" imgW="1904760" imgH="253800" progId="Equation.3">
                  <p:embed/>
                </p:oleObj>
              </mc:Choice>
              <mc:Fallback>
                <p:oleObj name="Equation" r:id="rId3" imgW="1904760" imgH="253800" progId="Equation.3">
                  <p:embed/>
                  <p:pic>
                    <p:nvPicPr>
                      <p:cNvPr id="0" name=""/>
                      <p:cNvPicPr>
                        <a:picLocks noChangeAspect="1" noChangeArrowheads="1"/>
                      </p:cNvPicPr>
                      <p:nvPr/>
                    </p:nvPicPr>
                    <p:blipFill>
                      <a:blip r:embed="rId4"/>
                      <a:srcRect/>
                      <a:stretch>
                        <a:fillRect/>
                      </a:stretch>
                    </p:blipFill>
                    <p:spPr bwMode="auto">
                      <a:xfrm>
                        <a:off x="838200" y="2747855"/>
                        <a:ext cx="5421313" cy="722313"/>
                      </a:xfrm>
                      <a:prstGeom prst="rect">
                        <a:avLst/>
                      </a:prstGeom>
                      <a:solidFill>
                        <a:srgbClr val="FFCC66"/>
                      </a:solidFill>
                      <a:ln>
                        <a:noFill/>
                      </a:ln>
                      <a:effectLst/>
                      <a:extLst/>
                    </p:spPr>
                  </p:pic>
                </p:oleObj>
              </mc:Fallback>
            </mc:AlternateContent>
          </a:graphicData>
        </a:graphic>
      </p:graphicFrame>
      <p:graphicFrame>
        <p:nvGraphicFramePr>
          <p:cNvPr id="793621" name="Object 21"/>
          <p:cNvGraphicFramePr>
            <a:graphicFrameLocks noGrp="1" noChangeAspect="1"/>
          </p:cNvGraphicFramePr>
          <p:nvPr>
            <p:ph sz="quarter" idx="2"/>
            <p:extLst>
              <p:ext uri="{D42A27DB-BD31-4B8C-83A1-F6EECF244321}">
                <p14:modId xmlns:p14="http://schemas.microsoft.com/office/powerpoint/2010/main" val="680582379"/>
              </p:ext>
            </p:extLst>
          </p:nvPr>
        </p:nvGraphicFramePr>
        <p:xfrm>
          <a:off x="838200" y="3767596"/>
          <a:ext cx="5073650" cy="635000"/>
        </p:xfrm>
        <a:graphic>
          <a:graphicData uri="http://schemas.openxmlformats.org/presentationml/2006/ole">
            <mc:AlternateContent xmlns:mc="http://schemas.openxmlformats.org/markup-compatibility/2006">
              <mc:Choice xmlns:v="urn:schemas-microsoft-com:vml" Requires="v">
                <p:oleObj spid="_x0000_s61523" name="Equation" r:id="rId5" imgW="1828800" imgH="228600" progId="Equation.3">
                  <p:embed/>
                </p:oleObj>
              </mc:Choice>
              <mc:Fallback>
                <p:oleObj name="Equation" r:id="rId5" imgW="1828800" imgH="228600" progId="Equation.3">
                  <p:embed/>
                  <p:pic>
                    <p:nvPicPr>
                      <p:cNvPr id="0" name=""/>
                      <p:cNvPicPr>
                        <a:picLocks noChangeAspect="1" noChangeArrowheads="1"/>
                      </p:cNvPicPr>
                      <p:nvPr/>
                    </p:nvPicPr>
                    <p:blipFill>
                      <a:blip r:embed="rId6"/>
                      <a:srcRect/>
                      <a:stretch>
                        <a:fillRect/>
                      </a:stretch>
                    </p:blipFill>
                    <p:spPr bwMode="auto">
                      <a:xfrm>
                        <a:off x="838200" y="3767596"/>
                        <a:ext cx="5073650" cy="635000"/>
                      </a:xfrm>
                      <a:prstGeom prst="rect">
                        <a:avLst/>
                      </a:prstGeom>
                      <a:solidFill>
                        <a:srgbClr val="FFCC66"/>
                      </a:solidFill>
                      <a:ln>
                        <a:noFill/>
                      </a:ln>
                      <a:effectLst/>
                      <a:extLst/>
                    </p:spPr>
                  </p:pic>
                </p:oleObj>
              </mc:Fallback>
            </mc:AlternateContent>
          </a:graphicData>
        </a:graphic>
      </p:graphicFrame>
      <p:graphicFrame>
        <p:nvGraphicFramePr>
          <p:cNvPr id="793623" name="Object 23"/>
          <p:cNvGraphicFramePr>
            <a:graphicFrameLocks noGrp="1" noChangeAspect="1"/>
          </p:cNvGraphicFramePr>
          <p:nvPr>
            <p:ph sz="quarter" idx="3"/>
            <p:extLst>
              <p:ext uri="{D42A27DB-BD31-4B8C-83A1-F6EECF244321}">
                <p14:modId xmlns:p14="http://schemas.microsoft.com/office/powerpoint/2010/main" val="3766387201"/>
              </p:ext>
            </p:extLst>
          </p:nvPr>
        </p:nvGraphicFramePr>
        <p:xfrm>
          <a:off x="838200" y="4700024"/>
          <a:ext cx="5803900" cy="641350"/>
        </p:xfrm>
        <a:graphic>
          <a:graphicData uri="http://schemas.openxmlformats.org/presentationml/2006/ole">
            <mc:AlternateContent xmlns:mc="http://schemas.openxmlformats.org/markup-compatibility/2006">
              <mc:Choice xmlns:v="urn:schemas-microsoft-com:vml" Requires="v">
                <p:oleObj spid="_x0000_s61524" name="Equation" r:id="rId7" imgW="2070000" imgH="228600" progId="Equation.3">
                  <p:embed/>
                </p:oleObj>
              </mc:Choice>
              <mc:Fallback>
                <p:oleObj name="Equation" r:id="rId7" imgW="2070000" imgH="228600" progId="Equation.3">
                  <p:embed/>
                  <p:pic>
                    <p:nvPicPr>
                      <p:cNvPr id="0" name=""/>
                      <p:cNvPicPr>
                        <a:picLocks noChangeAspect="1" noChangeArrowheads="1"/>
                      </p:cNvPicPr>
                      <p:nvPr/>
                    </p:nvPicPr>
                    <p:blipFill>
                      <a:blip r:embed="rId8"/>
                      <a:srcRect/>
                      <a:stretch>
                        <a:fillRect/>
                      </a:stretch>
                    </p:blipFill>
                    <p:spPr bwMode="auto">
                      <a:xfrm>
                        <a:off x="838200" y="4700024"/>
                        <a:ext cx="5803900" cy="641350"/>
                      </a:xfrm>
                      <a:prstGeom prst="rect">
                        <a:avLst/>
                      </a:prstGeom>
                      <a:solidFill>
                        <a:srgbClr val="FFCC66"/>
                      </a:solidFill>
                      <a:ln>
                        <a:noFill/>
                      </a:ln>
                      <a:effectLst/>
                      <a:extLst/>
                    </p:spPr>
                  </p:pic>
                </p:oleObj>
              </mc:Fallback>
            </mc:AlternateContent>
          </a:graphicData>
        </a:graphic>
      </p:graphicFrame>
      <p:graphicFrame>
        <p:nvGraphicFramePr>
          <p:cNvPr id="793603" name="Object 3"/>
          <p:cNvGraphicFramePr>
            <a:graphicFrameLocks noChangeAspect="1"/>
          </p:cNvGraphicFramePr>
          <p:nvPr>
            <p:extLst>
              <p:ext uri="{D42A27DB-BD31-4B8C-83A1-F6EECF244321}">
                <p14:modId xmlns:p14="http://schemas.microsoft.com/office/powerpoint/2010/main" val="186931585"/>
              </p:ext>
            </p:extLst>
          </p:nvPr>
        </p:nvGraphicFramePr>
        <p:xfrm>
          <a:off x="838200" y="1752600"/>
          <a:ext cx="5466557" cy="697827"/>
        </p:xfrm>
        <a:graphic>
          <a:graphicData uri="http://schemas.openxmlformats.org/presentationml/2006/ole">
            <mc:AlternateContent xmlns:mc="http://schemas.openxmlformats.org/markup-compatibility/2006">
              <mc:Choice xmlns:v="urn:schemas-microsoft-com:vml" Requires="v">
                <p:oleObj spid="_x0000_s61525" name="Equation" r:id="rId9" imgW="2019240" imgH="228600" progId="Equation.3">
                  <p:embed/>
                </p:oleObj>
              </mc:Choice>
              <mc:Fallback>
                <p:oleObj name="Equation" r:id="rId9" imgW="2019240" imgH="228600" progId="Equation.3">
                  <p:embed/>
                  <p:pic>
                    <p:nvPicPr>
                      <p:cNvPr id="0" name=""/>
                      <p:cNvPicPr>
                        <a:picLocks noChangeAspect="1" noChangeArrowheads="1"/>
                      </p:cNvPicPr>
                      <p:nvPr/>
                    </p:nvPicPr>
                    <p:blipFill>
                      <a:blip r:embed="rId10"/>
                      <a:srcRect/>
                      <a:stretch>
                        <a:fillRect/>
                      </a:stretch>
                    </p:blipFill>
                    <p:spPr bwMode="auto">
                      <a:xfrm>
                        <a:off x="838200" y="1752600"/>
                        <a:ext cx="5466557" cy="697827"/>
                      </a:xfrm>
                      <a:prstGeom prst="rect">
                        <a:avLst/>
                      </a:prstGeom>
                      <a:solidFill>
                        <a:srgbClr val="FFCC66"/>
                      </a:solidFill>
                      <a:ln>
                        <a:noFill/>
                      </a:ln>
                      <a:effectLst/>
                      <a:extLst/>
                    </p:spPr>
                  </p:pic>
                </p:oleObj>
              </mc:Fallback>
            </mc:AlternateContent>
          </a:graphicData>
        </a:graphic>
      </p:graphicFrame>
      <p:sp>
        <p:nvSpPr>
          <p:cNvPr id="793604" name="AutoShape 4"/>
          <p:cNvSpPr>
            <a:spLocks noChangeArrowheads="1"/>
          </p:cNvSpPr>
          <p:nvPr/>
        </p:nvSpPr>
        <p:spPr bwMode="auto">
          <a:xfrm>
            <a:off x="7882346" y="1752600"/>
            <a:ext cx="685800" cy="533400"/>
          </a:xfrm>
          <a:prstGeom prst="smileyFace">
            <a:avLst>
              <a:gd name="adj" fmla="val -4653"/>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latin typeface="Times New Roman" pitchFamily="18" charset="0"/>
              <a:cs typeface="+mn-cs"/>
            </a:endParaRPr>
          </a:p>
        </p:txBody>
      </p:sp>
      <p:sp>
        <p:nvSpPr>
          <p:cNvPr id="793605" name="AutoShape 5"/>
          <p:cNvSpPr>
            <a:spLocks noChangeArrowheads="1"/>
          </p:cNvSpPr>
          <p:nvPr/>
        </p:nvSpPr>
        <p:spPr bwMode="auto">
          <a:xfrm>
            <a:off x="7882346" y="2743200"/>
            <a:ext cx="685800" cy="533400"/>
          </a:xfrm>
          <a:prstGeom prst="smileyFace">
            <a:avLst>
              <a:gd name="adj" fmla="val -4653"/>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latin typeface="Times New Roman" pitchFamily="18" charset="0"/>
              <a:cs typeface="+mn-cs"/>
            </a:endParaRPr>
          </a:p>
        </p:txBody>
      </p:sp>
      <p:sp>
        <p:nvSpPr>
          <p:cNvPr id="793606" name="AutoShape 6"/>
          <p:cNvSpPr>
            <a:spLocks noChangeArrowheads="1"/>
          </p:cNvSpPr>
          <p:nvPr/>
        </p:nvSpPr>
        <p:spPr bwMode="auto">
          <a:xfrm>
            <a:off x="7882346" y="3733800"/>
            <a:ext cx="685800" cy="533400"/>
          </a:xfrm>
          <a:prstGeom prst="smileyFace">
            <a:avLst>
              <a:gd name="adj" fmla="val 4653"/>
            </a:avLst>
          </a:prstGeom>
          <a:solidFill>
            <a:srgbClr val="0070C0"/>
          </a:solidFill>
          <a:ln w="9525">
            <a:solidFill>
              <a:schemeClr val="tx1"/>
            </a:solidFill>
            <a:round/>
            <a:headEnd/>
            <a:tailEnd/>
          </a:ln>
          <a:effectLst/>
          <a:extLst/>
        </p:spPr>
        <p:txBody>
          <a:bodyPr wrap="none" anchor="ctr"/>
          <a:lstStyle/>
          <a:p>
            <a:endParaRPr lang="en-US">
              <a:solidFill>
                <a:srgbClr val="000000"/>
              </a:solidFill>
              <a:latin typeface="Times New Roman" pitchFamily="18" charset="0"/>
              <a:cs typeface="+mn-cs"/>
            </a:endParaRPr>
          </a:p>
        </p:txBody>
      </p:sp>
      <p:sp>
        <p:nvSpPr>
          <p:cNvPr id="793607" name="AutoShape 7"/>
          <p:cNvSpPr>
            <a:spLocks noChangeArrowheads="1"/>
          </p:cNvSpPr>
          <p:nvPr/>
        </p:nvSpPr>
        <p:spPr bwMode="auto">
          <a:xfrm>
            <a:off x="7882346" y="4724400"/>
            <a:ext cx="685800" cy="533400"/>
          </a:xfrm>
          <a:prstGeom prst="smileyFace">
            <a:avLst>
              <a:gd name="adj" fmla="val -4653"/>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latin typeface="Times New Roman" pitchFamily="18" charset="0"/>
              <a:cs typeface="+mn-cs"/>
            </a:endParaRPr>
          </a:p>
        </p:txBody>
      </p:sp>
      <p:sp>
        <p:nvSpPr>
          <p:cNvPr id="793608" name="AutoShape 8"/>
          <p:cNvSpPr>
            <a:spLocks noChangeArrowheads="1"/>
          </p:cNvSpPr>
          <p:nvPr/>
        </p:nvSpPr>
        <p:spPr bwMode="auto">
          <a:xfrm>
            <a:off x="7882346" y="5715000"/>
            <a:ext cx="685800" cy="533400"/>
          </a:xfrm>
          <a:prstGeom prst="smileyFace">
            <a:avLst>
              <a:gd name="adj" fmla="val -4653"/>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latin typeface="Times New Roman" pitchFamily="18" charset="0"/>
              <a:cs typeface="+mn-cs"/>
            </a:endParaRPr>
          </a:p>
        </p:txBody>
      </p:sp>
      <p:sp>
        <p:nvSpPr>
          <p:cNvPr id="793610" name="AutoShape 10"/>
          <p:cNvSpPr>
            <a:spLocks noChangeArrowheads="1"/>
          </p:cNvSpPr>
          <p:nvPr/>
        </p:nvSpPr>
        <p:spPr bwMode="auto">
          <a:xfrm>
            <a:off x="719138" y="1066800"/>
            <a:ext cx="4843462" cy="1219200"/>
          </a:xfrm>
          <a:prstGeom prst="wedgeRoundRectCallout">
            <a:avLst>
              <a:gd name="adj1" fmla="val -20085"/>
              <a:gd name="adj2" fmla="val 101099"/>
              <a:gd name="adj3" fmla="val 16667"/>
            </a:avLst>
          </a:prstGeom>
          <a:solidFill>
            <a:srgbClr val="669900"/>
          </a:solidFill>
          <a:ln w="9525">
            <a:solidFill>
              <a:schemeClr val="tx1"/>
            </a:solidFill>
            <a:miter lim="800000"/>
            <a:headEnd/>
            <a:tailEnd/>
          </a:ln>
          <a:effectLst/>
          <a:extLst/>
        </p:spPr>
        <p:txBody>
          <a:bodyPr/>
          <a:lstStyle/>
          <a:p>
            <a:pPr algn="ctr"/>
            <a:r>
              <a:rPr lang="en-US" sz="3000" dirty="0">
                <a:solidFill>
                  <a:srgbClr val="FFFFFF"/>
                </a:solidFill>
                <a:latin typeface="Comic Sans MS"/>
                <a:cs typeface="+mn-cs"/>
              </a:rPr>
              <a:t>Must use a population </a:t>
            </a:r>
            <a:r>
              <a:rPr lang="en-US" sz="3000" dirty="0">
                <a:solidFill>
                  <a:srgbClr val="FFFFFF"/>
                </a:solidFill>
                <a:latin typeface="Comic Sans MS"/>
                <a:cs typeface="+mn-cs"/>
              </a:rPr>
              <a:t>characteristic!</a:t>
            </a:r>
            <a:endParaRPr lang="en-US" sz="3000" dirty="0">
              <a:solidFill>
                <a:srgbClr val="FFFFFF"/>
              </a:solidFill>
              <a:latin typeface="Comic Sans MS"/>
              <a:cs typeface="+mn-cs"/>
            </a:endParaRPr>
          </a:p>
        </p:txBody>
      </p:sp>
      <p:sp>
        <p:nvSpPr>
          <p:cNvPr id="793613" name="AutoShape 13"/>
          <p:cNvSpPr>
            <a:spLocks noChangeArrowheads="1"/>
          </p:cNvSpPr>
          <p:nvPr/>
        </p:nvSpPr>
        <p:spPr bwMode="auto">
          <a:xfrm>
            <a:off x="1905000" y="3204754"/>
            <a:ext cx="3886200" cy="1295400"/>
          </a:xfrm>
          <a:prstGeom prst="wedgeRoundRectCallout">
            <a:avLst>
              <a:gd name="adj1" fmla="val 61380"/>
              <a:gd name="adj2" fmla="val 94713"/>
              <a:gd name="adj3" fmla="val 16667"/>
            </a:avLst>
          </a:prstGeom>
          <a:solidFill>
            <a:srgbClr val="0070C0"/>
          </a:solidFill>
          <a:ln w="9525">
            <a:solidFill>
              <a:schemeClr val="tx1"/>
            </a:solidFill>
            <a:miter lim="800000"/>
            <a:headEnd/>
            <a:tailEnd/>
          </a:ln>
          <a:effectLst/>
          <a:extLst/>
        </p:spPr>
        <p:txBody>
          <a:bodyPr/>
          <a:lstStyle/>
          <a:p>
            <a:pPr algn="ctr"/>
            <a:r>
              <a:rPr lang="en-US" sz="3000" dirty="0">
                <a:solidFill>
                  <a:srgbClr val="FFFFFF"/>
                </a:solidFill>
                <a:latin typeface="Comic Sans MS"/>
                <a:cs typeface="+mn-cs"/>
              </a:rPr>
              <a:t>Must use same number as in H</a:t>
            </a:r>
            <a:r>
              <a:rPr lang="en-US" sz="3000" baseline="-25000" dirty="0">
                <a:solidFill>
                  <a:srgbClr val="FFFFFF"/>
                </a:solidFill>
                <a:latin typeface="Comic Sans MS"/>
                <a:cs typeface="+mn-cs"/>
              </a:rPr>
              <a:t>0</a:t>
            </a:r>
            <a:r>
              <a:rPr lang="en-US" sz="3000" dirty="0">
                <a:solidFill>
                  <a:srgbClr val="FFFFFF"/>
                </a:solidFill>
                <a:latin typeface="Comic Sans MS"/>
                <a:cs typeface="+mn-cs"/>
              </a:rPr>
              <a:t>!</a:t>
            </a:r>
          </a:p>
        </p:txBody>
      </p:sp>
      <p:sp>
        <p:nvSpPr>
          <p:cNvPr id="793615" name="AutoShape 15"/>
          <p:cNvSpPr>
            <a:spLocks noChangeArrowheads="1"/>
          </p:cNvSpPr>
          <p:nvPr/>
        </p:nvSpPr>
        <p:spPr bwMode="auto">
          <a:xfrm>
            <a:off x="1828800" y="2743199"/>
            <a:ext cx="5029200" cy="1454331"/>
          </a:xfrm>
          <a:prstGeom prst="wedgeRoundRectCallout">
            <a:avLst>
              <a:gd name="adj1" fmla="val 16500"/>
              <a:gd name="adj2" fmla="val -91776"/>
              <a:gd name="adj3" fmla="val 16667"/>
            </a:avLst>
          </a:prstGeom>
          <a:solidFill>
            <a:srgbClr val="C00000"/>
          </a:solidFill>
          <a:ln w="9525">
            <a:solidFill>
              <a:schemeClr val="tx1"/>
            </a:solidFill>
            <a:miter lim="800000"/>
            <a:headEnd/>
            <a:tailEnd/>
          </a:ln>
          <a:effectLst/>
          <a:extLst/>
        </p:spPr>
        <p:txBody>
          <a:bodyPr/>
          <a:lstStyle/>
          <a:p>
            <a:pPr algn="ctr"/>
            <a:r>
              <a:rPr lang="en-US" sz="3000" dirty="0">
                <a:solidFill>
                  <a:srgbClr val="FFFFFF"/>
                </a:solidFill>
                <a:latin typeface="Comic Sans MS"/>
                <a:cs typeface="+mn-cs"/>
              </a:rPr>
              <a:t>H</a:t>
            </a:r>
            <a:r>
              <a:rPr lang="en-US" sz="3000" baseline="-25000" dirty="0">
                <a:solidFill>
                  <a:srgbClr val="FFFFFF"/>
                </a:solidFill>
                <a:latin typeface="Comic Sans MS"/>
                <a:cs typeface="+mn-cs"/>
              </a:rPr>
              <a:t>a</a:t>
            </a:r>
            <a:r>
              <a:rPr lang="en-US" sz="3000" dirty="0">
                <a:solidFill>
                  <a:srgbClr val="FFFFFF"/>
                </a:solidFill>
                <a:latin typeface="Comic Sans MS"/>
                <a:cs typeface="+mn-cs"/>
              </a:rPr>
              <a:t> does NOT include equality statement!</a:t>
            </a:r>
            <a:endParaRPr lang="en-US" sz="3000" dirty="0">
              <a:solidFill>
                <a:srgbClr val="FFFFFF"/>
              </a:solidFill>
              <a:latin typeface="Comic Sans MS"/>
              <a:cs typeface="+mn-cs"/>
            </a:endParaRPr>
          </a:p>
        </p:txBody>
      </p:sp>
      <p:graphicFrame>
        <p:nvGraphicFramePr>
          <p:cNvPr id="793625" name="Object 25"/>
          <p:cNvGraphicFramePr>
            <a:graphicFrameLocks noGrp="1" noChangeAspect="1"/>
          </p:cNvGraphicFramePr>
          <p:nvPr>
            <p:ph sz="quarter" idx="4"/>
            <p:extLst>
              <p:ext uri="{D42A27DB-BD31-4B8C-83A1-F6EECF244321}">
                <p14:modId xmlns:p14="http://schemas.microsoft.com/office/powerpoint/2010/main" val="3421853794"/>
              </p:ext>
            </p:extLst>
          </p:nvPr>
        </p:nvGraphicFramePr>
        <p:xfrm>
          <a:off x="838200" y="5638800"/>
          <a:ext cx="5292725" cy="731838"/>
        </p:xfrm>
        <a:graphic>
          <a:graphicData uri="http://schemas.openxmlformats.org/presentationml/2006/ole">
            <mc:AlternateContent xmlns:mc="http://schemas.openxmlformats.org/markup-compatibility/2006">
              <mc:Choice xmlns:v="urn:schemas-microsoft-com:vml" Requires="v">
                <p:oleObj spid="_x0000_s61526" name="Equation" r:id="rId11" imgW="1562040" imgH="215640" progId="Equation.3">
                  <p:embed/>
                </p:oleObj>
              </mc:Choice>
              <mc:Fallback>
                <p:oleObj name="Equation" r:id="rId11" imgW="1562040" imgH="2156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8200" y="5638800"/>
                        <a:ext cx="5292725" cy="731838"/>
                      </a:xfrm>
                      <a:prstGeom prst="rect">
                        <a:avLst/>
                      </a:prstGeom>
                      <a:solidFill>
                        <a:srgbClr val="FFCC66"/>
                      </a:solidFill>
                      <a:ln>
                        <a:noFill/>
                      </a:ln>
                      <a:effectLst/>
                      <a:extLst/>
                    </p:spPr>
                  </p:pic>
                </p:oleObj>
              </mc:Fallback>
            </mc:AlternateContent>
          </a:graphicData>
        </a:graphic>
      </p:graphicFrame>
      <p:sp>
        <p:nvSpPr>
          <p:cNvPr id="793614" name="AutoShape 14"/>
          <p:cNvSpPr>
            <a:spLocks noChangeArrowheads="1"/>
          </p:cNvSpPr>
          <p:nvPr/>
        </p:nvSpPr>
        <p:spPr bwMode="auto">
          <a:xfrm>
            <a:off x="1676400" y="4197531"/>
            <a:ext cx="4495800" cy="1371600"/>
          </a:xfrm>
          <a:prstGeom prst="wedgeRoundRectCallout">
            <a:avLst>
              <a:gd name="adj1" fmla="val -21380"/>
              <a:gd name="adj2" fmla="val 81458"/>
              <a:gd name="adj3" fmla="val 16667"/>
            </a:avLst>
          </a:prstGeom>
          <a:solidFill>
            <a:srgbClr val="C00000"/>
          </a:solidFill>
          <a:ln w="9525">
            <a:solidFill>
              <a:schemeClr val="tx1"/>
            </a:solidFill>
            <a:miter lim="800000"/>
            <a:headEnd/>
            <a:tailEnd/>
          </a:ln>
          <a:effectLst/>
          <a:extLst/>
        </p:spPr>
        <p:txBody>
          <a:bodyPr/>
          <a:lstStyle/>
          <a:p>
            <a:pPr algn="ctr"/>
            <a:r>
              <a:rPr lang="en-US" sz="3000" dirty="0">
                <a:solidFill>
                  <a:srgbClr val="FFFFFF"/>
                </a:solidFill>
                <a:latin typeface="Comic Sans MS"/>
                <a:cs typeface="+mn-cs"/>
              </a:rPr>
              <a:t>H</a:t>
            </a:r>
            <a:r>
              <a:rPr lang="en-US" sz="3000" baseline="-25000" dirty="0">
                <a:solidFill>
                  <a:srgbClr val="FFFFFF"/>
                </a:solidFill>
                <a:latin typeface="Comic Sans MS"/>
                <a:cs typeface="+mn-cs"/>
              </a:rPr>
              <a:t>0</a:t>
            </a:r>
            <a:r>
              <a:rPr lang="en-US" sz="3000" dirty="0">
                <a:solidFill>
                  <a:srgbClr val="FFFFFF"/>
                </a:solidFill>
                <a:latin typeface="Comic Sans MS"/>
                <a:cs typeface="+mn-cs"/>
              </a:rPr>
              <a:t> MUST </a:t>
            </a:r>
            <a:r>
              <a:rPr lang="en-US" sz="3000" dirty="0">
                <a:solidFill>
                  <a:srgbClr val="FFFFFF"/>
                </a:solidFill>
                <a:latin typeface="Comic Sans MS"/>
                <a:cs typeface="+mn-cs"/>
              </a:rPr>
              <a:t>include the equality statement!</a:t>
            </a:r>
            <a:endParaRPr lang="en-US" sz="3000" dirty="0">
              <a:solidFill>
                <a:srgbClr val="FFFFFF"/>
              </a:solidFill>
              <a:latin typeface="Comic Sans MS"/>
              <a:cs typeface="+mn-cs"/>
            </a:endParaRPr>
          </a:p>
        </p:txBody>
      </p:sp>
    </p:spTree>
    <p:extLst>
      <p:ext uri="{BB962C8B-B14F-4D97-AF65-F5344CB8AC3E}">
        <p14:creationId xmlns:p14="http://schemas.microsoft.com/office/powerpoint/2010/main" val="1209206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36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3615"/>
                                        </p:tgtEl>
                                        <p:attrNameLst>
                                          <p:attrName>style.visibility</p:attrName>
                                        </p:attrNameLst>
                                      </p:cBhvr>
                                      <p:to>
                                        <p:strVal val="visible"/>
                                      </p:to>
                                    </p:set>
                                  </p:childTnLst>
                                  <p:subTnLst>
                                    <p:set>
                                      <p:cBhvr override="childStyle">
                                        <p:cTn dur="1" fill="hold" display="0" masterRel="nextClick" afterEffect="1"/>
                                        <p:tgtEl>
                                          <p:spTgt spid="793615"/>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9361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9360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93610"/>
                                        </p:tgtEl>
                                        <p:attrNameLst>
                                          <p:attrName>style.visibility</p:attrName>
                                        </p:attrNameLst>
                                      </p:cBhvr>
                                      <p:to>
                                        <p:strVal val="visible"/>
                                      </p:to>
                                    </p:set>
                                  </p:childTnLst>
                                  <p:subTnLst>
                                    <p:set>
                                      <p:cBhvr override="childStyle">
                                        <p:cTn dur="1" fill="hold" display="0" masterRel="nextClick" afterEffect="1"/>
                                        <p:tgtEl>
                                          <p:spTgt spid="793610"/>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9362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9360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9362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9360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93613"/>
                                        </p:tgtEl>
                                        <p:attrNameLst>
                                          <p:attrName>style.visibility</p:attrName>
                                        </p:attrNameLst>
                                      </p:cBhvr>
                                      <p:to>
                                        <p:strVal val="visible"/>
                                      </p:to>
                                    </p:set>
                                  </p:childTnLst>
                                  <p:subTnLst>
                                    <p:set>
                                      <p:cBhvr override="childStyle">
                                        <p:cTn dur="1" fill="hold" display="0" masterRel="nextClick" afterEffect="1"/>
                                        <p:tgtEl>
                                          <p:spTgt spid="793613"/>
                                        </p:tgtEl>
                                        <p:attrNameLst>
                                          <p:attrName>style.visibility</p:attrName>
                                        </p:attrNameLst>
                                      </p:cBhvr>
                                      <p:to>
                                        <p:strVal val="hidden"/>
                                      </p:to>
                                    </p:set>
                                  </p:sub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793625"/>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9360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936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04" grpId="0" animBg="1"/>
      <p:bldP spid="793605" grpId="0" animBg="1"/>
      <p:bldP spid="793606" grpId="0" animBg="1"/>
      <p:bldP spid="793607" grpId="0" animBg="1"/>
      <p:bldP spid="793608" grpId="0" animBg="1"/>
      <p:bldP spid="793610" grpId="0" animBg="1"/>
      <p:bldP spid="793613" grpId="0" animBg="1"/>
      <p:bldP spid="793615" grpId="0" animBg="1"/>
      <p:bldP spid="7936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7171"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7172"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7173"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3FD7FC00-C33A-452D-B36F-5CD6C26DFE83}" type="slidenum">
              <a:rPr lang="en-US" altLang="en-US" sz="1000">
                <a:latin typeface="Verdana" pitchFamily="34" charset="0"/>
              </a:rPr>
              <a:pPr algn="r" eaLnBrk="1" hangingPunct="1">
                <a:spcBef>
                  <a:spcPct val="0"/>
                </a:spcBef>
                <a:buClrTx/>
                <a:buSzTx/>
                <a:buFontTx/>
                <a:buNone/>
              </a:pPr>
              <a:t>13</a:t>
            </a:fld>
            <a:endParaRPr lang="en-US" altLang="en-US" sz="1000">
              <a:latin typeface="Verdana" pitchFamily="34" charset="0"/>
            </a:endParaRPr>
          </a:p>
        </p:txBody>
      </p:sp>
      <p:sp>
        <p:nvSpPr>
          <p:cNvPr id="7174" name="Text Box 6"/>
          <p:cNvSpPr txBox="1">
            <a:spLocks noChangeArrowheads="1"/>
          </p:cNvSpPr>
          <p:nvPr/>
        </p:nvSpPr>
        <p:spPr bwMode="auto">
          <a:xfrm>
            <a:off x="304800" y="152400"/>
            <a:ext cx="86106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3200" dirty="0" smtClean="0">
                <a:solidFill>
                  <a:srgbClr val="0033CC"/>
                </a:solidFill>
                <a:latin typeface="Comic Sans MS" panose="030F0702030302020204" pitchFamily="66" charset="0"/>
              </a:rPr>
              <a:t>Back to the Dow Jones Industrial Average Example: Null </a:t>
            </a:r>
            <a:r>
              <a:rPr lang="en-US" altLang="en-US" sz="3200" dirty="0">
                <a:solidFill>
                  <a:srgbClr val="0033CC"/>
                </a:solidFill>
                <a:latin typeface="Comic Sans MS" panose="030F0702030302020204" pitchFamily="66" charset="0"/>
              </a:rPr>
              <a:t>Hypothesis H</a:t>
            </a:r>
            <a:r>
              <a:rPr lang="en-US" altLang="en-US" sz="3200" baseline="-25000" dirty="0">
                <a:solidFill>
                  <a:srgbClr val="0033CC"/>
                </a:solidFill>
                <a:latin typeface="Comic Sans MS" panose="030F0702030302020204" pitchFamily="66" charset="0"/>
              </a:rPr>
              <a:t>0</a:t>
            </a:r>
            <a:endParaRPr lang="en-US" altLang="en-US" sz="3200" dirty="0">
              <a:solidFill>
                <a:srgbClr val="0033CC"/>
              </a:solidFill>
              <a:latin typeface="Comic Sans MS" panose="030F0702030302020204" pitchFamily="66" charset="0"/>
            </a:endParaRPr>
          </a:p>
        </p:txBody>
      </p:sp>
      <p:sp>
        <p:nvSpPr>
          <p:cNvPr id="7175" name="Text Box 7"/>
          <p:cNvSpPr txBox="1">
            <a:spLocks noChangeArrowheads="1"/>
          </p:cNvSpPr>
          <p:nvPr/>
        </p:nvSpPr>
        <p:spPr bwMode="auto">
          <a:xfrm>
            <a:off x="342900" y="1447800"/>
            <a:ext cx="8458200" cy="3786188"/>
          </a:xfrm>
          <a:prstGeom prst="rect">
            <a:avLst/>
          </a:prstGeom>
          <a:solidFill>
            <a:srgbClr val="FFCC66"/>
          </a:solidFill>
          <a:ln>
            <a:noFill/>
          </a:ln>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dirty="0">
                <a:latin typeface="Comic Sans MS" panose="030F0702030302020204" pitchFamily="66" charset="0"/>
              </a:rPr>
              <a:t>The </a:t>
            </a:r>
            <a:r>
              <a:rPr lang="en-US" altLang="en-US" sz="2400" b="0" i="1" dirty="0">
                <a:solidFill>
                  <a:srgbClr val="0000FF"/>
                </a:solidFill>
                <a:latin typeface="Comic Sans MS" panose="030F0702030302020204" pitchFamily="66" charset="0"/>
              </a:rPr>
              <a:t>null hypothesis</a:t>
            </a:r>
            <a:r>
              <a:rPr lang="en-US" altLang="en-US" sz="2400" b="0" dirty="0">
                <a:latin typeface="Comic Sans MS" panose="030F0702030302020204" pitchFamily="66" charset="0"/>
              </a:rPr>
              <a:t>, </a:t>
            </a:r>
            <a:r>
              <a:rPr lang="en-US" altLang="en-US" sz="2400" b="0" dirty="0">
                <a:solidFill>
                  <a:srgbClr val="0000FF"/>
                </a:solidFill>
                <a:latin typeface="Comic Sans MS" panose="030F0702030302020204" pitchFamily="66" charset="0"/>
              </a:rPr>
              <a:t>H</a:t>
            </a:r>
            <a:r>
              <a:rPr lang="en-US" altLang="en-US" sz="2400" b="0" baseline="-25000" dirty="0">
                <a:solidFill>
                  <a:srgbClr val="0000FF"/>
                </a:solidFill>
                <a:latin typeface="Comic Sans MS" panose="030F0702030302020204" pitchFamily="66" charset="0"/>
              </a:rPr>
              <a:t>0</a:t>
            </a:r>
            <a:r>
              <a:rPr lang="en-US" altLang="en-US" sz="2400" b="0" dirty="0">
                <a:latin typeface="Comic Sans MS" panose="030F0702030302020204" pitchFamily="66" charset="0"/>
              </a:rPr>
              <a:t>, specifies a population model parameter and proposes a value for that parameter. </a:t>
            </a:r>
          </a:p>
          <a:p>
            <a:pPr eaLnBrk="1" hangingPunct="1">
              <a:spcBef>
                <a:spcPct val="0"/>
              </a:spcBef>
              <a:buClrTx/>
              <a:buSzTx/>
              <a:buFontTx/>
              <a:buNone/>
            </a:pPr>
            <a:endParaRPr lang="en-US" altLang="en-US" sz="2400" b="0" dirty="0">
              <a:latin typeface="Comic Sans MS" panose="030F0702030302020204" pitchFamily="66" charset="0"/>
            </a:endParaRPr>
          </a:p>
          <a:p>
            <a:pPr eaLnBrk="1" hangingPunct="1">
              <a:spcBef>
                <a:spcPct val="0"/>
              </a:spcBef>
              <a:buClrTx/>
              <a:buSzTx/>
              <a:buFontTx/>
              <a:buNone/>
            </a:pPr>
            <a:r>
              <a:rPr lang="en-US" altLang="en-US" sz="2400" b="0" dirty="0" smtClean="0">
                <a:latin typeface="Comic Sans MS" panose="030F0702030302020204" pitchFamily="66" charset="0"/>
              </a:rPr>
              <a:t>Recall that we </a:t>
            </a:r>
            <a:r>
              <a:rPr lang="en-US" altLang="en-US" sz="2400" b="0" dirty="0">
                <a:latin typeface="Comic Sans MS" panose="030F0702030302020204" pitchFamily="66" charset="0"/>
              </a:rPr>
              <a:t>usually write a null hypothesis about a proportion in the form </a:t>
            </a:r>
            <a:r>
              <a:rPr lang="en-US" altLang="en-US" sz="2400" b="0" dirty="0">
                <a:solidFill>
                  <a:srgbClr val="FF0000"/>
                </a:solidFill>
                <a:latin typeface="Comic Sans MS" panose="030F0702030302020204" pitchFamily="66" charset="0"/>
              </a:rPr>
              <a:t>H</a:t>
            </a:r>
            <a:r>
              <a:rPr lang="en-US" altLang="en-US" sz="2400" b="0" baseline="-25000" dirty="0">
                <a:solidFill>
                  <a:srgbClr val="FF0000"/>
                </a:solidFill>
                <a:latin typeface="Comic Sans MS" panose="030F0702030302020204" pitchFamily="66" charset="0"/>
              </a:rPr>
              <a:t>0</a:t>
            </a:r>
            <a:r>
              <a:rPr lang="en-US" altLang="en-US" sz="2400" b="0" dirty="0">
                <a:solidFill>
                  <a:srgbClr val="FF0000"/>
                </a:solidFill>
                <a:latin typeface="Comic Sans MS" panose="030F0702030302020204" pitchFamily="66" charset="0"/>
              </a:rPr>
              <a:t>: </a:t>
            </a:r>
            <a:r>
              <a:rPr lang="en-US" altLang="en-US" sz="2400" b="0" i="1" dirty="0">
                <a:solidFill>
                  <a:srgbClr val="FF0000"/>
                </a:solidFill>
                <a:latin typeface="Comic Sans MS" panose="030F0702030302020204" pitchFamily="66" charset="0"/>
              </a:rPr>
              <a:t>p</a:t>
            </a:r>
            <a:r>
              <a:rPr lang="en-US" altLang="en-US" sz="2400" b="0" dirty="0">
                <a:solidFill>
                  <a:srgbClr val="FF0000"/>
                </a:solidFill>
                <a:latin typeface="Comic Sans MS" panose="030F0702030302020204" pitchFamily="66" charset="0"/>
              </a:rPr>
              <a:t> = </a:t>
            </a:r>
            <a:r>
              <a:rPr lang="en-US" altLang="en-US" sz="2400" b="0" i="1" dirty="0">
                <a:solidFill>
                  <a:srgbClr val="FF0000"/>
                </a:solidFill>
                <a:latin typeface="Comic Sans MS" panose="030F0702030302020204" pitchFamily="66" charset="0"/>
              </a:rPr>
              <a:t>p</a:t>
            </a:r>
            <a:r>
              <a:rPr lang="en-US" altLang="en-US" sz="2400" b="0" baseline="-25000" dirty="0">
                <a:solidFill>
                  <a:srgbClr val="FF0000"/>
                </a:solidFill>
                <a:latin typeface="Comic Sans MS" panose="030F0702030302020204" pitchFamily="66" charset="0"/>
              </a:rPr>
              <a:t>0</a:t>
            </a:r>
            <a:r>
              <a:rPr lang="en-US" altLang="en-US" sz="2400" b="0" dirty="0">
                <a:latin typeface="Comic Sans MS" panose="030F0702030302020204" pitchFamily="66" charset="0"/>
              </a:rPr>
              <a:t>. </a:t>
            </a:r>
          </a:p>
          <a:p>
            <a:pPr eaLnBrk="1" hangingPunct="1">
              <a:spcBef>
                <a:spcPct val="0"/>
              </a:spcBef>
              <a:buClrTx/>
              <a:buSzTx/>
              <a:buFontTx/>
              <a:buNone/>
            </a:pPr>
            <a:endParaRPr lang="en-US" altLang="en-US" sz="2400" b="0" dirty="0">
              <a:latin typeface="Comic Sans MS" panose="030F0702030302020204" pitchFamily="66" charset="0"/>
            </a:endParaRPr>
          </a:p>
          <a:p>
            <a:pPr eaLnBrk="1" hangingPunct="1">
              <a:spcBef>
                <a:spcPct val="0"/>
              </a:spcBef>
              <a:buClrTx/>
              <a:buSzTx/>
              <a:buFontTx/>
              <a:buNone/>
            </a:pPr>
            <a:r>
              <a:rPr lang="en-US" altLang="en-US" sz="2400" b="0" dirty="0">
                <a:latin typeface="Comic Sans MS" panose="030F0702030302020204" pitchFamily="66" charset="0"/>
              </a:rPr>
              <a:t>For our hypothesis about the DJIA, we need to test </a:t>
            </a:r>
          </a:p>
          <a:p>
            <a:pPr eaLnBrk="1" hangingPunct="1">
              <a:spcBef>
                <a:spcPct val="0"/>
              </a:spcBef>
              <a:buClrTx/>
              <a:buSzTx/>
              <a:buFontTx/>
              <a:buNone/>
            </a:pPr>
            <a:r>
              <a:rPr lang="en-US" altLang="en-US" sz="2400" b="0" dirty="0">
                <a:solidFill>
                  <a:srgbClr val="FF0000"/>
                </a:solidFill>
                <a:latin typeface="Comic Sans MS" panose="030F0702030302020204" pitchFamily="66" charset="0"/>
              </a:rPr>
              <a:t>H</a:t>
            </a:r>
            <a:r>
              <a:rPr lang="en-US" altLang="en-US" sz="2400" b="0" baseline="-25000" dirty="0">
                <a:solidFill>
                  <a:srgbClr val="FF0000"/>
                </a:solidFill>
                <a:latin typeface="Comic Sans MS" panose="030F0702030302020204" pitchFamily="66" charset="0"/>
              </a:rPr>
              <a:t>0</a:t>
            </a:r>
            <a:r>
              <a:rPr lang="en-US" altLang="en-US" sz="2400" b="0" dirty="0">
                <a:solidFill>
                  <a:srgbClr val="FF0000"/>
                </a:solidFill>
                <a:latin typeface="Comic Sans MS" panose="030F0702030302020204" pitchFamily="66" charset="0"/>
              </a:rPr>
              <a:t>: </a:t>
            </a:r>
            <a:r>
              <a:rPr lang="en-US" altLang="en-US" sz="2400" b="0" i="1" dirty="0">
                <a:solidFill>
                  <a:srgbClr val="FF0000"/>
                </a:solidFill>
                <a:latin typeface="Comic Sans MS" panose="030F0702030302020204" pitchFamily="66" charset="0"/>
              </a:rPr>
              <a:t>p</a:t>
            </a:r>
            <a:r>
              <a:rPr lang="en-US" altLang="en-US" sz="2400" b="0" dirty="0">
                <a:solidFill>
                  <a:srgbClr val="FF0000"/>
                </a:solidFill>
                <a:latin typeface="Comic Sans MS" panose="030F0702030302020204" pitchFamily="66" charset="0"/>
              </a:rPr>
              <a:t> = 0.5</a:t>
            </a:r>
          </a:p>
          <a:p>
            <a:pPr eaLnBrk="1" hangingPunct="1">
              <a:spcBef>
                <a:spcPct val="0"/>
              </a:spcBef>
              <a:buClrTx/>
              <a:buSzTx/>
              <a:buFontTx/>
              <a:buNone/>
            </a:pPr>
            <a:r>
              <a:rPr lang="en-US" altLang="en-US" sz="2400" b="0" dirty="0">
                <a:latin typeface="Comic Sans MS" panose="030F0702030302020204" pitchFamily="66" charset="0"/>
              </a:rPr>
              <a:t>where </a:t>
            </a:r>
            <a:r>
              <a:rPr lang="en-US" altLang="en-US" sz="2400" b="0" i="1" dirty="0">
                <a:latin typeface="Comic Sans MS" panose="030F0702030302020204" pitchFamily="66" charset="0"/>
              </a:rPr>
              <a:t>p</a:t>
            </a:r>
            <a:r>
              <a:rPr lang="en-US" altLang="en-US" sz="2400" b="0" dirty="0">
                <a:latin typeface="Comic Sans MS" panose="030F0702030302020204" pitchFamily="66" charset="0"/>
              </a:rPr>
              <a:t> is the proportion of days that the DJIA goes up.</a:t>
            </a:r>
          </a:p>
          <a:p>
            <a:pPr eaLnBrk="1" hangingPunct="1">
              <a:spcBef>
                <a:spcPct val="0"/>
              </a:spcBef>
              <a:buClrTx/>
              <a:buSzTx/>
              <a:buFontTx/>
              <a:buNone/>
            </a:pPr>
            <a:endParaRPr lang="en-US" altLang="en-US" sz="2400" b="0" dirty="0">
              <a:latin typeface="Arial" charset="0"/>
            </a:endParaRPr>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8195"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8196"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8197"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69121630-6383-44F6-9E3A-D311167DFE13}" type="slidenum">
              <a:rPr lang="en-US" altLang="en-US" sz="1000">
                <a:latin typeface="Verdana" pitchFamily="34" charset="0"/>
              </a:rPr>
              <a:pPr algn="r" eaLnBrk="1" hangingPunct="1">
                <a:spcBef>
                  <a:spcPct val="0"/>
                </a:spcBef>
                <a:buClrTx/>
                <a:buSzTx/>
                <a:buFontTx/>
                <a:buNone/>
              </a:pPr>
              <a:t>14</a:t>
            </a:fld>
            <a:endParaRPr lang="en-US" altLang="en-US" sz="1000">
              <a:latin typeface="Verdana" pitchFamily="34" charset="0"/>
            </a:endParaRPr>
          </a:p>
        </p:txBody>
      </p:sp>
      <p:sp>
        <p:nvSpPr>
          <p:cNvPr id="8198" name="Text Box 6"/>
          <p:cNvSpPr txBox="1">
            <a:spLocks noChangeArrowheads="1"/>
          </p:cNvSpPr>
          <p:nvPr/>
        </p:nvSpPr>
        <p:spPr bwMode="auto">
          <a:xfrm>
            <a:off x="304800" y="152400"/>
            <a:ext cx="861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3200">
                <a:solidFill>
                  <a:srgbClr val="0033CC"/>
                </a:solidFill>
                <a:latin typeface="Arial" charset="0"/>
              </a:rPr>
              <a:t>Alternative Hypothesis</a:t>
            </a:r>
          </a:p>
        </p:txBody>
      </p:sp>
      <p:sp>
        <p:nvSpPr>
          <p:cNvPr id="8199" name="Text Box 7"/>
          <p:cNvSpPr txBox="1">
            <a:spLocks noChangeArrowheads="1"/>
          </p:cNvSpPr>
          <p:nvPr/>
        </p:nvSpPr>
        <p:spPr bwMode="auto">
          <a:xfrm>
            <a:off x="381000" y="1193800"/>
            <a:ext cx="8458200" cy="4154488"/>
          </a:xfrm>
          <a:prstGeom prst="rect">
            <a:avLst/>
          </a:prstGeom>
          <a:solidFill>
            <a:srgbClr val="FFCC66"/>
          </a:solidFill>
          <a:ln>
            <a:noFill/>
          </a:ln>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2400" b="0" dirty="0">
              <a:latin typeface="Arial" charset="0"/>
            </a:endParaRPr>
          </a:p>
          <a:p>
            <a:pPr eaLnBrk="1" hangingPunct="1">
              <a:spcBef>
                <a:spcPct val="0"/>
              </a:spcBef>
              <a:buClrTx/>
              <a:buSzTx/>
              <a:buFontTx/>
              <a:buNone/>
            </a:pPr>
            <a:r>
              <a:rPr lang="en-US" altLang="en-US" sz="2400" b="0" dirty="0">
                <a:latin typeface="Comic Sans MS" panose="030F0702030302020204" pitchFamily="66" charset="0"/>
              </a:rPr>
              <a:t>The </a:t>
            </a:r>
            <a:r>
              <a:rPr lang="en-US" altLang="en-US" sz="2400" b="0" i="1" dirty="0">
                <a:solidFill>
                  <a:srgbClr val="0000FF"/>
                </a:solidFill>
                <a:latin typeface="Comic Sans MS" panose="030F0702030302020204" pitchFamily="66" charset="0"/>
              </a:rPr>
              <a:t>alternative hypothesis</a:t>
            </a:r>
            <a:r>
              <a:rPr lang="en-US" altLang="en-US" sz="2400" b="0" dirty="0">
                <a:latin typeface="Comic Sans MS" panose="030F0702030302020204" pitchFamily="66" charset="0"/>
              </a:rPr>
              <a:t>, </a:t>
            </a:r>
            <a:r>
              <a:rPr lang="en-US" altLang="en-US" sz="2400" b="0" dirty="0">
                <a:solidFill>
                  <a:srgbClr val="0000FF"/>
                </a:solidFill>
                <a:latin typeface="Comic Sans MS" panose="030F0702030302020204" pitchFamily="66" charset="0"/>
              </a:rPr>
              <a:t>H</a:t>
            </a:r>
            <a:r>
              <a:rPr lang="en-US" altLang="en-US" sz="2400" b="0" baseline="-25000" dirty="0">
                <a:solidFill>
                  <a:srgbClr val="0000FF"/>
                </a:solidFill>
                <a:latin typeface="Comic Sans MS" panose="030F0702030302020204" pitchFamily="66" charset="0"/>
              </a:rPr>
              <a:t>A</a:t>
            </a:r>
            <a:r>
              <a:rPr lang="en-US" altLang="en-US" sz="2400" b="0" dirty="0">
                <a:latin typeface="Comic Sans MS" panose="030F0702030302020204" pitchFamily="66" charset="0"/>
              </a:rPr>
              <a:t>, contains the values of the parameter that we consider plausible if we reject the null hypothesis. </a:t>
            </a:r>
          </a:p>
          <a:p>
            <a:pPr eaLnBrk="1" hangingPunct="1">
              <a:spcBef>
                <a:spcPct val="0"/>
              </a:spcBef>
              <a:buClrTx/>
              <a:buSzTx/>
              <a:buFontTx/>
              <a:buNone/>
            </a:pPr>
            <a:endParaRPr lang="en-US" altLang="en-US" sz="2400" b="0" dirty="0">
              <a:latin typeface="Comic Sans MS" panose="030F0702030302020204" pitchFamily="66" charset="0"/>
            </a:endParaRPr>
          </a:p>
          <a:p>
            <a:pPr eaLnBrk="1" hangingPunct="1">
              <a:spcBef>
                <a:spcPct val="0"/>
              </a:spcBef>
              <a:buClrTx/>
              <a:buSzTx/>
              <a:buFontTx/>
              <a:buNone/>
            </a:pPr>
            <a:r>
              <a:rPr lang="en-US" altLang="en-US" sz="2400" b="0" dirty="0">
                <a:latin typeface="Comic Sans MS" panose="030F0702030302020204" pitchFamily="66" charset="0"/>
              </a:rPr>
              <a:t>We are usually interested in establishing the alternative hypothesis H</a:t>
            </a:r>
            <a:r>
              <a:rPr lang="en-US" altLang="en-US" sz="2400" b="0" baseline="-25000" dirty="0">
                <a:latin typeface="Comic Sans MS" panose="030F0702030302020204" pitchFamily="66" charset="0"/>
              </a:rPr>
              <a:t>A</a:t>
            </a:r>
            <a:r>
              <a:rPr lang="en-US" altLang="en-US" sz="2400" b="0" dirty="0">
                <a:latin typeface="Comic Sans MS" panose="030F0702030302020204" pitchFamily="66" charset="0"/>
              </a:rPr>
              <a:t>.  We do so by looking for evidence in the data against H</a:t>
            </a:r>
            <a:r>
              <a:rPr lang="en-US" altLang="en-US" sz="2400" b="0" baseline="-25000" dirty="0">
                <a:latin typeface="Comic Sans MS" panose="030F0702030302020204" pitchFamily="66" charset="0"/>
              </a:rPr>
              <a:t>0</a:t>
            </a:r>
            <a:r>
              <a:rPr lang="en-US" altLang="en-US" sz="2400" b="0" dirty="0">
                <a:latin typeface="Comic Sans MS" panose="030F0702030302020204" pitchFamily="66" charset="0"/>
              </a:rPr>
              <a:t>.</a:t>
            </a:r>
          </a:p>
          <a:p>
            <a:pPr eaLnBrk="1" hangingPunct="1">
              <a:spcBef>
                <a:spcPct val="0"/>
              </a:spcBef>
              <a:buClrTx/>
              <a:buSzTx/>
              <a:buFontTx/>
              <a:buNone/>
            </a:pPr>
            <a:endParaRPr lang="en-US" altLang="en-US" sz="2400" b="0" dirty="0">
              <a:latin typeface="Comic Sans MS" panose="030F0702030302020204" pitchFamily="66" charset="0"/>
            </a:endParaRPr>
          </a:p>
          <a:p>
            <a:pPr eaLnBrk="1" hangingPunct="1">
              <a:spcBef>
                <a:spcPct val="0"/>
              </a:spcBef>
              <a:buClrTx/>
              <a:buSzTx/>
              <a:buFontTx/>
              <a:buNone/>
            </a:pPr>
            <a:r>
              <a:rPr lang="en-US" altLang="en-US" sz="2400" b="0" dirty="0">
                <a:latin typeface="Comic Sans MS" panose="030F0702030302020204" pitchFamily="66" charset="0"/>
              </a:rPr>
              <a:t>Our alternative is </a:t>
            </a:r>
            <a:r>
              <a:rPr lang="en-US" altLang="en-US" sz="2400" b="0" dirty="0">
                <a:solidFill>
                  <a:srgbClr val="FF0000"/>
                </a:solidFill>
                <a:latin typeface="Comic Sans MS" panose="030F0702030302020204" pitchFamily="66" charset="0"/>
              </a:rPr>
              <a:t>H</a:t>
            </a:r>
            <a:r>
              <a:rPr lang="en-US" altLang="en-US" sz="2400" b="0" baseline="-25000" dirty="0">
                <a:solidFill>
                  <a:srgbClr val="FF0000"/>
                </a:solidFill>
                <a:latin typeface="Comic Sans MS" panose="030F0702030302020204" pitchFamily="66" charset="0"/>
              </a:rPr>
              <a:t>A</a:t>
            </a:r>
            <a:r>
              <a:rPr lang="en-US" altLang="en-US" sz="2400" b="0" dirty="0">
                <a:solidFill>
                  <a:srgbClr val="FF0000"/>
                </a:solidFill>
                <a:latin typeface="Comic Sans MS" panose="030F0702030302020204" pitchFamily="66" charset="0"/>
              </a:rPr>
              <a:t>: </a:t>
            </a:r>
            <a:r>
              <a:rPr lang="en-US" altLang="en-US" sz="2400" b="0" i="1" dirty="0">
                <a:solidFill>
                  <a:srgbClr val="FF0000"/>
                </a:solidFill>
                <a:latin typeface="Comic Sans MS" panose="030F0702030302020204" pitchFamily="66" charset="0"/>
              </a:rPr>
              <a:t>p</a:t>
            </a:r>
            <a:r>
              <a:rPr lang="en-US" altLang="en-US" sz="2400" b="0" dirty="0">
                <a:solidFill>
                  <a:srgbClr val="FF0000"/>
                </a:solidFill>
                <a:latin typeface="Comic Sans MS" panose="030F0702030302020204" pitchFamily="66" charset="0"/>
              </a:rPr>
              <a:t> ≠ 0.5</a:t>
            </a:r>
            <a:r>
              <a:rPr lang="en-US" altLang="en-US" sz="2400" b="0" dirty="0">
                <a:latin typeface="Comic Sans MS" panose="030F0702030302020204" pitchFamily="66" charset="0"/>
              </a:rPr>
              <a:t>.</a:t>
            </a:r>
          </a:p>
          <a:p>
            <a:pPr eaLnBrk="1" hangingPunct="1">
              <a:spcBef>
                <a:spcPct val="0"/>
              </a:spcBef>
              <a:buClrTx/>
              <a:buSzTx/>
              <a:buFontTx/>
              <a:buNone/>
            </a:pPr>
            <a:endParaRPr lang="en-US" altLang="en-US" sz="2400" b="0" dirty="0">
              <a:latin typeface="Arial" charset="0"/>
            </a:endParaRPr>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4947" name="Rectangle 3"/>
          <p:cNvSpPr>
            <a:spLocks noChangeArrowheads="1"/>
          </p:cNvSpPr>
          <p:nvPr/>
        </p:nvSpPr>
        <p:spPr bwMode="auto">
          <a:xfrm>
            <a:off x="0" y="2971800"/>
            <a:ext cx="9144000" cy="1981200"/>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2400" b="0">
              <a:latin typeface="Arial" charset="0"/>
            </a:endParaRPr>
          </a:p>
        </p:txBody>
      </p:sp>
      <p:sp>
        <p:nvSpPr>
          <p:cNvPr id="12291" name="Rectangle 5"/>
          <p:cNvSpPr>
            <a:spLocks noGrp="1" noChangeArrowheads="1"/>
          </p:cNvSpPr>
          <p:nvPr>
            <p:ph type="title"/>
          </p:nvPr>
        </p:nvSpPr>
        <p:spPr>
          <a:xfrm>
            <a:off x="381000" y="152400"/>
            <a:ext cx="8229600" cy="715962"/>
          </a:xfrm>
        </p:spPr>
        <p:txBody>
          <a:bodyPr>
            <a:normAutofit fontScale="90000"/>
          </a:bodyPr>
          <a:lstStyle/>
          <a:p>
            <a:pPr algn="ctr" eaLnBrk="1" hangingPunct="1">
              <a:defRPr/>
            </a:pPr>
            <a:r>
              <a:rPr lang="en-US" sz="3600" dirty="0" smtClean="0"/>
              <a:t>Recall: One-sided </a:t>
            </a:r>
            <a:r>
              <a:rPr lang="en-US" sz="3600" dirty="0" smtClean="0"/>
              <a:t>and two-sided tests</a:t>
            </a:r>
          </a:p>
        </p:txBody>
      </p:sp>
      <p:sp>
        <p:nvSpPr>
          <p:cNvPr id="9220" name="Rectangle 6"/>
          <p:cNvSpPr>
            <a:spLocks noGrp="1" noChangeArrowheads="1"/>
          </p:cNvSpPr>
          <p:nvPr>
            <p:ph type="body" idx="1"/>
          </p:nvPr>
        </p:nvSpPr>
        <p:spPr>
          <a:xfrm>
            <a:off x="457200" y="1143000"/>
            <a:ext cx="8229600" cy="1447800"/>
          </a:xfrm>
          <a:solidFill>
            <a:srgbClr val="FFCC66"/>
          </a:solidFill>
        </p:spPr>
        <p:txBody>
          <a:bodyPr/>
          <a:lstStyle/>
          <a:p>
            <a:pPr marL="0" indent="0" eaLnBrk="1" hangingPunct="1">
              <a:lnSpc>
                <a:spcPct val="120000"/>
              </a:lnSpc>
            </a:pPr>
            <a:r>
              <a:rPr lang="en-US" altLang="en-US" smtClean="0">
                <a:cs typeface="Times New Roman" pitchFamily="18" charset="0"/>
              </a:rPr>
              <a:t> </a:t>
            </a:r>
            <a:r>
              <a:rPr lang="en-US" altLang="en-US" sz="1800" smtClean="0">
                <a:cs typeface="Times New Roman" pitchFamily="18" charset="0"/>
              </a:rPr>
              <a:t>A </a:t>
            </a:r>
            <a:r>
              <a:rPr lang="en-US" altLang="en-US" sz="1800" smtClean="0">
                <a:solidFill>
                  <a:srgbClr val="333399"/>
                </a:solidFill>
                <a:cs typeface="Times New Roman" pitchFamily="18" charset="0"/>
              </a:rPr>
              <a:t>two-tail or two-sided test</a:t>
            </a:r>
            <a:r>
              <a:rPr lang="en-US" altLang="en-US" sz="1800" smtClean="0">
                <a:cs typeface="Times New Roman" pitchFamily="18" charset="0"/>
              </a:rPr>
              <a:t> of the population proportion has these null and alternative hypotheses:</a:t>
            </a:r>
          </a:p>
          <a:p>
            <a:pPr marL="0" indent="0" eaLnBrk="1" hangingPunct="1">
              <a:lnSpc>
                <a:spcPct val="120000"/>
              </a:lnSpc>
            </a:pPr>
            <a:r>
              <a:rPr lang="en-US" altLang="en-US" sz="1800" i="1" smtClean="0">
                <a:cs typeface="Times New Roman" pitchFamily="18" charset="0"/>
              </a:rPr>
              <a:t>H</a:t>
            </a:r>
            <a:r>
              <a:rPr lang="en-US" altLang="en-US" sz="1800" baseline="-30000" smtClean="0">
                <a:cs typeface="Times New Roman" pitchFamily="18" charset="0"/>
              </a:rPr>
              <a:t>0 </a:t>
            </a:r>
            <a:r>
              <a:rPr lang="en-US" altLang="en-US" sz="1800" smtClean="0">
                <a:cs typeface="Times New Roman" pitchFamily="18" charset="0"/>
              </a:rPr>
              <a:t>:  </a:t>
            </a:r>
            <a:r>
              <a:rPr lang="en-US" altLang="en-US" sz="1800" i="1" smtClean="0"/>
              <a:t>p</a:t>
            </a:r>
            <a:r>
              <a:rPr lang="en-US" altLang="en-US" sz="1800" smtClean="0">
                <a:cs typeface="Times New Roman" pitchFamily="18" charset="0"/>
                <a:sym typeface="Symbol" pitchFamily="18" charset="2"/>
              </a:rPr>
              <a:t> </a:t>
            </a:r>
            <a:r>
              <a:rPr lang="en-US" altLang="en-US" sz="1800" smtClean="0">
                <a:cs typeface="Times New Roman" pitchFamily="18" charset="0"/>
              </a:rPr>
              <a:t>= </a:t>
            </a:r>
            <a:r>
              <a:rPr lang="en-US" altLang="en-US" sz="1800" i="1" smtClean="0">
                <a:cs typeface="Times New Roman" pitchFamily="18" charset="0"/>
              </a:rPr>
              <a:t>p</a:t>
            </a:r>
            <a:r>
              <a:rPr lang="en-US" altLang="en-US" sz="1800" i="1" baseline="-25000" smtClean="0">
                <a:cs typeface="Times New Roman" pitchFamily="18" charset="0"/>
              </a:rPr>
              <a:t>0</a:t>
            </a:r>
            <a:r>
              <a:rPr lang="en-US" altLang="en-US" sz="1800" smtClean="0">
                <a:cs typeface="Times New Roman" pitchFamily="18" charset="0"/>
              </a:rPr>
              <a:t> [</a:t>
            </a:r>
            <a:r>
              <a:rPr lang="en-US" altLang="en-US" sz="1800" i="1" smtClean="0">
                <a:cs typeface="Times New Roman" pitchFamily="18" charset="0"/>
              </a:rPr>
              <a:t>p</a:t>
            </a:r>
            <a:r>
              <a:rPr lang="en-US" altLang="en-US" sz="1800" i="1" baseline="-25000" smtClean="0">
                <a:cs typeface="Times New Roman" pitchFamily="18" charset="0"/>
              </a:rPr>
              <a:t>0 </a:t>
            </a:r>
            <a:r>
              <a:rPr lang="en-US" altLang="en-US" sz="1800" smtClean="0">
                <a:cs typeface="Times New Roman" pitchFamily="18" charset="0"/>
              </a:rPr>
              <a:t>is a specific proportion]     </a:t>
            </a:r>
            <a:r>
              <a:rPr lang="en-US" altLang="en-US" sz="1800" i="1" smtClean="0">
                <a:cs typeface="Times New Roman" pitchFamily="18" charset="0"/>
              </a:rPr>
              <a:t>H</a:t>
            </a:r>
            <a:r>
              <a:rPr lang="en-US" altLang="en-US" sz="1800" i="1" baseline="-30000" smtClean="0">
                <a:cs typeface="Times New Roman" pitchFamily="18" charset="0"/>
              </a:rPr>
              <a:t>a</a:t>
            </a:r>
            <a:r>
              <a:rPr lang="en-US" altLang="en-US" sz="1800" baseline="-30000" smtClean="0">
                <a:cs typeface="Times New Roman" pitchFamily="18" charset="0"/>
              </a:rPr>
              <a:t> </a:t>
            </a:r>
            <a:r>
              <a:rPr lang="en-US" altLang="en-US" sz="1800" smtClean="0">
                <a:cs typeface="Times New Roman" pitchFamily="18" charset="0"/>
              </a:rPr>
              <a:t>:  </a:t>
            </a:r>
            <a:r>
              <a:rPr lang="en-US" altLang="en-US" sz="1800" i="1" smtClean="0"/>
              <a:t>p</a:t>
            </a:r>
            <a:r>
              <a:rPr lang="en-US" altLang="en-US" sz="1800" smtClean="0">
                <a:cs typeface="Times New Roman" pitchFamily="18" charset="0"/>
              </a:rPr>
              <a:t> </a:t>
            </a:r>
            <a:r>
              <a:rPr lang="en-US" altLang="en-US" sz="1800" smtClean="0">
                <a:cs typeface="Times New Roman" pitchFamily="18" charset="0"/>
                <a:sym typeface="Symbol" pitchFamily="18" charset="2"/>
              </a:rPr>
              <a:t> </a:t>
            </a:r>
            <a:r>
              <a:rPr lang="en-US" altLang="en-US" sz="1800" i="1" smtClean="0">
                <a:cs typeface="Times New Roman" pitchFamily="18" charset="0"/>
                <a:sym typeface="Symbol" pitchFamily="18" charset="2"/>
              </a:rPr>
              <a:t>p</a:t>
            </a:r>
            <a:r>
              <a:rPr lang="en-US" altLang="en-US" sz="1800" i="1" baseline="-25000" smtClean="0">
                <a:cs typeface="Times New Roman" pitchFamily="18" charset="0"/>
                <a:sym typeface="Symbol" pitchFamily="18" charset="2"/>
              </a:rPr>
              <a:t>0</a:t>
            </a:r>
            <a:r>
              <a:rPr lang="en-US" altLang="en-US" sz="1800" smtClean="0">
                <a:cs typeface="Times New Roman" pitchFamily="18" charset="0"/>
                <a:sym typeface="Symbol" pitchFamily="18" charset="2"/>
              </a:rPr>
              <a:t> </a:t>
            </a:r>
            <a:r>
              <a:rPr lang="en-US" altLang="en-US" sz="1800" smtClean="0">
                <a:cs typeface="Times New Roman" pitchFamily="18" charset="0"/>
              </a:rPr>
              <a:t>[</a:t>
            </a:r>
            <a:r>
              <a:rPr lang="en-US" altLang="en-US" sz="1800" i="1" smtClean="0">
                <a:cs typeface="Times New Roman" pitchFamily="18" charset="0"/>
              </a:rPr>
              <a:t>p</a:t>
            </a:r>
            <a:r>
              <a:rPr lang="en-US" altLang="en-US" sz="1800" i="1" baseline="-25000" smtClean="0">
                <a:cs typeface="Times New Roman" pitchFamily="18" charset="0"/>
              </a:rPr>
              <a:t>0 </a:t>
            </a:r>
            <a:r>
              <a:rPr lang="en-US" altLang="en-US" sz="1800" smtClean="0">
                <a:cs typeface="Times New Roman" pitchFamily="18" charset="0"/>
              </a:rPr>
              <a:t>is a specific proportion]</a:t>
            </a:r>
          </a:p>
          <a:p>
            <a:pPr marL="0" indent="0" eaLnBrk="1" hangingPunct="1">
              <a:lnSpc>
                <a:spcPct val="120000"/>
              </a:lnSpc>
            </a:pPr>
            <a:endParaRPr lang="en-US" altLang="en-US" sz="1600" smtClean="0">
              <a:cs typeface="Times New Roman" pitchFamily="18" charset="0"/>
            </a:endParaRPr>
          </a:p>
          <a:p>
            <a:pPr marL="0" indent="0" eaLnBrk="1" hangingPunct="1">
              <a:lnSpc>
                <a:spcPct val="120000"/>
              </a:lnSpc>
            </a:pPr>
            <a:endParaRPr lang="en-US" altLang="en-US" sz="1600" smtClean="0">
              <a:cs typeface="Times New Roman" pitchFamily="18" charset="0"/>
            </a:endParaRPr>
          </a:p>
          <a:p>
            <a:pPr marL="0" indent="0" eaLnBrk="1" hangingPunct="1">
              <a:lnSpc>
                <a:spcPct val="120000"/>
              </a:lnSpc>
            </a:pPr>
            <a:r>
              <a:rPr lang="en-US" altLang="en-US" sz="1600" smtClean="0">
                <a:cs typeface="Times New Roman" pitchFamily="18" charset="0"/>
              </a:rPr>
              <a:t> </a:t>
            </a:r>
            <a:r>
              <a:rPr lang="en-US" altLang="en-US" sz="1800" smtClean="0">
                <a:cs typeface="Times New Roman" pitchFamily="18" charset="0"/>
              </a:rPr>
              <a:t>A </a:t>
            </a:r>
            <a:r>
              <a:rPr lang="en-US" altLang="en-US" sz="1800" smtClean="0">
                <a:solidFill>
                  <a:srgbClr val="333399"/>
                </a:solidFill>
                <a:cs typeface="Times New Roman" pitchFamily="18" charset="0"/>
              </a:rPr>
              <a:t>one-tail or one-sided test</a:t>
            </a:r>
            <a:r>
              <a:rPr lang="en-US" altLang="en-US" sz="1800" smtClean="0">
                <a:cs typeface="Times New Roman" pitchFamily="18" charset="0"/>
              </a:rPr>
              <a:t> of a population proportion has these null and alternative hypotheses:</a:t>
            </a:r>
          </a:p>
          <a:p>
            <a:pPr marL="0" indent="0" eaLnBrk="1" hangingPunct="1">
              <a:lnSpc>
                <a:spcPct val="120000"/>
              </a:lnSpc>
            </a:pPr>
            <a:r>
              <a:rPr lang="en-US" altLang="en-US" sz="1800" i="1" smtClean="0">
                <a:cs typeface="Times New Roman" pitchFamily="18" charset="0"/>
              </a:rPr>
              <a:t>H</a:t>
            </a:r>
            <a:r>
              <a:rPr lang="en-US" altLang="en-US" sz="1800" baseline="-30000" smtClean="0">
                <a:cs typeface="Times New Roman" pitchFamily="18" charset="0"/>
              </a:rPr>
              <a:t>0 </a:t>
            </a:r>
            <a:r>
              <a:rPr lang="en-US" altLang="en-US" sz="1800" smtClean="0">
                <a:cs typeface="Times New Roman" pitchFamily="18" charset="0"/>
              </a:rPr>
              <a:t>:   </a:t>
            </a:r>
            <a:r>
              <a:rPr lang="en-US" altLang="en-US" sz="1800" i="1" smtClean="0"/>
              <a:t>p</a:t>
            </a:r>
            <a:r>
              <a:rPr lang="en-US" altLang="en-US" sz="1800" smtClean="0">
                <a:cs typeface="Times New Roman" pitchFamily="18" charset="0"/>
                <a:sym typeface="Symbol" pitchFamily="18" charset="2"/>
              </a:rPr>
              <a:t> </a:t>
            </a:r>
            <a:r>
              <a:rPr lang="en-US" altLang="en-US" sz="1800" smtClean="0">
                <a:cs typeface="Times New Roman" pitchFamily="18" charset="0"/>
              </a:rPr>
              <a:t>= </a:t>
            </a:r>
            <a:r>
              <a:rPr lang="en-US" altLang="en-US" sz="1800" i="1" smtClean="0">
                <a:cs typeface="Times New Roman" pitchFamily="18" charset="0"/>
              </a:rPr>
              <a:t>p</a:t>
            </a:r>
            <a:r>
              <a:rPr lang="en-US" altLang="en-US" sz="1800" i="1" baseline="-25000" smtClean="0">
                <a:cs typeface="Times New Roman" pitchFamily="18" charset="0"/>
              </a:rPr>
              <a:t>0</a:t>
            </a:r>
            <a:r>
              <a:rPr lang="en-US" altLang="en-US" sz="1800" smtClean="0">
                <a:cs typeface="Times New Roman" pitchFamily="18" charset="0"/>
              </a:rPr>
              <a:t> [</a:t>
            </a:r>
            <a:r>
              <a:rPr lang="en-US" altLang="en-US" sz="1800" i="1" smtClean="0">
                <a:cs typeface="Times New Roman" pitchFamily="18" charset="0"/>
              </a:rPr>
              <a:t>p</a:t>
            </a:r>
            <a:r>
              <a:rPr lang="en-US" altLang="en-US" sz="1800" i="1" baseline="-25000" smtClean="0">
                <a:cs typeface="Times New Roman" pitchFamily="18" charset="0"/>
              </a:rPr>
              <a:t>0 </a:t>
            </a:r>
            <a:r>
              <a:rPr lang="en-US" altLang="en-US" sz="1800" smtClean="0">
                <a:cs typeface="Times New Roman" pitchFamily="18" charset="0"/>
              </a:rPr>
              <a:t>is a specific proportion] </a:t>
            </a:r>
            <a:r>
              <a:rPr lang="en-US" altLang="en-US" sz="1800" i="1" smtClean="0">
                <a:cs typeface="Times New Roman" pitchFamily="18" charset="0"/>
              </a:rPr>
              <a:t>H</a:t>
            </a:r>
            <a:r>
              <a:rPr lang="en-US" altLang="en-US" sz="1800" i="1" baseline="-30000" smtClean="0">
                <a:cs typeface="Times New Roman" pitchFamily="18" charset="0"/>
              </a:rPr>
              <a:t>a </a:t>
            </a:r>
            <a:r>
              <a:rPr lang="en-US" altLang="en-US" sz="1800" smtClean="0">
                <a:cs typeface="Times New Roman" pitchFamily="18" charset="0"/>
              </a:rPr>
              <a:t>:   </a:t>
            </a:r>
            <a:r>
              <a:rPr lang="en-US" altLang="en-US" sz="1800" i="1" smtClean="0"/>
              <a:t>p</a:t>
            </a:r>
            <a:r>
              <a:rPr lang="en-US" altLang="en-US" sz="1800" smtClean="0">
                <a:cs typeface="Times New Roman" pitchFamily="18" charset="0"/>
              </a:rPr>
              <a:t> &lt; </a:t>
            </a:r>
            <a:r>
              <a:rPr lang="en-US" altLang="en-US" sz="1800" i="1" smtClean="0">
                <a:cs typeface="Times New Roman" pitchFamily="18" charset="0"/>
              </a:rPr>
              <a:t>p</a:t>
            </a:r>
            <a:r>
              <a:rPr lang="en-US" altLang="en-US" sz="1800" i="1" baseline="-25000" smtClean="0">
                <a:cs typeface="Times New Roman" pitchFamily="18" charset="0"/>
              </a:rPr>
              <a:t>0</a:t>
            </a:r>
            <a:r>
              <a:rPr lang="en-US" altLang="en-US" sz="1800" smtClean="0">
                <a:cs typeface="Times New Roman" pitchFamily="18" charset="0"/>
              </a:rPr>
              <a:t> [</a:t>
            </a:r>
            <a:r>
              <a:rPr lang="en-US" altLang="en-US" sz="1800" i="1" smtClean="0">
                <a:cs typeface="Times New Roman" pitchFamily="18" charset="0"/>
              </a:rPr>
              <a:t>p</a:t>
            </a:r>
            <a:r>
              <a:rPr lang="en-US" altLang="en-US" sz="1800" i="1" baseline="-25000" smtClean="0">
                <a:cs typeface="Times New Roman" pitchFamily="18" charset="0"/>
              </a:rPr>
              <a:t>0 </a:t>
            </a:r>
            <a:r>
              <a:rPr lang="en-US" altLang="en-US" sz="1800" smtClean="0">
                <a:cs typeface="Times New Roman" pitchFamily="18" charset="0"/>
              </a:rPr>
              <a:t>is a specific proportion] </a:t>
            </a:r>
          </a:p>
          <a:p>
            <a:pPr marL="0" indent="0" eaLnBrk="1" hangingPunct="1">
              <a:lnSpc>
                <a:spcPct val="120000"/>
              </a:lnSpc>
              <a:buFont typeface="Wingdings 3" pitchFamily="18" charset="2"/>
              <a:buNone/>
            </a:pPr>
            <a:r>
              <a:rPr lang="en-US" altLang="en-US" sz="1800" smtClean="0">
                <a:cs typeface="Times New Roman" pitchFamily="18" charset="0"/>
              </a:rPr>
              <a:t>OR</a:t>
            </a:r>
          </a:p>
          <a:p>
            <a:pPr marL="0" indent="0" eaLnBrk="1" hangingPunct="1">
              <a:lnSpc>
                <a:spcPct val="120000"/>
              </a:lnSpc>
            </a:pPr>
            <a:r>
              <a:rPr lang="en-US" altLang="en-US" sz="1800" i="1" smtClean="0">
                <a:cs typeface="Times New Roman" pitchFamily="18" charset="0"/>
              </a:rPr>
              <a:t>H</a:t>
            </a:r>
            <a:r>
              <a:rPr lang="en-US" altLang="en-US" sz="1800" baseline="-30000" smtClean="0">
                <a:cs typeface="Times New Roman" pitchFamily="18" charset="0"/>
              </a:rPr>
              <a:t>0 </a:t>
            </a:r>
            <a:r>
              <a:rPr lang="en-US" altLang="en-US" sz="1800" smtClean="0">
                <a:cs typeface="Times New Roman" pitchFamily="18" charset="0"/>
              </a:rPr>
              <a:t>:  </a:t>
            </a:r>
            <a:r>
              <a:rPr lang="en-US" altLang="en-US" sz="1800" i="1" smtClean="0"/>
              <a:t> p</a:t>
            </a:r>
            <a:r>
              <a:rPr lang="en-US" altLang="en-US" sz="1800" smtClean="0">
                <a:cs typeface="Times New Roman" pitchFamily="18" charset="0"/>
                <a:sym typeface="Symbol" pitchFamily="18" charset="2"/>
              </a:rPr>
              <a:t> </a:t>
            </a:r>
            <a:r>
              <a:rPr lang="en-US" altLang="en-US" sz="1800" smtClean="0">
                <a:cs typeface="Times New Roman" pitchFamily="18" charset="0"/>
              </a:rPr>
              <a:t>= </a:t>
            </a:r>
            <a:r>
              <a:rPr lang="en-US" altLang="en-US" sz="1800" i="1" smtClean="0">
                <a:cs typeface="Times New Roman" pitchFamily="18" charset="0"/>
              </a:rPr>
              <a:t>p</a:t>
            </a:r>
            <a:r>
              <a:rPr lang="en-US" altLang="en-US" sz="1800" i="1" baseline="-25000" smtClean="0">
                <a:cs typeface="Times New Roman" pitchFamily="18" charset="0"/>
              </a:rPr>
              <a:t>0</a:t>
            </a:r>
            <a:r>
              <a:rPr lang="en-US" altLang="en-US" sz="1800" smtClean="0">
                <a:cs typeface="Times New Roman" pitchFamily="18" charset="0"/>
              </a:rPr>
              <a:t> [</a:t>
            </a:r>
            <a:r>
              <a:rPr lang="en-US" altLang="en-US" sz="1800" i="1" smtClean="0">
                <a:cs typeface="Times New Roman" pitchFamily="18" charset="0"/>
              </a:rPr>
              <a:t>p</a:t>
            </a:r>
            <a:r>
              <a:rPr lang="en-US" altLang="en-US" sz="1800" i="1" baseline="-25000" smtClean="0">
                <a:cs typeface="Times New Roman" pitchFamily="18" charset="0"/>
              </a:rPr>
              <a:t>0 </a:t>
            </a:r>
            <a:r>
              <a:rPr lang="en-US" altLang="en-US" sz="1800" smtClean="0">
                <a:cs typeface="Times New Roman" pitchFamily="18" charset="0"/>
              </a:rPr>
              <a:t>is a specific proportion] </a:t>
            </a:r>
            <a:r>
              <a:rPr lang="en-US" altLang="en-US" sz="1800" i="1" smtClean="0">
                <a:cs typeface="Times New Roman" pitchFamily="18" charset="0"/>
              </a:rPr>
              <a:t>H</a:t>
            </a:r>
            <a:r>
              <a:rPr lang="en-US" altLang="en-US" sz="1800" i="1" baseline="-30000" smtClean="0">
                <a:cs typeface="Times New Roman" pitchFamily="18" charset="0"/>
              </a:rPr>
              <a:t>a </a:t>
            </a:r>
            <a:r>
              <a:rPr lang="en-US" altLang="en-US" sz="1800" smtClean="0">
                <a:cs typeface="Times New Roman" pitchFamily="18" charset="0"/>
              </a:rPr>
              <a:t>:   </a:t>
            </a:r>
            <a:r>
              <a:rPr lang="en-US" altLang="en-US" sz="1800" i="1" smtClean="0"/>
              <a:t>p</a:t>
            </a:r>
            <a:r>
              <a:rPr lang="en-US" altLang="en-US" sz="1800" smtClean="0">
                <a:cs typeface="Times New Roman" pitchFamily="18" charset="0"/>
              </a:rPr>
              <a:t> &gt; </a:t>
            </a:r>
            <a:r>
              <a:rPr lang="en-US" altLang="en-US" sz="1800" i="1" smtClean="0">
                <a:cs typeface="Times New Roman" pitchFamily="18" charset="0"/>
              </a:rPr>
              <a:t>p</a:t>
            </a:r>
            <a:r>
              <a:rPr lang="en-US" altLang="en-US" sz="1800" i="1" baseline="-25000" smtClean="0">
                <a:cs typeface="Times New Roman" pitchFamily="18" charset="0"/>
              </a:rPr>
              <a:t>0</a:t>
            </a:r>
            <a:r>
              <a:rPr lang="en-US" altLang="en-US" sz="1800" smtClean="0">
                <a:cs typeface="Times New Roman" pitchFamily="18" charset="0"/>
              </a:rPr>
              <a:t> [</a:t>
            </a:r>
            <a:r>
              <a:rPr lang="en-US" altLang="en-US" sz="1800" i="1" smtClean="0">
                <a:cs typeface="Times New Roman" pitchFamily="18" charset="0"/>
              </a:rPr>
              <a:t>p</a:t>
            </a:r>
            <a:r>
              <a:rPr lang="en-US" altLang="en-US" sz="1800" i="1" baseline="-25000" smtClean="0">
                <a:cs typeface="Times New Roman" pitchFamily="18" charset="0"/>
              </a:rPr>
              <a:t>0 </a:t>
            </a:r>
            <a:r>
              <a:rPr lang="en-US" altLang="en-US" sz="1800" smtClean="0">
                <a:cs typeface="Times New Roman" pitchFamily="18" charset="0"/>
              </a:rPr>
              <a:t>is a specific proportion] </a:t>
            </a:r>
          </a:p>
        </p:txBody>
      </p:sp>
      <p:sp>
        <p:nvSpPr>
          <p:cNvPr id="1234953" name="Rectangle 9"/>
          <p:cNvSpPr>
            <a:spLocks noChangeArrowheads="1"/>
          </p:cNvSpPr>
          <p:nvPr/>
        </p:nvSpPr>
        <p:spPr bwMode="auto">
          <a:xfrm>
            <a:off x="457200" y="39624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40640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lvl="1" eaLnBrk="1" hangingPunct="1">
              <a:lnSpc>
                <a:spcPct val="130000"/>
              </a:lnSpc>
              <a:spcBef>
                <a:spcPct val="20000"/>
              </a:spcBef>
              <a:buClr>
                <a:srgbClr val="CC0000"/>
              </a:buClr>
              <a:buSzPct val="60000"/>
              <a:buFont typeface="Wingdings" pitchFamily="2" charset="2"/>
              <a:buNone/>
            </a:pPr>
            <a:endParaRPr lang="en-US" altLang="en-US" sz="2400" b="0">
              <a:latin typeface="Arial" charset="0"/>
            </a:endParaRPr>
          </a:p>
        </p:txBody>
      </p:sp>
      <p:sp>
        <p:nvSpPr>
          <p:cNvPr id="1234954" name="Rectangle 10"/>
          <p:cNvSpPr>
            <a:spLocks noChangeArrowheads="1"/>
          </p:cNvSpPr>
          <p:nvPr/>
        </p:nvSpPr>
        <p:spPr bwMode="auto">
          <a:xfrm>
            <a:off x="304800" y="60960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909638" indent="-325438"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lvl="1" eaLnBrk="1" hangingPunct="1">
              <a:spcBef>
                <a:spcPct val="20000"/>
              </a:spcBef>
              <a:buClr>
                <a:srgbClr val="CC0000"/>
              </a:buClr>
              <a:buSzPct val="60000"/>
              <a:buFont typeface="Wingdings" pitchFamily="2" charset="2"/>
              <a:buNone/>
            </a:pPr>
            <a:r>
              <a:rPr lang="en-US" altLang="en-US" sz="2400" b="0">
                <a:latin typeface="Arial" charset="0"/>
              </a:rPr>
              <a:t>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499"/>
                                          </p:stCondLst>
                                        </p:cTn>
                                        <p:tgtEl>
                                          <p:spTgt spid="123495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494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23495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4947" grpId="0" animBg="1"/>
      <p:bldP spid="1234953" grpId="0" build="p" autoUpdateAnimBg="0"/>
      <p:bldP spid="1234954"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0243"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0244"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10245"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9A61138A-E2CC-4F39-BE23-812BDFBACE3F}" type="slidenum">
              <a:rPr lang="en-US" altLang="en-US" sz="1000">
                <a:latin typeface="Verdana" pitchFamily="34" charset="0"/>
              </a:rPr>
              <a:pPr algn="r" eaLnBrk="1" hangingPunct="1">
                <a:spcBef>
                  <a:spcPct val="0"/>
                </a:spcBef>
                <a:buClrTx/>
                <a:buSzTx/>
                <a:buFontTx/>
                <a:buNone/>
              </a:pPr>
              <a:t>16</a:t>
            </a:fld>
            <a:endParaRPr lang="en-US" altLang="en-US" sz="1000">
              <a:latin typeface="Verdana" pitchFamily="34" charset="0"/>
            </a:endParaRPr>
          </a:p>
        </p:txBody>
      </p:sp>
      <p:sp>
        <p:nvSpPr>
          <p:cNvPr id="10246" name="Text Box 6"/>
          <p:cNvSpPr txBox="1">
            <a:spLocks noChangeArrowheads="1"/>
          </p:cNvSpPr>
          <p:nvPr/>
        </p:nvSpPr>
        <p:spPr bwMode="auto">
          <a:xfrm>
            <a:off x="304800" y="152400"/>
            <a:ext cx="861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3200">
                <a:solidFill>
                  <a:srgbClr val="0033CC"/>
                </a:solidFill>
                <a:latin typeface="Arial" charset="0"/>
              </a:rPr>
              <a:t>DJIA Hypotheses</a:t>
            </a:r>
          </a:p>
        </p:txBody>
      </p:sp>
      <p:sp>
        <p:nvSpPr>
          <p:cNvPr id="10247" name="Text Box 7"/>
          <p:cNvSpPr txBox="1">
            <a:spLocks noChangeArrowheads="1"/>
          </p:cNvSpPr>
          <p:nvPr/>
        </p:nvSpPr>
        <p:spPr bwMode="auto">
          <a:xfrm>
            <a:off x="381000" y="762000"/>
            <a:ext cx="84582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a:t>H</a:t>
            </a:r>
            <a:r>
              <a:rPr lang="en-US" altLang="en-US" sz="2400" b="0" baseline="-25000"/>
              <a:t>0</a:t>
            </a:r>
            <a:r>
              <a:rPr lang="en-US" altLang="en-US" sz="2400" b="0">
                <a:latin typeface="Arial" charset="0"/>
              </a:rPr>
              <a:t>: </a:t>
            </a:r>
            <a:r>
              <a:rPr lang="en-US" altLang="en-US" sz="2400" b="0" i="1"/>
              <a:t>p</a:t>
            </a:r>
            <a:r>
              <a:rPr lang="en-US" altLang="en-US" sz="2400" b="0">
                <a:latin typeface="Arial" charset="0"/>
              </a:rPr>
              <a:t> = </a:t>
            </a:r>
            <a:r>
              <a:rPr lang="en-US" altLang="en-US" sz="2400" b="0" i="1"/>
              <a:t>p</a:t>
            </a:r>
            <a:r>
              <a:rPr lang="en-US" altLang="en-US" sz="2400" b="0" baseline="-25000"/>
              <a:t>0		</a:t>
            </a:r>
            <a:r>
              <a:rPr lang="en-US" altLang="en-US" sz="2400" b="0"/>
              <a:t> H</a:t>
            </a:r>
            <a:r>
              <a:rPr lang="en-US" altLang="en-US" sz="2400" b="0" baseline="-25000"/>
              <a:t>0</a:t>
            </a:r>
            <a:r>
              <a:rPr lang="en-US" altLang="en-US" sz="2400" b="0">
                <a:latin typeface="Arial" charset="0"/>
              </a:rPr>
              <a:t>: </a:t>
            </a:r>
            <a:r>
              <a:rPr lang="en-US" altLang="en-US" sz="2400" b="0" i="1"/>
              <a:t>p</a:t>
            </a:r>
            <a:r>
              <a:rPr lang="en-US" altLang="en-US" sz="2400" b="0">
                <a:latin typeface="Arial" charset="0"/>
              </a:rPr>
              <a:t> = 0.5</a:t>
            </a:r>
            <a:endParaRPr lang="en-US" altLang="en-US" sz="2400" b="0" baseline="-25000"/>
          </a:p>
          <a:p>
            <a:pPr eaLnBrk="1" hangingPunct="1">
              <a:spcBef>
                <a:spcPct val="0"/>
              </a:spcBef>
              <a:buClrTx/>
              <a:buSzTx/>
              <a:buFontTx/>
              <a:buNone/>
            </a:pPr>
            <a:r>
              <a:rPr lang="en-US" altLang="en-US" sz="2400" b="0"/>
              <a:t>H</a:t>
            </a:r>
            <a:r>
              <a:rPr lang="en-US" altLang="en-US" sz="2400" b="0" baseline="-25000"/>
              <a:t>A</a:t>
            </a:r>
            <a:r>
              <a:rPr lang="en-US" altLang="en-US" sz="2400" b="0">
                <a:latin typeface="Arial" charset="0"/>
              </a:rPr>
              <a:t>: </a:t>
            </a:r>
            <a:r>
              <a:rPr lang="en-US" altLang="en-US" sz="2400" b="0" i="1"/>
              <a:t>p</a:t>
            </a:r>
            <a:r>
              <a:rPr lang="en-US" altLang="en-US" sz="2400" b="0">
                <a:latin typeface="Arial" charset="0"/>
              </a:rPr>
              <a:t> ≠ </a:t>
            </a:r>
            <a:r>
              <a:rPr lang="en-US" altLang="en-US" sz="2400" b="0" i="1"/>
              <a:t>p</a:t>
            </a:r>
            <a:r>
              <a:rPr lang="en-US" altLang="en-US" sz="2400" b="0" baseline="-25000"/>
              <a:t>0		</a:t>
            </a:r>
            <a:r>
              <a:rPr lang="en-US" altLang="en-US" sz="2400" b="0"/>
              <a:t> H</a:t>
            </a:r>
            <a:r>
              <a:rPr lang="en-US" altLang="en-US" sz="2400" b="0" baseline="-25000"/>
              <a:t>A</a:t>
            </a:r>
            <a:r>
              <a:rPr lang="en-US" altLang="en-US" sz="2400" b="0">
                <a:latin typeface="Arial" charset="0"/>
              </a:rPr>
              <a:t>: </a:t>
            </a:r>
            <a:r>
              <a:rPr lang="en-US" altLang="en-US" sz="2400" b="0" i="1"/>
              <a:t>p</a:t>
            </a:r>
            <a:r>
              <a:rPr lang="en-US" altLang="en-US" sz="2400" b="0">
                <a:latin typeface="Arial" charset="0"/>
              </a:rPr>
              <a:t> ≠ 0.5</a:t>
            </a:r>
          </a:p>
          <a:p>
            <a:pPr eaLnBrk="1" hangingPunct="1">
              <a:spcBef>
                <a:spcPct val="0"/>
              </a:spcBef>
              <a:buClrTx/>
              <a:buSzTx/>
              <a:buFontTx/>
              <a:buNone/>
            </a:pPr>
            <a:r>
              <a:rPr lang="en-US" altLang="en-US" sz="2400" b="0">
                <a:solidFill>
                  <a:srgbClr val="FF0000"/>
                </a:solidFill>
                <a:latin typeface="Arial" charset="0"/>
              </a:rPr>
              <a:t>This is a 2-sided test.</a:t>
            </a:r>
          </a:p>
          <a:p>
            <a:pPr eaLnBrk="1" hangingPunct="1">
              <a:spcBef>
                <a:spcPct val="0"/>
              </a:spcBef>
              <a:buClrTx/>
              <a:buSzTx/>
              <a:buFontTx/>
              <a:buNone/>
            </a:pPr>
            <a:endParaRPr lang="en-US" altLang="en-US" sz="2400" b="0">
              <a:solidFill>
                <a:srgbClr val="FF0000"/>
              </a:solidFill>
              <a:latin typeface="Arial" charset="0"/>
            </a:endParaRPr>
          </a:p>
          <a:p>
            <a:pPr eaLnBrk="1" hangingPunct="1">
              <a:spcBef>
                <a:spcPct val="0"/>
              </a:spcBef>
              <a:buClrTx/>
              <a:buSzTx/>
              <a:buFontTx/>
              <a:buNone/>
            </a:pPr>
            <a:r>
              <a:rPr lang="en-US" altLang="en-US" sz="2400" b="0">
                <a:latin typeface="Arial" charset="0"/>
              </a:rPr>
              <a:t>What would convince you that the proportion of up days was not 0.5?</a:t>
            </a:r>
          </a:p>
        </p:txBody>
      </p:sp>
      <p:sp>
        <p:nvSpPr>
          <p:cNvPr id="10248" name="Text Box 15"/>
          <p:cNvSpPr txBox="1">
            <a:spLocks noChangeArrowheads="1"/>
          </p:cNvSpPr>
          <p:nvPr/>
        </p:nvSpPr>
        <p:spPr bwMode="auto">
          <a:xfrm>
            <a:off x="457200" y="3048000"/>
            <a:ext cx="83820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 typeface="Arial" charset="0"/>
              <a:buChar char="•"/>
            </a:pPr>
            <a:r>
              <a:rPr lang="en-US" altLang="en-US" sz="2400" b="0">
                <a:latin typeface="Arial" charset="0"/>
              </a:rPr>
              <a:t> What sample statistic to use?   </a:t>
            </a:r>
          </a:p>
          <a:p>
            <a:pPr eaLnBrk="1" hangingPunct="1">
              <a:spcBef>
                <a:spcPct val="0"/>
              </a:spcBef>
              <a:buClrTx/>
              <a:buSzTx/>
              <a:buFontTx/>
              <a:buNone/>
            </a:pPr>
            <a:endParaRPr lang="en-US" altLang="en-US" sz="2400" b="0">
              <a:solidFill>
                <a:srgbClr val="FF0000"/>
              </a:solidFill>
              <a:latin typeface="Arial" charset="0"/>
            </a:endParaRPr>
          </a:p>
          <a:p>
            <a:pPr eaLnBrk="1" hangingPunct="1">
              <a:spcBef>
                <a:spcPct val="0"/>
              </a:spcBef>
              <a:buClrTx/>
              <a:buSzTx/>
              <a:buFont typeface="Arial" charset="0"/>
              <a:buChar char="•"/>
            </a:pPr>
            <a:r>
              <a:rPr lang="en-US" altLang="en-US" sz="2400" b="0">
                <a:solidFill>
                  <a:srgbClr val="FF0000"/>
                </a:solidFill>
                <a:latin typeface="Arial" charset="0"/>
              </a:rPr>
              <a:t> Test statistic</a:t>
            </a:r>
            <a:r>
              <a:rPr lang="en-US" altLang="en-US" sz="2400" b="0">
                <a:latin typeface="Arial" charset="0"/>
              </a:rPr>
              <a:t>: a number calculated from the sample statistic</a:t>
            </a:r>
          </a:p>
          <a:p>
            <a:pPr lvl="1" eaLnBrk="1" hangingPunct="1">
              <a:spcBef>
                <a:spcPct val="0"/>
              </a:spcBef>
              <a:buClrTx/>
              <a:buFont typeface="Wingdings" pitchFamily="2" charset="2"/>
              <a:buChar char="Ø"/>
            </a:pPr>
            <a:r>
              <a:rPr lang="en-US" altLang="en-US" sz="2400" b="0">
                <a:latin typeface="Arial" charset="0"/>
              </a:rPr>
              <a:t> the test statistic measures how far     is from </a:t>
            </a:r>
            <a:r>
              <a:rPr lang="en-US" altLang="en-US" sz="2400" b="0" i="1"/>
              <a:t>p</a:t>
            </a:r>
            <a:r>
              <a:rPr lang="en-US" altLang="en-US" sz="2400" b="0" baseline="-25000"/>
              <a:t>0  </a:t>
            </a:r>
            <a:r>
              <a:rPr lang="en-US" altLang="en-US" sz="2400" b="0"/>
              <a:t> </a:t>
            </a:r>
            <a:r>
              <a:rPr lang="en-US" altLang="en-US" sz="2400" b="0">
                <a:latin typeface="Arial" charset="0"/>
              </a:rPr>
              <a:t>in standard deviation units</a:t>
            </a:r>
          </a:p>
          <a:p>
            <a:pPr lvl="1" eaLnBrk="1" hangingPunct="1">
              <a:spcBef>
                <a:spcPct val="0"/>
              </a:spcBef>
              <a:buClrTx/>
              <a:buFont typeface="Wingdings" pitchFamily="2" charset="2"/>
              <a:buChar char="Ø"/>
            </a:pPr>
            <a:r>
              <a:rPr lang="en-US" altLang="en-US" sz="2400" b="0">
                <a:latin typeface="Arial" charset="0"/>
              </a:rPr>
              <a:t>If     is too far away from </a:t>
            </a:r>
            <a:r>
              <a:rPr lang="en-US" altLang="en-US" sz="2400" b="0" i="1"/>
              <a:t>p</a:t>
            </a:r>
            <a:r>
              <a:rPr lang="en-US" altLang="en-US" sz="2400" b="0" baseline="-25000"/>
              <a:t>0 </a:t>
            </a:r>
            <a:r>
              <a:rPr lang="en-US" altLang="en-US" sz="2400" b="0"/>
              <a:t> , </a:t>
            </a:r>
            <a:r>
              <a:rPr lang="en-US" altLang="en-US" sz="2400" b="0">
                <a:latin typeface="Arial" charset="0"/>
              </a:rPr>
              <a:t>this is evidence against </a:t>
            </a:r>
          </a:p>
          <a:p>
            <a:pPr lvl="1" eaLnBrk="1" hangingPunct="1">
              <a:spcBef>
                <a:spcPct val="0"/>
              </a:spcBef>
              <a:buClrTx/>
              <a:buFontTx/>
              <a:buNone/>
            </a:pPr>
            <a:r>
              <a:rPr lang="en-US" altLang="en-US" sz="2400" b="0"/>
              <a:t>	H</a:t>
            </a:r>
            <a:r>
              <a:rPr lang="en-US" altLang="en-US" sz="2400" b="0" baseline="-25000"/>
              <a:t>0</a:t>
            </a:r>
            <a:r>
              <a:rPr lang="en-US" altLang="en-US" sz="2400" b="0">
                <a:latin typeface="Arial" charset="0"/>
              </a:rPr>
              <a:t>: </a:t>
            </a:r>
            <a:r>
              <a:rPr lang="en-US" altLang="en-US" sz="2400" b="0" i="1"/>
              <a:t>p</a:t>
            </a:r>
            <a:r>
              <a:rPr lang="en-US" altLang="en-US" sz="2400" b="0">
                <a:latin typeface="Arial" charset="0"/>
              </a:rPr>
              <a:t> = </a:t>
            </a:r>
            <a:r>
              <a:rPr lang="en-US" altLang="en-US" sz="2400" b="0" i="1"/>
              <a:t>p</a:t>
            </a:r>
            <a:r>
              <a:rPr lang="en-US" altLang="en-US" sz="2400" b="0" baseline="-25000"/>
              <a:t>0</a:t>
            </a:r>
            <a:endParaRPr lang="en-US" altLang="en-US" sz="2400" b="0">
              <a:latin typeface="Arial" charset="0"/>
            </a:endParaRPr>
          </a:p>
          <a:p>
            <a:pPr eaLnBrk="1" hangingPunct="1">
              <a:spcBef>
                <a:spcPct val="0"/>
              </a:spcBef>
              <a:buClrTx/>
              <a:buSzTx/>
              <a:buFontTx/>
              <a:buNone/>
            </a:pPr>
            <a:endParaRPr lang="en-US" altLang="en-US" sz="2400" b="0">
              <a:latin typeface="Arial" charset="0"/>
            </a:endParaRPr>
          </a:p>
          <a:p>
            <a:pPr eaLnBrk="1" hangingPunct="1">
              <a:spcBef>
                <a:spcPct val="0"/>
              </a:spcBef>
              <a:buClrTx/>
              <a:buSzTx/>
              <a:buFontTx/>
              <a:buNone/>
            </a:pPr>
            <a:endParaRPr lang="en-US" altLang="en-US" sz="2400" b="0">
              <a:latin typeface="Arial" charset="0"/>
            </a:endParaRPr>
          </a:p>
        </p:txBody>
      </p:sp>
      <p:cxnSp>
        <p:nvCxnSpPr>
          <p:cNvPr id="10" name="Straight Arrow Connector 9"/>
          <p:cNvCxnSpPr/>
          <p:nvPr/>
        </p:nvCxnSpPr>
        <p:spPr>
          <a:xfrm>
            <a:off x="1905000" y="1219200"/>
            <a:ext cx="12192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0250" name="Object 1"/>
          <p:cNvGraphicFramePr>
            <a:graphicFrameLocks noChangeAspect="1"/>
          </p:cNvGraphicFramePr>
          <p:nvPr/>
        </p:nvGraphicFramePr>
        <p:xfrm>
          <a:off x="4648200" y="3048000"/>
          <a:ext cx="685800" cy="457200"/>
        </p:xfrm>
        <a:graphic>
          <a:graphicData uri="http://schemas.openxmlformats.org/presentationml/2006/ole">
            <mc:AlternateContent xmlns:mc="http://schemas.openxmlformats.org/markup-compatibility/2006">
              <mc:Choice xmlns:v="urn:schemas-microsoft-com:vml" Requires="v">
                <p:oleObj spid="_x0000_s10305" name="Equation" r:id="rId5" imgW="152268" imgH="203024" progId="Equation.3">
                  <p:embed/>
                </p:oleObj>
              </mc:Choice>
              <mc:Fallback>
                <p:oleObj name="Equation" r:id="rId5" imgW="152268" imgH="203024"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30480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51" name="Object 2"/>
          <p:cNvGraphicFramePr>
            <a:graphicFrameLocks noChangeAspect="1"/>
          </p:cNvGraphicFramePr>
          <p:nvPr/>
        </p:nvGraphicFramePr>
        <p:xfrm>
          <a:off x="5867400" y="4191000"/>
          <a:ext cx="609600" cy="406400"/>
        </p:xfrm>
        <a:graphic>
          <a:graphicData uri="http://schemas.openxmlformats.org/presentationml/2006/ole">
            <mc:AlternateContent xmlns:mc="http://schemas.openxmlformats.org/markup-compatibility/2006">
              <mc:Choice xmlns:v="urn:schemas-microsoft-com:vml" Requires="v">
                <p:oleObj spid="_x0000_s10306" name="Equation" r:id="rId7" imgW="152268" imgH="203024" progId="Equation.3">
                  <p:embed/>
                </p:oleObj>
              </mc:Choice>
              <mc:Fallback>
                <p:oleObj name="Equation" r:id="rId7" imgW="152268" imgH="203024"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4191000"/>
                        <a:ext cx="609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52" name="Object 3"/>
          <p:cNvGraphicFramePr>
            <a:graphicFrameLocks noChangeAspect="1"/>
          </p:cNvGraphicFramePr>
          <p:nvPr/>
        </p:nvGraphicFramePr>
        <p:xfrm>
          <a:off x="1371600" y="4953000"/>
          <a:ext cx="609600" cy="406400"/>
        </p:xfrm>
        <a:graphic>
          <a:graphicData uri="http://schemas.openxmlformats.org/presentationml/2006/ole">
            <mc:AlternateContent xmlns:mc="http://schemas.openxmlformats.org/markup-compatibility/2006">
              <mc:Choice xmlns:v="urn:schemas-microsoft-com:vml" Requires="v">
                <p:oleObj spid="_x0000_s10307" name="Equation" r:id="rId8" imgW="152268" imgH="203024" progId="Equation.3">
                  <p:embed/>
                </p:oleObj>
              </mc:Choice>
              <mc:Fallback>
                <p:oleObj name="Equation" r:id="rId8" imgW="152268" imgH="203024"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4953000"/>
                        <a:ext cx="609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a:spLocks noChangeArrowheads="1"/>
          </p:cNvSpPr>
          <p:nvPr/>
        </p:nvSpPr>
        <p:spPr bwMode="auto">
          <a:xfrm>
            <a:off x="5486400" y="304800"/>
            <a:ext cx="3352800" cy="1938338"/>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a:latin typeface="Arial" charset="0"/>
              </a:rPr>
              <a:t>The null and alternative hypotheses are ALWAYS stated in terms of a population parameter.</a:t>
            </a: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1267"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1268"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11269"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B40E181D-7F62-4B1D-9C2A-77F2377A6806}" type="slidenum">
              <a:rPr lang="en-US" altLang="en-US" sz="1000">
                <a:latin typeface="Verdana" pitchFamily="34" charset="0"/>
              </a:rPr>
              <a:pPr algn="r" eaLnBrk="1" hangingPunct="1">
                <a:spcBef>
                  <a:spcPct val="0"/>
                </a:spcBef>
                <a:buClrTx/>
                <a:buSzTx/>
                <a:buFontTx/>
                <a:buNone/>
              </a:pPr>
              <a:t>17</a:t>
            </a:fld>
            <a:endParaRPr lang="en-US" altLang="en-US" sz="1000">
              <a:latin typeface="Verdana" pitchFamily="34" charset="0"/>
            </a:endParaRPr>
          </a:p>
        </p:txBody>
      </p:sp>
      <p:sp>
        <p:nvSpPr>
          <p:cNvPr id="11270" name="Text Box 6"/>
          <p:cNvSpPr txBox="1">
            <a:spLocks noChangeArrowheads="1"/>
          </p:cNvSpPr>
          <p:nvPr/>
        </p:nvSpPr>
        <p:spPr bwMode="auto">
          <a:xfrm>
            <a:off x="304800" y="152400"/>
            <a:ext cx="8610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ctr" eaLnBrk="1" hangingPunct="1">
              <a:spcBef>
                <a:spcPct val="0"/>
              </a:spcBef>
              <a:buClrTx/>
              <a:buSzTx/>
              <a:buFontTx/>
              <a:buNone/>
            </a:pPr>
            <a:r>
              <a:rPr lang="en-US" altLang="en-US" sz="2800">
                <a:solidFill>
                  <a:srgbClr val="0033CC"/>
                </a:solidFill>
                <a:latin typeface="Arial" charset="0"/>
              </a:rPr>
              <a:t>The Test Statistic for a one-proportion z-test</a:t>
            </a:r>
          </a:p>
        </p:txBody>
      </p:sp>
      <p:sp>
        <p:nvSpPr>
          <p:cNvPr id="11271" name="Text Box 7"/>
          <p:cNvSpPr txBox="1">
            <a:spLocks noChangeArrowheads="1"/>
          </p:cNvSpPr>
          <p:nvPr/>
        </p:nvSpPr>
        <p:spPr bwMode="auto">
          <a:xfrm>
            <a:off x="381000" y="990600"/>
            <a:ext cx="8458200" cy="830263"/>
          </a:xfrm>
          <a:prstGeom prst="rect">
            <a:avLst/>
          </a:prstGeom>
          <a:solidFill>
            <a:srgbClr val="FFCC66"/>
          </a:solidFill>
          <a:ln>
            <a:noFill/>
          </a:ln>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dirty="0">
                <a:latin typeface="Arial" charset="0"/>
              </a:rPr>
              <a:t>Since we are performing a hypothesis test about a proportion p, this test about proportions is called a </a:t>
            </a:r>
            <a:r>
              <a:rPr lang="en-US" altLang="en-US" sz="2400" b="0" i="1" dirty="0">
                <a:solidFill>
                  <a:srgbClr val="0000FF"/>
                </a:solidFill>
                <a:latin typeface="Arial" charset="0"/>
              </a:rPr>
              <a:t>one-proportion </a:t>
            </a:r>
            <a:r>
              <a:rPr lang="en-US" altLang="en-US" sz="2400" b="0" i="1" dirty="0">
                <a:solidFill>
                  <a:srgbClr val="0000FF"/>
                </a:solidFill>
              </a:rPr>
              <a:t>z</a:t>
            </a:r>
            <a:r>
              <a:rPr lang="en-US" altLang="en-US" sz="2400" b="0" i="1" dirty="0">
                <a:solidFill>
                  <a:srgbClr val="0000FF"/>
                </a:solidFill>
                <a:latin typeface="Arial" charset="0"/>
              </a:rPr>
              <a:t>-test</a:t>
            </a:r>
            <a:r>
              <a:rPr lang="en-US" altLang="en-US" sz="2400" b="0" dirty="0">
                <a:latin typeface="Arial" charset="0"/>
              </a:rPr>
              <a:t>.</a:t>
            </a:r>
          </a:p>
        </p:txBody>
      </p:sp>
      <p:pic>
        <p:nvPicPr>
          <p:cNvPr id="11272"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474" y="2133600"/>
            <a:ext cx="7813675" cy="3388360"/>
          </a:xfrm>
          <a:prstGeom prst="rect">
            <a:avLst/>
          </a:prstGeom>
          <a:solidFill>
            <a:srgbClr val="FFCC66"/>
          </a:solidFill>
          <a:ln>
            <a:noFill/>
          </a:ln>
        </p:spPr>
      </p:pic>
    </p:spTree>
    <p:custDataLst>
      <p:tags r:id="rId1"/>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l="43277" t="2634" r="5093" b="16470"/>
          <a:stretch>
            <a:fillRect/>
          </a:stretch>
        </p:blipFill>
        <p:spPr bwMode="auto">
          <a:xfrm>
            <a:off x="5105400" y="2514600"/>
            <a:ext cx="36576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9171" name="Rectangle 3"/>
          <p:cNvSpPr>
            <a:spLocks noGrp="1" noChangeArrowheads="1"/>
          </p:cNvSpPr>
          <p:nvPr>
            <p:ph type="title"/>
          </p:nvPr>
        </p:nvSpPr>
        <p:spPr>
          <a:xfrm>
            <a:off x="457200" y="274638"/>
            <a:ext cx="8229600" cy="715962"/>
          </a:xfrm>
        </p:spPr>
        <p:txBody>
          <a:bodyPr/>
          <a:lstStyle/>
          <a:p>
            <a:pPr eaLnBrk="1" hangingPunct="1">
              <a:defRPr/>
            </a:pPr>
            <a:r>
              <a:rPr lang="en-US" sz="3200" dirty="0" smtClean="0"/>
              <a:t>Calculating The Test Statistic</a:t>
            </a:r>
            <a:endParaRPr lang="en-US" sz="3200" i="1" dirty="0"/>
          </a:p>
        </p:txBody>
      </p:sp>
      <p:sp>
        <p:nvSpPr>
          <p:cNvPr id="12292" name="Rectangle 4"/>
          <p:cNvSpPr>
            <a:spLocks noGrp="1" noChangeArrowheads="1"/>
          </p:cNvSpPr>
          <p:nvPr>
            <p:ph type="body" idx="1"/>
          </p:nvPr>
        </p:nvSpPr>
        <p:spPr>
          <a:xfrm>
            <a:off x="457200" y="914400"/>
            <a:ext cx="8229600" cy="1676400"/>
          </a:xfrm>
          <a:solidFill>
            <a:srgbClr val="FFCC66"/>
          </a:solidFill>
        </p:spPr>
        <p:txBody>
          <a:bodyPr/>
          <a:lstStyle/>
          <a:p>
            <a:pPr marL="0" indent="0">
              <a:buSzPct val="100000"/>
              <a:buFont typeface="Times" charset="0"/>
              <a:buNone/>
            </a:pPr>
            <a:r>
              <a:rPr lang="en-US" altLang="en-US" sz="2400" dirty="0" smtClean="0"/>
              <a:t>The sampling distribution for    is </a:t>
            </a:r>
            <a:r>
              <a:rPr lang="en-US" altLang="en-US" sz="2400" dirty="0" smtClean="0">
                <a:solidFill>
                  <a:srgbClr val="FF0000"/>
                </a:solidFill>
              </a:rPr>
              <a:t>approximately normal </a:t>
            </a:r>
            <a:r>
              <a:rPr lang="en-US" altLang="en-US" sz="2400" dirty="0" smtClean="0"/>
              <a:t>for large sample sizes and its shape depends solely on </a:t>
            </a:r>
            <a:r>
              <a:rPr lang="en-US" altLang="en-US" sz="2400" i="1" dirty="0" smtClean="0"/>
              <a:t>p </a:t>
            </a:r>
            <a:r>
              <a:rPr lang="en-US" altLang="en-US" sz="2400" dirty="0" smtClean="0"/>
              <a:t>and</a:t>
            </a:r>
            <a:r>
              <a:rPr lang="en-US" altLang="en-US" sz="2400" i="1" dirty="0" smtClean="0"/>
              <a:t> n</a:t>
            </a:r>
            <a:r>
              <a:rPr lang="en-US" altLang="en-US" sz="2400" dirty="0" smtClean="0"/>
              <a:t>. </a:t>
            </a:r>
          </a:p>
          <a:p>
            <a:pPr marL="0" indent="0">
              <a:spcBef>
                <a:spcPts val="600"/>
              </a:spcBef>
              <a:buSzPct val="100000"/>
              <a:buFont typeface="Times" charset="0"/>
              <a:buNone/>
            </a:pPr>
            <a:r>
              <a:rPr lang="en-US" altLang="en-US" sz="2400" dirty="0" smtClean="0"/>
              <a:t>Thus, we can easily test the null hypothesis:</a:t>
            </a:r>
          </a:p>
          <a:p>
            <a:pPr marL="0" indent="0">
              <a:spcBef>
                <a:spcPct val="0"/>
              </a:spcBef>
              <a:buSzPct val="100000"/>
              <a:buFont typeface="Times" charset="0"/>
              <a:buNone/>
            </a:pPr>
            <a:r>
              <a:rPr lang="en-US" altLang="en-US" sz="2400" i="1" dirty="0" smtClean="0">
                <a:solidFill>
                  <a:srgbClr val="333399"/>
                </a:solidFill>
              </a:rPr>
              <a:t>H</a:t>
            </a:r>
            <a:r>
              <a:rPr lang="en-US" altLang="en-US" sz="2400" baseline="-25000" dirty="0" smtClean="0">
                <a:solidFill>
                  <a:srgbClr val="333399"/>
                </a:solidFill>
              </a:rPr>
              <a:t>0</a:t>
            </a:r>
            <a:r>
              <a:rPr lang="en-US" altLang="en-US" sz="2400" dirty="0" smtClean="0">
                <a:solidFill>
                  <a:srgbClr val="333399"/>
                </a:solidFill>
              </a:rPr>
              <a:t>: </a:t>
            </a:r>
            <a:r>
              <a:rPr lang="en-US" altLang="en-US" sz="2400" i="1" dirty="0" smtClean="0">
                <a:solidFill>
                  <a:srgbClr val="333399"/>
                </a:solidFill>
              </a:rPr>
              <a:t>p = p</a:t>
            </a:r>
            <a:r>
              <a:rPr lang="en-US" altLang="en-US" sz="2400" baseline="-25000" dirty="0" smtClean="0">
                <a:solidFill>
                  <a:srgbClr val="333399"/>
                </a:solidFill>
              </a:rPr>
              <a:t>0</a:t>
            </a:r>
            <a:r>
              <a:rPr lang="en-US" altLang="en-US" sz="2400" dirty="0" smtClean="0"/>
              <a:t> (</a:t>
            </a:r>
            <a:r>
              <a:rPr lang="en-US" altLang="en-US" sz="2400" i="1" dirty="0" smtClean="0"/>
              <a:t>p</a:t>
            </a:r>
            <a:r>
              <a:rPr lang="en-US" altLang="en-US" sz="2400" baseline="-25000" dirty="0" smtClean="0"/>
              <a:t>0</a:t>
            </a:r>
            <a:r>
              <a:rPr lang="en-US" altLang="en-US" sz="2400" i="1" dirty="0" smtClean="0"/>
              <a:t> </a:t>
            </a:r>
            <a:r>
              <a:rPr lang="en-US" altLang="en-US" sz="2400" dirty="0" smtClean="0"/>
              <a:t>is a specific value of p for which we are testing).</a:t>
            </a:r>
          </a:p>
        </p:txBody>
      </p:sp>
      <p:graphicFrame>
        <p:nvGraphicFramePr>
          <p:cNvPr id="1159174" name="Object 2"/>
          <p:cNvGraphicFramePr>
            <a:graphicFrameLocks noChangeAspect="1"/>
          </p:cNvGraphicFramePr>
          <p:nvPr>
            <p:extLst>
              <p:ext uri="{D42A27DB-BD31-4B8C-83A1-F6EECF244321}">
                <p14:modId xmlns:p14="http://schemas.microsoft.com/office/powerpoint/2010/main" val="1056380243"/>
              </p:ext>
            </p:extLst>
          </p:nvPr>
        </p:nvGraphicFramePr>
        <p:xfrm>
          <a:off x="381000" y="4648200"/>
          <a:ext cx="3178175" cy="1335088"/>
        </p:xfrm>
        <a:graphic>
          <a:graphicData uri="http://schemas.openxmlformats.org/presentationml/2006/ole">
            <mc:AlternateContent xmlns:mc="http://schemas.openxmlformats.org/markup-compatibility/2006">
              <mc:Choice xmlns:v="urn:schemas-microsoft-com:vml" Requires="v">
                <p:oleObj spid="_x0000_s12448" name="Equation" r:id="rId5" imgW="1549400" imgH="647700" progId="Equation.DSMT4">
                  <p:embed/>
                </p:oleObj>
              </mc:Choice>
              <mc:Fallback>
                <p:oleObj name="Equation" r:id="rId5" imgW="1549400" imgH="6477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4648200"/>
                        <a:ext cx="3178175" cy="1335088"/>
                      </a:xfrm>
                      <a:prstGeom prst="rect">
                        <a:avLst/>
                      </a:prstGeom>
                      <a:solidFill>
                        <a:srgbClr val="FFCC66"/>
                      </a:solidFill>
                      <a:ln>
                        <a:noFill/>
                      </a:ln>
                    </p:spPr>
                  </p:pic>
                </p:oleObj>
              </mc:Fallback>
            </mc:AlternateContent>
          </a:graphicData>
        </a:graphic>
      </p:graphicFrame>
      <p:sp>
        <p:nvSpPr>
          <p:cNvPr id="12294" name="Text Box 7"/>
          <p:cNvSpPr txBox="1">
            <a:spLocks noChangeArrowheads="1"/>
          </p:cNvSpPr>
          <p:nvPr/>
        </p:nvSpPr>
        <p:spPr bwMode="auto">
          <a:xfrm>
            <a:off x="533400" y="2819400"/>
            <a:ext cx="5257800"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nSpc>
                <a:spcPct val="110000"/>
              </a:lnSpc>
              <a:spcBef>
                <a:spcPct val="20000"/>
              </a:spcBef>
              <a:buSzPct val="100000"/>
              <a:buFont typeface="Times" charset="0"/>
              <a:buNone/>
            </a:pPr>
            <a:r>
              <a:rPr lang="en-US" altLang="en-US" sz="2000" b="0" i="1" dirty="0">
                <a:latin typeface="Arial" charset="0"/>
              </a:rPr>
              <a:t>If H</a:t>
            </a:r>
            <a:r>
              <a:rPr lang="en-US" altLang="en-US" sz="2000" b="0" i="1" baseline="-25000" dirty="0">
                <a:latin typeface="Arial" charset="0"/>
              </a:rPr>
              <a:t>0</a:t>
            </a:r>
            <a:r>
              <a:rPr lang="en-US" altLang="en-US" sz="2000" b="0" i="1" dirty="0">
                <a:latin typeface="Arial" charset="0"/>
              </a:rPr>
              <a:t> is true, the sampling distribution of</a:t>
            </a:r>
          </a:p>
          <a:p>
            <a:pPr>
              <a:lnSpc>
                <a:spcPct val="110000"/>
              </a:lnSpc>
              <a:spcBef>
                <a:spcPct val="20000"/>
              </a:spcBef>
              <a:buSzPct val="100000"/>
              <a:buFont typeface="Times" charset="0"/>
              <a:buNone/>
            </a:pPr>
            <a:r>
              <a:rPr lang="en-US" altLang="en-US" sz="2000" b="0" i="1" dirty="0">
                <a:latin typeface="Arial" charset="0"/>
              </a:rPr>
              <a:t>      is known:  </a:t>
            </a:r>
          </a:p>
          <a:p>
            <a:pPr>
              <a:lnSpc>
                <a:spcPct val="110000"/>
              </a:lnSpc>
              <a:spcBef>
                <a:spcPct val="20000"/>
              </a:spcBef>
              <a:buSzPct val="100000"/>
              <a:buFont typeface="Times" charset="0"/>
              <a:buNone/>
            </a:pPr>
            <a:r>
              <a:rPr lang="en-US" altLang="en-US" sz="2000" b="0" i="1" dirty="0">
                <a:latin typeface="Arial" charset="0"/>
              </a:rPr>
              <a:t>How far our sample proportion     is from </a:t>
            </a:r>
            <a:r>
              <a:rPr lang="en-US" altLang="en-US" sz="2000" b="0" i="1" dirty="0" err="1">
                <a:latin typeface="Arial" charset="0"/>
              </a:rPr>
              <a:t>from</a:t>
            </a:r>
            <a:r>
              <a:rPr lang="en-US" altLang="en-US" sz="2000" b="0" i="1" dirty="0">
                <a:latin typeface="Arial" charset="0"/>
              </a:rPr>
              <a:t> p</a:t>
            </a:r>
            <a:r>
              <a:rPr lang="en-US" altLang="en-US" sz="2000" b="0" i="1" baseline="-25000" dirty="0">
                <a:latin typeface="Arial" charset="0"/>
              </a:rPr>
              <a:t>0</a:t>
            </a:r>
            <a:r>
              <a:rPr lang="en-US" altLang="en-US" sz="2000" b="0" i="1" dirty="0">
                <a:latin typeface="Arial" charset="0"/>
              </a:rPr>
              <a:t> in units of the standard deviation is calculated as follows:</a:t>
            </a:r>
          </a:p>
        </p:txBody>
      </p:sp>
      <p:sp>
        <p:nvSpPr>
          <p:cNvPr id="1159176" name="Text Box 8"/>
          <p:cNvSpPr txBox="1">
            <a:spLocks noChangeArrowheads="1"/>
          </p:cNvSpPr>
          <p:nvPr/>
        </p:nvSpPr>
        <p:spPr bwMode="auto">
          <a:xfrm>
            <a:off x="3581400" y="5257800"/>
            <a:ext cx="5334000" cy="1114408"/>
          </a:xfrm>
          <a:prstGeom prst="rect">
            <a:avLst/>
          </a:prstGeom>
          <a:noFill/>
          <a:ln w="38100" cmpd="dbl">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nSpc>
                <a:spcPct val="120000"/>
              </a:lnSpc>
              <a:spcBef>
                <a:spcPct val="20000"/>
              </a:spcBef>
              <a:buSzPct val="100000"/>
              <a:buFont typeface="Times" charset="0"/>
              <a:buNone/>
            </a:pPr>
            <a:r>
              <a:rPr lang="en-US" altLang="en-US" sz="1800" b="0" dirty="0">
                <a:latin typeface="Arial" charset="0"/>
              </a:rPr>
              <a:t>This is valid when both expected </a:t>
            </a:r>
            <a:r>
              <a:rPr lang="en-US" altLang="en-US" sz="1800" b="0" dirty="0" smtClean="0">
                <a:latin typeface="Arial" charset="0"/>
              </a:rPr>
              <a:t>counts — expected </a:t>
            </a:r>
            <a:r>
              <a:rPr lang="en-US" altLang="en-US" sz="1800" b="0" dirty="0">
                <a:latin typeface="Arial" charset="0"/>
              </a:rPr>
              <a:t>successes </a:t>
            </a:r>
            <a:r>
              <a:rPr lang="en-US" altLang="en-US" sz="1800" b="0" i="1" dirty="0">
                <a:latin typeface="Arial" charset="0"/>
              </a:rPr>
              <a:t>np</a:t>
            </a:r>
            <a:r>
              <a:rPr lang="en-US" altLang="en-US" sz="1800" b="0" baseline="-25000" dirty="0">
                <a:latin typeface="Arial" charset="0"/>
              </a:rPr>
              <a:t>0</a:t>
            </a:r>
            <a:r>
              <a:rPr lang="en-US" altLang="en-US" sz="1800" b="0" dirty="0">
                <a:latin typeface="Arial" charset="0"/>
              </a:rPr>
              <a:t> and expected </a:t>
            </a:r>
            <a:r>
              <a:rPr lang="en-US" altLang="en-US" sz="1800" b="0" dirty="0" smtClean="0">
                <a:latin typeface="Arial" charset="0"/>
              </a:rPr>
              <a:t>failures</a:t>
            </a:r>
          </a:p>
          <a:p>
            <a:pPr>
              <a:lnSpc>
                <a:spcPct val="120000"/>
              </a:lnSpc>
              <a:spcBef>
                <a:spcPct val="20000"/>
              </a:spcBef>
              <a:buSzPct val="100000"/>
              <a:buFont typeface="Times" charset="0"/>
              <a:buNone/>
            </a:pPr>
            <a:r>
              <a:rPr lang="en-US" altLang="en-US" sz="1800" b="0" i="1" dirty="0" smtClean="0">
                <a:latin typeface="Arial" charset="0"/>
              </a:rPr>
              <a:t>n</a:t>
            </a:r>
            <a:r>
              <a:rPr lang="en-US" altLang="en-US" sz="1800" b="0" dirty="0" smtClean="0">
                <a:latin typeface="Arial" charset="0"/>
              </a:rPr>
              <a:t>(1 </a:t>
            </a:r>
            <a:r>
              <a:rPr lang="en-US" altLang="en-US" sz="1800" b="0" dirty="0">
                <a:latin typeface="Arial" charset="0"/>
              </a:rPr>
              <a:t>− </a:t>
            </a:r>
            <a:r>
              <a:rPr lang="en-US" altLang="en-US" sz="1800" b="0" i="1" dirty="0">
                <a:latin typeface="Arial" charset="0"/>
              </a:rPr>
              <a:t>p</a:t>
            </a:r>
            <a:r>
              <a:rPr lang="en-US" altLang="en-US" sz="1800" b="0" baseline="-25000" dirty="0">
                <a:latin typeface="Arial" charset="0"/>
              </a:rPr>
              <a:t>0</a:t>
            </a:r>
            <a:r>
              <a:rPr lang="en-US" altLang="en-US" sz="1800" b="0" dirty="0" smtClean="0">
                <a:latin typeface="Arial" charset="0"/>
              </a:rPr>
              <a:t>) — </a:t>
            </a:r>
            <a:r>
              <a:rPr lang="en-US" altLang="en-US" sz="1800" b="0" dirty="0">
                <a:latin typeface="Arial" charset="0"/>
              </a:rPr>
              <a:t>are each 10 or larger.</a:t>
            </a:r>
          </a:p>
        </p:txBody>
      </p:sp>
      <p:graphicFrame>
        <p:nvGraphicFramePr>
          <p:cNvPr id="12296" name="Object 3"/>
          <p:cNvGraphicFramePr>
            <a:graphicFrameLocks noChangeAspect="1"/>
          </p:cNvGraphicFramePr>
          <p:nvPr/>
        </p:nvGraphicFramePr>
        <p:xfrm>
          <a:off x="7467600" y="2590800"/>
          <a:ext cx="1354138" cy="725488"/>
        </p:xfrm>
        <a:graphic>
          <a:graphicData uri="http://schemas.openxmlformats.org/presentationml/2006/ole">
            <mc:AlternateContent xmlns:mc="http://schemas.openxmlformats.org/markup-compatibility/2006">
              <mc:Choice xmlns:v="urn:schemas-microsoft-com:vml" Requires="v">
                <p:oleObj spid="_x0000_s12449" name="Equation" r:id="rId7" imgW="762000" imgH="406400" progId="Equation.3">
                  <p:embed/>
                </p:oleObj>
              </mc:Choice>
              <mc:Fallback>
                <p:oleObj name="Equation" r:id="rId7" imgW="762000" imgH="4064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67600" y="2590800"/>
                        <a:ext cx="1354138" cy="7254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7" name="Object 4"/>
          <p:cNvGraphicFramePr>
            <a:graphicFrameLocks noChangeAspect="1"/>
          </p:cNvGraphicFramePr>
          <p:nvPr/>
        </p:nvGraphicFramePr>
        <p:xfrm>
          <a:off x="8382000" y="3886200"/>
          <a:ext cx="315913" cy="339725"/>
        </p:xfrm>
        <a:graphic>
          <a:graphicData uri="http://schemas.openxmlformats.org/presentationml/2006/ole">
            <mc:AlternateContent xmlns:mc="http://schemas.openxmlformats.org/markup-compatibility/2006">
              <mc:Choice xmlns:v="urn:schemas-microsoft-com:vml" Requires="v">
                <p:oleObj spid="_x0000_s12450" name="Equation" r:id="rId9" imgW="165100" imgH="177800" progId="Equation.3">
                  <p:embed/>
                </p:oleObj>
              </mc:Choice>
              <mc:Fallback>
                <p:oleObj name="Equation" r:id="rId9" imgW="165100" imgH="1778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82000" y="3886200"/>
                        <a:ext cx="315913" cy="339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8" name="Object 5"/>
          <p:cNvGraphicFramePr>
            <a:graphicFrameLocks noChangeAspect="1"/>
          </p:cNvGraphicFramePr>
          <p:nvPr/>
        </p:nvGraphicFramePr>
        <p:xfrm>
          <a:off x="8229600" y="4800600"/>
          <a:ext cx="261938" cy="368300"/>
        </p:xfrm>
        <a:graphic>
          <a:graphicData uri="http://schemas.openxmlformats.org/presentationml/2006/ole">
            <mc:AlternateContent xmlns:mc="http://schemas.openxmlformats.org/markup-compatibility/2006">
              <mc:Choice xmlns:v="urn:schemas-microsoft-com:vml" Requires="v">
                <p:oleObj spid="_x0000_s12451" name="Equation" r:id="rId11" imgW="127000" imgH="177800" progId="Equation.3">
                  <p:embed/>
                </p:oleObj>
              </mc:Choice>
              <mc:Fallback>
                <p:oleObj name="Equation" r:id="rId11" imgW="127000" imgH="177800" progId="Equation.3">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29600" y="4800600"/>
                        <a:ext cx="261938"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9" name="Object 6"/>
          <p:cNvGraphicFramePr>
            <a:graphicFrameLocks noChangeAspect="1"/>
          </p:cNvGraphicFramePr>
          <p:nvPr/>
        </p:nvGraphicFramePr>
        <p:xfrm>
          <a:off x="4343400" y="990600"/>
          <a:ext cx="533400" cy="355600"/>
        </p:xfrm>
        <a:graphic>
          <a:graphicData uri="http://schemas.openxmlformats.org/presentationml/2006/ole">
            <mc:AlternateContent xmlns:mc="http://schemas.openxmlformats.org/markup-compatibility/2006">
              <mc:Choice xmlns:v="urn:schemas-microsoft-com:vml" Requires="v">
                <p:oleObj spid="_x0000_s12452" name="Equation" r:id="rId13" imgW="152268" imgH="203024" progId="Equation.3">
                  <p:embed/>
                </p:oleObj>
              </mc:Choice>
              <mc:Fallback>
                <p:oleObj name="Equation" r:id="rId13" imgW="152268" imgH="203024" progId="Equation.3">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43400" y="990600"/>
                        <a:ext cx="5334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0" name="Object 7"/>
          <p:cNvGraphicFramePr>
            <a:graphicFrameLocks noChangeAspect="1"/>
          </p:cNvGraphicFramePr>
          <p:nvPr/>
        </p:nvGraphicFramePr>
        <p:xfrm>
          <a:off x="3962400" y="3657600"/>
          <a:ext cx="533400" cy="355600"/>
        </p:xfrm>
        <a:graphic>
          <a:graphicData uri="http://schemas.openxmlformats.org/presentationml/2006/ole">
            <mc:AlternateContent xmlns:mc="http://schemas.openxmlformats.org/markup-compatibility/2006">
              <mc:Choice xmlns:v="urn:schemas-microsoft-com:vml" Requires="v">
                <p:oleObj spid="_x0000_s12453" name="Equation" r:id="rId15" imgW="152268" imgH="203024" progId="Equation.3">
                  <p:embed/>
                </p:oleObj>
              </mc:Choice>
              <mc:Fallback>
                <p:oleObj name="Equation" r:id="rId15" imgW="152268" imgH="203024"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62400" y="3657600"/>
                        <a:ext cx="5334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1" name="Object 8"/>
          <p:cNvGraphicFramePr>
            <a:graphicFrameLocks noChangeAspect="1"/>
          </p:cNvGraphicFramePr>
          <p:nvPr/>
        </p:nvGraphicFramePr>
        <p:xfrm>
          <a:off x="533400" y="3200400"/>
          <a:ext cx="533400" cy="355600"/>
        </p:xfrm>
        <a:graphic>
          <a:graphicData uri="http://schemas.openxmlformats.org/presentationml/2006/ole">
            <mc:AlternateContent xmlns:mc="http://schemas.openxmlformats.org/markup-compatibility/2006">
              <mc:Choice xmlns:v="urn:schemas-microsoft-com:vml" Requires="v">
                <p:oleObj spid="_x0000_s12454" name="Equation" r:id="rId16" imgW="152268" imgH="203024" progId="Equation.3">
                  <p:embed/>
                </p:oleObj>
              </mc:Choice>
              <mc:Fallback>
                <p:oleObj name="Equation" r:id="rId16" imgW="152268" imgH="203024"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400" y="3200400"/>
                        <a:ext cx="5334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2" name="Object 9"/>
          <p:cNvGraphicFramePr>
            <a:graphicFrameLocks noChangeAspect="1"/>
          </p:cNvGraphicFramePr>
          <p:nvPr/>
        </p:nvGraphicFramePr>
        <p:xfrm>
          <a:off x="2133600" y="3181350"/>
          <a:ext cx="2895600" cy="476250"/>
        </p:xfrm>
        <a:graphic>
          <a:graphicData uri="http://schemas.openxmlformats.org/presentationml/2006/ole">
            <mc:AlternateContent xmlns:mc="http://schemas.openxmlformats.org/markup-compatibility/2006">
              <mc:Choice xmlns:v="urn:schemas-microsoft-com:vml" Requires="v">
                <p:oleObj spid="_x0000_s12455" name="Equation" r:id="rId17" imgW="1777229" imgH="291973" progId="Equation.DSMT4">
                  <p:embed/>
                </p:oleObj>
              </mc:Choice>
              <mc:Fallback>
                <p:oleObj name="Equation" r:id="rId17" imgW="1777229" imgH="291973" progId="Equation.DSMT4">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33600" y="3181350"/>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0" name="Elbow Connector 19"/>
          <p:cNvCxnSpPr/>
          <p:nvPr/>
        </p:nvCxnSpPr>
        <p:spPr>
          <a:xfrm>
            <a:off x="4724400" y="2895600"/>
            <a:ext cx="1676400" cy="228600"/>
          </a:xfrm>
          <a:prstGeom prst="bentConnector3">
            <a:avLst>
              <a:gd name="adj1" fmla="val 50000"/>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591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59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9176"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3315"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3316"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13317"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711C25EF-4D43-44C7-9602-99F42734D223}" type="slidenum">
              <a:rPr lang="en-US" altLang="en-US" sz="1000">
                <a:latin typeface="Verdana" pitchFamily="34" charset="0"/>
              </a:rPr>
              <a:pPr algn="r" eaLnBrk="1" hangingPunct="1">
                <a:spcBef>
                  <a:spcPct val="0"/>
                </a:spcBef>
                <a:buClrTx/>
                <a:buSzTx/>
                <a:buFontTx/>
                <a:buNone/>
              </a:pPr>
              <a:t>19</a:t>
            </a:fld>
            <a:endParaRPr lang="en-US" altLang="en-US" sz="1000">
              <a:latin typeface="Verdana" pitchFamily="34" charset="0"/>
            </a:endParaRPr>
          </a:p>
        </p:txBody>
      </p:sp>
      <p:sp>
        <p:nvSpPr>
          <p:cNvPr id="13318" name="Text Box 6"/>
          <p:cNvSpPr txBox="1">
            <a:spLocks noChangeArrowheads="1"/>
          </p:cNvSpPr>
          <p:nvPr/>
        </p:nvSpPr>
        <p:spPr bwMode="auto">
          <a:xfrm>
            <a:off x="304800" y="152400"/>
            <a:ext cx="861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3200">
                <a:solidFill>
                  <a:srgbClr val="0033CC"/>
                </a:solidFill>
                <a:latin typeface="Arial" charset="0"/>
              </a:rPr>
              <a:t>DJIA Test Statistic</a:t>
            </a:r>
          </a:p>
        </p:txBody>
      </p:sp>
      <p:sp>
        <p:nvSpPr>
          <p:cNvPr id="13319" name="Text Box 7"/>
          <p:cNvSpPr txBox="1">
            <a:spLocks noChangeArrowheads="1"/>
          </p:cNvSpPr>
          <p:nvPr/>
        </p:nvSpPr>
        <p:spPr bwMode="auto">
          <a:xfrm>
            <a:off x="381000" y="762000"/>
            <a:ext cx="8458200" cy="830263"/>
          </a:xfrm>
          <a:prstGeom prst="rect">
            <a:avLst/>
          </a:prstGeom>
          <a:solidFill>
            <a:srgbClr val="FFCC66"/>
          </a:solidFill>
          <a:ln>
            <a:noFill/>
          </a:ln>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dirty="0"/>
              <a:t> H</a:t>
            </a:r>
            <a:r>
              <a:rPr lang="en-US" altLang="en-US" sz="2400" b="0" baseline="-25000" dirty="0"/>
              <a:t>0</a:t>
            </a:r>
            <a:r>
              <a:rPr lang="en-US" altLang="en-US" sz="2400" b="0" dirty="0">
                <a:latin typeface="Arial" charset="0"/>
              </a:rPr>
              <a:t>: </a:t>
            </a:r>
            <a:r>
              <a:rPr lang="en-US" altLang="en-US" sz="2400" b="0" i="1" dirty="0"/>
              <a:t>p</a:t>
            </a:r>
            <a:r>
              <a:rPr lang="en-US" altLang="en-US" sz="2400" b="0" dirty="0">
                <a:latin typeface="Arial" charset="0"/>
              </a:rPr>
              <a:t> = 0.5    </a:t>
            </a:r>
            <a:r>
              <a:rPr lang="en-US" altLang="en-US" sz="2400" b="0" i="1" dirty="0">
                <a:latin typeface="Arial" charset="0"/>
              </a:rPr>
              <a:t>n = </a:t>
            </a:r>
            <a:r>
              <a:rPr lang="en-US" altLang="en-US" sz="2400" b="0" dirty="0">
                <a:latin typeface="Arial" charset="0"/>
              </a:rPr>
              <a:t>1112</a:t>
            </a:r>
            <a:r>
              <a:rPr lang="en-US" altLang="en-US" sz="2400" b="0" i="1" dirty="0">
                <a:latin typeface="Arial" charset="0"/>
              </a:rPr>
              <a:t> </a:t>
            </a:r>
            <a:r>
              <a:rPr lang="en-US" altLang="en-US" sz="2400" b="0" dirty="0">
                <a:latin typeface="Arial" charset="0"/>
              </a:rPr>
              <a:t>days; market was “up” 573 days</a:t>
            </a:r>
            <a:endParaRPr lang="en-US" altLang="en-US" sz="2400" b="0" baseline="-25000" dirty="0"/>
          </a:p>
          <a:p>
            <a:pPr eaLnBrk="1" hangingPunct="1">
              <a:spcBef>
                <a:spcPct val="0"/>
              </a:spcBef>
              <a:buClrTx/>
              <a:buSzTx/>
              <a:buFontTx/>
              <a:buNone/>
            </a:pPr>
            <a:r>
              <a:rPr lang="en-US" altLang="en-US" sz="2400" b="0" dirty="0"/>
              <a:t> H</a:t>
            </a:r>
            <a:r>
              <a:rPr lang="en-US" altLang="en-US" sz="2400" b="0" baseline="-25000" dirty="0"/>
              <a:t>A</a:t>
            </a:r>
            <a:r>
              <a:rPr lang="en-US" altLang="en-US" sz="2400" b="0" dirty="0">
                <a:latin typeface="Arial" charset="0"/>
              </a:rPr>
              <a:t>: </a:t>
            </a:r>
            <a:r>
              <a:rPr lang="en-US" altLang="en-US" sz="2400" b="0" i="1" dirty="0"/>
              <a:t>p</a:t>
            </a:r>
            <a:r>
              <a:rPr lang="en-US" altLang="en-US" sz="2400" b="0" dirty="0">
                <a:latin typeface="Arial" charset="0"/>
              </a:rPr>
              <a:t> ≠ 0.5</a:t>
            </a:r>
          </a:p>
        </p:txBody>
      </p:sp>
      <p:graphicFrame>
        <p:nvGraphicFramePr>
          <p:cNvPr id="13320" name="Object 2"/>
          <p:cNvGraphicFramePr>
            <a:graphicFrameLocks noChangeAspect="1"/>
          </p:cNvGraphicFramePr>
          <p:nvPr>
            <p:extLst>
              <p:ext uri="{D42A27DB-BD31-4B8C-83A1-F6EECF244321}">
                <p14:modId xmlns:p14="http://schemas.microsoft.com/office/powerpoint/2010/main" val="2214120671"/>
              </p:ext>
            </p:extLst>
          </p:nvPr>
        </p:nvGraphicFramePr>
        <p:xfrm>
          <a:off x="2514600" y="1752600"/>
          <a:ext cx="4483100" cy="660400"/>
        </p:xfrm>
        <a:graphic>
          <a:graphicData uri="http://schemas.openxmlformats.org/presentationml/2006/ole">
            <mc:AlternateContent xmlns:mc="http://schemas.openxmlformats.org/markup-compatibility/2006">
              <mc:Choice xmlns:v="urn:schemas-microsoft-com:vml" Requires="v">
                <p:oleObj spid="_x0000_s13398" name="Equation" r:id="rId5" imgW="4483100" imgH="660400" progId="Equation.DSMT4">
                  <p:embed/>
                </p:oleObj>
              </mc:Choice>
              <mc:Fallback>
                <p:oleObj name="Equation" r:id="rId5" imgW="4483100" imgH="6604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1752600"/>
                        <a:ext cx="4483100" cy="660400"/>
                      </a:xfrm>
                      <a:prstGeom prst="rect">
                        <a:avLst/>
                      </a:prstGeom>
                      <a:solidFill>
                        <a:srgbClr val="FFCC66"/>
                      </a:solidFill>
                      <a:ln>
                        <a:noFill/>
                      </a:ln>
                    </p:spPr>
                  </p:pic>
                </p:oleObj>
              </mc:Fallback>
            </mc:AlternateContent>
          </a:graphicData>
        </a:graphic>
      </p:graphicFrame>
      <p:graphicFrame>
        <p:nvGraphicFramePr>
          <p:cNvPr id="13321" name="Object 3"/>
          <p:cNvGraphicFramePr>
            <a:graphicFrameLocks noChangeAspect="1"/>
          </p:cNvGraphicFramePr>
          <p:nvPr/>
        </p:nvGraphicFramePr>
        <p:xfrm>
          <a:off x="2895600" y="1143000"/>
          <a:ext cx="2133600" cy="468313"/>
        </p:xfrm>
        <a:graphic>
          <a:graphicData uri="http://schemas.openxmlformats.org/presentationml/2006/ole">
            <mc:AlternateContent xmlns:mc="http://schemas.openxmlformats.org/markup-compatibility/2006">
              <mc:Choice xmlns:v="urn:schemas-microsoft-com:vml" Requires="v">
                <p:oleObj spid="_x0000_s13399" name="Equation" r:id="rId7" imgW="1040948" imgH="228501" progId="Equation.DSMT4">
                  <p:embed/>
                </p:oleObj>
              </mc:Choice>
              <mc:Fallback>
                <p:oleObj name="Equation" r:id="rId7" imgW="1040948" imgH="228501"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95600" y="1143000"/>
                        <a:ext cx="21336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2" name="Object 4"/>
          <p:cNvGraphicFramePr>
            <a:graphicFrameLocks noChangeAspect="1"/>
          </p:cNvGraphicFramePr>
          <p:nvPr>
            <p:extLst>
              <p:ext uri="{D42A27DB-BD31-4B8C-83A1-F6EECF244321}">
                <p14:modId xmlns:p14="http://schemas.microsoft.com/office/powerpoint/2010/main" val="1476936035"/>
              </p:ext>
            </p:extLst>
          </p:nvPr>
        </p:nvGraphicFramePr>
        <p:xfrm>
          <a:off x="609600" y="1905000"/>
          <a:ext cx="1571625" cy="457200"/>
        </p:xfrm>
        <a:graphic>
          <a:graphicData uri="http://schemas.openxmlformats.org/presentationml/2006/ole">
            <mc:AlternateContent xmlns:mc="http://schemas.openxmlformats.org/markup-compatibility/2006">
              <mc:Choice xmlns:v="urn:schemas-microsoft-com:vml" Requires="v">
                <p:oleObj spid="_x0000_s13400" name="Equation" r:id="rId9" imgW="698197" imgH="203112" progId="Equation.DSMT4">
                  <p:embed/>
                </p:oleObj>
              </mc:Choice>
              <mc:Fallback>
                <p:oleObj name="Equation" r:id="rId9" imgW="698197" imgH="203112"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 y="1905000"/>
                        <a:ext cx="1571625" cy="457200"/>
                      </a:xfrm>
                      <a:prstGeom prst="rect">
                        <a:avLst/>
                      </a:prstGeom>
                      <a:solidFill>
                        <a:srgbClr val="FFCC66"/>
                      </a:solidFill>
                      <a:ln>
                        <a:noFill/>
                      </a:ln>
                    </p:spPr>
                  </p:pic>
                </p:oleObj>
              </mc:Fallback>
            </mc:AlternateContent>
          </a:graphicData>
        </a:graphic>
      </p:graphicFrame>
      <p:sp>
        <p:nvSpPr>
          <p:cNvPr id="13323" name="Rectangle 13"/>
          <p:cNvSpPr>
            <a:spLocks noChangeArrowheads="1"/>
          </p:cNvSpPr>
          <p:nvPr/>
        </p:nvSpPr>
        <p:spPr bwMode="auto">
          <a:xfrm>
            <a:off x="762000" y="2828925"/>
            <a:ext cx="7010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a:latin typeface="Arial" charset="0"/>
              </a:rPr>
              <a:t>Calculating the test statistic </a:t>
            </a:r>
            <a:r>
              <a:rPr lang="en-US" altLang="en-US" sz="2400" b="0" i="1">
                <a:latin typeface="Arial" charset="0"/>
              </a:rPr>
              <a:t>z</a:t>
            </a:r>
            <a:r>
              <a:rPr lang="en-US" altLang="en-US" sz="2400" b="0">
                <a:latin typeface="Arial" charset="0"/>
              </a:rPr>
              <a:t>:</a:t>
            </a:r>
          </a:p>
        </p:txBody>
      </p:sp>
      <p:graphicFrame>
        <p:nvGraphicFramePr>
          <p:cNvPr id="13324" name="Object 5"/>
          <p:cNvGraphicFramePr>
            <a:graphicFrameLocks noChangeAspect="1"/>
          </p:cNvGraphicFramePr>
          <p:nvPr>
            <p:extLst>
              <p:ext uri="{D42A27DB-BD31-4B8C-83A1-F6EECF244321}">
                <p14:modId xmlns:p14="http://schemas.microsoft.com/office/powerpoint/2010/main" val="3226979700"/>
              </p:ext>
            </p:extLst>
          </p:nvPr>
        </p:nvGraphicFramePr>
        <p:xfrm>
          <a:off x="1600200" y="3429000"/>
          <a:ext cx="5381625" cy="1123950"/>
        </p:xfrm>
        <a:graphic>
          <a:graphicData uri="http://schemas.openxmlformats.org/presentationml/2006/ole">
            <mc:AlternateContent xmlns:mc="http://schemas.openxmlformats.org/markup-compatibility/2006">
              <mc:Choice xmlns:v="urn:schemas-microsoft-com:vml" Requires="v">
                <p:oleObj spid="_x0000_s13401" name="Equation" r:id="rId11" imgW="2006600" imgH="419100" progId="Equation.DSMT4">
                  <p:embed/>
                </p:oleObj>
              </mc:Choice>
              <mc:Fallback>
                <p:oleObj name="Equation" r:id="rId11" imgW="2006600" imgH="41910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00200" y="3429000"/>
                        <a:ext cx="5381625" cy="1123950"/>
                      </a:xfrm>
                      <a:prstGeom prst="rect">
                        <a:avLst/>
                      </a:prstGeom>
                      <a:solidFill>
                        <a:srgbClr val="FFCC66"/>
                      </a:solidFill>
                      <a:ln>
                        <a:noFill/>
                      </a:ln>
                    </p:spPr>
                  </p:pic>
                </p:oleObj>
              </mc:Fallback>
            </mc:AlternateContent>
          </a:graphicData>
        </a:graphic>
      </p:graphicFrame>
      <p:sp>
        <p:nvSpPr>
          <p:cNvPr id="13325" name="TextBox 15"/>
          <p:cNvSpPr txBox="1">
            <a:spLocks noChangeArrowheads="1"/>
          </p:cNvSpPr>
          <p:nvPr/>
        </p:nvSpPr>
        <p:spPr bwMode="auto">
          <a:xfrm>
            <a:off x="1066800" y="4724400"/>
            <a:ext cx="6858000" cy="83026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a:latin typeface="Arial" charset="0"/>
              </a:rPr>
              <a:t>To evaluate the value of the test statistic, we calculate the corresponding P-value</a:t>
            </a:r>
          </a:p>
        </p:txBody>
      </p:sp>
    </p:spTree>
    <p:custDataLst>
      <p:tags r:id="rId2"/>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4339"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4340"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14341"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1D4AAB33-CB92-4332-9291-6DD55ACD274A}" type="slidenum">
              <a:rPr lang="en-US" altLang="en-US" sz="1000">
                <a:latin typeface="Verdana" pitchFamily="34" charset="0"/>
              </a:rPr>
              <a:pPr algn="r" eaLnBrk="1" hangingPunct="1">
                <a:spcBef>
                  <a:spcPct val="0"/>
                </a:spcBef>
                <a:buClrTx/>
                <a:buSzTx/>
                <a:buFontTx/>
                <a:buNone/>
              </a:pPr>
              <a:t>20</a:t>
            </a:fld>
            <a:endParaRPr lang="en-US" altLang="en-US" sz="1000">
              <a:latin typeface="Verdana" pitchFamily="34" charset="0"/>
            </a:endParaRPr>
          </a:p>
        </p:txBody>
      </p:sp>
      <p:sp>
        <p:nvSpPr>
          <p:cNvPr id="14342" name="Text Box 6"/>
          <p:cNvSpPr txBox="1">
            <a:spLocks noChangeArrowheads="1"/>
          </p:cNvSpPr>
          <p:nvPr/>
        </p:nvSpPr>
        <p:spPr bwMode="auto">
          <a:xfrm>
            <a:off x="304800" y="152400"/>
            <a:ext cx="8610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ctr" eaLnBrk="1" hangingPunct="1">
              <a:spcBef>
                <a:spcPct val="0"/>
              </a:spcBef>
              <a:buClrTx/>
              <a:buSzTx/>
              <a:buFontTx/>
              <a:buNone/>
            </a:pPr>
            <a:r>
              <a:rPr lang="en-US" altLang="en-US" sz="2800">
                <a:solidFill>
                  <a:srgbClr val="0033CC"/>
                </a:solidFill>
                <a:latin typeface="Arial" charset="0"/>
              </a:rPr>
              <a:t>P-Values: Weighing the evidence in the data against H</a:t>
            </a:r>
            <a:r>
              <a:rPr lang="en-US" altLang="en-US" sz="2800" baseline="-25000">
                <a:solidFill>
                  <a:srgbClr val="0033CC"/>
                </a:solidFill>
                <a:latin typeface="Arial" charset="0"/>
              </a:rPr>
              <a:t>0</a:t>
            </a:r>
            <a:endParaRPr lang="en-US" altLang="en-US" sz="2800">
              <a:solidFill>
                <a:srgbClr val="0033CC"/>
              </a:solidFill>
              <a:latin typeface="Arial" charset="0"/>
            </a:endParaRPr>
          </a:p>
        </p:txBody>
      </p:sp>
      <p:sp>
        <p:nvSpPr>
          <p:cNvPr id="14343" name="Text Box 7"/>
          <p:cNvSpPr txBox="1">
            <a:spLocks noChangeArrowheads="1"/>
          </p:cNvSpPr>
          <p:nvPr/>
        </p:nvSpPr>
        <p:spPr bwMode="auto">
          <a:xfrm>
            <a:off x="381000" y="1066800"/>
            <a:ext cx="8458200" cy="3416300"/>
          </a:xfrm>
          <a:prstGeom prst="rect">
            <a:avLst/>
          </a:prstGeom>
          <a:solidFill>
            <a:srgbClr val="FFCC66"/>
          </a:solidFill>
          <a:ln>
            <a:noFill/>
          </a:ln>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dirty="0">
                <a:latin typeface="Arial" charset="0"/>
              </a:rPr>
              <a:t>The </a:t>
            </a:r>
            <a:r>
              <a:rPr lang="en-US" altLang="en-US" sz="2400" b="0" i="1" dirty="0">
                <a:solidFill>
                  <a:srgbClr val="0000FF"/>
                </a:solidFill>
                <a:latin typeface="Arial" charset="0"/>
              </a:rPr>
              <a:t>P-value</a:t>
            </a:r>
            <a:r>
              <a:rPr lang="en-US" altLang="en-US" sz="2400" b="0" dirty="0">
                <a:latin typeface="Arial" charset="0"/>
              </a:rPr>
              <a:t> is the probability, calculated assuming the null hypothesis </a:t>
            </a:r>
            <a:r>
              <a:rPr lang="en-US" altLang="en-US" sz="2400" b="0" i="1" dirty="0">
                <a:latin typeface="Arial" charset="0"/>
              </a:rPr>
              <a:t>H</a:t>
            </a:r>
            <a:r>
              <a:rPr lang="en-US" altLang="en-US" sz="2400" b="0" i="1" baseline="-25000" dirty="0">
                <a:latin typeface="Arial" charset="0"/>
              </a:rPr>
              <a:t>0</a:t>
            </a:r>
            <a:r>
              <a:rPr lang="en-US" altLang="en-US" sz="2400" b="0" i="1" dirty="0">
                <a:latin typeface="Arial" charset="0"/>
              </a:rPr>
              <a:t> </a:t>
            </a:r>
            <a:r>
              <a:rPr lang="en-US" altLang="en-US" sz="2400" b="0" dirty="0">
                <a:latin typeface="Arial" charset="0"/>
              </a:rPr>
              <a:t>is true,</a:t>
            </a:r>
            <a:r>
              <a:rPr lang="en-US" altLang="en-US" sz="2400" b="0" i="1" dirty="0">
                <a:latin typeface="Arial" charset="0"/>
              </a:rPr>
              <a:t> </a:t>
            </a:r>
            <a:r>
              <a:rPr lang="en-US" altLang="en-US" sz="2400" b="0" dirty="0">
                <a:latin typeface="Arial" charset="0"/>
              </a:rPr>
              <a:t>of observing a value of the test statistic more extreme than the value we actually observed.</a:t>
            </a:r>
          </a:p>
          <a:p>
            <a:pPr eaLnBrk="1" hangingPunct="1">
              <a:spcBef>
                <a:spcPct val="0"/>
              </a:spcBef>
              <a:buClrTx/>
              <a:buSzTx/>
              <a:buFontTx/>
              <a:buNone/>
            </a:pPr>
            <a:endParaRPr lang="en-US" altLang="en-US" sz="2400" b="0" dirty="0">
              <a:latin typeface="Arial" charset="0"/>
            </a:endParaRPr>
          </a:p>
          <a:p>
            <a:pPr eaLnBrk="1" hangingPunct="1">
              <a:spcBef>
                <a:spcPct val="0"/>
              </a:spcBef>
              <a:buClrTx/>
              <a:buSzTx/>
              <a:buFontTx/>
              <a:buNone/>
            </a:pPr>
            <a:r>
              <a:rPr lang="en-US" altLang="en-US" sz="2400" b="0" dirty="0">
                <a:latin typeface="Arial" charset="0"/>
              </a:rPr>
              <a:t>The calculation of the P-value depends on whether the hypothesis test is </a:t>
            </a:r>
            <a:r>
              <a:rPr lang="en-US" altLang="en-US" sz="2400" b="0" dirty="0">
                <a:solidFill>
                  <a:srgbClr val="FF0000"/>
                </a:solidFill>
                <a:latin typeface="Arial" charset="0"/>
              </a:rPr>
              <a:t>1-tailed</a:t>
            </a:r>
          </a:p>
          <a:p>
            <a:pPr eaLnBrk="1" hangingPunct="1">
              <a:spcBef>
                <a:spcPct val="0"/>
              </a:spcBef>
              <a:buClrTx/>
              <a:buSzTx/>
              <a:buFontTx/>
              <a:buNone/>
            </a:pPr>
            <a:r>
              <a:rPr lang="en-US" altLang="en-US" sz="2400" b="0" dirty="0">
                <a:latin typeface="Arial" charset="0"/>
              </a:rPr>
              <a:t>(that is, the alternative hypothesis is </a:t>
            </a:r>
            <a:r>
              <a:rPr lang="en-US" altLang="en-US" sz="2400" b="0" i="1" dirty="0">
                <a:latin typeface="Arial" charset="0"/>
              </a:rPr>
              <a:t>H</a:t>
            </a:r>
            <a:r>
              <a:rPr lang="en-US" altLang="en-US" sz="2400" b="0" i="1" baseline="-25000" dirty="0">
                <a:latin typeface="Arial" charset="0"/>
              </a:rPr>
              <a:t>A</a:t>
            </a:r>
            <a:r>
              <a:rPr lang="en-US" altLang="en-US" sz="2400" b="0" i="1" dirty="0">
                <a:latin typeface="Arial" charset="0"/>
              </a:rPr>
              <a:t> </a:t>
            </a:r>
            <a:r>
              <a:rPr lang="en-US" altLang="en-US" sz="2400" b="0" dirty="0">
                <a:latin typeface="Arial" charset="0"/>
              </a:rPr>
              <a:t>:p &lt; p</a:t>
            </a:r>
            <a:r>
              <a:rPr lang="en-US" altLang="en-US" sz="2400" b="0" baseline="-25000" dirty="0">
                <a:latin typeface="Arial" charset="0"/>
              </a:rPr>
              <a:t>0</a:t>
            </a:r>
            <a:r>
              <a:rPr lang="en-US" altLang="en-US" sz="2400" b="0" dirty="0">
                <a:latin typeface="Arial" charset="0"/>
              </a:rPr>
              <a:t> or </a:t>
            </a:r>
            <a:r>
              <a:rPr lang="en-US" altLang="en-US" sz="2400" b="0" i="1" dirty="0">
                <a:latin typeface="Arial" charset="0"/>
              </a:rPr>
              <a:t>H</a:t>
            </a:r>
            <a:r>
              <a:rPr lang="en-US" altLang="en-US" sz="2400" b="0" i="1" baseline="-25000" dirty="0">
                <a:latin typeface="Arial" charset="0"/>
              </a:rPr>
              <a:t>A</a:t>
            </a:r>
            <a:r>
              <a:rPr lang="en-US" altLang="en-US" sz="2400" b="0" i="1" dirty="0">
                <a:latin typeface="Arial" charset="0"/>
              </a:rPr>
              <a:t> </a:t>
            </a:r>
            <a:r>
              <a:rPr lang="en-US" altLang="en-US" sz="2400" b="0" dirty="0">
                <a:latin typeface="Arial" charset="0"/>
              </a:rPr>
              <a:t>:p &gt; p</a:t>
            </a:r>
            <a:r>
              <a:rPr lang="en-US" altLang="en-US" sz="2400" b="0" baseline="-25000" dirty="0">
                <a:latin typeface="Arial" charset="0"/>
              </a:rPr>
              <a:t>0</a:t>
            </a:r>
            <a:r>
              <a:rPr lang="en-US" altLang="en-US" sz="2400" b="0" dirty="0">
                <a:latin typeface="Arial" charset="0"/>
              </a:rPr>
              <a:t>)</a:t>
            </a:r>
          </a:p>
          <a:p>
            <a:pPr eaLnBrk="1" hangingPunct="1">
              <a:spcBef>
                <a:spcPct val="0"/>
              </a:spcBef>
              <a:buClrTx/>
              <a:buSzTx/>
              <a:buFontTx/>
              <a:buNone/>
            </a:pPr>
            <a:r>
              <a:rPr lang="en-US" altLang="en-US" sz="2400" b="0" dirty="0">
                <a:latin typeface="Arial" charset="0"/>
              </a:rPr>
              <a:t>or </a:t>
            </a:r>
            <a:r>
              <a:rPr lang="en-US" altLang="en-US" sz="2400" b="0" dirty="0">
                <a:solidFill>
                  <a:srgbClr val="FF0000"/>
                </a:solidFill>
                <a:latin typeface="Arial" charset="0"/>
              </a:rPr>
              <a:t>2-tailed</a:t>
            </a:r>
          </a:p>
          <a:p>
            <a:pPr eaLnBrk="1" hangingPunct="1">
              <a:spcBef>
                <a:spcPct val="0"/>
              </a:spcBef>
              <a:buClrTx/>
              <a:buSzTx/>
              <a:buFontTx/>
              <a:buNone/>
            </a:pPr>
            <a:r>
              <a:rPr lang="en-US" altLang="en-US" sz="2400" b="0" dirty="0">
                <a:latin typeface="Arial" charset="0"/>
              </a:rPr>
              <a:t>(that is, the alternative hypothesis is </a:t>
            </a:r>
            <a:r>
              <a:rPr lang="en-US" altLang="en-US" sz="2400" b="0" i="1" dirty="0">
                <a:latin typeface="Arial" charset="0"/>
              </a:rPr>
              <a:t>H</a:t>
            </a:r>
            <a:r>
              <a:rPr lang="en-US" altLang="en-US" sz="2400" b="0" i="1" baseline="-25000" dirty="0">
                <a:latin typeface="Arial" charset="0"/>
              </a:rPr>
              <a:t>A</a:t>
            </a:r>
            <a:r>
              <a:rPr lang="en-US" altLang="en-US" sz="2400" b="0" i="1" dirty="0">
                <a:latin typeface="Arial" charset="0"/>
              </a:rPr>
              <a:t> </a:t>
            </a:r>
            <a:r>
              <a:rPr lang="en-US" altLang="en-US" sz="2400" b="0" dirty="0">
                <a:latin typeface="Arial" charset="0"/>
              </a:rPr>
              <a:t>:p ≠ p</a:t>
            </a:r>
            <a:r>
              <a:rPr lang="en-US" altLang="en-US" sz="2400" b="0" baseline="-25000" dirty="0">
                <a:latin typeface="Arial" charset="0"/>
              </a:rPr>
              <a:t>0</a:t>
            </a:r>
            <a:r>
              <a:rPr lang="en-US" altLang="en-US" sz="2400" b="0" dirty="0">
                <a:latin typeface="Arial" charset="0"/>
              </a:rPr>
              <a:t>).</a:t>
            </a:r>
          </a:p>
        </p:txBody>
      </p:sp>
    </p:spTree>
    <p:custDataLst>
      <p:tags r:id="rId1"/>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5363"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5364"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15365"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BEAFD937-CD77-4CE2-9B68-7A92EADCC098}" type="slidenum">
              <a:rPr lang="en-US" altLang="en-US" sz="1000">
                <a:latin typeface="Verdana" pitchFamily="34" charset="0"/>
              </a:rPr>
              <a:pPr algn="r" eaLnBrk="1" hangingPunct="1">
                <a:spcBef>
                  <a:spcPct val="0"/>
                </a:spcBef>
                <a:buClrTx/>
                <a:buSzTx/>
                <a:buFontTx/>
                <a:buNone/>
              </a:pPr>
              <a:t>21</a:t>
            </a:fld>
            <a:endParaRPr lang="en-US" altLang="en-US" sz="1000">
              <a:latin typeface="Verdana" pitchFamily="34" charset="0"/>
            </a:endParaRPr>
          </a:p>
        </p:txBody>
      </p:sp>
      <p:sp>
        <p:nvSpPr>
          <p:cNvPr id="15366" name="Text Box 6"/>
          <p:cNvSpPr txBox="1">
            <a:spLocks noChangeArrowheads="1"/>
          </p:cNvSpPr>
          <p:nvPr/>
        </p:nvSpPr>
        <p:spPr bwMode="auto">
          <a:xfrm>
            <a:off x="152400" y="152400"/>
            <a:ext cx="1905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3200" dirty="0">
                <a:solidFill>
                  <a:srgbClr val="0033CC"/>
                </a:solidFill>
                <a:latin typeface="Arial" charset="0"/>
              </a:rPr>
              <a:t>P-Values</a:t>
            </a:r>
          </a:p>
        </p:txBody>
      </p:sp>
      <p:pic>
        <p:nvPicPr>
          <p:cNvPr id="1536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066800"/>
            <a:ext cx="312102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381000" y="1295400"/>
            <a:ext cx="5181600" cy="461665"/>
          </a:xfrm>
          <a:prstGeom prst="rect">
            <a:avLst/>
          </a:prstGeom>
          <a:solidFill>
            <a:srgbClr val="FFCC66"/>
          </a:solidFill>
        </p:spPr>
        <p:txBody>
          <a:bodyPr wrap="square">
            <a:spAutoFit/>
          </a:bodyPr>
          <a:lstStyle/>
          <a:p>
            <a:pPr>
              <a:defRPr/>
            </a:pPr>
            <a:r>
              <a:rPr lang="en-US" dirty="0">
                <a:latin typeface="Comic Sans MS" panose="030F0702030302020204" pitchFamily="66" charset="0"/>
              </a:rPr>
              <a:t>If </a:t>
            </a:r>
            <a:r>
              <a:rPr lang="en-US" i="1" dirty="0">
                <a:latin typeface="Comic Sans MS" panose="030F0702030302020204" pitchFamily="66" charset="0"/>
              </a:rPr>
              <a:t>H</a:t>
            </a:r>
            <a:r>
              <a:rPr lang="en-US" i="1" baseline="-25000" dirty="0">
                <a:latin typeface="Comic Sans MS" panose="030F0702030302020204" pitchFamily="66" charset="0"/>
              </a:rPr>
              <a:t>A</a:t>
            </a:r>
            <a:r>
              <a:rPr lang="en-US" dirty="0">
                <a:latin typeface="Comic Sans MS" panose="030F0702030302020204" pitchFamily="66" charset="0"/>
              </a:rPr>
              <a:t>: p &gt; p</a:t>
            </a:r>
            <a:r>
              <a:rPr lang="en-US" baseline="-25000" dirty="0">
                <a:latin typeface="Comic Sans MS" panose="030F0702030302020204" pitchFamily="66" charset="0"/>
              </a:rPr>
              <a:t>0</a:t>
            </a:r>
            <a:r>
              <a:rPr lang="en-US" dirty="0">
                <a:latin typeface="Comic Sans MS" panose="030F0702030302020204" pitchFamily="66" charset="0"/>
              </a:rPr>
              <a:t>, then P-value=P(z &gt; z</a:t>
            </a:r>
            <a:r>
              <a:rPr lang="en-US" baseline="-25000" dirty="0">
                <a:latin typeface="Comic Sans MS" panose="030F0702030302020204" pitchFamily="66" charset="0"/>
              </a:rPr>
              <a:t>0</a:t>
            </a:r>
            <a:r>
              <a:rPr lang="en-US" dirty="0">
                <a:latin typeface="Comic Sans MS" panose="030F0702030302020204" pitchFamily="66" charset="0"/>
              </a:rPr>
              <a:t>) </a:t>
            </a:r>
          </a:p>
        </p:txBody>
      </p:sp>
      <p:sp>
        <p:nvSpPr>
          <p:cNvPr id="15369" name="TextBox 9"/>
          <p:cNvSpPr txBox="1">
            <a:spLocks noChangeArrowheads="1"/>
          </p:cNvSpPr>
          <p:nvPr/>
        </p:nvSpPr>
        <p:spPr bwMode="auto">
          <a:xfrm>
            <a:off x="2057400" y="211286"/>
            <a:ext cx="6708775" cy="461665"/>
          </a:xfrm>
          <a:prstGeom prst="rect">
            <a:avLst/>
          </a:prstGeom>
          <a:solidFill>
            <a:srgbClr val="FFCC66"/>
          </a:solidFill>
          <a:ln>
            <a:noFill/>
          </a:ln>
        </p:spPr>
        <p:txBody>
          <a:bodyPr wrap="square">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dirty="0">
                <a:latin typeface="Comic Sans MS" panose="030F0702030302020204" pitchFamily="66" charset="0"/>
              </a:rPr>
              <a:t>Assume the value of the test statistic z is z</a:t>
            </a:r>
            <a:r>
              <a:rPr lang="en-US" altLang="en-US" sz="2400" b="0" baseline="-25000" dirty="0">
                <a:latin typeface="Comic Sans MS" panose="030F0702030302020204" pitchFamily="66" charset="0"/>
              </a:rPr>
              <a:t>0</a:t>
            </a:r>
            <a:endParaRPr lang="en-US" altLang="en-US" sz="2400" b="0" dirty="0">
              <a:latin typeface="Comic Sans MS" panose="030F0702030302020204" pitchFamily="66" charset="0"/>
            </a:endParaRPr>
          </a:p>
        </p:txBody>
      </p:sp>
      <p:sp>
        <p:nvSpPr>
          <p:cNvPr id="11" name="TextBox 10"/>
          <p:cNvSpPr txBox="1"/>
          <p:nvPr/>
        </p:nvSpPr>
        <p:spPr>
          <a:xfrm>
            <a:off x="381000" y="2971800"/>
            <a:ext cx="5181600" cy="461665"/>
          </a:xfrm>
          <a:prstGeom prst="rect">
            <a:avLst/>
          </a:prstGeom>
          <a:solidFill>
            <a:srgbClr val="FFCC66"/>
          </a:solidFill>
        </p:spPr>
        <p:txBody>
          <a:bodyPr wrap="square">
            <a:spAutoFit/>
          </a:bodyPr>
          <a:lstStyle/>
          <a:p>
            <a:pPr>
              <a:defRPr/>
            </a:pPr>
            <a:r>
              <a:rPr lang="en-US" dirty="0">
                <a:latin typeface="Comic Sans MS" panose="030F0702030302020204" pitchFamily="66" charset="0"/>
              </a:rPr>
              <a:t>If </a:t>
            </a:r>
            <a:r>
              <a:rPr lang="en-US" i="1" dirty="0">
                <a:latin typeface="Comic Sans MS" panose="030F0702030302020204" pitchFamily="66" charset="0"/>
              </a:rPr>
              <a:t>H</a:t>
            </a:r>
            <a:r>
              <a:rPr lang="en-US" i="1" baseline="-25000" dirty="0">
                <a:latin typeface="Comic Sans MS" panose="030F0702030302020204" pitchFamily="66" charset="0"/>
              </a:rPr>
              <a:t>A</a:t>
            </a:r>
            <a:r>
              <a:rPr lang="en-US" dirty="0">
                <a:latin typeface="Comic Sans MS" panose="030F0702030302020204" pitchFamily="66" charset="0"/>
              </a:rPr>
              <a:t>: p &lt; p</a:t>
            </a:r>
            <a:r>
              <a:rPr lang="en-US" baseline="-25000" dirty="0">
                <a:latin typeface="Comic Sans MS" panose="030F0702030302020204" pitchFamily="66" charset="0"/>
              </a:rPr>
              <a:t>0</a:t>
            </a:r>
            <a:r>
              <a:rPr lang="en-US" dirty="0">
                <a:latin typeface="Comic Sans MS" panose="030F0702030302020204" pitchFamily="66" charset="0"/>
              </a:rPr>
              <a:t>, then P-value=P(z &lt; z</a:t>
            </a:r>
            <a:r>
              <a:rPr lang="en-US" baseline="-25000" dirty="0">
                <a:latin typeface="Comic Sans MS" panose="030F0702030302020204" pitchFamily="66" charset="0"/>
              </a:rPr>
              <a:t>0</a:t>
            </a:r>
            <a:r>
              <a:rPr lang="en-US" dirty="0">
                <a:latin typeface="Comic Sans MS" panose="030F0702030302020204" pitchFamily="66" charset="0"/>
              </a:rPr>
              <a:t>)</a:t>
            </a:r>
          </a:p>
        </p:txBody>
      </p:sp>
      <p:pic>
        <p:nvPicPr>
          <p:cNvPr id="1537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0" y="2743200"/>
            <a:ext cx="30511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4343400"/>
            <a:ext cx="2868613"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p:cNvSpPr txBox="1"/>
          <p:nvPr/>
        </p:nvSpPr>
        <p:spPr>
          <a:xfrm>
            <a:off x="152400" y="4648200"/>
            <a:ext cx="5562600" cy="461665"/>
          </a:xfrm>
          <a:prstGeom prst="rect">
            <a:avLst/>
          </a:prstGeom>
          <a:solidFill>
            <a:srgbClr val="FFCC66"/>
          </a:solidFill>
        </p:spPr>
        <p:txBody>
          <a:bodyPr wrap="square">
            <a:spAutoFit/>
          </a:bodyPr>
          <a:lstStyle/>
          <a:p>
            <a:pPr>
              <a:defRPr/>
            </a:pPr>
            <a:r>
              <a:rPr lang="en-US" dirty="0">
                <a:latin typeface="Comic Sans MS" panose="030F0702030302020204" pitchFamily="66" charset="0"/>
              </a:rPr>
              <a:t>If </a:t>
            </a:r>
            <a:r>
              <a:rPr lang="en-US" i="1" dirty="0">
                <a:latin typeface="Comic Sans MS" panose="030F0702030302020204" pitchFamily="66" charset="0"/>
              </a:rPr>
              <a:t>H</a:t>
            </a:r>
            <a:r>
              <a:rPr lang="en-US" i="1" baseline="-25000" dirty="0">
                <a:latin typeface="Comic Sans MS" panose="030F0702030302020204" pitchFamily="66" charset="0"/>
              </a:rPr>
              <a:t>A</a:t>
            </a:r>
            <a:r>
              <a:rPr lang="en-US" dirty="0">
                <a:latin typeface="Comic Sans MS" panose="030F0702030302020204" pitchFamily="66" charset="0"/>
              </a:rPr>
              <a:t>: p ≠ p</a:t>
            </a:r>
            <a:r>
              <a:rPr lang="en-US" baseline="-25000" dirty="0">
                <a:latin typeface="Comic Sans MS" panose="030F0702030302020204" pitchFamily="66" charset="0"/>
              </a:rPr>
              <a:t>0</a:t>
            </a:r>
            <a:r>
              <a:rPr lang="en-US" dirty="0">
                <a:latin typeface="Comic Sans MS" panose="030F0702030302020204" pitchFamily="66" charset="0"/>
              </a:rPr>
              <a:t>, then P-value=2P(z </a:t>
            </a:r>
            <a:r>
              <a:rPr lang="en-US" dirty="0" smtClean="0">
                <a:latin typeface="Comic Sans MS" panose="030F0702030302020204" pitchFamily="66" charset="0"/>
              </a:rPr>
              <a:t>&gt;|</a:t>
            </a:r>
            <a:r>
              <a:rPr lang="en-US" dirty="0">
                <a:latin typeface="Comic Sans MS" panose="030F0702030302020204" pitchFamily="66" charset="0"/>
              </a:rPr>
              <a:t>z</a:t>
            </a:r>
            <a:r>
              <a:rPr lang="en-US" baseline="-25000" dirty="0">
                <a:latin typeface="Comic Sans MS" panose="030F0702030302020204" pitchFamily="66" charset="0"/>
              </a:rPr>
              <a:t>0</a:t>
            </a:r>
            <a:r>
              <a:rPr lang="en-US" dirty="0">
                <a:latin typeface="Comic Sans MS" panose="030F0702030302020204" pitchFamily="66" charset="0"/>
              </a:rPr>
              <a:t>|)</a:t>
            </a:r>
          </a:p>
        </p:txBody>
      </p:sp>
    </p:spTree>
    <p:custDataLst>
      <p:tags r:id="rId1"/>
    </p:custData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6387"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6388"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16389"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F58DDB74-F4F5-4380-B96B-FE6FD0DDE04B}" type="slidenum">
              <a:rPr lang="en-US" altLang="en-US" sz="1000">
                <a:latin typeface="Verdana" pitchFamily="34" charset="0"/>
              </a:rPr>
              <a:pPr algn="r" eaLnBrk="1" hangingPunct="1">
                <a:spcBef>
                  <a:spcPct val="0"/>
                </a:spcBef>
                <a:buClrTx/>
                <a:buSzTx/>
                <a:buFontTx/>
                <a:buNone/>
              </a:pPr>
              <a:t>22</a:t>
            </a:fld>
            <a:endParaRPr lang="en-US" altLang="en-US" sz="1000">
              <a:latin typeface="Verdana" pitchFamily="34" charset="0"/>
            </a:endParaRPr>
          </a:p>
        </p:txBody>
      </p:sp>
      <p:sp>
        <p:nvSpPr>
          <p:cNvPr id="16390" name="Text Box 6"/>
          <p:cNvSpPr txBox="1">
            <a:spLocks noChangeArrowheads="1"/>
          </p:cNvSpPr>
          <p:nvPr/>
        </p:nvSpPr>
        <p:spPr bwMode="auto">
          <a:xfrm>
            <a:off x="304800" y="152400"/>
            <a:ext cx="861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3200">
                <a:solidFill>
                  <a:srgbClr val="0033CC"/>
                </a:solidFill>
                <a:latin typeface="Arial" charset="0"/>
              </a:rPr>
              <a:t>Interpreting P-Values</a:t>
            </a:r>
          </a:p>
        </p:txBody>
      </p:sp>
      <p:sp>
        <p:nvSpPr>
          <p:cNvPr id="16391" name="Text Box 7"/>
          <p:cNvSpPr txBox="1">
            <a:spLocks noChangeArrowheads="1"/>
          </p:cNvSpPr>
          <p:nvPr/>
        </p:nvSpPr>
        <p:spPr bwMode="auto">
          <a:xfrm>
            <a:off x="381000" y="762000"/>
            <a:ext cx="8458200" cy="5016500"/>
          </a:xfrm>
          <a:prstGeom prst="rect">
            <a:avLst/>
          </a:prstGeom>
          <a:solidFill>
            <a:srgbClr val="FFCC66"/>
          </a:solidFill>
          <a:ln>
            <a:noFill/>
          </a:ln>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000" b="0" dirty="0">
                <a:latin typeface="Arial" charset="0"/>
              </a:rPr>
              <a:t>The </a:t>
            </a:r>
            <a:r>
              <a:rPr lang="en-US" altLang="en-US" sz="2000" b="0" i="1" dirty="0">
                <a:solidFill>
                  <a:srgbClr val="0000FF"/>
                </a:solidFill>
                <a:latin typeface="Arial" charset="0"/>
              </a:rPr>
              <a:t>P-value</a:t>
            </a:r>
            <a:r>
              <a:rPr lang="en-US" altLang="en-US" sz="2000" b="0" dirty="0">
                <a:latin typeface="Arial" charset="0"/>
              </a:rPr>
              <a:t> is the probability, calculated assuming the null </a:t>
            </a:r>
            <a:r>
              <a:rPr lang="en-US" altLang="en-US" sz="2000" b="0" dirty="0" err="1">
                <a:latin typeface="Arial" charset="0"/>
              </a:rPr>
              <a:t>hypotheis</a:t>
            </a:r>
            <a:r>
              <a:rPr lang="en-US" altLang="en-US" sz="2000" b="0" dirty="0">
                <a:latin typeface="Arial" charset="0"/>
              </a:rPr>
              <a:t> </a:t>
            </a:r>
            <a:r>
              <a:rPr lang="en-US" altLang="en-US" sz="2000" b="0" i="1" dirty="0">
                <a:latin typeface="Arial" charset="0"/>
              </a:rPr>
              <a:t>H</a:t>
            </a:r>
            <a:r>
              <a:rPr lang="en-US" altLang="en-US" sz="2000" b="0" i="1" baseline="-25000" dirty="0">
                <a:latin typeface="Arial" charset="0"/>
              </a:rPr>
              <a:t>0</a:t>
            </a:r>
            <a:r>
              <a:rPr lang="en-US" altLang="en-US" sz="2000" b="0" i="1" dirty="0">
                <a:latin typeface="Arial" charset="0"/>
              </a:rPr>
              <a:t> </a:t>
            </a:r>
            <a:r>
              <a:rPr lang="en-US" altLang="en-US" sz="2000" b="0" dirty="0">
                <a:latin typeface="Arial" charset="0"/>
              </a:rPr>
              <a:t>is true,</a:t>
            </a:r>
            <a:r>
              <a:rPr lang="en-US" altLang="en-US" sz="2000" b="0" i="1" dirty="0">
                <a:latin typeface="Arial" charset="0"/>
              </a:rPr>
              <a:t> </a:t>
            </a:r>
            <a:r>
              <a:rPr lang="en-US" altLang="en-US" sz="2000" b="0" dirty="0">
                <a:latin typeface="Arial" charset="0"/>
              </a:rPr>
              <a:t>of observing a value of the test statistic more extreme than the value we actually observed.</a:t>
            </a:r>
          </a:p>
          <a:p>
            <a:pPr eaLnBrk="1" hangingPunct="1">
              <a:spcBef>
                <a:spcPct val="0"/>
              </a:spcBef>
              <a:buClrTx/>
              <a:buSzTx/>
              <a:buFontTx/>
              <a:buNone/>
            </a:pPr>
            <a:endParaRPr lang="en-US" altLang="en-US" sz="2000" b="0" dirty="0">
              <a:latin typeface="Arial" charset="0"/>
            </a:endParaRPr>
          </a:p>
          <a:p>
            <a:pPr eaLnBrk="1" hangingPunct="1">
              <a:spcBef>
                <a:spcPct val="0"/>
              </a:spcBef>
              <a:buClrTx/>
              <a:buSzTx/>
              <a:buFont typeface="Wingdings" pitchFamily="2" charset="2"/>
              <a:buChar char="§"/>
            </a:pPr>
            <a:r>
              <a:rPr lang="en-US" altLang="en-US" sz="2000" b="0" dirty="0">
                <a:solidFill>
                  <a:srgbClr val="FF0000"/>
                </a:solidFill>
                <a:latin typeface="Arial" charset="0"/>
              </a:rPr>
              <a:t>A small P-value is evidence against the null hypothesis H</a:t>
            </a:r>
            <a:r>
              <a:rPr lang="en-US" altLang="en-US" sz="2000" b="0" baseline="-25000" dirty="0">
                <a:solidFill>
                  <a:srgbClr val="FF0000"/>
                </a:solidFill>
                <a:latin typeface="Arial" charset="0"/>
              </a:rPr>
              <a:t>0</a:t>
            </a:r>
            <a:r>
              <a:rPr lang="en-US" altLang="en-US" sz="2000" b="0" dirty="0">
                <a:solidFill>
                  <a:srgbClr val="FF0000"/>
                </a:solidFill>
                <a:latin typeface="Arial" charset="0"/>
              </a:rPr>
              <a:t>. </a:t>
            </a:r>
          </a:p>
          <a:p>
            <a:pPr lvl="1" eaLnBrk="1" hangingPunct="1">
              <a:spcBef>
                <a:spcPct val="0"/>
              </a:spcBef>
              <a:buClrTx/>
              <a:buFont typeface="Wingdings" pitchFamily="2" charset="2"/>
              <a:buChar char="Ø"/>
            </a:pPr>
            <a:r>
              <a:rPr lang="en-US" altLang="en-US" sz="2000" b="0" dirty="0">
                <a:latin typeface="Arial" charset="0"/>
              </a:rPr>
              <a:t>A small P-value says that the data we have observed would be very unlikely if our null hypothesis were true. If you believe in data more than in assumptions, then when you see a low P-value you should reject the null hypothesis.</a:t>
            </a:r>
          </a:p>
          <a:p>
            <a:pPr eaLnBrk="1" hangingPunct="1">
              <a:spcBef>
                <a:spcPct val="0"/>
              </a:spcBef>
              <a:buClrTx/>
              <a:buSzTx/>
              <a:buFontTx/>
              <a:buNone/>
            </a:pPr>
            <a:endParaRPr lang="en-US" altLang="en-US" sz="2000" b="0" dirty="0">
              <a:latin typeface="Arial" charset="0"/>
            </a:endParaRPr>
          </a:p>
          <a:p>
            <a:pPr eaLnBrk="1" hangingPunct="1">
              <a:spcBef>
                <a:spcPct val="0"/>
              </a:spcBef>
              <a:buClrTx/>
              <a:buSzTx/>
              <a:buFont typeface="Wingdings" pitchFamily="2" charset="2"/>
              <a:buChar char="§"/>
            </a:pPr>
            <a:r>
              <a:rPr lang="en-US" altLang="en-US" sz="2000" b="0" dirty="0">
                <a:solidFill>
                  <a:srgbClr val="FF0000"/>
                </a:solidFill>
                <a:latin typeface="Arial" charset="0"/>
              </a:rPr>
              <a:t>A large P-value indicates that there is little or no evidence in the data against the null hypothesis H</a:t>
            </a:r>
            <a:r>
              <a:rPr lang="en-US" altLang="en-US" sz="2000" b="0" baseline="-25000" dirty="0">
                <a:solidFill>
                  <a:srgbClr val="FF0000"/>
                </a:solidFill>
                <a:latin typeface="Arial" charset="0"/>
              </a:rPr>
              <a:t>0</a:t>
            </a:r>
            <a:r>
              <a:rPr lang="en-US" altLang="en-US" sz="2000" b="0" dirty="0">
                <a:solidFill>
                  <a:srgbClr val="FF0000"/>
                </a:solidFill>
                <a:latin typeface="Arial" charset="0"/>
              </a:rPr>
              <a:t> .</a:t>
            </a:r>
          </a:p>
          <a:p>
            <a:pPr lvl="1" eaLnBrk="1" hangingPunct="1">
              <a:spcBef>
                <a:spcPct val="0"/>
              </a:spcBef>
              <a:buClrTx/>
              <a:buFont typeface="Wingdings" pitchFamily="2" charset="2"/>
              <a:buChar char="Ø"/>
            </a:pPr>
            <a:r>
              <a:rPr lang="en-US" altLang="en-US" sz="2000" b="0" dirty="0">
                <a:latin typeface="Arial" charset="0"/>
              </a:rPr>
              <a:t>When the P-value is </a:t>
            </a:r>
            <a:r>
              <a:rPr lang="en-US" altLang="en-US" sz="2000" b="0" i="1" dirty="0">
                <a:latin typeface="Arial" charset="0"/>
              </a:rPr>
              <a:t>high </a:t>
            </a:r>
            <a:r>
              <a:rPr lang="en-US" altLang="en-US" sz="2000" b="0" dirty="0">
                <a:latin typeface="Arial" charset="0"/>
              </a:rPr>
              <a:t>(or just not low </a:t>
            </a:r>
            <a:r>
              <a:rPr lang="en-US" altLang="en-US" sz="2000" b="0" i="1" dirty="0">
                <a:latin typeface="Arial" charset="0"/>
              </a:rPr>
              <a:t>enough</a:t>
            </a:r>
            <a:r>
              <a:rPr lang="en-US" altLang="en-US" sz="2000" b="0" dirty="0">
                <a:latin typeface="Arial" charset="0"/>
              </a:rPr>
              <a:t>), data are consistent with the model from the null hypothesis, and we have no reason to reject the null hypothesis. Formally, we say that we “fail to reject” the null hypothesis.</a:t>
            </a:r>
          </a:p>
        </p:txBody>
      </p:sp>
    </p:spTree>
    <p:custDataLst>
      <p:tags r:id="rId1"/>
    </p:custData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7411"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7412"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17413"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9BE3BC81-EE51-4AE5-9839-0EEAD2E5E117}" type="slidenum">
              <a:rPr lang="en-US" altLang="en-US" sz="1000">
                <a:latin typeface="Verdana" pitchFamily="34" charset="0"/>
              </a:rPr>
              <a:pPr algn="r" eaLnBrk="1" hangingPunct="1">
                <a:spcBef>
                  <a:spcPct val="0"/>
                </a:spcBef>
                <a:buClrTx/>
                <a:buSzTx/>
                <a:buFontTx/>
                <a:buNone/>
              </a:pPr>
              <a:t>23</a:t>
            </a:fld>
            <a:endParaRPr lang="en-US" altLang="en-US" sz="1000">
              <a:latin typeface="Verdana" pitchFamily="34" charset="0"/>
            </a:endParaRPr>
          </a:p>
        </p:txBody>
      </p:sp>
      <p:sp>
        <p:nvSpPr>
          <p:cNvPr id="17414" name="Text Box 6"/>
          <p:cNvSpPr txBox="1">
            <a:spLocks noChangeArrowheads="1"/>
          </p:cNvSpPr>
          <p:nvPr/>
        </p:nvSpPr>
        <p:spPr bwMode="auto">
          <a:xfrm>
            <a:off x="304800" y="152400"/>
            <a:ext cx="487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3200" dirty="0">
                <a:solidFill>
                  <a:srgbClr val="0033CC"/>
                </a:solidFill>
                <a:latin typeface="Arial" charset="0"/>
              </a:rPr>
              <a:t>Interpreting P-Values</a:t>
            </a:r>
          </a:p>
        </p:txBody>
      </p:sp>
      <p:sp>
        <p:nvSpPr>
          <p:cNvPr id="17415" name="Text Box 7"/>
          <p:cNvSpPr txBox="1">
            <a:spLocks noChangeArrowheads="1"/>
          </p:cNvSpPr>
          <p:nvPr/>
        </p:nvSpPr>
        <p:spPr bwMode="auto">
          <a:xfrm>
            <a:off x="304800" y="1598751"/>
            <a:ext cx="8458200" cy="1016000"/>
          </a:xfrm>
          <a:prstGeom prst="rect">
            <a:avLst/>
          </a:prstGeom>
          <a:solidFill>
            <a:srgbClr val="FFCC66"/>
          </a:solidFill>
          <a:ln>
            <a:noFill/>
          </a:ln>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000" b="0" dirty="0">
                <a:latin typeface="Arial" charset="0"/>
              </a:rPr>
              <a:t>The </a:t>
            </a:r>
            <a:r>
              <a:rPr lang="en-US" altLang="en-US" sz="2000" b="0" i="1" dirty="0">
                <a:solidFill>
                  <a:srgbClr val="0000FF"/>
                </a:solidFill>
                <a:latin typeface="Arial" charset="0"/>
              </a:rPr>
              <a:t>P-value</a:t>
            </a:r>
            <a:r>
              <a:rPr lang="en-US" altLang="en-US" sz="2000" b="0" dirty="0">
                <a:latin typeface="Arial" charset="0"/>
              </a:rPr>
              <a:t> is the probability, calculated assuming the null </a:t>
            </a:r>
            <a:r>
              <a:rPr lang="en-US" altLang="en-US" sz="2000" b="0" dirty="0" err="1">
                <a:latin typeface="Arial" charset="0"/>
              </a:rPr>
              <a:t>hypotheis</a:t>
            </a:r>
            <a:r>
              <a:rPr lang="en-US" altLang="en-US" sz="2000" b="0" dirty="0">
                <a:latin typeface="Arial" charset="0"/>
              </a:rPr>
              <a:t> </a:t>
            </a:r>
            <a:r>
              <a:rPr lang="en-US" altLang="en-US" sz="2000" b="0" i="1" dirty="0">
                <a:latin typeface="Arial" charset="0"/>
              </a:rPr>
              <a:t>H</a:t>
            </a:r>
            <a:r>
              <a:rPr lang="en-US" altLang="en-US" sz="2000" b="0" i="1" baseline="-25000" dirty="0">
                <a:latin typeface="Arial" charset="0"/>
              </a:rPr>
              <a:t>0</a:t>
            </a:r>
            <a:r>
              <a:rPr lang="en-US" altLang="en-US" sz="2000" b="0" i="1" dirty="0">
                <a:latin typeface="Arial" charset="0"/>
              </a:rPr>
              <a:t> </a:t>
            </a:r>
            <a:r>
              <a:rPr lang="en-US" altLang="en-US" sz="2000" b="0" dirty="0">
                <a:latin typeface="Arial" charset="0"/>
              </a:rPr>
              <a:t>is true,</a:t>
            </a:r>
            <a:r>
              <a:rPr lang="en-US" altLang="en-US" sz="2000" b="0" i="1" dirty="0">
                <a:latin typeface="Arial" charset="0"/>
              </a:rPr>
              <a:t> </a:t>
            </a:r>
            <a:r>
              <a:rPr lang="en-US" altLang="en-US" sz="2000" b="0" dirty="0">
                <a:latin typeface="Arial" charset="0"/>
              </a:rPr>
              <a:t>of observing a value of the test statistic more extreme than the value we actually observed.</a:t>
            </a:r>
          </a:p>
        </p:txBody>
      </p:sp>
      <p:sp>
        <p:nvSpPr>
          <p:cNvPr id="17416" name="TextBox 7"/>
          <p:cNvSpPr txBox="1">
            <a:spLocks noChangeArrowheads="1"/>
          </p:cNvSpPr>
          <p:nvPr/>
        </p:nvSpPr>
        <p:spPr bwMode="auto">
          <a:xfrm>
            <a:off x="609600" y="2701131"/>
            <a:ext cx="8001000" cy="83026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i="1" dirty="0">
                <a:solidFill>
                  <a:srgbClr val="FF0000"/>
                </a:solidFill>
                <a:latin typeface="Arial" charset="0"/>
              </a:rPr>
              <a:t>When the P-value is LOW, the null hypothesis must GO.</a:t>
            </a:r>
          </a:p>
        </p:txBody>
      </p:sp>
      <p:sp>
        <p:nvSpPr>
          <p:cNvPr id="17417" name="TextBox 8"/>
          <p:cNvSpPr txBox="1">
            <a:spLocks noChangeArrowheads="1"/>
          </p:cNvSpPr>
          <p:nvPr/>
        </p:nvSpPr>
        <p:spPr bwMode="auto">
          <a:xfrm>
            <a:off x="580120" y="3810000"/>
            <a:ext cx="7924800" cy="120015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dirty="0">
                <a:latin typeface="Arial" charset="0"/>
              </a:rPr>
              <a:t>How small does the P-value need to be to reject H</a:t>
            </a:r>
            <a:r>
              <a:rPr lang="en-US" altLang="en-US" sz="2400" b="0" baseline="-25000" dirty="0">
                <a:latin typeface="Arial" charset="0"/>
              </a:rPr>
              <a:t>0</a:t>
            </a:r>
            <a:r>
              <a:rPr lang="en-US" altLang="en-US" sz="2400" b="0" dirty="0">
                <a:latin typeface="Arial" charset="0"/>
              </a:rPr>
              <a:t> ?</a:t>
            </a:r>
          </a:p>
          <a:p>
            <a:pPr eaLnBrk="1" hangingPunct="1">
              <a:spcBef>
                <a:spcPct val="0"/>
              </a:spcBef>
              <a:buClrTx/>
              <a:buSzTx/>
              <a:buFontTx/>
              <a:buNone/>
            </a:pPr>
            <a:r>
              <a:rPr lang="en-US" altLang="en-US" sz="2400" b="0" dirty="0">
                <a:latin typeface="Arial" charset="0"/>
              </a:rPr>
              <a:t>Usual convention:</a:t>
            </a:r>
          </a:p>
          <a:p>
            <a:pPr eaLnBrk="1" hangingPunct="1">
              <a:spcBef>
                <a:spcPct val="0"/>
              </a:spcBef>
              <a:buClrTx/>
              <a:buSzTx/>
              <a:buFontTx/>
              <a:buNone/>
            </a:pPr>
            <a:r>
              <a:rPr lang="en-US" altLang="en-US" sz="2400" b="0" dirty="0">
                <a:latin typeface="Arial" charset="0"/>
              </a:rPr>
              <a:t>	</a:t>
            </a:r>
            <a:r>
              <a:rPr lang="en-US" altLang="en-US" sz="2400" dirty="0">
                <a:solidFill>
                  <a:srgbClr val="FF0000"/>
                </a:solidFill>
                <a:latin typeface="Arial" charset="0"/>
              </a:rPr>
              <a:t>the P-value should be less than .05 to reject H</a:t>
            </a:r>
            <a:r>
              <a:rPr lang="en-US" altLang="en-US" sz="2400" baseline="-25000" dirty="0">
                <a:solidFill>
                  <a:srgbClr val="FF0000"/>
                </a:solidFill>
                <a:latin typeface="Arial" charset="0"/>
              </a:rPr>
              <a:t>0</a:t>
            </a:r>
            <a:endParaRPr lang="en-US" altLang="en-US" sz="2400" dirty="0">
              <a:solidFill>
                <a:srgbClr val="FF0000"/>
              </a:solidFill>
              <a:latin typeface="Arial" charset="0"/>
            </a:endParaRPr>
          </a:p>
        </p:txBody>
      </p:sp>
      <p:sp>
        <p:nvSpPr>
          <p:cNvPr id="17418" name="TextBox 9"/>
          <p:cNvSpPr txBox="1">
            <a:spLocks noChangeArrowheads="1"/>
          </p:cNvSpPr>
          <p:nvPr/>
        </p:nvSpPr>
        <p:spPr bwMode="auto">
          <a:xfrm>
            <a:off x="685800" y="5257800"/>
            <a:ext cx="7772400" cy="46196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dirty="0">
                <a:latin typeface="Arial" charset="0"/>
              </a:rPr>
              <a:t>If the P-value &gt; .05, then conclusion is “do not reject H</a:t>
            </a:r>
            <a:r>
              <a:rPr lang="en-US" altLang="en-US" sz="2400" b="0" baseline="-25000" dirty="0">
                <a:latin typeface="Arial" charset="0"/>
              </a:rPr>
              <a:t>0</a:t>
            </a:r>
            <a:r>
              <a:rPr lang="en-US" altLang="en-US" sz="2400" b="0" dirty="0">
                <a:latin typeface="Arial" charset="0"/>
              </a:rPr>
              <a:t>”</a:t>
            </a:r>
          </a:p>
        </p:txBody>
      </p:sp>
      <p:pic>
        <p:nvPicPr>
          <p:cNvPr id="12" name="Picture 8" descr="Image result for p-val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599" y="8662"/>
            <a:ext cx="2178091" cy="15900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8435"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8436"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18437"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C64AD16B-A9AA-42C1-9DD0-B7A01BF252A0}" type="slidenum">
              <a:rPr lang="en-US" altLang="en-US" sz="1000">
                <a:latin typeface="Verdana" pitchFamily="34" charset="0"/>
              </a:rPr>
              <a:pPr algn="r" eaLnBrk="1" hangingPunct="1">
                <a:spcBef>
                  <a:spcPct val="0"/>
                </a:spcBef>
                <a:buClrTx/>
                <a:buSzTx/>
                <a:buFontTx/>
                <a:buNone/>
              </a:pPr>
              <a:t>24</a:t>
            </a:fld>
            <a:endParaRPr lang="en-US" altLang="en-US" sz="1000">
              <a:latin typeface="Verdana" pitchFamily="34" charset="0"/>
            </a:endParaRPr>
          </a:p>
        </p:txBody>
      </p:sp>
      <p:sp>
        <p:nvSpPr>
          <p:cNvPr id="18438" name="Text Box 6"/>
          <p:cNvSpPr txBox="1">
            <a:spLocks noChangeArrowheads="1"/>
          </p:cNvSpPr>
          <p:nvPr/>
        </p:nvSpPr>
        <p:spPr bwMode="auto">
          <a:xfrm>
            <a:off x="304800" y="152400"/>
            <a:ext cx="861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3200">
                <a:solidFill>
                  <a:srgbClr val="0033CC"/>
                </a:solidFill>
                <a:latin typeface="Arial" charset="0"/>
              </a:rPr>
              <a:t>DJIA HypothesisTest P-value (cont.)</a:t>
            </a:r>
          </a:p>
        </p:txBody>
      </p:sp>
      <p:sp>
        <p:nvSpPr>
          <p:cNvPr id="18439" name="Text Box 7"/>
          <p:cNvSpPr txBox="1">
            <a:spLocks noChangeArrowheads="1"/>
          </p:cNvSpPr>
          <p:nvPr/>
        </p:nvSpPr>
        <p:spPr bwMode="auto">
          <a:xfrm>
            <a:off x="381000" y="762000"/>
            <a:ext cx="8458200" cy="830263"/>
          </a:xfrm>
          <a:prstGeom prst="rect">
            <a:avLst/>
          </a:prstGeom>
          <a:solidFill>
            <a:srgbClr val="FFCC66"/>
          </a:solidFill>
          <a:ln>
            <a:noFill/>
          </a:ln>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dirty="0"/>
              <a:t> H</a:t>
            </a:r>
            <a:r>
              <a:rPr lang="en-US" altLang="en-US" sz="2400" b="0" baseline="-25000" dirty="0"/>
              <a:t>0</a:t>
            </a:r>
            <a:r>
              <a:rPr lang="en-US" altLang="en-US" sz="2400" b="0" dirty="0">
                <a:latin typeface="Arial" charset="0"/>
              </a:rPr>
              <a:t>: </a:t>
            </a:r>
            <a:r>
              <a:rPr lang="en-US" altLang="en-US" sz="2400" b="0" i="1" dirty="0"/>
              <a:t>p</a:t>
            </a:r>
            <a:r>
              <a:rPr lang="en-US" altLang="en-US" sz="2400" b="0" dirty="0">
                <a:latin typeface="Arial" charset="0"/>
              </a:rPr>
              <a:t> = 0.5    </a:t>
            </a:r>
            <a:r>
              <a:rPr lang="en-US" altLang="en-US" sz="2400" b="0" i="1" dirty="0">
                <a:latin typeface="Arial" charset="0"/>
              </a:rPr>
              <a:t>n = </a:t>
            </a:r>
            <a:r>
              <a:rPr lang="en-US" altLang="en-US" sz="2400" b="0" dirty="0">
                <a:latin typeface="Arial" charset="0"/>
              </a:rPr>
              <a:t>1112</a:t>
            </a:r>
            <a:r>
              <a:rPr lang="en-US" altLang="en-US" sz="2400" b="0" i="1" dirty="0">
                <a:latin typeface="Arial" charset="0"/>
              </a:rPr>
              <a:t> </a:t>
            </a:r>
            <a:r>
              <a:rPr lang="en-US" altLang="en-US" sz="2400" b="0" dirty="0">
                <a:latin typeface="Arial" charset="0"/>
              </a:rPr>
              <a:t>days; market was “up” 573 days</a:t>
            </a:r>
            <a:endParaRPr lang="en-US" altLang="en-US" sz="2400" b="0" baseline="-25000" dirty="0"/>
          </a:p>
          <a:p>
            <a:pPr eaLnBrk="1" hangingPunct="1">
              <a:spcBef>
                <a:spcPct val="0"/>
              </a:spcBef>
              <a:buClrTx/>
              <a:buSzTx/>
              <a:buFontTx/>
              <a:buNone/>
            </a:pPr>
            <a:r>
              <a:rPr lang="en-US" altLang="en-US" sz="2400" b="0" dirty="0"/>
              <a:t> H</a:t>
            </a:r>
            <a:r>
              <a:rPr lang="en-US" altLang="en-US" sz="2400" b="0" baseline="-25000" dirty="0"/>
              <a:t>A</a:t>
            </a:r>
            <a:r>
              <a:rPr lang="en-US" altLang="en-US" sz="2400" b="0" dirty="0">
                <a:latin typeface="Arial" charset="0"/>
              </a:rPr>
              <a:t>: </a:t>
            </a:r>
            <a:r>
              <a:rPr lang="en-US" altLang="en-US" sz="2400" b="0" i="1" dirty="0"/>
              <a:t>p</a:t>
            </a:r>
            <a:r>
              <a:rPr lang="en-US" altLang="en-US" sz="2400" b="0" dirty="0">
                <a:latin typeface="Arial" charset="0"/>
              </a:rPr>
              <a:t> ≠ 0.5</a:t>
            </a:r>
          </a:p>
        </p:txBody>
      </p:sp>
      <p:graphicFrame>
        <p:nvGraphicFramePr>
          <p:cNvPr id="18440" name="Object 3"/>
          <p:cNvGraphicFramePr>
            <a:graphicFrameLocks noChangeAspect="1"/>
          </p:cNvGraphicFramePr>
          <p:nvPr/>
        </p:nvGraphicFramePr>
        <p:xfrm>
          <a:off x="2895600" y="1143000"/>
          <a:ext cx="2133600" cy="468313"/>
        </p:xfrm>
        <a:graphic>
          <a:graphicData uri="http://schemas.openxmlformats.org/presentationml/2006/ole">
            <mc:AlternateContent xmlns:mc="http://schemas.openxmlformats.org/markup-compatibility/2006">
              <mc:Choice xmlns:v="urn:schemas-microsoft-com:vml" Requires="v">
                <p:oleObj spid="_x0000_s18499" name="Equation" r:id="rId5" imgW="1040948" imgH="228501" progId="Equation.DSMT4">
                  <p:embed/>
                </p:oleObj>
              </mc:Choice>
              <mc:Fallback>
                <p:oleObj name="Equation" r:id="rId5" imgW="1040948" imgH="228501"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1143000"/>
                        <a:ext cx="21336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1" name="Object 5"/>
          <p:cNvGraphicFramePr>
            <a:graphicFrameLocks noChangeAspect="1"/>
          </p:cNvGraphicFramePr>
          <p:nvPr>
            <p:extLst>
              <p:ext uri="{D42A27DB-BD31-4B8C-83A1-F6EECF244321}">
                <p14:modId xmlns:p14="http://schemas.microsoft.com/office/powerpoint/2010/main" val="3170833381"/>
              </p:ext>
            </p:extLst>
          </p:nvPr>
        </p:nvGraphicFramePr>
        <p:xfrm>
          <a:off x="457200" y="1676400"/>
          <a:ext cx="5381625" cy="1123950"/>
        </p:xfrm>
        <a:graphic>
          <a:graphicData uri="http://schemas.openxmlformats.org/presentationml/2006/ole">
            <mc:AlternateContent xmlns:mc="http://schemas.openxmlformats.org/markup-compatibility/2006">
              <mc:Choice xmlns:v="urn:schemas-microsoft-com:vml" Requires="v">
                <p:oleObj spid="_x0000_s18500" name="Equation" r:id="rId7" imgW="2006600" imgH="419100" progId="Equation.DSMT4">
                  <p:embed/>
                </p:oleObj>
              </mc:Choice>
              <mc:Fallback>
                <p:oleObj name="Equation" r:id="rId7" imgW="2006600" imgH="4191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1676400"/>
                        <a:ext cx="5381625" cy="1123950"/>
                      </a:xfrm>
                      <a:prstGeom prst="rect">
                        <a:avLst/>
                      </a:prstGeom>
                      <a:solidFill>
                        <a:srgbClr val="FFCC66"/>
                      </a:solidFill>
                      <a:ln>
                        <a:noFill/>
                      </a:ln>
                    </p:spPr>
                  </p:pic>
                </p:oleObj>
              </mc:Fallback>
            </mc:AlternateContent>
          </a:graphicData>
        </a:graphic>
      </p:graphicFrame>
      <p:sp>
        <p:nvSpPr>
          <p:cNvPr id="18442" name="TextBox 15"/>
          <p:cNvSpPr txBox="1">
            <a:spLocks noChangeArrowheads="1"/>
          </p:cNvSpPr>
          <p:nvPr/>
        </p:nvSpPr>
        <p:spPr bwMode="auto">
          <a:xfrm>
            <a:off x="762000" y="4572000"/>
            <a:ext cx="6858000" cy="120015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1800" b="0">
                <a:latin typeface="Arial" charset="0"/>
              </a:rPr>
              <a:t>Since the P-value is greater than .05, our conclusion is “do not reject the null hypothesis”; there is not sufficient evidence to reject the null hypothesis that the proportion of days on which the DJIA goes up is .50</a:t>
            </a:r>
          </a:p>
        </p:txBody>
      </p:sp>
      <p:graphicFrame>
        <p:nvGraphicFramePr>
          <p:cNvPr id="18443" name="Object 6"/>
          <p:cNvGraphicFramePr>
            <a:graphicFrameLocks noChangeAspect="1"/>
          </p:cNvGraphicFramePr>
          <p:nvPr>
            <p:extLst>
              <p:ext uri="{D42A27DB-BD31-4B8C-83A1-F6EECF244321}">
                <p14:modId xmlns:p14="http://schemas.microsoft.com/office/powerpoint/2010/main" val="1132780236"/>
              </p:ext>
            </p:extLst>
          </p:nvPr>
        </p:nvGraphicFramePr>
        <p:xfrm>
          <a:off x="533400" y="2971800"/>
          <a:ext cx="4168775" cy="914400"/>
        </p:xfrm>
        <a:graphic>
          <a:graphicData uri="http://schemas.openxmlformats.org/presentationml/2006/ole">
            <mc:AlternateContent xmlns:mc="http://schemas.openxmlformats.org/markup-compatibility/2006">
              <mc:Choice xmlns:v="urn:schemas-microsoft-com:vml" Requires="v">
                <p:oleObj spid="_x0000_s18501" name="Equation" r:id="rId9" imgW="1968500" imgH="431800" progId="Equation.DSMT4">
                  <p:embed/>
                </p:oleObj>
              </mc:Choice>
              <mc:Fallback>
                <p:oleObj name="Equation" r:id="rId9" imgW="1968500" imgH="4318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 y="2971800"/>
                        <a:ext cx="4168775" cy="914400"/>
                      </a:xfrm>
                      <a:prstGeom prst="rect">
                        <a:avLst/>
                      </a:prstGeom>
                      <a:solidFill>
                        <a:srgbClr val="FFCC66"/>
                      </a:solidFill>
                      <a:ln>
                        <a:noFill/>
                      </a:ln>
                      <a:effectLst/>
                    </p:spPr>
                  </p:pic>
                </p:oleObj>
              </mc:Fallback>
            </mc:AlternateContent>
          </a:graphicData>
        </a:graphic>
      </p:graphicFrame>
      <p:pic>
        <p:nvPicPr>
          <p:cNvPr id="18444"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10200" y="2514600"/>
            <a:ext cx="2743200"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9459"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19460"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19461"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F1289EC3-1F7E-455B-AF5B-E04D9BEE23C0}" type="slidenum">
              <a:rPr lang="en-US" altLang="en-US" sz="1000">
                <a:latin typeface="Verdana" pitchFamily="34" charset="0"/>
              </a:rPr>
              <a:pPr algn="r" eaLnBrk="1" hangingPunct="1">
                <a:spcBef>
                  <a:spcPct val="0"/>
                </a:spcBef>
                <a:buClrTx/>
                <a:buSzTx/>
                <a:buFontTx/>
                <a:buNone/>
              </a:pPr>
              <a:t>25</a:t>
            </a:fld>
            <a:endParaRPr lang="en-US" altLang="en-US" sz="1000">
              <a:latin typeface="Verdana" pitchFamily="34" charset="0"/>
            </a:endParaRPr>
          </a:p>
        </p:txBody>
      </p:sp>
      <p:sp>
        <p:nvSpPr>
          <p:cNvPr id="19462" name="Text Box 6"/>
          <p:cNvSpPr txBox="1">
            <a:spLocks noChangeArrowheads="1"/>
          </p:cNvSpPr>
          <p:nvPr/>
        </p:nvSpPr>
        <p:spPr bwMode="auto">
          <a:xfrm>
            <a:off x="304800" y="152400"/>
            <a:ext cx="861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3200">
                <a:solidFill>
                  <a:srgbClr val="0033CC"/>
                </a:solidFill>
                <a:latin typeface="Arial" charset="0"/>
              </a:rPr>
              <a:t>DJIA HypothesisTest P-value (cont.)</a:t>
            </a:r>
          </a:p>
        </p:txBody>
      </p:sp>
      <p:sp>
        <p:nvSpPr>
          <p:cNvPr id="19463" name="Text Box 7"/>
          <p:cNvSpPr txBox="1">
            <a:spLocks noChangeArrowheads="1"/>
          </p:cNvSpPr>
          <p:nvPr/>
        </p:nvSpPr>
        <p:spPr bwMode="auto">
          <a:xfrm>
            <a:off x="381000" y="1803400"/>
            <a:ext cx="8458200" cy="2616200"/>
          </a:xfrm>
          <a:prstGeom prst="rect">
            <a:avLst/>
          </a:prstGeom>
          <a:solidFill>
            <a:srgbClr val="FFCC66"/>
          </a:solidFill>
          <a:ln>
            <a:noFill/>
          </a:ln>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000" b="0" dirty="0">
                <a:latin typeface="Arial" charset="0"/>
              </a:rPr>
              <a:t>This is the probability of observing more than 51.53% up days (or more than 51.53% down days) if the null hypothesis H</a:t>
            </a:r>
            <a:r>
              <a:rPr lang="en-US" altLang="en-US" sz="2000" b="0" baseline="-25000" dirty="0">
                <a:latin typeface="Arial" charset="0"/>
              </a:rPr>
              <a:t>0</a:t>
            </a:r>
            <a:r>
              <a:rPr lang="en-US" altLang="en-US" sz="2000" b="0" dirty="0">
                <a:latin typeface="Arial" charset="0"/>
              </a:rPr>
              <a:t> p=.5 were true.</a:t>
            </a:r>
          </a:p>
          <a:p>
            <a:pPr eaLnBrk="1" hangingPunct="1">
              <a:spcBef>
                <a:spcPct val="0"/>
              </a:spcBef>
              <a:buClrTx/>
              <a:buSzTx/>
              <a:buFontTx/>
              <a:buNone/>
            </a:pPr>
            <a:endParaRPr lang="en-US" altLang="en-US" sz="2400" b="0" dirty="0">
              <a:latin typeface="Arial" charset="0"/>
            </a:endParaRPr>
          </a:p>
          <a:p>
            <a:pPr eaLnBrk="1" hangingPunct="1">
              <a:spcBef>
                <a:spcPct val="0"/>
              </a:spcBef>
              <a:buClrTx/>
              <a:buSzTx/>
              <a:buFontTx/>
              <a:buNone/>
            </a:pPr>
            <a:r>
              <a:rPr lang="en-US" altLang="en-US" sz="2000" b="0" dirty="0">
                <a:latin typeface="Arial" charset="0"/>
              </a:rPr>
              <a:t>In other words, if the chance of an up day for the Dow is 50%, we’d expect to see stretches of 1112 trading days with as many as 51.53% up days about 15.4% of the time and with as many as 51.53% down days about 15.4% of the time. That’s not terribly unusual, so there’s really no convincing evidence to reject H</a:t>
            </a:r>
            <a:r>
              <a:rPr lang="en-US" altLang="en-US" sz="2000" b="0" baseline="-25000" dirty="0">
                <a:latin typeface="Arial" charset="0"/>
              </a:rPr>
              <a:t>0</a:t>
            </a:r>
            <a:r>
              <a:rPr lang="en-US" altLang="en-US" sz="2000" b="0" dirty="0">
                <a:latin typeface="Arial" charset="0"/>
              </a:rPr>
              <a:t> p=.5.</a:t>
            </a:r>
          </a:p>
        </p:txBody>
      </p:sp>
      <p:sp>
        <p:nvSpPr>
          <p:cNvPr id="19464" name="TextBox 7"/>
          <p:cNvSpPr txBox="1">
            <a:spLocks noChangeArrowheads="1"/>
          </p:cNvSpPr>
          <p:nvPr/>
        </p:nvSpPr>
        <p:spPr bwMode="auto">
          <a:xfrm>
            <a:off x="533400" y="4419600"/>
            <a:ext cx="2209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a:solidFill>
                  <a:srgbClr val="FF0000"/>
                </a:solidFill>
                <a:latin typeface="Arial" charset="0"/>
              </a:rPr>
              <a:t>Conclusion:</a:t>
            </a:r>
          </a:p>
        </p:txBody>
      </p:sp>
      <p:sp>
        <p:nvSpPr>
          <p:cNvPr id="19465" name="TextBox 8"/>
          <p:cNvSpPr txBox="1">
            <a:spLocks noChangeArrowheads="1"/>
          </p:cNvSpPr>
          <p:nvPr/>
        </p:nvSpPr>
        <p:spPr bwMode="auto">
          <a:xfrm>
            <a:off x="838200" y="4953000"/>
            <a:ext cx="7391400" cy="92392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1800" b="0">
                <a:latin typeface="Arial" charset="0"/>
              </a:rPr>
              <a:t>Since the P-value is greater than .05, our conclusion is “do not reject the null hypothesis”; there is not sufficient evidence to reject the null hypothesis that the proportion of days on which the DJIA goes up is .50</a:t>
            </a:r>
          </a:p>
        </p:txBody>
      </p:sp>
      <p:graphicFrame>
        <p:nvGraphicFramePr>
          <p:cNvPr id="19466" name="Object 8"/>
          <p:cNvGraphicFramePr>
            <a:graphicFrameLocks noChangeAspect="1"/>
          </p:cNvGraphicFramePr>
          <p:nvPr>
            <p:extLst>
              <p:ext uri="{D42A27DB-BD31-4B8C-83A1-F6EECF244321}">
                <p14:modId xmlns:p14="http://schemas.microsoft.com/office/powerpoint/2010/main" val="1446770233"/>
              </p:ext>
            </p:extLst>
          </p:nvPr>
        </p:nvGraphicFramePr>
        <p:xfrm>
          <a:off x="609600" y="685800"/>
          <a:ext cx="4168775" cy="914400"/>
        </p:xfrm>
        <a:graphic>
          <a:graphicData uri="http://schemas.openxmlformats.org/presentationml/2006/ole">
            <mc:AlternateContent xmlns:mc="http://schemas.openxmlformats.org/markup-compatibility/2006">
              <mc:Choice xmlns:v="urn:schemas-microsoft-com:vml" Requires="v">
                <p:oleObj spid="_x0000_s19485" name="Equation" r:id="rId5" imgW="1968500" imgH="431800" progId="Equation.DSMT4">
                  <p:embed/>
                </p:oleObj>
              </mc:Choice>
              <mc:Fallback>
                <p:oleObj name="Equation" r:id="rId5" imgW="1968500" imgH="4318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685800"/>
                        <a:ext cx="4168775" cy="914400"/>
                      </a:xfrm>
                      <a:prstGeom prst="rect">
                        <a:avLst/>
                      </a:prstGeom>
                      <a:solidFill>
                        <a:srgbClr val="FFCC66"/>
                      </a:solidFill>
                      <a:ln>
                        <a:noFill/>
                      </a:ln>
                      <a:effectLst/>
                    </p:spPr>
                  </p:pic>
                </p:oleObj>
              </mc:Fallback>
            </mc:AlternateContent>
          </a:graphicData>
        </a:graphic>
      </p:graphicFrame>
    </p:spTree>
    <p:custDataLst>
      <p:tags r:id="rId2"/>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20483"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20484"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a:solidFill>
                <a:srgbClr val="FFFFFF"/>
              </a:solidFill>
              <a:latin typeface="Verdana" pitchFamily="34" charset="0"/>
            </a:endParaRPr>
          </a:p>
        </p:txBody>
      </p:sp>
      <p:sp>
        <p:nvSpPr>
          <p:cNvPr id="20485"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22712EC7-2EB3-4880-B49F-D56445AC93BF}" type="slidenum">
              <a:rPr lang="en-US" altLang="en-US" sz="1000">
                <a:latin typeface="Verdana" pitchFamily="34" charset="0"/>
              </a:rPr>
              <a:pPr algn="r" eaLnBrk="1" hangingPunct="1">
                <a:spcBef>
                  <a:spcPct val="0"/>
                </a:spcBef>
                <a:buClrTx/>
                <a:buSzTx/>
                <a:buFontTx/>
                <a:buNone/>
              </a:pPr>
              <a:t>26</a:t>
            </a:fld>
            <a:endParaRPr lang="en-US" altLang="en-US" sz="1000">
              <a:latin typeface="Verdana" pitchFamily="34" charset="0"/>
            </a:endParaRPr>
          </a:p>
        </p:txBody>
      </p:sp>
      <p:sp>
        <p:nvSpPr>
          <p:cNvPr id="20486" name="Text Box 6"/>
          <p:cNvSpPr txBox="1">
            <a:spLocks noChangeArrowheads="1"/>
          </p:cNvSpPr>
          <p:nvPr/>
        </p:nvSpPr>
        <p:spPr bwMode="auto">
          <a:xfrm>
            <a:off x="304800" y="152400"/>
            <a:ext cx="861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3200">
                <a:solidFill>
                  <a:srgbClr val="0033CC"/>
                </a:solidFill>
                <a:latin typeface="Arial" charset="0"/>
              </a:rPr>
              <a:t>A Trial as a Hypothesis Test</a:t>
            </a:r>
          </a:p>
        </p:txBody>
      </p:sp>
      <p:sp>
        <p:nvSpPr>
          <p:cNvPr id="20487" name="Text Box 7"/>
          <p:cNvSpPr txBox="1">
            <a:spLocks noChangeArrowheads="1"/>
          </p:cNvSpPr>
          <p:nvPr/>
        </p:nvSpPr>
        <p:spPr bwMode="auto">
          <a:xfrm>
            <a:off x="381000" y="1066800"/>
            <a:ext cx="8458200" cy="4708981"/>
          </a:xfrm>
          <a:prstGeom prst="rect">
            <a:avLst/>
          </a:prstGeom>
          <a:solidFill>
            <a:srgbClr val="FFCC66"/>
          </a:solidFill>
          <a:ln>
            <a:noFill/>
          </a:ln>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000" b="0" dirty="0">
                <a:latin typeface="Comic Sans MS" panose="030F0702030302020204" pitchFamily="66" charset="0"/>
              </a:rPr>
              <a:t>We started by assuming that the probability of an “up” day was .50</a:t>
            </a:r>
          </a:p>
          <a:p>
            <a:pPr eaLnBrk="1" hangingPunct="1">
              <a:spcBef>
                <a:spcPct val="0"/>
              </a:spcBef>
              <a:buClrTx/>
              <a:buSzTx/>
              <a:buFontTx/>
              <a:buNone/>
            </a:pPr>
            <a:endParaRPr lang="en-US" altLang="en-US" sz="2000" b="0" dirty="0">
              <a:latin typeface="Comic Sans MS" panose="030F0702030302020204" pitchFamily="66" charset="0"/>
            </a:endParaRPr>
          </a:p>
          <a:p>
            <a:pPr eaLnBrk="1" hangingPunct="1">
              <a:spcBef>
                <a:spcPct val="0"/>
              </a:spcBef>
              <a:buClrTx/>
              <a:buSzTx/>
              <a:buFontTx/>
              <a:buNone/>
            </a:pPr>
            <a:r>
              <a:rPr lang="en-US" altLang="en-US" sz="2000" b="0" dirty="0">
                <a:latin typeface="Comic Sans MS" panose="030F0702030302020204" pitchFamily="66" charset="0"/>
              </a:rPr>
              <a:t>Then we looked at the data and concluded that we couldn’t say otherwise because the proportion that we actually observed wasn’t far enough from .50</a:t>
            </a:r>
          </a:p>
          <a:p>
            <a:pPr eaLnBrk="1" hangingPunct="1">
              <a:spcBef>
                <a:spcPct val="0"/>
              </a:spcBef>
              <a:buClrTx/>
              <a:buSzTx/>
              <a:buFontTx/>
              <a:buNone/>
            </a:pPr>
            <a:endParaRPr lang="en-US" altLang="en-US" sz="2000" b="0" dirty="0">
              <a:latin typeface="Comic Sans MS" panose="030F0702030302020204" pitchFamily="66" charset="0"/>
            </a:endParaRPr>
          </a:p>
          <a:p>
            <a:pPr eaLnBrk="1" hangingPunct="1">
              <a:spcBef>
                <a:spcPct val="0"/>
              </a:spcBef>
              <a:buClrTx/>
              <a:buSzTx/>
              <a:buFontTx/>
              <a:buNone/>
            </a:pPr>
            <a:r>
              <a:rPr lang="en-US" altLang="en-US" sz="2000" b="0" dirty="0">
                <a:latin typeface="Comic Sans MS" panose="030F0702030302020204" pitchFamily="66" charset="0"/>
              </a:rPr>
              <a:t>This is the </a:t>
            </a:r>
            <a:r>
              <a:rPr lang="en-US" altLang="en-US" sz="2000" b="0" u="sng" dirty="0">
                <a:latin typeface="Comic Sans MS" panose="030F0702030302020204" pitchFamily="66" charset="0"/>
              </a:rPr>
              <a:t>logic of jury trials</a:t>
            </a:r>
            <a:r>
              <a:rPr lang="en-US" altLang="en-US" sz="2000" b="0" dirty="0">
                <a:latin typeface="Comic Sans MS" panose="030F0702030302020204" pitchFamily="66" charset="0"/>
              </a:rPr>
              <a:t>. In British common law, the null hypothesis is that the defendant is not guilty (</a:t>
            </a:r>
            <a:r>
              <a:rPr lang="en-US" altLang="en-US" sz="2000" dirty="0">
                <a:solidFill>
                  <a:srgbClr val="FF0000"/>
                </a:solidFill>
                <a:latin typeface="Comic Sans MS" panose="030F0702030302020204" pitchFamily="66" charset="0"/>
              </a:rPr>
              <a:t>“innocent until proven guilty”</a:t>
            </a:r>
            <a:r>
              <a:rPr lang="en-US" altLang="en-US" sz="2000" b="0" dirty="0">
                <a:latin typeface="Comic Sans MS" panose="030F0702030302020204" pitchFamily="66" charset="0"/>
              </a:rPr>
              <a:t>)</a:t>
            </a:r>
          </a:p>
          <a:p>
            <a:pPr eaLnBrk="1" hangingPunct="1">
              <a:spcBef>
                <a:spcPct val="0"/>
              </a:spcBef>
              <a:buClrTx/>
              <a:buSzTx/>
              <a:buFontTx/>
              <a:buNone/>
            </a:pPr>
            <a:r>
              <a:rPr lang="en-US" altLang="en-US" sz="2000" dirty="0">
                <a:solidFill>
                  <a:srgbClr val="FF0000"/>
                </a:solidFill>
                <a:latin typeface="Comic Sans MS" panose="030F0702030302020204" pitchFamily="66" charset="0"/>
              </a:rPr>
              <a:t>H</a:t>
            </a:r>
            <a:r>
              <a:rPr lang="en-US" altLang="en-US" sz="2000" baseline="-25000" dirty="0">
                <a:solidFill>
                  <a:srgbClr val="FF0000"/>
                </a:solidFill>
                <a:latin typeface="Comic Sans MS" panose="030F0702030302020204" pitchFamily="66" charset="0"/>
              </a:rPr>
              <a:t>0</a:t>
            </a:r>
            <a:r>
              <a:rPr lang="en-US" altLang="en-US" sz="2000" dirty="0">
                <a:solidFill>
                  <a:srgbClr val="FF0000"/>
                </a:solidFill>
                <a:latin typeface="Comic Sans MS" panose="030F0702030302020204" pitchFamily="66" charset="0"/>
              </a:rPr>
              <a:t> : defendant is innocent;  H</a:t>
            </a:r>
            <a:r>
              <a:rPr lang="en-US" altLang="en-US" sz="2000" baseline="-25000" dirty="0">
                <a:solidFill>
                  <a:srgbClr val="FF0000"/>
                </a:solidFill>
                <a:latin typeface="Comic Sans MS" panose="030F0702030302020204" pitchFamily="66" charset="0"/>
              </a:rPr>
              <a:t>A</a:t>
            </a:r>
            <a:r>
              <a:rPr lang="en-US" altLang="en-US" sz="2000" dirty="0">
                <a:solidFill>
                  <a:srgbClr val="FF0000"/>
                </a:solidFill>
                <a:latin typeface="Comic Sans MS" panose="030F0702030302020204" pitchFamily="66" charset="0"/>
              </a:rPr>
              <a:t> : defendant is guilty</a:t>
            </a:r>
          </a:p>
          <a:p>
            <a:pPr eaLnBrk="1" hangingPunct="1">
              <a:spcBef>
                <a:spcPct val="0"/>
              </a:spcBef>
              <a:buClrTx/>
              <a:buSzTx/>
              <a:buFontTx/>
              <a:buNone/>
            </a:pPr>
            <a:endParaRPr lang="en-US" altLang="en-US" sz="2000" b="0" dirty="0">
              <a:latin typeface="Comic Sans MS" panose="030F0702030302020204" pitchFamily="66" charset="0"/>
            </a:endParaRPr>
          </a:p>
          <a:p>
            <a:pPr eaLnBrk="1" hangingPunct="1">
              <a:spcBef>
                <a:spcPct val="0"/>
              </a:spcBef>
              <a:buClrTx/>
              <a:buSzTx/>
              <a:buFontTx/>
              <a:buNone/>
            </a:pPr>
            <a:r>
              <a:rPr lang="en-US" altLang="en-US" sz="2000" b="0" dirty="0">
                <a:latin typeface="Comic Sans MS" panose="030F0702030302020204" pitchFamily="66" charset="0"/>
              </a:rPr>
              <a:t>The government has to prove your guilt, you do NOT have to prove your innocence.</a:t>
            </a:r>
          </a:p>
          <a:p>
            <a:pPr eaLnBrk="1" hangingPunct="1">
              <a:spcBef>
                <a:spcPct val="0"/>
              </a:spcBef>
              <a:buClrTx/>
              <a:buSzTx/>
              <a:buFontTx/>
              <a:buNone/>
            </a:pPr>
            <a:r>
              <a:rPr lang="en-US" altLang="en-US" sz="2000" b="0" dirty="0">
                <a:latin typeface="Comic Sans MS" panose="030F0702030302020204" pitchFamily="66" charset="0"/>
              </a:rPr>
              <a:t>The evidence takes the form of facts that seem to contradict the presumption of innocence. For us, this means collecting data.</a:t>
            </a:r>
          </a:p>
        </p:txBody>
      </p:sp>
    </p:spTree>
    <p:custDataLst>
      <p:tags r:id="rId1"/>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22531"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endParaRPr lang="en-US" altLang="en-US" sz="1800" b="0">
              <a:latin typeface="Arial" charset="0"/>
            </a:endParaRPr>
          </a:p>
        </p:txBody>
      </p:sp>
      <p:sp>
        <p:nvSpPr>
          <p:cNvPr id="22533"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r" eaLnBrk="1" hangingPunct="1">
              <a:spcBef>
                <a:spcPct val="0"/>
              </a:spcBef>
              <a:buClrTx/>
              <a:buSzTx/>
              <a:buFontTx/>
              <a:buNone/>
            </a:pPr>
            <a:fld id="{0AA8F0C5-041F-48B3-A7A3-E50588153E5A}" type="slidenum">
              <a:rPr lang="en-US" altLang="en-US" sz="1000">
                <a:latin typeface="Verdana" pitchFamily="34" charset="0"/>
              </a:rPr>
              <a:pPr algn="r" eaLnBrk="1" hangingPunct="1">
                <a:spcBef>
                  <a:spcPct val="0"/>
                </a:spcBef>
                <a:buClrTx/>
                <a:buSzTx/>
                <a:buFontTx/>
                <a:buNone/>
              </a:pPr>
              <a:t>27</a:t>
            </a:fld>
            <a:endParaRPr lang="en-US" altLang="en-US" sz="1000">
              <a:latin typeface="Verdana" pitchFamily="34" charset="0"/>
            </a:endParaRPr>
          </a:p>
        </p:txBody>
      </p:sp>
      <p:sp>
        <p:nvSpPr>
          <p:cNvPr id="22535" name="Text Box 7"/>
          <p:cNvSpPr txBox="1">
            <a:spLocks noChangeArrowheads="1"/>
          </p:cNvSpPr>
          <p:nvPr/>
        </p:nvSpPr>
        <p:spPr bwMode="auto">
          <a:xfrm>
            <a:off x="342900" y="2177122"/>
            <a:ext cx="8458200" cy="1938992"/>
          </a:xfrm>
          <a:prstGeom prst="rect">
            <a:avLst/>
          </a:prstGeom>
          <a:solidFill>
            <a:srgbClr val="FFCC66"/>
          </a:solidFill>
          <a:ln>
            <a:noFill/>
          </a:ln>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400" b="0" dirty="0" smtClean="0">
                <a:latin typeface="Comic Sans MS" panose="030F0702030302020204" pitchFamily="66" charset="0"/>
              </a:rPr>
              <a:t>If </a:t>
            </a:r>
            <a:r>
              <a:rPr lang="en-US" altLang="en-US" sz="2400" b="0" dirty="0">
                <a:latin typeface="Comic Sans MS" panose="030F0702030302020204" pitchFamily="66" charset="0"/>
              </a:rPr>
              <a:t>there is </a:t>
            </a:r>
            <a:r>
              <a:rPr lang="en-US" altLang="en-US" sz="2400" b="0" i="1" dirty="0">
                <a:latin typeface="Comic Sans MS" panose="030F0702030302020204" pitchFamily="66" charset="0"/>
              </a:rPr>
              <a:t>insufficient evidence </a:t>
            </a:r>
            <a:r>
              <a:rPr lang="en-US" altLang="en-US" sz="2400" b="0" dirty="0">
                <a:latin typeface="Comic Sans MS" panose="030F0702030302020204" pitchFamily="66" charset="0"/>
              </a:rPr>
              <a:t>to convict the defendant (</a:t>
            </a:r>
            <a:r>
              <a:rPr lang="en-US" altLang="en-US" sz="2400" b="0" dirty="0" smtClean="0">
                <a:latin typeface="Comic Sans MS" panose="030F0702030302020204" pitchFamily="66" charset="0"/>
              </a:rPr>
              <a:t>if the </a:t>
            </a:r>
            <a:r>
              <a:rPr lang="en-US" altLang="en-US" sz="2400" b="0" dirty="0">
                <a:latin typeface="Comic Sans MS" panose="030F0702030302020204" pitchFamily="66" charset="0"/>
              </a:rPr>
              <a:t>P-value is </a:t>
            </a:r>
            <a:r>
              <a:rPr lang="en-US" altLang="en-US" sz="2400" b="0" i="1" dirty="0">
                <a:latin typeface="Comic Sans MS" panose="030F0702030302020204" pitchFamily="66" charset="0"/>
              </a:rPr>
              <a:t>not </a:t>
            </a:r>
            <a:r>
              <a:rPr lang="en-US" altLang="en-US" sz="2400" b="0" dirty="0">
                <a:latin typeface="Comic Sans MS" panose="030F0702030302020204" pitchFamily="66" charset="0"/>
              </a:rPr>
              <a:t>low), </a:t>
            </a:r>
            <a:r>
              <a:rPr lang="en-US" altLang="en-US" sz="2400" b="0" dirty="0">
                <a:solidFill>
                  <a:srgbClr val="FF0000"/>
                </a:solidFill>
                <a:latin typeface="Comic Sans MS" panose="030F0702030302020204" pitchFamily="66" charset="0"/>
              </a:rPr>
              <a:t>the jury does NOT </a:t>
            </a:r>
            <a:r>
              <a:rPr lang="en-US" altLang="en-US" sz="2400" b="0" u="sng" dirty="0">
                <a:solidFill>
                  <a:srgbClr val="FF0000"/>
                </a:solidFill>
                <a:latin typeface="Comic Sans MS" panose="030F0702030302020204" pitchFamily="66" charset="0"/>
              </a:rPr>
              <a:t>accept</a:t>
            </a:r>
            <a:r>
              <a:rPr lang="en-US" altLang="en-US" sz="2400" b="0" dirty="0">
                <a:solidFill>
                  <a:srgbClr val="FF0000"/>
                </a:solidFill>
                <a:latin typeface="Comic Sans MS" panose="030F0702030302020204" pitchFamily="66" charset="0"/>
              </a:rPr>
              <a:t> the</a:t>
            </a:r>
          </a:p>
          <a:p>
            <a:pPr eaLnBrk="1" hangingPunct="1">
              <a:spcBef>
                <a:spcPct val="0"/>
              </a:spcBef>
              <a:buClrTx/>
              <a:buSzTx/>
              <a:buFontTx/>
              <a:buNone/>
            </a:pPr>
            <a:r>
              <a:rPr lang="en-US" altLang="en-US" sz="2400" b="0" dirty="0">
                <a:solidFill>
                  <a:srgbClr val="FF0000"/>
                </a:solidFill>
                <a:latin typeface="Comic Sans MS" panose="030F0702030302020204" pitchFamily="66" charset="0"/>
              </a:rPr>
              <a:t>null hypothesis and declare that the </a:t>
            </a:r>
            <a:r>
              <a:rPr lang="en-US" altLang="en-US" sz="2400" b="0" dirty="0" smtClean="0">
                <a:solidFill>
                  <a:srgbClr val="FF0000"/>
                </a:solidFill>
                <a:latin typeface="Comic Sans MS" panose="030F0702030302020204" pitchFamily="66" charset="0"/>
              </a:rPr>
              <a:t>defendant is “innocent”</a:t>
            </a:r>
            <a:r>
              <a:rPr lang="en-US" altLang="en-US" sz="2400" b="0" dirty="0" smtClean="0">
                <a:latin typeface="Comic Sans MS" panose="030F0702030302020204" pitchFamily="66" charset="0"/>
              </a:rPr>
              <a:t>. </a:t>
            </a:r>
            <a:r>
              <a:rPr lang="en-US" altLang="en-US" sz="2400" b="0" dirty="0">
                <a:latin typeface="Comic Sans MS" panose="030F0702030302020204" pitchFamily="66" charset="0"/>
              </a:rPr>
              <a:t>Juries can only </a:t>
            </a:r>
            <a:r>
              <a:rPr lang="en-US" altLang="en-US" sz="2400" b="0" i="1" dirty="0">
                <a:latin typeface="Comic Sans MS" panose="030F0702030302020204" pitchFamily="66" charset="0"/>
              </a:rPr>
              <a:t>fail to reject </a:t>
            </a:r>
            <a:r>
              <a:rPr lang="en-US" altLang="en-US" sz="2400" b="0" dirty="0">
                <a:latin typeface="Comic Sans MS" panose="030F0702030302020204" pitchFamily="66" charset="0"/>
              </a:rPr>
              <a:t>the null hypothesis and declare the defendant </a:t>
            </a:r>
            <a:r>
              <a:rPr lang="en-US" altLang="en-US" sz="2400" b="0" dirty="0">
                <a:solidFill>
                  <a:srgbClr val="FF0000"/>
                </a:solidFill>
                <a:latin typeface="Comic Sans MS" panose="030F0702030302020204" pitchFamily="66" charset="0"/>
              </a:rPr>
              <a:t>“not guilty</a:t>
            </a:r>
            <a:r>
              <a:rPr lang="en-US" altLang="en-US" sz="2400" b="0" dirty="0" smtClean="0">
                <a:solidFill>
                  <a:srgbClr val="FF0000"/>
                </a:solidFill>
                <a:latin typeface="Comic Sans MS" panose="030F0702030302020204" pitchFamily="66" charset="0"/>
              </a:rPr>
              <a:t>.”</a:t>
            </a:r>
            <a:endParaRPr lang="en-US" altLang="en-US" sz="2400" b="0" dirty="0">
              <a:solidFill>
                <a:srgbClr val="FF0000"/>
              </a:solidFill>
              <a:latin typeface="Comic Sans MS" panose="030F0702030302020204" pitchFamily="66" charset="0"/>
            </a:endParaRPr>
          </a:p>
        </p:txBody>
      </p:sp>
      <p:sp>
        <p:nvSpPr>
          <p:cNvPr id="2" name="TextBox 1"/>
          <p:cNvSpPr txBox="1"/>
          <p:nvPr/>
        </p:nvSpPr>
        <p:spPr>
          <a:xfrm>
            <a:off x="352199" y="4724400"/>
            <a:ext cx="8497887" cy="1200329"/>
          </a:xfrm>
          <a:prstGeom prst="rect">
            <a:avLst/>
          </a:prstGeom>
          <a:solidFill>
            <a:srgbClr val="FFCC66"/>
          </a:solidFill>
        </p:spPr>
        <p:txBody>
          <a:bodyPr wrap="square" rtlCol="0">
            <a:spAutoFit/>
          </a:bodyPr>
          <a:lstStyle/>
          <a:p>
            <a:r>
              <a:rPr lang="en-US" altLang="en-US" dirty="0">
                <a:latin typeface="Comic Sans MS" panose="030F0702030302020204" pitchFamily="66" charset="0"/>
              </a:rPr>
              <a:t>In the same way, if the data are not particularly unlikely under the assumption that the null hypothesis is true, then </a:t>
            </a:r>
            <a:r>
              <a:rPr lang="en-US" altLang="en-US" dirty="0" smtClean="0">
                <a:solidFill>
                  <a:srgbClr val="FF0000"/>
                </a:solidFill>
                <a:latin typeface="Comic Sans MS" panose="030F0702030302020204" pitchFamily="66" charset="0"/>
              </a:rPr>
              <a:t>our conclusion is “</a:t>
            </a:r>
            <a:r>
              <a:rPr lang="en-US" altLang="en-US" dirty="0">
                <a:solidFill>
                  <a:srgbClr val="FF0000"/>
                </a:solidFill>
                <a:latin typeface="Comic Sans MS" panose="030F0702030302020204" pitchFamily="66" charset="0"/>
              </a:rPr>
              <a:t>fail to </a:t>
            </a:r>
            <a:r>
              <a:rPr lang="en-US" altLang="en-US" dirty="0" smtClean="0">
                <a:solidFill>
                  <a:srgbClr val="FF0000"/>
                </a:solidFill>
                <a:latin typeface="Comic Sans MS" panose="030F0702030302020204" pitchFamily="66" charset="0"/>
              </a:rPr>
              <a:t>reject H</a:t>
            </a:r>
            <a:r>
              <a:rPr lang="en-US" altLang="en-US" baseline="-25000" dirty="0" smtClean="0">
                <a:solidFill>
                  <a:srgbClr val="FF0000"/>
                </a:solidFill>
                <a:latin typeface="Comic Sans MS" panose="030F0702030302020204" pitchFamily="66" charset="0"/>
              </a:rPr>
              <a:t>0</a:t>
            </a:r>
            <a:r>
              <a:rPr lang="en-US" altLang="en-US" dirty="0" smtClean="0">
                <a:solidFill>
                  <a:srgbClr val="FF0000"/>
                </a:solidFill>
                <a:latin typeface="Comic Sans MS" panose="030F0702030302020204" pitchFamily="66" charset="0"/>
              </a:rPr>
              <a:t>”, not “accept H</a:t>
            </a:r>
            <a:r>
              <a:rPr lang="en-US" altLang="en-US" baseline="-25000" dirty="0" smtClean="0">
                <a:solidFill>
                  <a:srgbClr val="FF0000"/>
                </a:solidFill>
                <a:latin typeface="Comic Sans MS" panose="030F0702030302020204" pitchFamily="66" charset="0"/>
              </a:rPr>
              <a:t>0</a:t>
            </a:r>
            <a:r>
              <a:rPr lang="en-US" altLang="en-US" dirty="0" smtClean="0">
                <a:solidFill>
                  <a:srgbClr val="FF0000"/>
                </a:solidFill>
                <a:latin typeface="Comic Sans MS" panose="030F0702030302020204" pitchFamily="66" charset="0"/>
              </a:rPr>
              <a:t>”</a:t>
            </a:r>
            <a:r>
              <a:rPr lang="en-US" altLang="en-US" dirty="0" smtClean="0">
                <a:solidFill>
                  <a:srgbClr val="FF0000"/>
                </a:solidFill>
              </a:rPr>
              <a:t>.</a:t>
            </a:r>
            <a:endParaRPr lang="en-US" altLang="en-US" dirty="0">
              <a:solidFill>
                <a:srgbClr val="FF0000"/>
              </a:solidFill>
            </a:endParaRPr>
          </a:p>
        </p:txBody>
      </p:sp>
      <p:pic>
        <p:nvPicPr>
          <p:cNvPr id="8" name="Picture 11" descr="http://cdn2.hubspot.net/hub/16856/file-13329847-jpg/images/trial-graphics-explaining-null-hypothesis-criminal-analogy-statistics-resized-600.jpg?t=14250550331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0"/>
            <a:ext cx="5715000" cy="42862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52400" y="2881584"/>
            <a:ext cx="2897527" cy="461665"/>
          </a:xfrm>
          <a:prstGeom prst="rect">
            <a:avLst/>
          </a:prstGeom>
          <a:solidFill>
            <a:srgbClr val="FFCC66"/>
          </a:solidFill>
        </p:spPr>
        <p:txBody>
          <a:bodyPr wrap="square" rtlCol="0">
            <a:spAutoFit/>
          </a:bodyPr>
          <a:lstStyle/>
          <a:p>
            <a:r>
              <a:rPr lang="en-US" dirty="0" smtClean="0">
                <a:solidFill>
                  <a:srgbClr val="FF0000"/>
                </a:solidFill>
                <a:latin typeface="Comic Sans MS" panose="030F0702030302020204" pitchFamily="66" charset="0"/>
              </a:rPr>
              <a:t>Possible verdicts</a:t>
            </a:r>
            <a:endParaRPr lang="en-US" dirty="0">
              <a:solidFill>
                <a:srgbClr val="FF0000"/>
              </a:solidFill>
              <a:latin typeface="Comic Sans MS" panose="030F0702030302020204" pitchFamily="66" charset="0"/>
            </a:endParaRPr>
          </a:p>
        </p:txBody>
      </p:sp>
      <p:cxnSp>
        <p:nvCxnSpPr>
          <p:cNvPr id="5" name="Straight Arrow Connector 4"/>
          <p:cNvCxnSpPr/>
          <p:nvPr/>
        </p:nvCxnSpPr>
        <p:spPr>
          <a:xfrm flipV="1">
            <a:off x="2895600" y="2881584"/>
            <a:ext cx="685800" cy="230832"/>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3049927" y="3200400"/>
            <a:ext cx="683873" cy="304800"/>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2534" name="Text Box 6"/>
          <p:cNvSpPr txBox="1">
            <a:spLocks noChangeArrowheads="1"/>
          </p:cNvSpPr>
          <p:nvPr/>
        </p:nvSpPr>
        <p:spPr bwMode="auto">
          <a:xfrm>
            <a:off x="0" y="152400"/>
            <a:ext cx="3238500"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3200" dirty="0">
                <a:solidFill>
                  <a:srgbClr val="0033CC"/>
                </a:solidFill>
                <a:latin typeface="Arial" charset="0"/>
              </a:rPr>
              <a:t>P-Values and </a:t>
            </a:r>
            <a:r>
              <a:rPr lang="en-US" altLang="en-US" sz="3200" dirty="0" smtClean="0">
                <a:solidFill>
                  <a:srgbClr val="0033CC"/>
                </a:solidFill>
                <a:latin typeface="Arial" charset="0"/>
              </a:rPr>
              <a:t>Trials</a:t>
            </a:r>
          </a:p>
          <a:p>
            <a:pPr eaLnBrk="1" hangingPunct="1">
              <a:spcBef>
                <a:spcPct val="0"/>
              </a:spcBef>
              <a:buClrTx/>
              <a:buSzTx/>
              <a:buNone/>
            </a:pPr>
            <a:r>
              <a:rPr lang="en-US" altLang="en-US" sz="2000" dirty="0" smtClean="0">
                <a:solidFill>
                  <a:srgbClr val="FF0000"/>
                </a:solidFill>
                <a:latin typeface="Comic Sans MS" panose="030F0702030302020204" pitchFamily="66" charset="0"/>
              </a:rPr>
              <a:t>H</a:t>
            </a:r>
            <a:r>
              <a:rPr lang="en-US" altLang="en-US" sz="2000" baseline="-25000" dirty="0" smtClean="0">
                <a:solidFill>
                  <a:srgbClr val="FF0000"/>
                </a:solidFill>
                <a:latin typeface="Comic Sans MS" panose="030F0702030302020204" pitchFamily="66" charset="0"/>
              </a:rPr>
              <a:t>0</a:t>
            </a:r>
            <a:r>
              <a:rPr lang="en-US" altLang="en-US" sz="2000" dirty="0" smtClean="0">
                <a:solidFill>
                  <a:srgbClr val="FF0000"/>
                </a:solidFill>
                <a:latin typeface="Comic Sans MS" panose="030F0702030302020204" pitchFamily="66" charset="0"/>
              </a:rPr>
              <a:t>: defendant innocent;</a:t>
            </a:r>
          </a:p>
          <a:p>
            <a:pPr eaLnBrk="1" hangingPunct="1">
              <a:spcBef>
                <a:spcPct val="0"/>
              </a:spcBef>
              <a:buClrTx/>
              <a:buSzTx/>
              <a:buNone/>
            </a:pPr>
            <a:r>
              <a:rPr lang="en-US" altLang="en-US" sz="2000" dirty="0" smtClean="0">
                <a:solidFill>
                  <a:srgbClr val="FF0000"/>
                </a:solidFill>
                <a:latin typeface="Comic Sans MS" panose="030F0702030302020204" pitchFamily="66" charset="0"/>
              </a:rPr>
              <a:t>H</a:t>
            </a:r>
            <a:r>
              <a:rPr lang="en-US" altLang="en-US" sz="2000" baseline="-25000" dirty="0" smtClean="0">
                <a:solidFill>
                  <a:srgbClr val="FF0000"/>
                </a:solidFill>
                <a:latin typeface="Comic Sans MS" panose="030F0702030302020204" pitchFamily="66" charset="0"/>
              </a:rPr>
              <a:t>A</a:t>
            </a:r>
            <a:r>
              <a:rPr lang="en-US" altLang="en-US" sz="2000" dirty="0" smtClean="0">
                <a:solidFill>
                  <a:srgbClr val="FF0000"/>
                </a:solidFill>
                <a:latin typeface="Comic Sans MS" panose="030F0702030302020204" pitchFamily="66" charset="0"/>
              </a:rPr>
              <a:t>: defendant guilty</a:t>
            </a:r>
            <a:endParaRPr lang="en-US" altLang="en-US" sz="3200" dirty="0">
              <a:solidFill>
                <a:srgbClr val="0033CC"/>
              </a:solidFill>
              <a:latin typeface="Arial"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5"/>
                                        </p:tgtEl>
                                        <p:attrNameLst>
                                          <p:attrName>style.visibility</p:attrName>
                                        </p:attrNameLst>
                                      </p:cBhvr>
                                      <p:to>
                                        <p:strVal val="visible"/>
                                      </p:to>
                                    </p:set>
                                  </p:childTnLst>
                                  <p:subTnLst>
                                    <p:set>
                                      <p:cBhvr override="childStyle">
                                        <p:cTn dur="1" fill="hold" display="0" masterRel="nextClick" afterEffect="1"/>
                                        <p:tgtEl>
                                          <p:spTgt spid="2253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animBg="1"/>
      <p:bldP spid="2" grpId="0" animBg="1"/>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6858000" y="228600"/>
            <a:ext cx="1524000" cy="1752600"/>
          </a:xfrm>
          <a:prstGeom prst="rect">
            <a:avLst/>
          </a:prstGeom>
          <a:solidFill>
            <a:schemeClr val="bg1"/>
          </a:solidFill>
          <a:ln w="9525">
            <a:solidFill>
              <a:schemeClr val="tx1"/>
            </a:solidFill>
            <a:miter lim="800000"/>
            <a:headEnd/>
            <a:tailEnd/>
          </a:ln>
        </p:spPr>
        <p:txBody>
          <a:bodyPr wrap="none" anchor="ct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2400" b="0">
              <a:latin typeface="Arial" charset="0"/>
            </a:endParaRPr>
          </a:p>
        </p:txBody>
      </p:sp>
      <p:pic>
        <p:nvPicPr>
          <p:cNvPr id="23555" name="Picture 3"/>
          <p:cNvPicPr>
            <a:picLocks noChangeAspect="1" noChangeArrowheads="1"/>
          </p:cNvPicPr>
          <p:nvPr/>
        </p:nvPicPr>
        <p:blipFill>
          <a:blip r:embed="rId3">
            <a:extLst>
              <a:ext uri="{28A0092B-C50C-407E-A947-70E740481C1C}">
                <a14:useLocalDpi xmlns:a14="http://schemas.microsoft.com/office/drawing/2010/main" val="0"/>
              </a:ext>
            </a:extLst>
          </a:blip>
          <a:srcRect r="30089"/>
          <a:stretch>
            <a:fillRect/>
          </a:stretch>
        </p:blipFill>
        <p:spPr bwMode="auto">
          <a:xfrm>
            <a:off x="6842125" y="304800"/>
            <a:ext cx="1519238" cy="1981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0484" name="Rectangle 4"/>
          <p:cNvSpPr>
            <a:spLocks noGrp="1" noChangeArrowheads="1"/>
          </p:cNvSpPr>
          <p:nvPr>
            <p:ph type="title"/>
          </p:nvPr>
        </p:nvSpPr>
        <p:spPr>
          <a:xfrm>
            <a:off x="152400" y="0"/>
            <a:ext cx="6553200" cy="838200"/>
          </a:xfrm>
        </p:spPr>
        <p:txBody>
          <a:bodyPr>
            <a:normAutofit fontScale="90000"/>
          </a:bodyPr>
          <a:lstStyle/>
          <a:p>
            <a:pPr>
              <a:defRPr/>
            </a:pPr>
            <a:r>
              <a:rPr lang="en-US" sz="2800" dirty="0" smtClean="0">
                <a:solidFill>
                  <a:srgbClr val="333399"/>
                </a:solidFill>
                <a:latin typeface="Arial" charset="0"/>
              </a:rPr>
              <a:t>Medication side effects (hypothesis test for p)</a:t>
            </a:r>
          </a:p>
        </p:txBody>
      </p:sp>
      <p:sp>
        <p:nvSpPr>
          <p:cNvPr id="23557" name="Text Box 5"/>
          <p:cNvSpPr txBox="1">
            <a:spLocks noChangeArrowheads="1"/>
          </p:cNvSpPr>
          <p:nvPr/>
        </p:nvSpPr>
        <p:spPr bwMode="auto">
          <a:xfrm>
            <a:off x="228600" y="838200"/>
            <a:ext cx="6553200" cy="1570038"/>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lnSpc>
                <a:spcPct val="120000"/>
              </a:lnSpc>
              <a:spcBef>
                <a:spcPct val="0"/>
              </a:spcBef>
              <a:buClrTx/>
              <a:buSzTx/>
              <a:buFontTx/>
              <a:buNone/>
            </a:pPr>
            <a:r>
              <a:rPr lang="en-US" altLang="en-US" sz="1600" b="0">
                <a:latin typeface="Arial" charset="0"/>
              </a:rPr>
              <a:t>Arthritis is a painful, chronic inflammation of the joints. </a:t>
            </a:r>
          </a:p>
          <a:p>
            <a:pPr eaLnBrk="1" hangingPunct="1">
              <a:lnSpc>
                <a:spcPct val="120000"/>
              </a:lnSpc>
              <a:spcBef>
                <a:spcPct val="0"/>
              </a:spcBef>
              <a:buClrTx/>
              <a:buSzTx/>
              <a:buFontTx/>
              <a:buNone/>
            </a:pPr>
            <a:r>
              <a:rPr lang="en-US" altLang="en-US" sz="1600" b="0">
                <a:latin typeface="Arial" charset="0"/>
              </a:rPr>
              <a:t>An experiment on the side effects of the pain reliever ibuprofen examined arthritis patients to find the proportion of patients who suffer side effects.  If more than 3% of users suffer side effects, the FDA will put a stronger warning label on packages of ibuprofen</a:t>
            </a:r>
          </a:p>
        </p:txBody>
      </p:sp>
      <p:sp>
        <p:nvSpPr>
          <p:cNvPr id="23558" name="Rectangle 6"/>
          <p:cNvSpPr>
            <a:spLocks noChangeArrowheads="1"/>
          </p:cNvSpPr>
          <p:nvPr/>
        </p:nvSpPr>
        <p:spPr bwMode="auto">
          <a:xfrm>
            <a:off x="3505200" y="2266950"/>
            <a:ext cx="5486400" cy="435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lnSpc>
                <a:spcPct val="110000"/>
              </a:lnSpc>
              <a:spcBef>
                <a:spcPct val="0"/>
              </a:spcBef>
              <a:buClrTx/>
              <a:buSzTx/>
              <a:buFontTx/>
              <a:buNone/>
            </a:pPr>
            <a:r>
              <a:rPr lang="en-US" altLang="en-US" sz="1400" b="0">
                <a:solidFill>
                  <a:srgbClr val="000000"/>
                </a:solidFill>
                <a:latin typeface="Arial" charset="0"/>
              </a:rPr>
              <a:t>Serious side effects (seek medical attention immediately):</a:t>
            </a:r>
          </a:p>
          <a:p>
            <a:pPr eaLnBrk="1" hangingPunct="1">
              <a:lnSpc>
                <a:spcPct val="110000"/>
              </a:lnSpc>
              <a:spcBef>
                <a:spcPct val="0"/>
              </a:spcBef>
              <a:buClrTx/>
              <a:buSzTx/>
              <a:buFontTx/>
              <a:buNone/>
            </a:pPr>
            <a:r>
              <a:rPr lang="en-US" altLang="en-US" sz="1400" b="0">
                <a:solidFill>
                  <a:srgbClr val="000000"/>
                </a:solidFill>
                <a:latin typeface="Arial" charset="0"/>
              </a:rPr>
              <a:t>	Allergic reaction (difficulty breathing, swelling, or hives),</a:t>
            </a:r>
          </a:p>
          <a:p>
            <a:pPr eaLnBrk="1" hangingPunct="1">
              <a:lnSpc>
                <a:spcPct val="110000"/>
              </a:lnSpc>
              <a:spcBef>
                <a:spcPct val="0"/>
              </a:spcBef>
              <a:buClrTx/>
              <a:buSzTx/>
              <a:buFontTx/>
              <a:buNone/>
            </a:pPr>
            <a:r>
              <a:rPr lang="en-US" altLang="en-US" sz="1400" b="0">
                <a:solidFill>
                  <a:srgbClr val="000000"/>
                </a:solidFill>
                <a:latin typeface="Arial" charset="0"/>
              </a:rPr>
              <a:t>	Muscle cramps, numbness, or tingling,</a:t>
            </a:r>
          </a:p>
          <a:p>
            <a:pPr eaLnBrk="1" hangingPunct="1">
              <a:lnSpc>
                <a:spcPct val="110000"/>
              </a:lnSpc>
              <a:spcBef>
                <a:spcPct val="0"/>
              </a:spcBef>
              <a:buClrTx/>
              <a:buSzTx/>
              <a:buFontTx/>
              <a:buNone/>
            </a:pPr>
            <a:r>
              <a:rPr lang="en-US" altLang="en-US" sz="1400" b="0">
                <a:solidFill>
                  <a:srgbClr val="000000"/>
                </a:solidFill>
                <a:latin typeface="Arial" charset="0"/>
              </a:rPr>
              <a:t>	Ulcers (open sores) in the mouth,</a:t>
            </a:r>
          </a:p>
          <a:p>
            <a:pPr eaLnBrk="1" hangingPunct="1">
              <a:lnSpc>
                <a:spcPct val="110000"/>
              </a:lnSpc>
              <a:spcBef>
                <a:spcPct val="0"/>
              </a:spcBef>
              <a:buClrTx/>
              <a:buSzTx/>
              <a:buFontTx/>
              <a:buNone/>
            </a:pPr>
            <a:r>
              <a:rPr lang="en-US" altLang="en-US" sz="1400" b="0">
                <a:solidFill>
                  <a:srgbClr val="000000"/>
                </a:solidFill>
                <a:latin typeface="Arial" charset="0"/>
              </a:rPr>
              <a:t>	Rapid weight gain (fluid retention),</a:t>
            </a:r>
          </a:p>
          <a:p>
            <a:pPr eaLnBrk="1" hangingPunct="1">
              <a:lnSpc>
                <a:spcPct val="110000"/>
              </a:lnSpc>
              <a:spcBef>
                <a:spcPct val="0"/>
              </a:spcBef>
              <a:buClrTx/>
              <a:buSzTx/>
              <a:buFontTx/>
              <a:buNone/>
            </a:pPr>
            <a:r>
              <a:rPr lang="en-US" altLang="en-US" sz="1400" b="0">
                <a:solidFill>
                  <a:srgbClr val="000000"/>
                </a:solidFill>
                <a:latin typeface="Arial" charset="0"/>
              </a:rPr>
              <a:t>	Seizures,</a:t>
            </a:r>
          </a:p>
          <a:p>
            <a:pPr eaLnBrk="1" hangingPunct="1">
              <a:lnSpc>
                <a:spcPct val="110000"/>
              </a:lnSpc>
              <a:spcBef>
                <a:spcPct val="0"/>
              </a:spcBef>
              <a:buClrTx/>
              <a:buSzTx/>
              <a:buFontTx/>
              <a:buNone/>
            </a:pPr>
            <a:r>
              <a:rPr lang="en-US" altLang="en-US" sz="1400" b="0">
                <a:solidFill>
                  <a:srgbClr val="000000"/>
                </a:solidFill>
                <a:latin typeface="Arial" charset="0"/>
              </a:rPr>
              <a:t>	Black, bloody, or tarry stools,</a:t>
            </a:r>
          </a:p>
          <a:p>
            <a:pPr eaLnBrk="1" hangingPunct="1">
              <a:lnSpc>
                <a:spcPct val="110000"/>
              </a:lnSpc>
              <a:spcBef>
                <a:spcPct val="0"/>
              </a:spcBef>
              <a:buClrTx/>
              <a:buSzTx/>
              <a:buFontTx/>
              <a:buNone/>
            </a:pPr>
            <a:r>
              <a:rPr lang="en-US" altLang="en-US" sz="1400" b="0">
                <a:solidFill>
                  <a:srgbClr val="000000"/>
                </a:solidFill>
                <a:latin typeface="Arial" charset="0"/>
              </a:rPr>
              <a:t>	Blood in your urine or vomit,</a:t>
            </a:r>
          </a:p>
          <a:p>
            <a:pPr eaLnBrk="1" hangingPunct="1">
              <a:lnSpc>
                <a:spcPct val="110000"/>
              </a:lnSpc>
              <a:spcBef>
                <a:spcPct val="0"/>
              </a:spcBef>
              <a:buClrTx/>
              <a:buSzTx/>
              <a:buFontTx/>
              <a:buNone/>
            </a:pPr>
            <a:r>
              <a:rPr lang="en-US" altLang="en-US" sz="1400" b="0">
                <a:solidFill>
                  <a:srgbClr val="000000"/>
                </a:solidFill>
                <a:latin typeface="Arial" charset="0"/>
              </a:rPr>
              <a:t>	Decreased hearing or ringing in the ears,</a:t>
            </a:r>
          </a:p>
          <a:p>
            <a:pPr eaLnBrk="1" hangingPunct="1">
              <a:lnSpc>
                <a:spcPct val="110000"/>
              </a:lnSpc>
              <a:spcBef>
                <a:spcPct val="0"/>
              </a:spcBef>
              <a:buClrTx/>
              <a:buSzTx/>
              <a:buFontTx/>
              <a:buNone/>
            </a:pPr>
            <a:r>
              <a:rPr lang="en-US" altLang="en-US" sz="1400" b="0">
                <a:solidFill>
                  <a:srgbClr val="000000"/>
                </a:solidFill>
                <a:latin typeface="Arial" charset="0"/>
              </a:rPr>
              <a:t>	Jaundice (yellowing of the skin or eyes), or</a:t>
            </a:r>
          </a:p>
          <a:p>
            <a:pPr eaLnBrk="1" hangingPunct="1">
              <a:lnSpc>
                <a:spcPct val="110000"/>
              </a:lnSpc>
              <a:spcBef>
                <a:spcPct val="0"/>
              </a:spcBef>
              <a:buClrTx/>
              <a:buSzTx/>
              <a:buFontTx/>
              <a:buNone/>
            </a:pPr>
            <a:r>
              <a:rPr lang="en-US" altLang="en-US" sz="1400" b="0">
                <a:solidFill>
                  <a:srgbClr val="000000"/>
                </a:solidFill>
                <a:latin typeface="Arial" charset="0"/>
              </a:rPr>
              <a:t>	Abdominal cramping, indigestion, or heartburn,</a:t>
            </a:r>
          </a:p>
          <a:p>
            <a:pPr eaLnBrk="1" hangingPunct="1">
              <a:lnSpc>
                <a:spcPct val="110000"/>
              </a:lnSpc>
              <a:spcBef>
                <a:spcPct val="0"/>
              </a:spcBef>
              <a:buClrTx/>
              <a:buSzTx/>
              <a:buFontTx/>
              <a:buNone/>
            </a:pPr>
            <a:r>
              <a:rPr lang="en-US" altLang="en-US" sz="1400" b="0">
                <a:solidFill>
                  <a:srgbClr val="000000"/>
                </a:solidFill>
                <a:latin typeface="Arial" charset="0"/>
              </a:rPr>
              <a:t>Less serious side effects (discuss with your doctor):</a:t>
            </a:r>
          </a:p>
          <a:p>
            <a:pPr eaLnBrk="1" hangingPunct="1">
              <a:lnSpc>
                <a:spcPct val="110000"/>
              </a:lnSpc>
              <a:spcBef>
                <a:spcPct val="0"/>
              </a:spcBef>
              <a:buClrTx/>
              <a:buSzTx/>
              <a:buFontTx/>
              <a:buNone/>
            </a:pPr>
            <a:r>
              <a:rPr lang="en-US" altLang="en-US" sz="1400" b="0">
                <a:solidFill>
                  <a:srgbClr val="000000"/>
                </a:solidFill>
                <a:latin typeface="Arial" charset="0"/>
              </a:rPr>
              <a:t>	Dizziness or headache,</a:t>
            </a:r>
          </a:p>
          <a:p>
            <a:pPr eaLnBrk="1" hangingPunct="1">
              <a:lnSpc>
                <a:spcPct val="110000"/>
              </a:lnSpc>
              <a:spcBef>
                <a:spcPct val="0"/>
              </a:spcBef>
              <a:buClrTx/>
              <a:buSzTx/>
              <a:buFontTx/>
              <a:buNone/>
            </a:pPr>
            <a:r>
              <a:rPr lang="en-US" altLang="en-US" sz="1400" b="0">
                <a:solidFill>
                  <a:srgbClr val="000000"/>
                </a:solidFill>
                <a:latin typeface="Arial" charset="0"/>
              </a:rPr>
              <a:t>	Nausea, gaseousness, diarrhea, or constipation,</a:t>
            </a:r>
          </a:p>
          <a:p>
            <a:pPr eaLnBrk="1" hangingPunct="1">
              <a:lnSpc>
                <a:spcPct val="110000"/>
              </a:lnSpc>
              <a:spcBef>
                <a:spcPct val="0"/>
              </a:spcBef>
              <a:buClrTx/>
              <a:buSzTx/>
              <a:buFontTx/>
              <a:buNone/>
            </a:pPr>
            <a:r>
              <a:rPr lang="en-US" altLang="en-US" sz="1400" b="0">
                <a:solidFill>
                  <a:srgbClr val="000000"/>
                </a:solidFill>
                <a:latin typeface="Arial" charset="0"/>
              </a:rPr>
              <a:t>	Depression,</a:t>
            </a:r>
          </a:p>
          <a:p>
            <a:pPr eaLnBrk="1" hangingPunct="1">
              <a:lnSpc>
                <a:spcPct val="110000"/>
              </a:lnSpc>
              <a:spcBef>
                <a:spcPct val="0"/>
              </a:spcBef>
              <a:buClrTx/>
              <a:buSzTx/>
              <a:buFontTx/>
              <a:buNone/>
            </a:pPr>
            <a:r>
              <a:rPr lang="en-US" altLang="en-US" sz="1400" b="0">
                <a:solidFill>
                  <a:srgbClr val="000000"/>
                </a:solidFill>
                <a:latin typeface="Arial" charset="0"/>
              </a:rPr>
              <a:t>	Fatigue or weakness,</a:t>
            </a:r>
          </a:p>
          <a:p>
            <a:pPr eaLnBrk="1" hangingPunct="1">
              <a:lnSpc>
                <a:spcPct val="110000"/>
              </a:lnSpc>
              <a:spcBef>
                <a:spcPct val="0"/>
              </a:spcBef>
              <a:buClrTx/>
              <a:buSzTx/>
              <a:buFontTx/>
              <a:buNone/>
            </a:pPr>
            <a:r>
              <a:rPr lang="en-US" altLang="en-US" sz="1400" b="0">
                <a:solidFill>
                  <a:srgbClr val="000000"/>
                </a:solidFill>
                <a:latin typeface="Arial" charset="0"/>
              </a:rPr>
              <a:t>	Dry mouth, or</a:t>
            </a:r>
          </a:p>
          <a:p>
            <a:pPr eaLnBrk="1" hangingPunct="1">
              <a:lnSpc>
                <a:spcPct val="110000"/>
              </a:lnSpc>
              <a:spcBef>
                <a:spcPct val="0"/>
              </a:spcBef>
              <a:buClrTx/>
              <a:buSzTx/>
              <a:buFontTx/>
              <a:buNone/>
            </a:pPr>
            <a:r>
              <a:rPr lang="en-US" altLang="en-US" sz="1400" b="0">
                <a:solidFill>
                  <a:srgbClr val="000000"/>
                </a:solidFill>
                <a:latin typeface="Arial" charset="0"/>
              </a:rPr>
              <a:t>	Irregular menstrual periods</a:t>
            </a:r>
          </a:p>
        </p:txBody>
      </p:sp>
      <p:pic>
        <p:nvPicPr>
          <p:cNvPr id="23559" name="Picture 7"/>
          <p:cNvPicPr>
            <a:picLocks noChangeAspect="1" noChangeArrowheads="1"/>
          </p:cNvPicPr>
          <p:nvPr/>
        </p:nvPicPr>
        <p:blipFill>
          <a:blip r:embed="rId4">
            <a:clrChange>
              <a:clrFrom>
                <a:srgbClr val="FFFFFF"/>
              </a:clrFrom>
              <a:clrTo>
                <a:srgbClr val="FFFFFF">
                  <a:alpha val="0"/>
                </a:srgbClr>
              </a:clrTo>
            </a:clrChange>
            <a:lum bright="-2000" contrast="12000"/>
            <a:extLst>
              <a:ext uri="{28A0092B-C50C-407E-A947-70E740481C1C}">
                <a14:useLocalDpi xmlns:a14="http://schemas.microsoft.com/office/drawing/2010/main" val="0"/>
              </a:ext>
            </a:extLst>
          </a:blip>
          <a:srcRect l="16902" t="15492" r="11267" b="16902"/>
          <a:stretch>
            <a:fillRect/>
          </a:stretch>
        </p:blipFill>
        <p:spPr bwMode="auto">
          <a:xfrm>
            <a:off x="1295400" y="5041900"/>
            <a:ext cx="15240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0" name="Picture 8"/>
          <p:cNvPicPr>
            <a:picLocks noChangeAspect="1" noChangeArrowheads="1"/>
          </p:cNvPicPr>
          <p:nvPr/>
        </p:nvPicPr>
        <p:blipFill>
          <a:blip r:embed="rId5">
            <a:lum bright="-10000" contrast="6000"/>
            <a:extLst>
              <a:ext uri="{28A0092B-C50C-407E-A947-70E740481C1C}">
                <a14:useLocalDpi xmlns:a14="http://schemas.microsoft.com/office/drawing/2010/main" val="0"/>
              </a:ext>
            </a:extLst>
          </a:blip>
          <a:srcRect t="7408" b="3703"/>
          <a:stretch>
            <a:fillRect/>
          </a:stretch>
        </p:blipFill>
        <p:spPr bwMode="auto">
          <a:xfrm>
            <a:off x="152400" y="2895600"/>
            <a:ext cx="3429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1" name="TextBox 8"/>
          <p:cNvSpPr txBox="1">
            <a:spLocks noChangeArrowheads="1"/>
          </p:cNvSpPr>
          <p:nvPr/>
        </p:nvSpPr>
        <p:spPr bwMode="auto">
          <a:xfrm>
            <a:off x="152400" y="2514600"/>
            <a:ext cx="365760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lnSpc>
                <a:spcPct val="110000"/>
              </a:lnSpc>
              <a:spcBef>
                <a:spcPct val="0"/>
              </a:spcBef>
              <a:buClrTx/>
              <a:buSzTx/>
              <a:buFontTx/>
              <a:buNone/>
            </a:pPr>
            <a:r>
              <a:rPr lang="en-US" altLang="en-US" sz="1400">
                <a:solidFill>
                  <a:srgbClr val="000000"/>
                </a:solidFill>
                <a:latin typeface="Arial" charset="0"/>
              </a:rPr>
              <a:t>What are some side effects of ibuprofen?</a:t>
            </a:r>
            <a:endParaRPr lang="en-US" altLang="en-US" sz="1400" b="0">
              <a:solidFill>
                <a:srgbClr val="000000"/>
              </a:solidFill>
              <a:latin typeface="Arial" charset="0"/>
            </a:endParaRPr>
          </a:p>
        </p:txBody>
      </p:sp>
    </p:spTree>
    <p:custDataLst>
      <p:tags r:id="rId1"/>
    </p:custData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Rectangle 2"/>
          <p:cNvSpPr>
            <a:spLocks noChangeArrowheads="1"/>
          </p:cNvSpPr>
          <p:nvPr/>
        </p:nvSpPr>
        <p:spPr bwMode="auto">
          <a:xfrm>
            <a:off x="152400" y="2209800"/>
            <a:ext cx="1524000" cy="457200"/>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1800" b="0">
                <a:latin typeface="Arial" charset="0"/>
              </a:rPr>
              <a:t>Test statistic:</a:t>
            </a:r>
          </a:p>
        </p:txBody>
      </p:sp>
      <p:sp>
        <p:nvSpPr>
          <p:cNvPr id="24579" name="Text Box 3"/>
          <p:cNvSpPr txBox="1">
            <a:spLocks noChangeArrowheads="1"/>
          </p:cNvSpPr>
          <p:nvPr/>
        </p:nvSpPr>
        <p:spPr bwMode="auto">
          <a:xfrm>
            <a:off x="381000" y="838200"/>
            <a:ext cx="6934200" cy="70167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lnSpc>
                <a:spcPct val="110000"/>
              </a:lnSpc>
              <a:spcBef>
                <a:spcPct val="0"/>
              </a:spcBef>
              <a:buClrTx/>
              <a:buSzTx/>
              <a:buFontTx/>
              <a:buNone/>
            </a:pPr>
            <a:r>
              <a:rPr lang="en-US" altLang="en-US" sz="1800" b="0">
                <a:latin typeface="Arial" charset="0"/>
              </a:rPr>
              <a:t>H</a:t>
            </a:r>
            <a:r>
              <a:rPr lang="en-US" altLang="en-US" sz="1800" b="0" baseline="-25000">
                <a:latin typeface="Arial" charset="0"/>
              </a:rPr>
              <a:t>0</a:t>
            </a:r>
            <a:r>
              <a:rPr lang="en-US" altLang="en-US" sz="1800" b="0">
                <a:latin typeface="Arial" charset="0"/>
              </a:rPr>
              <a:t> : p =.03     H</a:t>
            </a:r>
            <a:r>
              <a:rPr lang="en-US" altLang="en-US" sz="1800" b="0" baseline="-25000">
                <a:latin typeface="Arial" charset="0"/>
              </a:rPr>
              <a:t>A</a:t>
            </a:r>
            <a:r>
              <a:rPr lang="en-US" altLang="en-US" sz="1800" b="0">
                <a:latin typeface="Arial" charset="0"/>
              </a:rPr>
              <a:t> : p &gt; .03 where </a:t>
            </a:r>
            <a:r>
              <a:rPr lang="en-US" altLang="en-US" sz="1800" b="0" i="1">
                <a:latin typeface="Arial" charset="0"/>
              </a:rPr>
              <a:t>p</a:t>
            </a:r>
            <a:r>
              <a:rPr lang="en-US" altLang="en-US" sz="1800" b="0">
                <a:latin typeface="Arial" charset="0"/>
              </a:rPr>
              <a:t> is the proportion of ibuprofen</a:t>
            </a:r>
          </a:p>
          <a:p>
            <a:pPr eaLnBrk="1" hangingPunct="1">
              <a:lnSpc>
                <a:spcPct val="110000"/>
              </a:lnSpc>
              <a:spcBef>
                <a:spcPct val="0"/>
              </a:spcBef>
              <a:buClrTx/>
              <a:buSzTx/>
              <a:buFontTx/>
              <a:buNone/>
            </a:pPr>
            <a:r>
              <a:rPr lang="en-US" altLang="en-US" sz="1800" b="0">
                <a:latin typeface="Arial" charset="0"/>
              </a:rPr>
              <a:t>users who suffer side effects.</a:t>
            </a:r>
          </a:p>
        </p:txBody>
      </p:sp>
      <p:graphicFrame>
        <p:nvGraphicFramePr>
          <p:cNvPr id="55300" name="Object 4"/>
          <p:cNvGraphicFramePr>
            <a:graphicFrameLocks noChangeAspect="1"/>
          </p:cNvGraphicFramePr>
          <p:nvPr/>
        </p:nvGraphicFramePr>
        <p:xfrm>
          <a:off x="228600" y="2743200"/>
          <a:ext cx="2555875" cy="1524000"/>
        </p:xfrm>
        <a:graphic>
          <a:graphicData uri="http://schemas.openxmlformats.org/presentationml/2006/ole">
            <mc:AlternateContent xmlns:mc="http://schemas.openxmlformats.org/markup-compatibility/2006">
              <mc:Choice xmlns:v="urn:schemas-microsoft-com:vml" Requires="v">
                <p:oleObj spid="_x0000_s24664" name="Equation" r:id="rId4" imgW="1244600" imgH="838200" progId="Equation.DSMT4">
                  <p:embed/>
                </p:oleObj>
              </mc:Choice>
              <mc:Fallback>
                <p:oleObj name="Equation" r:id="rId4" imgW="1244600" imgH="8382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2743200"/>
                        <a:ext cx="2555875" cy="15240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1" name="Object 5"/>
          <p:cNvGraphicFramePr>
            <a:graphicFrameLocks noChangeAspect="1"/>
          </p:cNvGraphicFramePr>
          <p:nvPr/>
        </p:nvGraphicFramePr>
        <p:xfrm>
          <a:off x="387350" y="1524000"/>
          <a:ext cx="2044700" cy="722313"/>
        </p:xfrm>
        <a:graphic>
          <a:graphicData uri="http://schemas.openxmlformats.org/presentationml/2006/ole">
            <mc:AlternateContent xmlns:mc="http://schemas.openxmlformats.org/markup-compatibility/2006">
              <mc:Choice xmlns:v="urn:schemas-microsoft-com:vml" Requires="v">
                <p:oleObj spid="_x0000_s24665" name="Equation" r:id="rId6" imgW="1117115" imgH="393529" progId="Equation.DSMT4">
                  <p:embed/>
                </p:oleObj>
              </mc:Choice>
              <mc:Fallback>
                <p:oleObj name="Equation" r:id="rId6" imgW="1117115" imgH="393529"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350" y="1524000"/>
                        <a:ext cx="2044700" cy="722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4582" name="Picture 7"/>
          <p:cNvPicPr>
            <a:picLocks noChangeAspect="1" noChangeArrowheads="1"/>
          </p:cNvPicPr>
          <p:nvPr/>
        </p:nvPicPr>
        <p:blipFill>
          <a:blip r:embed="rId8">
            <a:clrChange>
              <a:clrFrom>
                <a:srgbClr val="FFFFFF"/>
              </a:clrFrom>
              <a:clrTo>
                <a:srgbClr val="FFFFFF">
                  <a:alpha val="0"/>
                </a:srgbClr>
              </a:clrTo>
            </a:clrChange>
            <a:lum bright="-2000" contrast="12000"/>
            <a:extLst>
              <a:ext uri="{28A0092B-C50C-407E-A947-70E740481C1C}">
                <a14:useLocalDpi xmlns:a14="http://schemas.microsoft.com/office/drawing/2010/main" val="0"/>
              </a:ext>
            </a:extLst>
          </a:blip>
          <a:srcRect l="16902" t="15492" r="11267" b="16902"/>
          <a:stretch>
            <a:fillRect/>
          </a:stretch>
        </p:blipFill>
        <p:spPr bwMode="auto">
          <a:xfrm>
            <a:off x="7848600" y="0"/>
            <a:ext cx="1295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4" name="Text Box 8"/>
          <p:cNvSpPr txBox="1">
            <a:spLocks noChangeArrowheads="1"/>
          </p:cNvSpPr>
          <p:nvPr/>
        </p:nvSpPr>
        <p:spPr bwMode="auto">
          <a:xfrm>
            <a:off x="339680" y="4953000"/>
            <a:ext cx="8077200" cy="1089025"/>
          </a:xfrm>
          <a:prstGeom prst="rect">
            <a:avLst/>
          </a:prstGeom>
          <a:solidFill>
            <a:srgbClr val="FFCC66"/>
          </a:solidFill>
          <a:ln w="9525">
            <a:noFill/>
            <a:miter lim="800000"/>
            <a:headEnd/>
            <a:tailEnd/>
          </a:ln>
        </p:spPr>
        <p:txBody>
          <a:bodyPr>
            <a:spAutoFit/>
          </a:bodyPr>
          <a:lstStyle/>
          <a:p>
            <a:pPr>
              <a:lnSpc>
                <a:spcPct val="120000"/>
              </a:lnSpc>
              <a:buFont typeface="Times" charset="0"/>
              <a:buNone/>
              <a:defRPr/>
            </a:pPr>
            <a:r>
              <a:rPr lang="en-US" sz="1800" b="1" dirty="0"/>
              <a:t>Conclusion:</a:t>
            </a:r>
            <a:r>
              <a:rPr lang="en-US" sz="1800" dirty="0"/>
              <a:t> since the P-value is less than .05, </a:t>
            </a:r>
            <a:r>
              <a:rPr lang="en-US" sz="1800" u="sng" dirty="0">
                <a:solidFill>
                  <a:schemeClr val="accent6"/>
                </a:solidFill>
              </a:rPr>
              <a:t>reject H</a:t>
            </a:r>
            <a:r>
              <a:rPr lang="en-US" sz="1800" u="sng" baseline="-25000" dirty="0">
                <a:solidFill>
                  <a:schemeClr val="accent6"/>
                </a:solidFill>
              </a:rPr>
              <a:t>0</a:t>
            </a:r>
            <a:r>
              <a:rPr lang="en-US" sz="1800" u="sng" dirty="0">
                <a:solidFill>
                  <a:schemeClr val="accent6"/>
                </a:solidFill>
              </a:rPr>
              <a:t> : p =.03</a:t>
            </a:r>
            <a:r>
              <a:rPr lang="en-US" sz="1800" dirty="0"/>
              <a:t>; there is sufficient evidence to conclude that the proportion of ibuprofen users who suffer side effects is greater than .03 </a:t>
            </a:r>
          </a:p>
        </p:txBody>
      </p:sp>
      <p:graphicFrame>
        <p:nvGraphicFramePr>
          <p:cNvPr id="55305" name="Object 9"/>
          <p:cNvGraphicFramePr>
            <a:graphicFrameLocks noChangeAspect="1"/>
          </p:cNvGraphicFramePr>
          <p:nvPr/>
        </p:nvGraphicFramePr>
        <p:xfrm>
          <a:off x="2971800" y="2819400"/>
          <a:ext cx="3643313" cy="381000"/>
        </p:xfrm>
        <a:graphic>
          <a:graphicData uri="http://schemas.openxmlformats.org/presentationml/2006/ole">
            <mc:AlternateContent xmlns:mc="http://schemas.openxmlformats.org/markup-compatibility/2006">
              <mc:Choice xmlns:v="urn:schemas-microsoft-com:vml" Requires="v">
                <p:oleObj spid="_x0000_s24666" name="Equation" r:id="rId9" imgW="1955800" imgH="203200" progId="Equation.DSMT4">
                  <p:embed/>
                </p:oleObj>
              </mc:Choice>
              <mc:Fallback>
                <p:oleObj name="Equation" r:id="rId9" imgW="1955800" imgH="2032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1800" y="2819400"/>
                        <a:ext cx="3643313" cy="3810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5" name="Text Box 11"/>
          <p:cNvSpPr txBox="1">
            <a:spLocks noChangeArrowheads="1"/>
          </p:cNvSpPr>
          <p:nvPr/>
        </p:nvSpPr>
        <p:spPr bwMode="auto">
          <a:xfrm>
            <a:off x="457200" y="228600"/>
            <a:ext cx="7239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50000"/>
              </a:spcBef>
              <a:buClrTx/>
              <a:buSzTx/>
              <a:buFontTx/>
              <a:buNone/>
            </a:pPr>
            <a:r>
              <a:rPr lang="en-US" altLang="en-US" sz="1800" b="0">
                <a:solidFill>
                  <a:srgbClr val="0000FF"/>
                </a:solidFill>
                <a:latin typeface="Arial" charset="0"/>
              </a:rPr>
              <a:t>440 subjects with chronic arthritis were given ibuprofen for pain relief; 23 subjects suffered from adverse side effects.</a:t>
            </a:r>
          </a:p>
        </p:txBody>
      </p:sp>
      <p:pic>
        <p:nvPicPr>
          <p:cNvPr id="24586"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05600" y="1582805"/>
            <a:ext cx="2057400" cy="142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 name="Object 7"/>
          <p:cNvGraphicFramePr>
            <a:graphicFrameLocks noChangeAspect="1"/>
          </p:cNvGraphicFramePr>
          <p:nvPr/>
        </p:nvGraphicFramePr>
        <p:xfrm>
          <a:off x="2743200" y="1447800"/>
          <a:ext cx="3205163" cy="795338"/>
        </p:xfrm>
        <a:graphic>
          <a:graphicData uri="http://schemas.openxmlformats.org/presentationml/2006/ole">
            <mc:AlternateContent xmlns:mc="http://schemas.openxmlformats.org/markup-compatibility/2006">
              <mc:Choice xmlns:v="urn:schemas-microsoft-com:vml" Requires="v">
                <p:oleObj spid="_x0000_s24667" name="Equation" r:id="rId12" imgW="1790700" imgH="444500" progId="Equation.DSMT4">
                  <p:embed/>
                </p:oleObj>
              </mc:Choice>
              <mc:Fallback>
                <p:oleObj name="Equation" r:id="rId12" imgW="1790700" imgH="444500"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43200" y="1447800"/>
                        <a:ext cx="3205163" cy="79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TextBox 15"/>
          <p:cNvSpPr txBox="1">
            <a:spLocks noChangeArrowheads="1"/>
          </p:cNvSpPr>
          <p:nvPr/>
        </p:nvSpPr>
        <p:spPr bwMode="auto">
          <a:xfrm>
            <a:off x="2971800" y="2286000"/>
            <a:ext cx="1219200" cy="400050"/>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000" b="0">
                <a:latin typeface="Arial" charset="0"/>
              </a:rPr>
              <a:t>P-value:</a:t>
            </a:r>
          </a:p>
        </p:txBody>
      </p:sp>
      <p:pic>
        <p:nvPicPr>
          <p:cNvPr id="58376"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76600" y="3276600"/>
            <a:ext cx="2133600" cy="123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5" name="Picture 39" descr="Image result for p-valu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05600" y="3097369"/>
            <a:ext cx="1828800" cy="18288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53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8200"/>
                                        </p:tgtEl>
                                        <p:attrNameLst>
                                          <p:attrName>style.visibility</p:attrName>
                                        </p:attrNameLst>
                                      </p:cBhvr>
                                      <p:to>
                                        <p:strVal val="visible"/>
                                      </p:to>
                                    </p:set>
                                    <p:anim calcmode="lin" valueType="num">
                                      <p:cBhvr additive="base">
                                        <p:cTn id="15" dur="500" fill="hold"/>
                                        <p:tgtEl>
                                          <p:spTgt spid="8200"/>
                                        </p:tgtEl>
                                        <p:attrNameLst>
                                          <p:attrName>ppt_x</p:attrName>
                                        </p:attrNameLst>
                                      </p:cBhvr>
                                      <p:tavLst>
                                        <p:tav tm="0">
                                          <p:val>
                                            <p:strVal val="0-#ppt_w/2"/>
                                          </p:val>
                                        </p:tav>
                                        <p:tav tm="100000">
                                          <p:val>
                                            <p:strVal val="#ppt_x"/>
                                          </p:val>
                                        </p:tav>
                                      </p:tavLst>
                                    </p:anim>
                                    <p:anim calcmode="lin" valueType="num">
                                      <p:cBhvr additive="base">
                                        <p:cTn id="16" dur="500" fill="hold"/>
                                        <p:tgtEl>
                                          <p:spTgt spid="8200"/>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5530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1+#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5530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5837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5530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0" grpId="0" animBg="1" autoUpdateAnimBg="0"/>
      <p:bldP spid="55304" grpId="0" animBg="1" autoUpdateAnimBg="0"/>
      <p:bldP spid="16"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p:cNvSpPr>
            <a:spLocks noGrp="1"/>
          </p:cNvSpPr>
          <p:nvPr>
            <p:ph type="sldNum" sz="quarter" idx="10"/>
          </p:nvPr>
        </p:nvSpPr>
        <p:spPr bwMode="auto">
          <a:xfrm>
            <a:off x="7086600" y="6400800"/>
            <a:ext cx="1905000" cy="309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1000" b="0" smtClean="0">
                <a:latin typeface="Verdana" pitchFamily="34" charset="0"/>
              </a:rPr>
              <a:t>Chap 9-</a:t>
            </a:r>
            <a:fld id="{B0221EED-65DF-4D02-9C48-C9B57DB73605}" type="slidenum">
              <a:rPr lang="en-US" altLang="en-US" sz="1000" b="0" smtClean="0">
                <a:latin typeface="Verdana" pitchFamily="34" charset="0"/>
              </a:rPr>
              <a:pPr eaLnBrk="1" hangingPunct="1">
                <a:spcBef>
                  <a:spcPct val="0"/>
                </a:spcBef>
                <a:buClrTx/>
                <a:buSzTx/>
                <a:buFontTx/>
                <a:buNone/>
              </a:pPr>
              <a:t>30</a:t>
            </a:fld>
            <a:endParaRPr lang="en-US" altLang="en-US" sz="1000" b="0" smtClean="0">
              <a:latin typeface="Verdana" pitchFamily="34" charset="0"/>
            </a:endParaRPr>
          </a:p>
        </p:txBody>
      </p:sp>
      <p:sp>
        <p:nvSpPr>
          <p:cNvPr id="171010" name="Rectangle 2"/>
          <p:cNvSpPr>
            <a:spLocks noGrp="1" noChangeArrowheads="1"/>
          </p:cNvSpPr>
          <p:nvPr>
            <p:ph type="title"/>
          </p:nvPr>
        </p:nvSpPr>
        <p:spPr>
          <a:xfrm>
            <a:off x="685800" y="152400"/>
            <a:ext cx="7793037" cy="762000"/>
          </a:xfrm>
        </p:spPr>
        <p:txBody>
          <a:bodyPr/>
          <a:lstStyle/>
          <a:p>
            <a:pPr eaLnBrk="1" hangingPunct="1">
              <a:defRPr/>
            </a:pPr>
            <a:r>
              <a:rPr lang="en-US" sz="3600" dirty="0"/>
              <a:t>Example:  </a:t>
            </a:r>
            <a:r>
              <a:rPr lang="en-US" sz="3600" dirty="0" smtClean="0"/>
              <a:t>one-proportion z test</a:t>
            </a:r>
            <a:endParaRPr lang="en-US" sz="3600" dirty="0"/>
          </a:p>
        </p:txBody>
      </p:sp>
      <p:sp>
        <p:nvSpPr>
          <p:cNvPr id="25604" name="Rectangle 3"/>
          <p:cNvSpPr>
            <a:spLocks noChangeArrowheads="1"/>
          </p:cNvSpPr>
          <p:nvPr/>
        </p:nvSpPr>
        <p:spPr bwMode="auto">
          <a:xfrm>
            <a:off x="609600" y="5029200"/>
            <a:ext cx="4133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2400" b="0">
              <a:latin typeface="Arial" charset="0"/>
            </a:endParaRPr>
          </a:p>
        </p:txBody>
      </p:sp>
      <p:sp>
        <p:nvSpPr>
          <p:cNvPr id="25605" name="Rectangle 5"/>
          <p:cNvSpPr>
            <a:spLocks noGrp="1" noChangeArrowheads="1"/>
          </p:cNvSpPr>
          <p:nvPr>
            <p:ph type="body" idx="1"/>
          </p:nvPr>
        </p:nvSpPr>
        <p:spPr>
          <a:xfrm>
            <a:off x="381000" y="1143000"/>
            <a:ext cx="4343400" cy="4648200"/>
          </a:xfrm>
          <a:solidFill>
            <a:srgbClr val="FFFFC3"/>
          </a:solidFill>
          <a:ln w="19050">
            <a:solidFill>
              <a:schemeClr val="tx1"/>
            </a:solidFill>
            <a:miter lim="800000"/>
            <a:headEnd/>
            <a:tailEnd/>
          </a:ln>
        </p:spPr>
        <p:txBody>
          <a:bodyPr/>
          <a:lstStyle/>
          <a:p>
            <a:pPr eaLnBrk="1" hangingPunct="1">
              <a:buFont typeface="Wingdings" pitchFamily="2" charset="2"/>
              <a:buNone/>
            </a:pPr>
            <a:r>
              <a:rPr lang="en-US" altLang="en-US" smtClean="0"/>
              <a:t>   A marketing company claims that it receives 8% responses from its mailing.  To test this claim, a random sample of 500 were surveyed  with 25 responses.  Perform a 2-sided hypothesis test to evaluate the company’s claim</a:t>
            </a:r>
          </a:p>
        </p:txBody>
      </p:sp>
      <p:sp>
        <p:nvSpPr>
          <p:cNvPr id="25606" name="Text Box 7"/>
          <p:cNvSpPr txBox="1">
            <a:spLocks noChangeArrowheads="1"/>
          </p:cNvSpPr>
          <p:nvPr/>
        </p:nvSpPr>
        <p:spPr bwMode="auto">
          <a:xfrm>
            <a:off x="5181600" y="4267200"/>
            <a:ext cx="3124200" cy="1514475"/>
          </a:xfrm>
          <a:prstGeom prst="rect">
            <a:avLst/>
          </a:prstGeom>
          <a:solidFill>
            <a:srgbClr val="E1FFF7"/>
          </a:solidFill>
          <a:ln w="19050" algn="ctr">
            <a:solidFill>
              <a:schemeClr val="tx1"/>
            </a:solidFill>
            <a:miter lim="800000"/>
            <a:headEnd/>
            <a:tailEnd/>
          </a:ln>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50000"/>
              </a:spcBef>
              <a:buClrTx/>
              <a:buSzTx/>
              <a:buFontTx/>
              <a:buNone/>
            </a:pPr>
            <a:r>
              <a:rPr lang="en-US" altLang="en-US" sz="2000" b="0">
                <a:latin typeface="Arial" charset="0"/>
              </a:rPr>
              <a:t>Check:  </a:t>
            </a:r>
          </a:p>
          <a:p>
            <a:pPr eaLnBrk="1" hangingPunct="1">
              <a:spcBef>
                <a:spcPct val="50000"/>
              </a:spcBef>
              <a:buClrTx/>
              <a:buSzTx/>
              <a:buFontTx/>
              <a:buNone/>
            </a:pPr>
            <a:r>
              <a:rPr lang="en-US" altLang="en-US" sz="2000" b="0">
                <a:latin typeface="Arial" charset="0"/>
              </a:rPr>
              <a:t>     n</a:t>
            </a:r>
            <a:r>
              <a:rPr lang="en-US" altLang="en-US" sz="1000" b="0">
                <a:latin typeface="Arial" charset="0"/>
              </a:rPr>
              <a:t> </a:t>
            </a:r>
            <a:r>
              <a:rPr lang="en-US" altLang="en-US" sz="2000" b="0">
                <a:solidFill>
                  <a:srgbClr val="000066"/>
                </a:solidFill>
                <a:latin typeface="Arial" charset="0"/>
                <a:sym typeface="Symbol" pitchFamily="18" charset="2"/>
              </a:rPr>
              <a:t>p</a:t>
            </a:r>
            <a:r>
              <a:rPr lang="en-US" altLang="en-US" sz="2000" b="0">
                <a:latin typeface="Arial" charset="0"/>
              </a:rPr>
              <a:t> = (500)(.08) = 40</a:t>
            </a:r>
          </a:p>
          <a:p>
            <a:pPr eaLnBrk="1" hangingPunct="1">
              <a:spcBef>
                <a:spcPct val="50000"/>
              </a:spcBef>
              <a:buClrTx/>
              <a:buSzTx/>
              <a:buFontTx/>
              <a:buNone/>
            </a:pPr>
            <a:r>
              <a:rPr lang="en-US" altLang="en-US" sz="2000" b="0">
                <a:latin typeface="Arial" charset="0"/>
              </a:rPr>
              <a:t>n(1-</a:t>
            </a:r>
            <a:r>
              <a:rPr lang="en-US" altLang="en-US" sz="2000" b="0">
                <a:solidFill>
                  <a:srgbClr val="000066"/>
                </a:solidFill>
                <a:latin typeface="Arial" charset="0"/>
                <a:sym typeface="Symbol" pitchFamily="18" charset="2"/>
              </a:rPr>
              <a:t>p</a:t>
            </a:r>
            <a:r>
              <a:rPr lang="en-US" altLang="en-US" sz="2000" b="0">
                <a:latin typeface="Arial" charset="0"/>
              </a:rPr>
              <a:t>) = (500)(.92) = 460</a:t>
            </a:r>
          </a:p>
          <a:p>
            <a:pPr eaLnBrk="1" hangingPunct="1">
              <a:spcBef>
                <a:spcPct val="50000"/>
              </a:spcBef>
              <a:buClrTx/>
              <a:buSzTx/>
              <a:buFontTx/>
              <a:buNone/>
            </a:pPr>
            <a:endParaRPr lang="en-US" altLang="en-US" sz="800" b="0">
              <a:latin typeface="Arial" charset="0"/>
            </a:endParaRPr>
          </a:p>
        </p:txBody>
      </p:sp>
      <p:pic>
        <p:nvPicPr>
          <p:cNvPr id="25607" name="Picture 10" descr="j01964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6400" y="1828800"/>
            <a:ext cx="2590800" cy="196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Text Box 11"/>
          <p:cNvSpPr txBox="1">
            <a:spLocks noChangeArrowheads="1"/>
          </p:cNvSpPr>
          <p:nvPr/>
        </p:nvSpPr>
        <p:spPr bwMode="auto">
          <a:xfrm>
            <a:off x="8305800" y="4724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50000"/>
              </a:spcBef>
              <a:buClrTx/>
              <a:buSzTx/>
              <a:buFontTx/>
              <a:buNone/>
            </a:pPr>
            <a:r>
              <a:rPr lang="en-US" altLang="en-US" sz="2400">
                <a:solidFill>
                  <a:schemeClr val="hlink"/>
                </a:solidFill>
                <a:latin typeface="Arial" charset="0"/>
                <a:sym typeface="Wingdings" pitchFamily="2" charset="2"/>
              </a:rPr>
              <a:t></a:t>
            </a:r>
          </a:p>
        </p:txBody>
      </p:sp>
    </p:spTree>
    <p:custDataLst>
      <p:tags r:id="rId1"/>
    </p:custData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a:spLocks noGrp="1"/>
          </p:cNvSpPr>
          <p:nvPr>
            <p:ph type="sldNum" sz="quarter" idx="10"/>
          </p:nvPr>
        </p:nvSpPr>
        <p:spPr bwMode="auto">
          <a:xfrm>
            <a:off x="7086600" y="6400800"/>
            <a:ext cx="1905000" cy="309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1000" b="0" smtClean="0">
              <a:latin typeface="Verdana" pitchFamily="34" charset="0"/>
            </a:endParaRPr>
          </a:p>
        </p:txBody>
      </p:sp>
      <p:sp>
        <p:nvSpPr>
          <p:cNvPr id="26627" name="Line 22"/>
          <p:cNvSpPr>
            <a:spLocks noChangeShapeType="1"/>
          </p:cNvSpPr>
          <p:nvPr/>
        </p:nvSpPr>
        <p:spPr bwMode="auto">
          <a:xfrm>
            <a:off x="2438400" y="4267200"/>
            <a:ext cx="0" cy="1371600"/>
          </a:xfrm>
          <a:prstGeom prst="line">
            <a:avLst/>
          </a:prstGeom>
          <a:noFill/>
          <a:ln w="1270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28" name="Rectangle 2"/>
          <p:cNvSpPr>
            <a:spLocks noChangeArrowheads="1"/>
          </p:cNvSpPr>
          <p:nvPr/>
        </p:nvSpPr>
        <p:spPr bwMode="auto">
          <a:xfrm>
            <a:off x="5029200" y="2362200"/>
            <a:ext cx="838200" cy="457200"/>
          </a:xfrm>
          <a:prstGeom prst="rect">
            <a:avLst/>
          </a:prstGeom>
          <a:solidFill>
            <a:srgbClr val="E4E4F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2400" b="0">
              <a:latin typeface="Arial" charset="0"/>
            </a:endParaRPr>
          </a:p>
        </p:txBody>
      </p:sp>
      <p:sp>
        <p:nvSpPr>
          <p:cNvPr id="26629" name="Rectangle 5"/>
          <p:cNvSpPr>
            <a:spLocks noChangeArrowheads="1"/>
          </p:cNvSpPr>
          <p:nvPr/>
        </p:nvSpPr>
        <p:spPr bwMode="auto">
          <a:xfrm>
            <a:off x="1600200" y="5715000"/>
            <a:ext cx="609600" cy="228600"/>
          </a:xfrm>
          <a:prstGeom prst="rect">
            <a:avLst/>
          </a:prstGeom>
          <a:solidFill>
            <a:srgbClr val="FDDBE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2400" b="0">
              <a:latin typeface="Arial" charset="0"/>
            </a:endParaRPr>
          </a:p>
        </p:txBody>
      </p:sp>
      <p:sp>
        <p:nvSpPr>
          <p:cNvPr id="26630" name="Rectangle 6"/>
          <p:cNvSpPr>
            <a:spLocks noChangeArrowheads="1"/>
          </p:cNvSpPr>
          <p:nvPr/>
        </p:nvSpPr>
        <p:spPr bwMode="auto">
          <a:xfrm>
            <a:off x="2962275" y="5721350"/>
            <a:ext cx="531813" cy="227013"/>
          </a:xfrm>
          <a:prstGeom prst="rect">
            <a:avLst/>
          </a:prstGeom>
          <a:solidFill>
            <a:srgbClr val="FDDBE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2400" b="0">
              <a:latin typeface="Arial" charset="0"/>
            </a:endParaRPr>
          </a:p>
        </p:txBody>
      </p:sp>
      <p:sp>
        <p:nvSpPr>
          <p:cNvPr id="26631" name="Freeform 8"/>
          <p:cNvSpPr>
            <a:spLocks/>
          </p:cNvSpPr>
          <p:nvPr/>
        </p:nvSpPr>
        <p:spPr bwMode="auto">
          <a:xfrm>
            <a:off x="3119438" y="5200650"/>
            <a:ext cx="698500" cy="442913"/>
          </a:xfrm>
          <a:custGeom>
            <a:avLst/>
            <a:gdLst>
              <a:gd name="T0" fmla="*/ 0 w 440"/>
              <a:gd name="T1" fmla="*/ 0 h 279"/>
              <a:gd name="T2" fmla="*/ 2147483647 w 440"/>
              <a:gd name="T3" fmla="*/ 2147483647 h 279"/>
              <a:gd name="T4" fmla="*/ 2147483647 w 440"/>
              <a:gd name="T5" fmla="*/ 2147483647 h 279"/>
              <a:gd name="T6" fmla="*/ 2147483647 w 440"/>
              <a:gd name="T7" fmla="*/ 2147483647 h 279"/>
              <a:gd name="T8" fmla="*/ 2147483647 w 440"/>
              <a:gd name="T9" fmla="*/ 2147483647 h 279"/>
              <a:gd name="T10" fmla="*/ 2147483647 w 440"/>
              <a:gd name="T11" fmla="*/ 2147483647 h 279"/>
              <a:gd name="T12" fmla="*/ 2147483647 w 440"/>
              <a:gd name="T13" fmla="*/ 2147483647 h 279"/>
              <a:gd name="T14" fmla="*/ 2147483647 w 440"/>
              <a:gd name="T15" fmla="*/ 2147483647 h 279"/>
              <a:gd name="T16" fmla="*/ 2147483647 w 440"/>
              <a:gd name="T17" fmla="*/ 2147483647 h 2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0"/>
              <a:gd name="T28" fmla="*/ 0 h 279"/>
              <a:gd name="T29" fmla="*/ 440 w 440"/>
              <a:gd name="T30" fmla="*/ 279 h 2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0" h="279">
                <a:moveTo>
                  <a:pt x="0" y="0"/>
                </a:moveTo>
                <a:lnTo>
                  <a:pt x="3" y="279"/>
                </a:lnTo>
                <a:lnTo>
                  <a:pt x="440" y="273"/>
                </a:lnTo>
                <a:lnTo>
                  <a:pt x="440" y="255"/>
                </a:lnTo>
                <a:lnTo>
                  <a:pt x="269" y="225"/>
                </a:lnTo>
                <a:lnTo>
                  <a:pt x="195" y="192"/>
                </a:lnTo>
                <a:lnTo>
                  <a:pt x="161" y="168"/>
                </a:lnTo>
                <a:lnTo>
                  <a:pt x="111" y="135"/>
                </a:lnTo>
                <a:lnTo>
                  <a:pt x="32" y="51"/>
                </a:lnTo>
              </a:path>
            </a:pathLst>
          </a:custGeom>
          <a:solidFill>
            <a:srgbClr val="E1FFF7"/>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172041" name="Rectangle 9"/>
          <p:cNvSpPr>
            <a:spLocks noGrp="1" noChangeArrowheads="1"/>
          </p:cNvSpPr>
          <p:nvPr>
            <p:ph type="title"/>
          </p:nvPr>
        </p:nvSpPr>
        <p:spPr>
          <a:xfrm>
            <a:off x="1219200" y="228600"/>
            <a:ext cx="5964237" cy="609600"/>
          </a:xfrm>
        </p:spPr>
        <p:txBody>
          <a:bodyPr/>
          <a:lstStyle/>
          <a:p>
            <a:pPr algn="ctr" eaLnBrk="1" hangingPunct="1">
              <a:defRPr/>
            </a:pPr>
            <a:r>
              <a:rPr lang="en-US" sz="3200" dirty="0" smtClean="0"/>
              <a:t>Solution</a:t>
            </a:r>
            <a:endParaRPr lang="en-US" sz="3200" i="1" dirty="0"/>
          </a:p>
        </p:txBody>
      </p:sp>
      <p:sp>
        <p:nvSpPr>
          <p:cNvPr id="26633" name="Freeform 10"/>
          <p:cNvSpPr>
            <a:spLocks/>
          </p:cNvSpPr>
          <p:nvPr/>
        </p:nvSpPr>
        <p:spPr bwMode="auto">
          <a:xfrm>
            <a:off x="1066800" y="5224463"/>
            <a:ext cx="690563" cy="409575"/>
          </a:xfrm>
          <a:custGeom>
            <a:avLst/>
            <a:gdLst>
              <a:gd name="T0" fmla="*/ 2147483647 w 435"/>
              <a:gd name="T1" fmla="*/ 0 h 258"/>
              <a:gd name="T2" fmla="*/ 2147483647 w 435"/>
              <a:gd name="T3" fmla="*/ 2147483647 h 258"/>
              <a:gd name="T4" fmla="*/ 0 w 435"/>
              <a:gd name="T5" fmla="*/ 2147483647 h 258"/>
              <a:gd name="T6" fmla="*/ 0 w 435"/>
              <a:gd name="T7" fmla="*/ 2147483647 h 258"/>
              <a:gd name="T8" fmla="*/ 2147483647 w 435"/>
              <a:gd name="T9" fmla="*/ 2147483647 h 258"/>
              <a:gd name="T10" fmla="*/ 2147483647 w 435"/>
              <a:gd name="T11" fmla="*/ 2147483647 h 258"/>
              <a:gd name="T12" fmla="*/ 2147483647 w 435"/>
              <a:gd name="T13" fmla="*/ 2147483647 h 258"/>
              <a:gd name="T14" fmla="*/ 2147483647 w 435"/>
              <a:gd name="T15" fmla="*/ 2147483647 h 258"/>
              <a:gd name="T16" fmla="*/ 2147483647 w 435"/>
              <a:gd name="T17" fmla="*/ 2147483647 h 258"/>
              <a:gd name="T18" fmla="*/ 2147483647 w 435"/>
              <a:gd name="T19" fmla="*/ 2147483647 h 2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5"/>
              <a:gd name="T31" fmla="*/ 0 h 258"/>
              <a:gd name="T32" fmla="*/ 435 w 435"/>
              <a:gd name="T33" fmla="*/ 258 h 2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5" h="258">
                <a:moveTo>
                  <a:pt x="429" y="0"/>
                </a:moveTo>
                <a:lnTo>
                  <a:pt x="435" y="258"/>
                </a:lnTo>
                <a:lnTo>
                  <a:pt x="0" y="258"/>
                </a:lnTo>
                <a:lnTo>
                  <a:pt x="0" y="240"/>
                </a:lnTo>
                <a:lnTo>
                  <a:pt x="15" y="236"/>
                </a:lnTo>
                <a:lnTo>
                  <a:pt x="92" y="230"/>
                </a:lnTo>
                <a:lnTo>
                  <a:pt x="224" y="186"/>
                </a:lnTo>
                <a:lnTo>
                  <a:pt x="260" y="165"/>
                </a:lnTo>
                <a:lnTo>
                  <a:pt x="308" y="137"/>
                </a:lnTo>
                <a:lnTo>
                  <a:pt x="362" y="84"/>
                </a:lnTo>
              </a:path>
            </a:pathLst>
          </a:custGeom>
          <a:solidFill>
            <a:srgbClr val="E1FFF7"/>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26634" name="Rectangle 13"/>
          <p:cNvSpPr>
            <a:spLocks noChangeArrowheads="1"/>
          </p:cNvSpPr>
          <p:nvPr/>
        </p:nvSpPr>
        <p:spPr bwMode="auto">
          <a:xfrm>
            <a:off x="457200" y="457200"/>
            <a:ext cx="2057400" cy="1038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nSpc>
                <a:spcPct val="110000"/>
              </a:lnSpc>
              <a:spcBef>
                <a:spcPct val="50000"/>
              </a:spcBef>
              <a:buClrTx/>
              <a:buSzTx/>
              <a:buFontTx/>
              <a:buNone/>
            </a:pPr>
            <a:r>
              <a:rPr lang="en-US" altLang="en-US" sz="2800">
                <a:latin typeface="Arial" charset="0"/>
              </a:rPr>
              <a:t>H</a:t>
            </a:r>
            <a:r>
              <a:rPr lang="en-US" altLang="en-US" sz="2800" baseline="-25000">
                <a:latin typeface="Arial" charset="0"/>
              </a:rPr>
              <a:t>0</a:t>
            </a:r>
            <a:r>
              <a:rPr lang="en-US" altLang="en-US" sz="2800">
                <a:latin typeface="Arial" charset="0"/>
              </a:rPr>
              <a:t>: </a:t>
            </a:r>
            <a:r>
              <a:rPr lang="en-US" altLang="en-US" sz="2800">
                <a:solidFill>
                  <a:srgbClr val="000066"/>
                </a:solidFill>
                <a:latin typeface="Arial" charset="0"/>
                <a:sym typeface="Symbol" pitchFamily="18" charset="2"/>
              </a:rPr>
              <a:t>p</a:t>
            </a:r>
            <a:r>
              <a:rPr lang="en-US" altLang="en-US" sz="2800">
                <a:latin typeface="Arial" charset="0"/>
              </a:rPr>
              <a:t> = .08</a:t>
            </a:r>
            <a:r>
              <a:rPr lang="en-US" altLang="en-US" sz="2800"/>
              <a:t>    </a:t>
            </a:r>
            <a:r>
              <a:rPr lang="en-US" altLang="en-US" sz="2800">
                <a:latin typeface="Arial" charset="0"/>
              </a:rPr>
              <a:t>H</a:t>
            </a:r>
            <a:r>
              <a:rPr lang="en-US" altLang="en-US" sz="2800" baseline="-25000">
                <a:latin typeface="Arial" charset="0"/>
              </a:rPr>
              <a:t>A</a:t>
            </a:r>
            <a:r>
              <a:rPr lang="en-US" altLang="en-US" sz="2800">
                <a:latin typeface="Arial" charset="0"/>
              </a:rPr>
              <a:t>: </a:t>
            </a:r>
            <a:r>
              <a:rPr lang="en-US" altLang="en-US" sz="2800">
                <a:solidFill>
                  <a:srgbClr val="000066"/>
                </a:solidFill>
                <a:latin typeface="Arial" charset="0"/>
                <a:sym typeface="Symbol" pitchFamily="18" charset="2"/>
              </a:rPr>
              <a:t>p</a:t>
            </a:r>
            <a:r>
              <a:rPr lang="en-US" altLang="en-US" sz="2800"/>
              <a:t> </a:t>
            </a:r>
            <a:r>
              <a:rPr lang="en-US" altLang="en-US" sz="2800">
                <a:latin typeface="Symbol" pitchFamily="18" charset="2"/>
              </a:rPr>
              <a:t>¹</a:t>
            </a:r>
            <a:r>
              <a:rPr lang="en-US" altLang="en-US" sz="2800"/>
              <a:t> </a:t>
            </a:r>
            <a:r>
              <a:rPr lang="en-US" altLang="en-US" sz="2800">
                <a:latin typeface="Arial" charset="0"/>
              </a:rPr>
              <a:t>.08</a:t>
            </a:r>
          </a:p>
        </p:txBody>
      </p:sp>
      <p:sp>
        <p:nvSpPr>
          <p:cNvPr id="26635" name="Rectangle 15"/>
          <p:cNvSpPr>
            <a:spLocks noChangeArrowheads="1"/>
          </p:cNvSpPr>
          <p:nvPr/>
        </p:nvSpPr>
        <p:spPr bwMode="auto">
          <a:xfrm>
            <a:off x="1676400" y="1524000"/>
            <a:ext cx="30575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50000"/>
              </a:spcBef>
              <a:buClrTx/>
              <a:buSzTx/>
              <a:buFontTx/>
              <a:buNone/>
            </a:pPr>
            <a:r>
              <a:rPr lang="en-US" altLang="en-US" sz="2800">
                <a:latin typeface="Arial" charset="0"/>
              </a:rPr>
              <a:t>Test Statistic:</a:t>
            </a:r>
          </a:p>
        </p:txBody>
      </p:sp>
      <p:sp>
        <p:nvSpPr>
          <p:cNvPr id="26636" name="Rectangle 16"/>
          <p:cNvSpPr>
            <a:spLocks noChangeArrowheads="1"/>
          </p:cNvSpPr>
          <p:nvPr/>
        </p:nvSpPr>
        <p:spPr bwMode="auto">
          <a:xfrm>
            <a:off x="4114800" y="3581400"/>
            <a:ext cx="44196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50000"/>
              </a:spcBef>
              <a:buClrTx/>
              <a:buSzTx/>
              <a:buFontTx/>
              <a:buNone/>
            </a:pPr>
            <a:r>
              <a:rPr lang="en-US" altLang="en-US" sz="2400">
                <a:latin typeface="Arial" charset="0"/>
              </a:rPr>
              <a:t>Decision: </a:t>
            </a:r>
            <a:r>
              <a:rPr lang="en-US" altLang="en-US" sz="2400" b="0">
                <a:latin typeface="Arial" charset="0"/>
              </a:rPr>
              <a:t>Since P-value &lt; .05,</a:t>
            </a:r>
            <a:r>
              <a:rPr lang="en-US" altLang="en-US" sz="2400">
                <a:latin typeface="Arial" charset="0"/>
              </a:rPr>
              <a:t> </a:t>
            </a:r>
            <a:r>
              <a:rPr lang="en-US" altLang="en-US" sz="2400" b="0">
                <a:latin typeface="Arial" charset="0"/>
              </a:rPr>
              <a:t>Reject H</a:t>
            </a:r>
            <a:r>
              <a:rPr lang="en-US" altLang="en-US" sz="2400" b="0" baseline="-25000">
                <a:latin typeface="Arial" charset="0"/>
              </a:rPr>
              <a:t>0</a:t>
            </a:r>
            <a:r>
              <a:rPr lang="en-US" altLang="en-US" sz="2400" b="0">
                <a:latin typeface="Arial" charset="0"/>
              </a:rPr>
              <a:t> </a:t>
            </a:r>
            <a:endParaRPr lang="en-US" altLang="en-US" sz="2400">
              <a:latin typeface="Arial" charset="0"/>
            </a:endParaRPr>
          </a:p>
        </p:txBody>
      </p:sp>
      <p:sp>
        <p:nvSpPr>
          <p:cNvPr id="26637" name="Rectangle 17"/>
          <p:cNvSpPr>
            <a:spLocks noChangeArrowheads="1"/>
          </p:cNvSpPr>
          <p:nvPr/>
        </p:nvSpPr>
        <p:spPr bwMode="auto">
          <a:xfrm>
            <a:off x="4343400" y="4419600"/>
            <a:ext cx="27432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50000"/>
              </a:spcBef>
              <a:buClrTx/>
              <a:buSzTx/>
              <a:buFontTx/>
              <a:buNone/>
            </a:pPr>
            <a:r>
              <a:rPr lang="en-US" altLang="en-US" sz="2400">
                <a:latin typeface="Arial" charset="0"/>
              </a:rPr>
              <a:t>Conclusion:</a:t>
            </a:r>
          </a:p>
        </p:txBody>
      </p:sp>
      <p:sp>
        <p:nvSpPr>
          <p:cNvPr id="26638" name="Freeform 18"/>
          <p:cNvSpPr>
            <a:spLocks/>
          </p:cNvSpPr>
          <p:nvPr/>
        </p:nvSpPr>
        <p:spPr bwMode="auto">
          <a:xfrm>
            <a:off x="1066800" y="4267200"/>
            <a:ext cx="1389063" cy="1338263"/>
          </a:xfrm>
          <a:custGeom>
            <a:avLst/>
            <a:gdLst>
              <a:gd name="T0" fmla="*/ 0 w 875"/>
              <a:gd name="T1" fmla="*/ 2147483647 h 843"/>
              <a:gd name="T2" fmla="*/ 2147483647 w 875"/>
              <a:gd name="T3" fmla="*/ 2147483647 h 843"/>
              <a:gd name="T4" fmla="*/ 2147483647 w 875"/>
              <a:gd name="T5" fmla="*/ 2147483647 h 843"/>
              <a:gd name="T6" fmla="*/ 2147483647 w 875"/>
              <a:gd name="T7" fmla="*/ 2147483647 h 843"/>
              <a:gd name="T8" fmla="*/ 2147483647 w 875"/>
              <a:gd name="T9" fmla="*/ 2147483647 h 843"/>
              <a:gd name="T10" fmla="*/ 2147483647 w 875"/>
              <a:gd name="T11" fmla="*/ 2147483647 h 843"/>
              <a:gd name="T12" fmla="*/ 2147483647 w 875"/>
              <a:gd name="T13" fmla="*/ 2147483647 h 843"/>
              <a:gd name="T14" fmla="*/ 2147483647 w 875"/>
              <a:gd name="T15" fmla="*/ 2147483647 h 843"/>
              <a:gd name="T16" fmla="*/ 2147483647 w 875"/>
              <a:gd name="T17" fmla="*/ 2147483647 h 843"/>
              <a:gd name="T18" fmla="*/ 2147483647 w 875"/>
              <a:gd name="T19" fmla="*/ 2147483647 h 843"/>
              <a:gd name="T20" fmla="*/ 2147483647 w 875"/>
              <a:gd name="T21" fmla="*/ 2147483647 h 843"/>
              <a:gd name="T22" fmla="*/ 2147483647 w 875"/>
              <a:gd name="T23" fmla="*/ 2147483647 h 843"/>
              <a:gd name="T24" fmla="*/ 2147483647 w 875"/>
              <a:gd name="T25" fmla="*/ 2147483647 h 843"/>
              <a:gd name="T26" fmla="*/ 2147483647 w 875"/>
              <a:gd name="T27" fmla="*/ 2147483647 h 843"/>
              <a:gd name="T28" fmla="*/ 2147483647 w 875"/>
              <a:gd name="T29" fmla="*/ 2147483647 h 843"/>
              <a:gd name="T30" fmla="*/ 2147483647 w 875"/>
              <a:gd name="T31" fmla="*/ 0 h 8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5"/>
              <a:gd name="T49" fmla="*/ 0 h 843"/>
              <a:gd name="T50" fmla="*/ 875 w 875"/>
              <a:gd name="T51" fmla="*/ 843 h 84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5" h="843">
                <a:moveTo>
                  <a:pt x="0" y="842"/>
                </a:moveTo>
                <a:lnTo>
                  <a:pt x="92" y="831"/>
                </a:lnTo>
                <a:lnTo>
                  <a:pt x="137" y="822"/>
                </a:lnTo>
                <a:lnTo>
                  <a:pt x="183" y="808"/>
                </a:lnTo>
                <a:lnTo>
                  <a:pt x="229" y="789"/>
                </a:lnTo>
                <a:lnTo>
                  <a:pt x="276" y="763"/>
                </a:lnTo>
                <a:lnTo>
                  <a:pt x="321" y="729"/>
                </a:lnTo>
                <a:lnTo>
                  <a:pt x="414" y="631"/>
                </a:lnTo>
                <a:lnTo>
                  <a:pt x="506" y="493"/>
                </a:lnTo>
                <a:lnTo>
                  <a:pt x="598" y="329"/>
                </a:lnTo>
                <a:lnTo>
                  <a:pt x="643" y="245"/>
                </a:lnTo>
                <a:lnTo>
                  <a:pt x="690" y="165"/>
                </a:lnTo>
                <a:lnTo>
                  <a:pt x="735" y="98"/>
                </a:lnTo>
                <a:lnTo>
                  <a:pt x="782" y="45"/>
                </a:lnTo>
                <a:lnTo>
                  <a:pt x="827" y="11"/>
                </a:lnTo>
                <a:lnTo>
                  <a:pt x="874" y="0"/>
                </a:lnTo>
              </a:path>
            </a:pathLst>
          </a:custGeom>
          <a:noFill/>
          <a:ln w="25400" cap="rnd" cmpd="sng">
            <a:solidFill>
              <a:srgbClr val="FF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639" name="Freeform 19"/>
          <p:cNvSpPr>
            <a:spLocks/>
          </p:cNvSpPr>
          <p:nvPr/>
        </p:nvSpPr>
        <p:spPr bwMode="auto">
          <a:xfrm>
            <a:off x="2438400" y="4267200"/>
            <a:ext cx="1389063" cy="1338263"/>
          </a:xfrm>
          <a:custGeom>
            <a:avLst/>
            <a:gdLst>
              <a:gd name="T0" fmla="*/ 2147483647 w 875"/>
              <a:gd name="T1" fmla="*/ 2147483647 h 843"/>
              <a:gd name="T2" fmla="*/ 2147483647 w 875"/>
              <a:gd name="T3" fmla="*/ 2147483647 h 843"/>
              <a:gd name="T4" fmla="*/ 2147483647 w 875"/>
              <a:gd name="T5" fmla="*/ 2147483647 h 843"/>
              <a:gd name="T6" fmla="*/ 2147483647 w 875"/>
              <a:gd name="T7" fmla="*/ 2147483647 h 843"/>
              <a:gd name="T8" fmla="*/ 2147483647 w 875"/>
              <a:gd name="T9" fmla="*/ 2147483647 h 843"/>
              <a:gd name="T10" fmla="*/ 2147483647 w 875"/>
              <a:gd name="T11" fmla="*/ 2147483647 h 843"/>
              <a:gd name="T12" fmla="*/ 2147483647 w 875"/>
              <a:gd name="T13" fmla="*/ 2147483647 h 843"/>
              <a:gd name="T14" fmla="*/ 2147483647 w 875"/>
              <a:gd name="T15" fmla="*/ 2147483647 h 843"/>
              <a:gd name="T16" fmla="*/ 2147483647 w 875"/>
              <a:gd name="T17" fmla="*/ 2147483647 h 843"/>
              <a:gd name="T18" fmla="*/ 2147483647 w 875"/>
              <a:gd name="T19" fmla="*/ 2147483647 h 843"/>
              <a:gd name="T20" fmla="*/ 2147483647 w 875"/>
              <a:gd name="T21" fmla="*/ 2147483647 h 843"/>
              <a:gd name="T22" fmla="*/ 2147483647 w 875"/>
              <a:gd name="T23" fmla="*/ 2147483647 h 843"/>
              <a:gd name="T24" fmla="*/ 2147483647 w 875"/>
              <a:gd name="T25" fmla="*/ 2147483647 h 843"/>
              <a:gd name="T26" fmla="*/ 2147483647 w 875"/>
              <a:gd name="T27" fmla="*/ 2147483647 h 843"/>
              <a:gd name="T28" fmla="*/ 2147483647 w 875"/>
              <a:gd name="T29" fmla="*/ 2147483647 h 843"/>
              <a:gd name="T30" fmla="*/ 0 w 875"/>
              <a:gd name="T31" fmla="*/ 0 h 8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5"/>
              <a:gd name="T49" fmla="*/ 0 h 843"/>
              <a:gd name="T50" fmla="*/ 875 w 875"/>
              <a:gd name="T51" fmla="*/ 843 h 84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5" h="843">
                <a:moveTo>
                  <a:pt x="874" y="842"/>
                </a:moveTo>
                <a:lnTo>
                  <a:pt x="782" y="831"/>
                </a:lnTo>
                <a:lnTo>
                  <a:pt x="735" y="822"/>
                </a:lnTo>
                <a:lnTo>
                  <a:pt x="690" y="808"/>
                </a:lnTo>
                <a:lnTo>
                  <a:pt x="643" y="789"/>
                </a:lnTo>
                <a:lnTo>
                  <a:pt x="598" y="763"/>
                </a:lnTo>
                <a:lnTo>
                  <a:pt x="551" y="729"/>
                </a:lnTo>
                <a:lnTo>
                  <a:pt x="459" y="631"/>
                </a:lnTo>
                <a:lnTo>
                  <a:pt x="368" y="493"/>
                </a:lnTo>
                <a:lnTo>
                  <a:pt x="276" y="329"/>
                </a:lnTo>
                <a:lnTo>
                  <a:pt x="230" y="245"/>
                </a:lnTo>
                <a:lnTo>
                  <a:pt x="183" y="165"/>
                </a:lnTo>
                <a:lnTo>
                  <a:pt x="137" y="98"/>
                </a:lnTo>
                <a:lnTo>
                  <a:pt x="92" y="45"/>
                </a:lnTo>
                <a:lnTo>
                  <a:pt x="45" y="11"/>
                </a:lnTo>
                <a:lnTo>
                  <a:pt x="0" y="0"/>
                </a:lnTo>
              </a:path>
            </a:pathLst>
          </a:custGeom>
          <a:noFill/>
          <a:ln w="25400" cap="rnd" cmpd="sng">
            <a:solidFill>
              <a:srgbClr val="FF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640" name="Line 20"/>
          <p:cNvSpPr>
            <a:spLocks noChangeShapeType="1"/>
          </p:cNvSpPr>
          <p:nvPr/>
        </p:nvSpPr>
        <p:spPr bwMode="auto">
          <a:xfrm flipH="1" flipV="1">
            <a:off x="3124200" y="4495800"/>
            <a:ext cx="0" cy="1143000"/>
          </a:xfrm>
          <a:prstGeom prst="line">
            <a:avLst/>
          </a:prstGeom>
          <a:noFill/>
          <a:ln w="127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41" name="Rectangle 23"/>
          <p:cNvSpPr>
            <a:spLocks noChangeArrowheads="1"/>
          </p:cNvSpPr>
          <p:nvPr/>
        </p:nvSpPr>
        <p:spPr bwMode="auto">
          <a:xfrm>
            <a:off x="3733800" y="5486400"/>
            <a:ext cx="3333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r>
              <a:rPr lang="en-US" altLang="en-US" sz="2400" b="0" i="1">
                <a:latin typeface="Arial" charset="0"/>
              </a:rPr>
              <a:t>z</a:t>
            </a:r>
          </a:p>
        </p:txBody>
      </p:sp>
      <p:sp>
        <p:nvSpPr>
          <p:cNvPr id="26642" name="Rectangle 24"/>
          <p:cNvSpPr>
            <a:spLocks noChangeArrowheads="1"/>
          </p:cNvSpPr>
          <p:nvPr/>
        </p:nvSpPr>
        <p:spPr bwMode="auto">
          <a:xfrm>
            <a:off x="2286000" y="5638800"/>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r>
              <a:rPr lang="en-US" altLang="en-US" sz="1800">
                <a:latin typeface="Arial" charset="0"/>
              </a:rPr>
              <a:t>0</a:t>
            </a:r>
          </a:p>
        </p:txBody>
      </p:sp>
      <p:sp>
        <p:nvSpPr>
          <p:cNvPr id="26643" name="Rectangle 30"/>
          <p:cNvSpPr>
            <a:spLocks noChangeArrowheads="1"/>
          </p:cNvSpPr>
          <p:nvPr/>
        </p:nvSpPr>
        <p:spPr bwMode="auto">
          <a:xfrm>
            <a:off x="3429000" y="4953000"/>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50000"/>
              </a:spcBef>
              <a:buClrTx/>
              <a:buSzTx/>
              <a:buFontTx/>
              <a:buNone/>
            </a:pPr>
            <a:r>
              <a:rPr lang="en-US" altLang="en-US" sz="2000" b="0">
                <a:latin typeface="Arial" charset="0"/>
              </a:rPr>
              <a:t>.0068</a:t>
            </a:r>
          </a:p>
        </p:txBody>
      </p:sp>
      <p:sp>
        <p:nvSpPr>
          <p:cNvPr id="26644" name="Rectangle 31"/>
          <p:cNvSpPr>
            <a:spLocks noChangeArrowheads="1"/>
          </p:cNvSpPr>
          <p:nvPr/>
        </p:nvSpPr>
        <p:spPr bwMode="auto">
          <a:xfrm>
            <a:off x="533400" y="4953000"/>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50000"/>
              </a:spcBef>
              <a:buClrTx/>
              <a:buSzTx/>
              <a:buFontTx/>
              <a:buNone/>
            </a:pPr>
            <a:r>
              <a:rPr lang="en-US" altLang="en-US" sz="2000" b="0">
                <a:latin typeface="Arial" charset="0"/>
              </a:rPr>
              <a:t>.0068</a:t>
            </a:r>
          </a:p>
        </p:txBody>
      </p:sp>
      <p:sp>
        <p:nvSpPr>
          <p:cNvPr id="26645" name="Line 32"/>
          <p:cNvSpPr>
            <a:spLocks noChangeShapeType="1"/>
          </p:cNvSpPr>
          <p:nvPr/>
        </p:nvSpPr>
        <p:spPr bwMode="auto">
          <a:xfrm>
            <a:off x="1371600" y="5257800"/>
            <a:ext cx="228600" cy="228600"/>
          </a:xfrm>
          <a:prstGeom prst="line">
            <a:avLst/>
          </a:prstGeom>
          <a:noFill/>
          <a:ln w="1905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46" name="Text Box 33"/>
          <p:cNvSpPr txBox="1">
            <a:spLocks noChangeArrowheads="1"/>
          </p:cNvSpPr>
          <p:nvPr/>
        </p:nvSpPr>
        <p:spPr bwMode="auto">
          <a:xfrm>
            <a:off x="2895600" y="5638800"/>
            <a:ext cx="633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type="none" w="sm" len="sm"/>
                <a:tailEnd type="none" w="sm" len="sm"/>
              </a14:hiddenLine>
            </a:ext>
          </a:extLst>
        </p:spPr>
        <p:txBody>
          <a:bodyPr wrap="none">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r>
              <a:rPr lang="en-US" altLang="en-US" sz="1800">
                <a:latin typeface="Arial" charset="0"/>
              </a:rPr>
              <a:t>2.47</a:t>
            </a:r>
          </a:p>
        </p:txBody>
      </p:sp>
      <p:sp>
        <p:nvSpPr>
          <p:cNvPr id="26647" name="Rectangle 36"/>
          <p:cNvSpPr>
            <a:spLocks noChangeArrowheads="1"/>
          </p:cNvSpPr>
          <p:nvPr/>
        </p:nvSpPr>
        <p:spPr bwMode="auto">
          <a:xfrm>
            <a:off x="4876800" y="5029200"/>
            <a:ext cx="3429000" cy="1012825"/>
          </a:xfrm>
          <a:prstGeom prst="rect">
            <a:avLst/>
          </a:prstGeom>
          <a:solidFill>
            <a:srgbClr val="FFFFC3"/>
          </a:solidFill>
          <a:ln w="12700">
            <a:solidFill>
              <a:schemeClr val="tx2"/>
            </a:solidFill>
            <a:miter lim="800000"/>
            <a:headEnd/>
            <a:tailEnd/>
          </a:ln>
        </p:spPr>
        <p:txBody>
          <a:bodyPr lIns="90488" tIns="44450" rIns="90488" bIns="44450">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50000"/>
              </a:spcBef>
              <a:buClrTx/>
              <a:buSzTx/>
              <a:buFontTx/>
              <a:buNone/>
            </a:pPr>
            <a:r>
              <a:rPr lang="en-US" altLang="en-US" sz="2000" b="0">
                <a:latin typeface="Arial" charset="0"/>
              </a:rPr>
              <a:t>There is sufficient evidence to reject the company’s claim of 8% response rate.</a:t>
            </a:r>
          </a:p>
        </p:txBody>
      </p:sp>
      <p:sp>
        <p:nvSpPr>
          <p:cNvPr id="26648" name="Line 37"/>
          <p:cNvSpPr>
            <a:spLocks noChangeShapeType="1"/>
          </p:cNvSpPr>
          <p:nvPr/>
        </p:nvSpPr>
        <p:spPr bwMode="auto">
          <a:xfrm flipH="1">
            <a:off x="3276600" y="5334000"/>
            <a:ext cx="304800" cy="15240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aphicFrame>
        <p:nvGraphicFramePr>
          <p:cNvPr id="26649" name="Object 2"/>
          <p:cNvGraphicFramePr>
            <a:graphicFrameLocks noChangeAspect="1"/>
          </p:cNvGraphicFramePr>
          <p:nvPr/>
        </p:nvGraphicFramePr>
        <p:xfrm>
          <a:off x="457200" y="2133600"/>
          <a:ext cx="5443538" cy="1339850"/>
        </p:xfrm>
        <a:graphic>
          <a:graphicData uri="http://schemas.openxmlformats.org/presentationml/2006/ole">
            <mc:AlternateContent xmlns:mc="http://schemas.openxmlformats.org/markup-compatibility/2006">
              <mc:Choice xmlns:v="urn:schemas-microsoft-com:vml" Requires="v">
                <p:oleObj spid="_x0000_s26706" name="Equation" r:id="rId5" imgW="2527300" imgH="622300" progId="Equation.DSMT4">
                  <p:embed/>
                </p:oleObj>
              </mc:Choice>
              <mc:Fallback>
                <p:oleObj name="Equation" r:id="rId5" imgW="2527300" imgH="6223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2133600"/>
                        <a:ext cx="5443538" cy="1339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50" name="Line 41"/>
          <p:cNvSpPr>
            <a:spLocks noChangeShapeType="1"/>
          </p:cNvSpPr>
          <p:nvPr/>
        </p:nvSpPr>
        <p:spPr bwMode="auto">
          <a:xfrm>
            <a:off x="914400" y="5638800"/>
            <a:ext cx="2971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51" name="Text Box 42"/>
          <p:cNvSpPr txBox="1">
            <a:spLocks noChangeArrowheads="1"/>
          </p:cNvSpPr>
          <p:nvPr/>
        </p:nvSpPr>
        <p:spPr bwMode="auto">
          <a:xfrm>
            <a:off x="1524000" y="5638800"/>
            <a:ext cx="71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type="none" w="sm" len="sm"/>
                <a:tailEnd type="none" w="sm" len="sm"/>
              </a14:hiddenLine>
            </a:ext>
          </a:extLst>
        </p:spPr>
        <p:txBody>
          <a:bodyPr wrap="none">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spcBef>
                <a:spcPct val="0"/>
              </a:spcBef>
              <a:buClrTx/>
              <a:buSzTx/>
              <a:buFontTx/>
              <a:buNone/>
            </a:pPr>
            <a:r>
              <a:rPr lang="en-US" altLang="en-US" sz="1800">
                <a:latin typeface="Arial" charset="0"/>
              </a:rPr>
              <a:t>-2.47</a:t>
            </a:r>
          </a:p>
        </p:txBody>
      </p:sp>
      <p:sp>
        <p:nvSpPr>
          <p:cNvPr id="26652" name="Line 45"/>
          <p:cNvSpPr>
            <a:spLocks noChangeShapeType="1"/>
          </p:cNvSpPr>
          <p:nvPr/>
        </p:nvSpPr>
        <p:spPr bwMode="auto">
          <a:xfrm flipH="1" flipV="1">
            <a:off x="1752600" y="4495800"/>
            <a:ext cx="0" cy="1143000"/>
          </a:xfrm>
          <a:prstGeom prst="line">
            <a:avLst/>
          </a:prstGeom>
          <a:noFill/>
          <a:ln w="127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26653" name="Object 3"/>
          <p:cNvGraphicFramePr>
            <a:graphicFrameLocks noChangeAspect="1"/>
          </p:cNvGraphicFramePr>
          <p:nvPr/>
        </p:nvGraphicFramePr>
        <p:xfrm>
          <a:off x="2895600" y="838200"/>
          <a:ext cx="3540125" cy="762000"/>
        </p:xfrm>
        <a:graphic>
          <a:graphicData uri="http://schemas.openxmlformats.org/presentationml/2006/ole">
            <mc:AlternateContent xmlns:mc="http://schemas.openxmlformats.org/markup-compatibility/2006">
              <mc:Choice xmlns:v="urn:schemas-microsoft-com:vml" Requires="v">
                <p:oleObj spid="_x0000_s26707" name="Equation" r:id="rId7" imgW="1828800" imgH="393700" progId="Equation.DSMT4">
                  <p:embed/>
                </p:oleObj>
              </mc:Choice>
              <mc:Fallback>
                <p:oleObj name="Equation" r:id="rId7" imgW="1828800" imgH="3937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95600" y="838200"/>
                        <a:ext cx="354012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4" name="Object 4"/>
          <p:cNvGraphicFramePr>
            <a:graphicFrameLocks noChangeAspect="1"/>
          </p:cNvGraphicFramePr>
          <p:nvPr/>
        </p:nvGraphicFramePr>
        <p:xfrm>
          <a:off x="6096000" y="2057400"/>
          <a:ext cx="2771775" cy="1143000"/>
        </p:xfrm>
        <a:graphic>
          <a:graphicData uri="http://schemas.openxmlformats.org/presentationml/2006/ole">
            <mc:AlternateContent xmlns:mc="http://schemas.openxmlformats.org/markup-compatibility/2006">
              <mc:Choice xmlns:v="urn:schemas-microsoft-com:vml" Requires="v">
                <p:oleObj spid="_x0000_s26708" name="Equation" r:id="rId9" imgW="1231366" imgH="507780" progId="Equation.DSMT4">
                  <p:embed/>
                </p:oleObj>
              </mc:Choice>
              <mc:Fallback>
                <p:oleObj name="Equation" r:id="rId9" imgW="1231366" imgH="50778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0" y="2057400"/>
                        <a:ext cx="277177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4"/>
          <p:cNvSpPr txBox="1">
            <a:spLocks noChangeArrowheads="1"/>
          </p:cNvSpPr>
          <p:nvPr/>
        </p:nvSpPr>
        <p:spPr bwMode="auto">
          <a:xfrm>
            <a:off x="381000" y="685800"/>
            <a:ext cx="8489950" cy="498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spcAft>
                <a:spcPts val="1800"/>
              </a:spcAft>
              <a:buClrTx/>
              <a:buSzTx/>
              <a:buFont typeface="Arial" charset="0"/>
              <a:buChar char="•"/>
            </a:pPr>
            <a:r>
              <a:rPr lang="en-US" altLang="en-US" sz="2000" b="0">
                <a:latin typeface="Arial" charset="0"/>
              </a:rPr>
              <a:t>A national survey by the National Institute for Occupational Safety and Health on restaurant employees found that 75% said that work stress had a negative impact on their personal lives.</a:t>
            </a:r>
          </a:p>
          <a:p>
            <a:pPr eaLnBrk="1" hangingPunct="1">
              <a:spcBef>
                <a:spcPct val="0"/>
              </a:spcBef>
              <a:spcAft>
                <a:spcPts val="1200"/>
              </a:spcAft>
              <a:buClrTx/>
              <a:buSzTx/>
              <a:buFont typeface="Arial" charset="0"/>
              <a:buChar char="•"/>
            </a:pPr>
            <a:r>
              <a:rPr lang="en-US" altLang="en-US" sz="2000" b="0">
                <a:latin typeface="Arial" charset="0"/>
              </a:rPr>
              <a:t>You investigate a restaurant chain to see if the proportion of all their employees negatively affected by work stress differs from the national proportion </a:t>
            </a:r>
            <a:r>
              <a:rPr lang="en-US" altLang="en-US" sz="2000" b="0" i="1">
                <a:latin typeface="Arial" charset="0"/>
              </a:rPr>
              <a:t>p</a:t>
            </a:r>
            <a:r>
              <a:rPr lang="en-US" altLang="en-US" sz="2000" b="0" baseline="-25000">
                <a:latin typeface="Arial" charset="0"/>
              </a:rPr>
              <a:t>0</a:t>
            </a:r>
            <a:r>
              <a:rPr lang="en-US" altLang="en-US" sz="2000" b="0">
                <a:latin typeface="Arial" charset="0"/>
              </a:rPr>
              <a:t> = 0</a:t>
            </a:r>
            <a:r>
              <a:rPr lang="en-US" altLang="en-US" sz="2000" b="0" i="1">
                <a:latin typeface="Arial" charset="0"/>
              </a:rPr>
              <a:t>.</a:t>
            </a:r>
            <a:r>
              <a:rPr lang="en-US" altLang="en-US" sz="2000" b="0">
                <a:latin typeface="Arial" charset="0"/>
              </a:rPr>
              <a:t>75.</a:t>
            </a:r>
          </a:p>
          <a:p>
            <a:pPr eaLnBrk="1" hangingPunct="1">
              <a:spcBef>
                <a:spcPct val="0"/>
              </a:spcBef>
              <a:spcAft>
                <a:spcPts val="600"/>
              </a:spcAft>
              <a:buClrTx/>
              <a:buSzTx/>
              <a:buFontTx/>
              <a:buNone/>
            </a:pPr>
            <a:r>
              <a:rPr lang="en-US" altLang="en-US" sz="2000" b="0" i="1">
                <a:solidFill>
                  <a:srgbClr val="FF0000"/>
                </a:solidFill>
                <a:latin typeface="Arial" charset="0"/>
              </a:rPr>
              <a:t>H</a:t>
            </a:r>
            <a:r>
              <a:rPr lang="en-US" altLang="en-US" sz="2000" b="0" baseline="-25000">
                <a:solidFill>
                  <a:srgbClr val="FF0000"/>
                </a:solidFill>
                <a:latin typeface="Arial" charset="0"/>
              </a:rPr>
              <a:t>0</a:t>
            </a:r>
            <a:r>
              <a:rPr lang="en-US" altLang="en-US" sz="2000" b="0">
                <a:solidFill>
                  <a:srgbClr val="FF0000"/>
                </a:solidFill>
                <a:latin typeface="Arial" charset="0"/>
              </a:rPr>
              <a:t>: </a:t>
            </a:r>
            <a:r>
              <a:rPr lang="en-US" altLang="en-US" sz="2000" b="0" i="1">
                <a:solidFill>
                  <a:srgbClr val="FF0000"/>
                </a:solidFill>
                <a:latin typeface="Arial" charset="0"/>
              </a:rPr>
              <a:t>p</a:t>
            </a:r>
            <a:r>
              <a:rPr lang="en-US" altLang="en-US" sz="2000" b="0">
                <a:solidFill>
                  <a:srgbClr val="FF0000"/>
                </a:solidFill>
                <a:latin typeface="Arial" charset="0"/>
              </a:rPr>
              <a:t> = </a:t>
            </a:r>
            <a:r>
              <a:rPr lang="en-US" altLang="en-US" sz="2000" b="0" i="1">
                <a:solidFill>
                  <a:srgbClr val="FF0000"/>
                </a:solidFill>
                <a:latin typeface="Arial" charset="0"/>
              </a:rPr>
              <a:t>p</a:t>
            </a:r>
            <a:r>
              <a:rPr lang="en-US" altLang="en-US" sz="2000" b="0" baseline="-25000">
                <a:solidFill>
                  <a:srgbClr val="FF0000"/>
                </a:solidFill>
                <a:latin typeface="Arial" charset="0"/>
              </a:rPr>
              <a:t>0</a:t>
            </a:r>
            <a:r>
              <a:rPr lang="en-US" altLang="en-US" sz="2000" b="0">
                <a:solidFill>
                  <a:srgbClr val="FF0000"/>
                </a:solidFill>
                <a:latin typeface="Arial" charset="0"/>
              </a:rPr>
              <a:t> = 0.75 vs. </a:t>
            </a:r>
            <a:r>
              <a:rPr lang="en-US" altLang="en-US" sz="2000" b="0" i="1">
                <a:solidFill>
                  <a:srgbClr val="FF0000"/>
                </a:solidFill>
                <a:latin typeface="Arial" charset="0"/>
              </a:rPr>
              <a:t>H</a:t>
            </a:r>
            <a:r>
              <a:rPr lang="en-US" altLang="en-US" sz="2000" b="0" baseline="-25000">
                <a:solidFill>
                  <a:srgbClr val="FF0000"/>
                </a:solidFill>
                <a:latin typeface="Arial" charset="0"/>
              </a:rPr>
              <a:t>a</a:t>
            </a:r>
            <a:r>
              <a:rPr lang="en-US" altLang="en-US" sz="2000" b="0">
                <a:solidFill>
                  <a:srgbClr val="FF0000"/>
                </a:solidFill>
                <a:latin typeface="Arial" charset="0"/>
              </a:rPr>
              <a:t>: </a:t>
            </a:r>
            <a:r>
              <a:rPr lang="en-US" altLang="en-US" sz="2000" b="0" i="1">
                <a:solidFill>
                  <a:srgbClr val="FF0000"/>
                </a:solidFill>
                <a:latin typeface="Arial" charset="0"/>
              </a:rPr>
              <a:t>p</a:t>
            </a:r>
            <a:r>
              <a:rPr lang="en-US" altLang="en-US" sz="2000" b="0">
                <a:solidFill>
                  <a:srgbClr val="FF0000"/>
                </a:solidFill>
                <a:latin typeface="Arial" charset="0"/>
              </a:rPr>
              <a:t> ≠ 0.75 (2 sided alternative)</a:t>
            </a:r>
          </a:p>
          <a:p>
            <a:pPr eaLnBrk="1" hangingPunct="1">
              <a:spcBef>
                <a:spcPct val="0"/>
              </a:spcBef>
              <a:buClrTx/>
              <a:buSzTx/>
              <a:buFontTx/>
              <a:buNone/>
            </a:pPr>
            <a:r>
              <a:rPr lang="en-US" altLang="en-US" sz="2000" b="0">
                <a:latin typeface="Arial" charset="0"/>
              </a:rPr>
              <a:t>In your SRS of 100 employees, you find that 68 answered “Yes” when asked, “Does work stress have a negative impact</a:t>
            </a:r>
          </a:p>
          <a:p>
            <a:pPr eaLnBrk="1" hangingPunct="1">
              <a:spcBef>
                <a:spcPct val="0"/>
              </a:spcBef>
              <a:spcAft>
                <a:spcPts val="1200"/>
              </a:spcAft>
              <a:buClrTx/>
              <a:buSzTx/>
              <a:buFontTx/>
              <a:buNone/>
            </a:pPr>
            <a:r>
              <a:rPr lang="en-US" altLang="en-US" sz="2000" b="0">
                <a:latin typeface="Arial" charset="0"/>
              </a:rPr>
              <a:t>on your personal life?”</a:t>
            </a:r>
          </a:p>
          <a:p>
            <a:pPr eaLnBrk="1" hangingPunct="1">
              <a:spcBef>
                <a:spcPct val="0"/>
              </a:spcBef>
              <a:spcAft>
                <a:spcPts val="1200"/>
              </a:spcAft>
              <a:buClrTx/>
              <a:buSzTx/>
              <a:buFontTx/>
              <a:buNone/>
            </a:pPr>
            <a:r>
              <a:rPr lang="en-US" altLang="en-US" sz="2000" b="0">
                <a:latin typeface="Arial" charset="0"/>
              </a:rPr>
              <a:t>The expected counts are 100 × 0</a:t>
            </a:r>
            <a:r>
              <a:rPr lang="en-US" altLang="en-US" sz="2000" b="0" i="1">
                <a:latin typeface="Arial" charset="0"/>
              </a:rPr>
              <a:t>.</a:t>
            </a:r>
            <a:r>
              <a:rPr lang="en-US" altLang="en-US" sz="2000" b="0">
                <a:latin typeface="Arial" charset="0"/>
              </a:rPr>
              <a:t>75 = 75 and 25. </a:t>
            </a:r>
            <a:br>
              <a:rPr lang="en-US" altLang="en-US" sz="2000" b="0">
                <a:latin typeface="Arial" charset="0"/>
              </a:rPr>
            </a:br>
            <a:r>
              <a:rPr lang="en-US" altLang="en-US" sz="2000" b="0">
                <a:latin typeface="Arial" charset="0"/>
              </a:rPr>
              <a:t>Both are greater than 10, so we can use the </a:t>
            </a:r>
            <a:r>
              <a:rPr lang="en-US" altLang="en-US" sz="2000" b="0" i="1">
                <a:latin typeface="Arial" charset="0"/>
              </a:rPr>
              <a:t>z-</a:t>
            </a:r>
            <a:r>
              <a:rPr lang="en-US" altLang="en-US" sz="2000" b="0">
                <a:latin typeface="Arial" charset="0"/>
              </a:rPr>
              <a:t>test. </a:t>
            </a:r>
          </a:p>
          <a:p>
            <a:pPr algn="ctr" eaLnBrk="1" hangingPunct="1">
              <a:lnSpc>
                <a:spcPct val="140000"/>
              </a:lnSpc>
              <a:spcBef>
                <a:spcPct val="0"/>
              </a:spcBef>
              <a:spcAft>
                <a:spcPct val="100000"/>
              </a:spcAft>
              <a:buClrTx/>
              <a:buSzTx/>
              <a:buFontTx/>
              <a:buNone/>
            </a:pPr>
            <a:r>
              <a:rPr lang="en-US" altLang="en-US" sz="2000" b="0">
                <a:latin typeface="Arial" charset="0"/>
              </a:rPr>
              <a:t>The test statistic is:</a:t>
            </a:r>
          </a:p>
        </p:txBody>
      </p:sp>
      <p:pic>
        <p:nvPicPr>
          <p:cNvPr id="27651" name="Picture 6"/>
          <p:cNvPicPr>
            <a:picLocks noChangeAspect="1" noChangeArrowheads="1"/>
          </p:cNvPicPr>
          <p:nvPr/>
        </p:nvPicPr>
        <p:blipFill>
          <a:blip r:embed="rId3">
            <a:extLst>
              <a:ext uri="{28A0092B-C50C-407E-A947-70E740481C1C}">
                <a14:useLocalDpi xmlns:a14="http://schemas.microsoft.com/office/drawing/2010/main" val="0"/>
              </a:ext>
            </a:extLst>
          </a:blip>
          <a:srcRect t="6250"/>
          <a:stretch>
            <a:fillRect/>
          </a:stretch>
        </p:blipFill>
        <p:spPr bwMode="auto">
          <a:xfrm>
            <a:off x="6248400" y="4191000"/>
            <a:ext cx="266700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TextBox 3"/>
          <p:cNvSpPr txBox="1">
            <a:spLocks noChangeArrowheads="1"/>
          </p:cNvSpPr>
          <p:nvPr/>
        </p:nvSpPr>
        <p:spPr bwMode="auto">
          <a:xfrm>
            <a:off x="1905000" y="228600"/>
            <a:ext cx="495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algn="ctr" eaLnBrk="1" hangingPunct="1">
              <a:spcBef>
                <a:spcPct val="0"/>
              </a:spcBef>
              <a:buClrTx/>
              <a:buSzTx/>
              <a:buFontTx/>
              <a:buNone/>
            </a:pPr>
            <a:r>
              <a:rPr lang="en-US" altLang="en-US" sz="2400" b="0">
                <a:solidFill>
                  <a:srgbClr val="FF0000"/>
                </a:solidFill>
                <a:latin typeface="Arial" charset="0"/>
              </a:rPr>
              <a:t>Example: one-proportion z test</a:t>
            </a:r>
          </a:p>
        </p:txBody>
      </p:sp>
    </p:spTree>
    <p:custDataLst>
      <p:tags r:id="rId1"/>
    </p:custData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381000" y="152400"/>
            <a:ext cx="83058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r>
              <a:rPr lang="en-US" altLang="en-US" sz="2000" b="0">
                <a:latin typeface="Arial" charset="0"/>
              </a:rPr>
              <a:t>From Table Z we find the area to the left of </a:t>
            </a:r>
            <a:r>
              <a:rPr lang="en-US" altLang="en-US" sz="2000" b="0" i="1">
                <a:latin typeface="Arial" charset="0"/>
              </a:rPr>
              <a:t>z=</a:t>
            </a:r>
            <a:r>
              <a:rPr lang="en-US" altLang="en-US" sz="2000" b="0">
                <a:latin typeface="Arial" charset="0"/>
              </a:rPr>
              <a:t> 1.62 is 0.9474. </a:t>
            </a:r>
            <a:br>
              <a:rPr lang="en-US" altLang="en-US" sz="2000" b="0">
                <a:latin typeface="Arial" charset="0"/>
              </a:rPr>
            </a:br>
            <a:r>
              <a:rPr lang="en-US" altLang="en-US" sz="2000" b="0">
                <a:solidFill>
                  <a:srgbClr val="FF0000"/>
                </a:solidFill>
                <a:latin typeface="Arial" charset="0"/>
              </a:rPr>
              <a:t>Thus </a:t>
            </a:r>
            <a:r>
              <a:rPr lang="en-US" altLang="en-US" sz="2000" b="0" i="1">
                <a:solidFill>
                  <a:srgbClr val="FF0000"/>
                </a:solidFill>
                <a:latin typeface="Arial" charset="0"/>
              </a:rPr>
              <a:t>P</a:t>
            </a:r>
            <a:r>
              <a:rPr lang="en-US" altLang="en-US" sz="2000" b="0">
                <a:solidFill>
                  <a:srgbClr val="FF0000"/>
                </a:solidFill>
                <a:latin typeface="Arial" charset="0"/>
              </a:rPr>
              <a:t>(</a:t>
            </a:r>
            <a:r>
              <a:rPr lang="en-US" altLang="en-US" sz="2000" b="0" i="1">
                <a:solidFill>
                  <a:srgbClr val="FF0000"/>
                </a:solidFill>
                <a:latin typeface="Arial" charset="0"/>
              </a:rPr>
              <a:t>Z </a:t>
            </a:r>
            <a:r>
              <a:rPr lang="en-US" altLang="en-US" sz="2000" b="0">
                <a:solidFill>
                  <a:srgbClr val="FF0000"/>
                </a:solidFill>
                <a:latin typeface="Arial" charset="0"/>
              </a:rPr>
              <a:t>≥ 1</a:t>
            </a:r>
            <a:r>
              <a:rPr lang="en-US" altLang="en-US" sz="2000" b="0" i="1">
                <a:solidFill>
                  <a:srgbClr val="FF0000"/>
                </a:solidFill>
                <a:latin typeface="Arial" charset="0"/>
              </a:rPr>
              <a:t>.</a:t>
            </a:r>
            <a:r>
              <a:rPr lang="en-US" altLang="en-US" sz="2000" b="0">
                <a:solidFill>
                  <a:srgbClr val="FF0000"/>
                </a:solidFill>
                <a:latin typeface="Arial" charset="0"/>
              </a:rPr>
              <a:t>62)</a:t>
            </a:r>
            <a:r>
              <a:rPr lang="en-US" altLang="en-US" sz="2000" b="0" i="1">
                <a:solidFill>
                  <a:srgbClr val="FF0000"/>
                </a:solidFill>
                <a:latin typeface="Arial" charset="0"/>
              </a:rPr>
              <a:t> </a:t>
            </a:r>
            <a:r>
              <a:rPr lang="en-US" altLang="en-US" sz="2000" b="0">
                <a:solidFill>
                  <a:srgbClr val="FF0000"/>
                </a:solidFill>
                <a:latin typeface="Arial" charset="0"/>
              </a:rPr>
              <a:t>= 1 − 0</a:t>
            </a:r>
            <a:r>
              <a:rPr lang="en-US" altLang="en-US" sz="2000" b="0" i="1">
                <a:solidFill>
                  <a:srgbClr val="FF0000"/>
                </a:solidFill>
                <a:latin typeface="Arial" charset="0"/>
              </a:rPr>
              <a:t>.</a:t>
            </a:r>
            <a:r>
              <a:rPr lang="en-US" altLang="en-US" sz="2000" b="0">
                <a:solidFill>
                  <a:srgbClr val="FF0000"/>
                </a:solidFill>
                <a:latin typeface="Arial" charset="0"/>
              </a:rPr>
              <a:t>9474, or 0.0526</a:t>
            </a:r>
            <a:r>
              <a:rPr lang="en-US" altLang="en-US" sz="2000" b="0">
                <a:latin typeface="Arial" charset="0"/>
              </a:rPr>
              <a:t>. Since the alternative hypothesis is two-sided, the </a:t>
            </a:r>
            <a:r>
              <a:rPr lang="en-US" altLang="en-US" sz="2000" b="0" i="1">
                <a:latin typeface="Arial" charset="0"/>
              </a:rPr>
              <a:t>P</a:t>
            </a:r>
            <a:r>
              <a:rPr lang="en-US" altLang="en-US" sz="2000" b="0">
                <a:latin typeface="Arial" charset="0"/>
              </a:rPr>
              <a:t>-value is the area in both tails, so </a:t>
            </a:r>
          </a:p>
          <a:p>
            <a:pPr eaLnBrk="1" hangingPunct="1">
              <a:lnSpc>
                <a:spcPct val="150000"/>
              </a:lnSpc>
              <a:spcBef>
                <a:spcPct val="0"/>
              </a:spcBef>
              <a:buClrTx/>
              <a:buSzTx/>
              <a:buFontTx/>
              <a:buNone/>
            </a:pPr>
            <a:r>
              <a:rPr lang="en-US" altLang="en-US" sz="2000" b="0" i="1">
                <a:solidFill>
                  <a:srgbClr val="FF0000"/>
                </a:solidFill>
                <a:latin typeface="Arial" charset="0"/>
              </a:rPr>
              <a:t>P –value </a:t>
            </a:r>
            <a:r>
              <a:rPr lang="en-US" altLang="en-US" sz="2000" b="0">
                <a:solidFill>
                  <a:srgbClr val="FF0000"/>
                </a:solidFill>
                <a:latin typeface="Arial" charset="0"/>
              </a:rPr>
              <a:t>= 2 × 0</a:t>
            </a:r>
            <a:r>
              <a:rPr lang="en-US" altLang="en-US" sz="2000" b="0" i="1">
                <a:solidFill>
                  <a:srgbClr val="FF0000"/>
                </a:solidFill>
                <a:latin typeface="Arial" charset="0"/>
              </a:rPr>
              <a:t>.</a:t>
            </a:r>
            <a:r>
              <a:rPr lang="en-US" altLang="en-US" sz="2000" b="0">
                <a:solidFill>
                  <a:srgbClr val="FF0000"/>
                </a:solidFill>
                <a:latin typeface="Arial" charset="0"/>
              </a:rPr>
              <a:t>0526 = 0</a:t>
            </a:r>
            <a:r>
              <a:rPr lang="en-US" altLang="en-US" sz="2000" b="0" i="1">
                <a:solidFill>
                  <a:srgbClr val="FF0000"/>
                </a:solidFill>
                <a:latin typeface="Arial" charset="0"/>
              </a:rPr>
              <a:t>.</a:t>
            </a:r>
            <a:r>
              <a:rPr lang="en-US" altLang="en-US" sz="2000" b="0">
                <a:solidFill>
                  <a:srgbClr val="FF0000"/>
                </a:solidFill>
                <a:latin typeface="Arial" charset="0"/>
              </a:rPr>
              <a:t>1052 </a:t>
            </a:r>
            <a:r>
              <a:rPr lang="en-US" altLang="en-US" sz="2000" b="0">
                <a:solidFill>
                  <a:srgbClr val="FF0000"/>
                </a:solidFill>
                <a:latin typeface="Arial" charset="0"/>
                <a:sym typeface="Symbol" pitchFamily="18" charset="2"/>
              </a:rPr>
              <a:t> 0.11</a:t>
            </a:r>
            <a:r>
              <a:rPr lang="en-US" altLang="en-US" sz="2000" b="0">
                <a:latin typeface="Arial" charset="0"/>
              </a:rPr>
              <a:t>.</a:t>
            </a:r>
            <a:r>
              <a:rPr lang="en-US" altLang="en-US" sz="2400" b="0">
                <a:latin typeface="Arial" charset="0"/>
              </a:rPr>
              <a:t> </a:t>
            </a:r>
          </a:p>
        </p:txBody>
      </p:sp>
      <p:sp>
        <p:nvSpPr>
          <p:cNvPr id="1199111" name="Text Box 7"/>
          <p:cNvSpPr txBox="1">
            <a:spLocks noChangeArrowheads="1"/>
          </p:cNvSpPr>
          <p:nvPr/>
        </p:nvSpPr>
        <p:spPr bwMode="auto">
          <a:xfrm>
            <a:off x="304800" y="3808413"/>
            <a:ext cx="3429000"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lnSpc>
                <a:spcPct val="140000"/>
              </a:lnSpc>
              <a:spcBef>
                <a:spcPct val="0"/>
              </a:spcBef>
              <a:buClrTx/>
              <a:buSzTx/>
              <a:buFont typeface="Times" charset="0"/>
              <a:buNone/>
            </a:pPr>
            <a:r>
              <a:rPr lang="en-US" altLang="en-US" sz="2400" b="0">
                <a:latin typeface="Arial" charset="0"/>
                <a:sym typeface="Wingdings" pitchFamily="2" charset="2"/>
              </a:rPr>
              <a:t></a:t>
            </a:r>
            <a:r>
              <a:rPr lang="en-US" altLang="en-US" sz="2400" b="0">
                <a:latin typeface="Arial" charset="0"/>
              </a:rPr>
              <a:t> </a:t>
            </a:r>
            <a:r>
              <a:rPr lang="en-US" altLang="en-US" sz="2000" b="0">
                <a:latin typeface="Arial" charset="0"/>
              </a:rPr>
              <a:t>The chain restaurant data are not significantly different from the national survey results (</a:t>
            </a:r>
            <a:r>
              <a:rPr lang="en-US" altLang="en-US" sz="2000" b="0" i="1">
                <a:latin typeface="Arial" charset="0"/>
              </a:rPr>
              <a:t>p</a:t>
            </a:r>
            <a:r>
              <a:rPr lang="en-US" altLang="en-US" sz="2000" b="0">
                <a:latin typeface="Arial" charset="0"/>
              </a:rPr>
              <a:t>ˆ</a:t>
            </a:r>
            <a:r>
              <a:rPr lang="en-US" altLang="en-US" sz="2000" b="0" i="1">
                <a:latin typeface="Arial" charset="0"/>
              </a:rPr>
              <a:t> </a:t>
            </a:r>
            <a:r>
              <a:rPr lang="en-US" altLang="en-US" sz="2000" b="0">
                <a:latin typeface="Arial" charset="0"/>
              </a:rPr>
              <a:t>= 0</a:t>
            </a:r>
            <a:r>
              <a:rPr lang="en-US" altLang="en-US" sz="2000" b="0" i="1">
                <a:latin typeface="Arial" charset="0"/>
              </a:rPr>
              <a:t>.</a:t>
            </a:r>
            <a:r>
              <a:rPr lang="en-US" altLang="en-US" sz="2000" b="0">
                <a:latin typeface="Arial" charset="0"/>
              </a:rPr>
              <a:t>68, </a:t>
            </a:r>
            <a:r>
              <a:rPr lang="en-US" altLang="en-US" sz="2000" b="0" i="1">
                <a:latin typeface="Arial" charset="0"/>
              </a:rPr>
              <a:t>z </a:t>
            </a:r>
            <a:r>
              <a:rPr lang="en-US" altLang="en-US" sz="2000" b="0">
                <a:latin typeface="Arial" charset="0"/>
              </a:rPr>
              <a:t>= 1</a:t>
            </a:r>
            <a:r>
              <a:rPr lang="en-US" altLang="en-US" sz="2000" b="0" i="1">
                <a:latin typeface="Arial" charset="0"/>
              </a:rPr>
              <a:t>.</a:t>
            </a:r>
            <a:r>
              <a:rPr lang="en-US" altLang="en-US" sz="2000" b="0">
                <a:latin typeface="Arial" charset="0"/>
              </a:rPr>
              <a:t>62, </a:t>
            </a:r>
            <a:r>
              <a:rPr lang="en-US" altLang="en-US" sz="2000" b="0" i="1">
                <a:latin typeface="Arial" charset="0"/>
              </a:rPr>
              <a:t>P </a:t>
            </a:r>
            <a:r>
              <a:rPr lang="en-US" altLang="en-US" sz="2000" b="0">
                <a:latin typeface="Arial" charset="0"/>
              </a:rPr>
              <a:t>= 0</a:t>
            </a:r>
            <a:r>
              <a:rPr lang="en-US" altLang="en-US" sz="2000" b="0" i="1">
                <a:latin typeface="Arial" charset="0"/>
              </a:rPr>
              <a:t>.</a:t>
            </a:r>
            <a:r>
              <a:rPr lang="en-US" altLang="en-US" sz="2000" b="0">
                <a:latin typeface="Arial" charset="0"/>
              </a:rPr>
              <a:t>11).</a:t>
            </a:r>
          </a:p>
        </p:txBody>
      </p:sp>
      <p:pic>
        <p:nvPicPr>
          <p:cNvPr id="28676" name="Picture 16"/>
          <p:cNvPicPr>
            <a:picLocks noChangeAspect="1" noChangeArrowheads="1"/>
          </p:cNvPicPr>
          <p:nvPr/>
        </p:nvPicPr>
        <p:blipFill>
          <a:blip r:embed="rId3">
            <a:extLst>
              <a:ext uri="{28A0092B-C50C-407E-A947-70E740481C1C}">
                <a14:useLocalDpi xmlns:a14="http://schemas.microsoft.com/office/drawing/2010/main" val="0"/>
              </a:ext>
            </a:extLst>
          </a:blip>
          <a:srcRect t="458" b="8951"/>
          <a:stretch>
            <a:fillRect/>
          </a:stretch>
        </p:blipFill>
        <p:spPr bwMode="auto">
          <a:xfrm>
            <a:off x="4267200" y="3779838"/>
            <a:ext cx="4483100" cy="284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17"/>
          <p:cNvPicPr>
            <a:picLocks noChangeAspect="1" noChangeArrowheads="1"/>
          </p:cNvPicPr>
          <p:nvPr/>
        </p:nvPicPr>
        <p:blipFill>
          <a:blip r:embed="rId4">
            <a:extLst>
              <a:ext uri="{28A0092B-C50C-407E-A947-70E740481C1C}">
                <a14:useLocalDpi xmlns:a14="http://schemas.microsoft.com/office/drawing/2010/main" val="0"/>
              </a:ext>
            </a:extLst>
          </a:blip>
          <a:srcRect l="2701" r="491"/>
          <a:stretch>
            <a:fillRect/>
          </a:stretch>
        </p:blipFill>
        <p:spPr bwMode="auto">
          <a:xfrm>
            <a:off x="304800" y="2133600"/>
            <a:ext cx="8418513"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18"/>
          <p:cNvPicPr>
            <a:picLocks noChangeAspect="1" noChangeArrowheads="1"/>
          </p:cNvPicPr>
          <p:nvPr/>
        </p:nvPicPr>
        <p:blipFill>
          <a:blip r:embed="rId5">
            <a:extLst>
              <a:ext uri="{28A0092B-C50C-407E-A947-70E740481C1C}">
                <a14:useLocalDpi xmlns:a14="http://schemas.microsoft.com/office/drawing/2010/main" val="0"/>
              </a:ext>
            </a:extLst>
          </a:blip>
          <a:srcRect l="2707" t="11638"/>
          <a:stretch>
            <a:fillRect/>
          </a:stretch>
        </p:blipFill>
        <p:spPr bwMode="auto">
          <a:xfrm>
            <a:off x="304800" y="1676400"/>
            <a:ext cx="841533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Rectangle 19"/>
          <p:cNvSpPr>
            <a:spLocks noChangeArrowheads="1"/>
          </p:cNvSpPr>
          <p:nvPr/>
        </p:nvSpPr>
        <p:spPr bwMode="auto">
          <a:xfrm>
            <a:off x="2590800" y="2362200"/>
            <a:ext cx="609600" cy="30480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400"/>
              </a:spcBef>
              <a:buClr>
                <a:schemeClr val="accent1"/>
              </a:buClr>
              <a:buSzPct val="68000"/>
              <a:buFont typeface="Wingdings 3" pitchFamily="18" charset="2"/>
              <a:buChar char=""/>
              <a:defRPr sz="2700" b="1">
                <a:solidFill>
                  <a:schemeClr val="tx1"/>
                </a:solidFill>
                <a:latin typeface="Times New Roman" pitchFamily="18" charset="0"/>
                <a:cs typeface="Arial" charset="0"/>
              </a:defRPr>
            </a:lvl1pPr>
            <a:lvl2pPr marL="742950" indent="-285750" eaLnBrk="0" hangingPunct="0">
              <a:spcBef>
                <a:spcPts val="325"/>
              </a:spcBef>
              <a:buClr>
                <a:schemeClr val="accent1"/>
              </a:buClr>
              <a:buFont typeface="Verdana" pitchFamily="34" charset="0"/>
              <a:buChar char="◦"/>
              <a:defRPr sz="2300" b="1">
                <a:solidFill>
                  <a:schemeClr val="tx1"/>
                </a:solidFill>
                <a:latin typeface="Times New Roman" pitchFamily="18" charset="0"/>
                <a:cs typeface="Arial"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Times New Roman" pitchFamily="18" charset="0"/>
                <a:cs typeface="Arial" charset="0"/>
              </a:defRPr>
            </a:lvl3pPr>
            <a:lvl4pPr marL="1600200" indent="-228600" eaLnBrk="0" hangingPunct="0">
              <a:spcBef>
                <a:spcPts val="350"/>
              </a:spcBef>
              <a:buClr>
                <a:schemeClr val="accent2"/>
              </a:buClr>
              <a:buFont typeface="Wingdings 2" pitchFamily="18" charset="2"/>
              <a:buChar char=""/>
              <a:defRPr sz="1900" i="1">
                <a:solidFill>
                  <a:schemeClr val="tx1"/>
                </a:solidFill>
                <a:latin typeface="Times New Roman" pitchFamily="18" charset="0"/>
                <a:cs typeface="Arial" charset="0"/>
              </a:defRPr>
            </a:lvl4pPr>
            <a:lvl5pPr marL="2057400" indent="-228600" eaLnBrk="0" hangingPunct="0">
              <a:spcBef>
                <a:spcPts val="350"/>
              </a:spcBef>
              <a:buClr>
                <a:schemeClr val="accent2"/>
              </a:buClr>
              <a:buFont typeface="Wingdings 2" pitchFamily="18" charset="2"/>
              <a:buChar char=""/>
              <a:defRPr i="1">
                <a:solidFill>
                  <a:schemeClr val="tx1"/>
                </a:solidFill>
                <a:latin typeface="Times New Roman" pitchFamily="18" charset="0"/>
                <a:cs typeface="Arial" charset="0"/>
              </a:defRPr>
            </a:lvl5pPr>
            <a:lvl6pPr marL="25146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6pPr>
            <a:lvl7pPr marL="29718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7pPr>
            <a:lvl8pPr marL="34290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8pPr>
            <a:lvl9pPr marL="3886200" indent="-228600" eaLnBrk="0" fontAlgn="base" hangingPunct="0">
              <a:spcBef>
                <a:spcPts val="350"/>
              </a:spcBef>
              <a:spcAft>
                <a:spcPct val="0"/>
              </a:spcAft>
              <a:buClr>
                <a:schemeClr val="accent2"/>
              </a:buClr>
              <a:buFont typeface="Wingdings 2" pitchFamily="18" charset="2"/>
              <a:buChar char=""/>
              <a:defRPr i="1">
                <a:solidFill>
                  <a:schemeClr val="tx1"/>
                </a:solidFill>
                <a:latin typeface="Times New Roman" pitchFamily="18" charset="0"/>
                <a:cs typeface="Arial" charset="0"/>
              </a:defRPr>
            </a:lvl9pPr>
          </a:lstStyle>
          <a:p>
            <a:pPr eaLnBrk="1" hangingPunct="1">
              <a:spcBef>
                <a:spcPct val="0"/>
              </a:spcBef>
              <a:buClrTx/>
              <a:buSzTx/>
              <a:buFontTx/>
              <a:buNone/>
            </a:pPr>
            <a:endParaRPr lang="en-US" altLang="en-US" sz="2400" b="0">
              <a:latin typeface="Arial"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99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9111" grpId="0"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EXPANDSHOWBAR" val="True"/>
  <p:tag name="BULLETTYPE" val="3"/>
  <p:tag name="RESPCOUNTERSTYLE" val="-1"/>
  <p:tag name="INPUTSOURCE" val="1"/>
  <p:tag name="BACKUPMAINTENANCE" val="7"/>
  <p:tag name="ROTATIONINTERVAL" val="2"/>
  <p:tag name="RACERSMAXDISPLAYED" val="5"/>
  <p:tag name="TEAMSINLEADERBOARD" val="5"/>
  <p:tag name="BUBBLEVALUEFORMAT" val="0.0"/>
  <p:tag name="CUSTOMCELLFORECOLOR" val="-16777216"/>
  <p:tag name="CUSTOMCELLBACKCOLOR4" val="-8355712"/>
  <p:tag name="DISPLAYDEVICEID" val="True"/>
  <p:tag name="GRIDSIZE" val="{Width=800, Height=600}"/>
  <p:tag name="CHARTLABELS" val="1"/>
  <p:tag name="PARTLISTDEFAULT" val="1"/>
  <p:tag name="INCORRECTPOINTVALUE" val="0"/>
  <p:tag name="AUTOADJUSTPARTRANGE" val="True"/>
  <p:tag name="FIBNUMRESULTS" val="5"/>
  <p:tag name="PRRESPONSE2" val="9"/>
  <p:tag name="PRRESPONSE6" val="5"/>
  <p:tag name="PRRESPONSE10" val="1"/>
  <p:tag name="CSVFORMAT" val="0"/>
  <p:tag name="RESPCOUNTERFORMAT" val="0"/>
  <p:tag name="ALLOWDUPLICATES" val="False"/>
  <p:tag name="REVIEWONLY" val="False"/>
  <p:tag name="RACEANIMATIONSPEED" val="3"/>
  <p:tag name="BUBBLENAMEVISIBLE" val="True"/>
  <p:tag name="CUSTOMGRIDBACKCOLOR" val="-722948"/>
  <p:tag name="USESCHEMECOLORS" val="True"/>
  <p:tag name="GRIDROTATIONINTERVAL" val="2"/>
  <p:tag name="CHARTCOLORS" val="0"/>
  <p:tag name="INCLUDEPPT" val="True"/>
  <p:tag name="REALTIMEBACKUPPATH" val="(None)"/>
  <p:tag name="FIBDISPLAYRESULTS" val="True"/>
  <p:tag name="PRRESPONSE3" val="8"/>
  <p:tag name="PRRESPONSE8" val="3"/>
  <p:tag name="TPVERSION" val="2008"/>
  <p:tag name="ANSWERNOWSTYLE" val="-1"/>
  <p:tag name="COUNTDOWNSECONDS" val="10"/>
  <p:tag name="AUTOADVANCE" val="False"/>
  <p:tag name="SKIPREMAININGRACESLIDES" val="True"/>
  <p:tag name="BUBBLEGROUPING" val="3"/>
  <p:tag name="CUSTOMCELLBACKCOLOR3" val="-268652"/>
  <p:tag name="AUTOSIZEGRID" val="True"/>
  <p:tag name="INCLUDENONRESPONDERS" val="False"/>
  <p:tag name="REALTIMEBACKUP" val="False"/>
  <p:tag name="FIBINCLUDEOTHER" val="True"/>
  <p:tag name="PRRESPONSE5" val="6"/>
  <p:tag name="ALWAYSOPENPOLL" val="False"/>
  <p:tag name="ANSWERNOWTEXT" val="Answer Now"/>
  <p:tag name="BACKUPSESSIONS" val="True"/>
  <p:tag name="RACEENDPOINTS" val="100"/>
  <p:tag name="DEFAULTNUMTEAMS" val="5"/>
  <p:tag name="DISPLAYDEVICENUMBER" val="True"/>
  <p:tag name="RESETCHARTS" val="True"/>
  <p:tag name="ZEROBASED" val="False"/>
  <p:tag name="PRRESPONSE1" val="10"/>
  <p:tag name="SHOWFLASHWARNING" val="True"/>
  <p:tag name="COUNTDOWNSTYLE" val="3"/>
  <p:tag name="AUTOUPDATEALIASES" val="True"/>
  <p:tag name="BUBBLESIZEVISIBLE" val="True"/>
  <p:tag name="GRIDOPACITY" val="90"/>
  <p:tag name="ALLOWUSERFEEDBACK" val="True"/>
  <p:tag name="FIBDISPLAYKEYWORDS" val="True"/>
  <p:tag name="SHOWBARVISIBLE" val="True"/>
  <p:tag name="NUMRESPONSES" val="1"/>
  <p:tag name="MAXRESPONDERS" val="5"/>
  <p:tag name="GRIDPOSITION" val="1"/>
  <p:tag name="CHARTSCALE" val="True"/>
  <p:tag name="PRRESPONSE9" val="2"/>
  <p:tag name="CHARTVALUEFORMAT" val="0%"/>
  <p:tag name="CUSTOMCELLBACKCOLOR2" val="-13395457"/>
  <p:tag name="CORRECTPOINTVALUE" val="1"/>
  <p:tag name="USESECONDARYMONITOR" val="True"/>
  <p:tag name="PARTICIPANTSINLEADERBOARD" val="5"/>
  <p:tag name="MULTIRESPDIVISOR" val="1"/>
  <p:tag name="SAVECSVWITHSESSION" val="False"/>
  <p:tag name="DISPLAYNAME" val="True"/>
  <p:tag name="PRRESPONSE7" val="4"/>
  <p:tag name="POLLINGCYCLE" val="2"/>
  <p:tag name="STDCHART" val="1"/>
  <p:tag name="RESPTABLESTYLE" val="-1"/>
  <p:tag name="CUSTOMCELLBACKCOLOR1" val="-657956"/>
  <p:tag name="PRRESPONSE4" val="7"/>
  <p:tag name="ADVANCEDSETTINGSVIEW" val="False"/>
  <p:tag name="DELIMITERS" val="3.1"/>
  <p:tag name="INCLUDESESSION" val="True"/>
  <p:tag name="TASKPANEKEY" val="2ce79e0a-4f2e-487d-8839-c8840f40092e"/>
  <p:tag name="POWERPOINTVERSION" val="14.0"/>
  <p:tag name="TPFULLVERSION" val="4.3.2.1178"/>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9_Concourse">
  <a:themeElements>
    <a:clrScheme name="9_Concourse 1">
      <a:dk1>
        <a:srgbClr val="000000"/>
      </a:dk1>
      <a:lt1>
        <a:srgbClr val="FFFFFF"/>
      </a:lt1>
      <a:dk2>
        <a:srgbClr val="464646"/>
      </a:dk2>
      <a:lt2>
        <a:srgbClr val="DEF5FA"/>
      </a:lt2>
      <a:accent1>
        <a:srgbClr val="2DA2BF"/>
      </a:accent1>
      <a:accent2>
        <a:srgbClr val="DA1F28"/>
      </a:accent2>
      <a:accent3>
        <a:srgbClr val="FFFFFF"/>
      </a:accent3>
      <a:accent4>
        <a:srgbClr val="000000"/>
      </a:accent4>
      <a:accent5>
        <a:srgbClr val="ADCEDC"/>
      </a:accent5>
      <a:accent6>
        <a:srgbClr val="C51B23"/>
      </a:accent6>
      <a:hlink>
        <a:srgbClr val="FF8119"/>
      </a:hlink>
      <a:folHlink>
        <a:srgbClr val="44B9E8"/>
      </a:folHlink>
    </a:clrScheme>
    <a:fontScheme name="9_Concourse">
      <a:majorFont>
        <a:latin typeface="Lucida Sans Unicode"/>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9_Concourse 1">
        <a:dk1>
          <a:srgbClr val="000000"/>
        </a:dk1>
        <a:lt1>
          <a:srgbClr val="FFFFFF"/>
        </a:lt1>
        <a:dk2>
          <a:srgbClr val="464646"/>
        </a:dk2>
        <a:lt2>
          <a:srgbClr val="DEF5FA"/>
        </a:lt2>
        <a:accent1>
          <a:srgbClr val="2DA2BF"/>
        </a:accent1>
        <a:accent2>
          <a:srgbClr val="DA1F28"/>
        </a:accent2>
        <a:accent3>
          <a:srgbClr val="FFFFFF"/>
        </a:accent3>
        <a:accent4>
          <a:srgbClr val="000000"/>
        </a:accent4>
        <a:accent5>
          <a:srgbClr val="ADCEDC"/>
        </a:accent5>
        <a:accent6>
          <a:srgbClr val="C51B23"/>
        </a:accent6>
        <a:hlink>
          <a:srgbClr val="FF8119"/>
        </a:hlink>
        <a:folHlink>
          <a:srgbClr val="44B9E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ustom 1">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ustom 1">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ustom 1">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ustom 1">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ustom 1">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Radial</Template>
  <TotalTime>14181</TotalTime>
  <Words>2756</Words>
  <Application>Microsoft Office PowerPoint</Application>
  <PresentationFormat>On-screen Show (4:3)</PresentationFormat>
  <Paragraphs>328</Paragraphs>
  <Slides>33</Slides>
  <Notes>18</Notes>
  <HiddenSlides>0</HiddenSlides>
  <MMClips>0</MMClips>
  <ScaleCrop>false</ScaleCrop>
  <HeadingPairs>
    <vt:vector size="8" baseType="variant">
      <vt:variant>
        <vt:lpstr>Fonts Used</vt:lpstr>
      </vt:variant>
      <vt:variant>
        <vt:i4>9</vt:i4>
      </vt:variant>
      <vt:variant>
        <vt:lpstr>Theme</vt:lpstr>
      </vt:variant>
      <vt:variant>
        <vt:i4>6</vt:i4>
      </vt:variant>
      <vt:variant>
        <vt:lpstr>Embedded OLE Servers</vt:lpstr>
      </vt:variant>
      <vt:variant>
        <vt:i4>2</vt:i4>
      </vt:variant>
      <vt:variant>
        <vt:lpstr>Slide Titles</vt:lpstr>
      </vt:variant>
      <vt:variant>
        <vt:i4>33</vt:i4>
      </vt:variant>
    </vt:vector>
  </HeadingPairs>
  <TitlesOfParts>
    <vt:vector size="50" baseType="lpstr">
      <vt:lpstr>Arial</vt:lpstr>
      <vt:lpstr>Lucida Sans Unicode</vt:lpstr>
      <vt:lpstr>Times New Roman</vt:lpstr>
      <vt:lpstr>Wingdings 3</vt:lpstr>
      <vt:lpstr>Verdana</vt:lpstr>
      <vt:lpstr>Wingdings 2</vt:lpstr>
      <vt:lpstr>Symbol</vt:lpstr>
      <vt:lpstr>Wingdings</vt:lpstr>
      <vt:lpstr>Times</vt:lpstr>
      <vt:lpstr>9_Concourse</vt:lpstr>
      <vt:lpstr>Default Design</vt:lpstr>
      <vt:lpstr>1_Default Design</vt:lpstr>
      <vt:lpstr>2_Default Design</vt:lpstr>
      <vt:lpstr>3_Default Design</vt:lpstr>
      <vt:lpstr>4_Default Design</vt:lpstr>
      <vt:lpstr>Equation</vt:lpstr>
      <vt:lpstr>MathType 6.0 Equation</vt:lpstr>
      <vt:lpstr>PowerPoint Presentation</vt:lpstr>
      <vt:lpstr>Example</vt:lpstr>
      <vt:lpstr>PowerPoint Presentation</vt:lpstr>
      <vt:lpstr>PowerPoint Presentation</vt:lpstr>
      <vt:lpstr>PowerPoint Presentation</vt:lpstr>
      <vt:lpstr>Hypotheses</vt:lpstr>
      <vt:lpstr>Hypothesis statements:</vt:lpstr>
      <vt:lpstr>The Form of Hypotheses:</vt:lpstr>
      <vt:lpstr>PowerPoint Presentation</vt:lpstr>
      <vt:lpstr>PowerPoint Presentation</vt:lpstr>
      <vt:lpstr>PowerPoint Presentation</vt:lpstr>
      <vt:lpstr>For each pair of hypotheses, indicate which are not legitimate and explain why</vt:lpstr>
      <vt:lpstr>PowerPoint Presentation</vt:lpstr>
      <vt:lpstr>PowerPoint Presentation</vt:lpstr>
      <vt:lpstr>Recall: One-sided and two-sided tests</vt:lpstr>
      <vt:lpstr>PowerPoint Presentation</vt:lpstr>
      <vt:lpstr>PowerPoint Presentation</vt:lpstr>
      <vt:lpstr>Calculating The Test Statistic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Medication side effects (hypothesis test for p)</vt:lpstr>
      <vt:lpstr>PowerPoint Presentation</vt:lpstr>
      <vt:lpstr>Example:  one-proportion z test</vt:lpstr>
      <vt:lpstr>Solution</vt:lpstr>
      <vt:lpstr>PowerPoint Presentation</vt:lpstr>
      <vt:lpstr>PowerPoint Presentation</vt:lpstr>
    </vt:vector>
  </TitlesOfParts>
  <Company>Pearson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Stats: An Applied Approach</dc:title>
  <dc:creator>Sharpe</dc:creator>
  <cp:lastModifiedBy>Tom Reiland</cp:lastModifiedBy>
  <cp:revision>669</cp:revision>
  <cp:lastPrinted>2015-03-03T21:39:11Z</cp:lastPrinted>
  <dcterms:created xsi:type="dcterms:W3CDTF">2006-09-04T14:13:43Z</dcterms:created>
  <dcterms:modified xsi:type="dcterms:W3CDTF">2015-03-04T10:07:23Z</dcterms:modified>
</cp:coreProperties>
</file>