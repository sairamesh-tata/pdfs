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emf" ContentType="image/x-e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00" r:id="rId1"/>
  </p:sldMasterIdLst>
  <p:notesMasterIdLst>
    <p:notesMasterId r:id="rId34"/>
  </p:notesMasterIdLst>
  <p:handoutMasterIdLst>
    <p:handoutMasterId r:id="rId35"/>
  </p:handoutMasterIdLst>
  <p:sldIdLst>
    <p:sldId id="364" r:id="rId2"/>
    <p:sldId id="259" r:id="rId3"/>
    <p:sldId id="406" r:id="rId4"/>
    <p:sldId id="429" r:id="rId5"/>
    <p:sldId id="430" r:id="rId6"/>
    <p:sldId id="407" r:id="rId7"/>
    <p:sldId id="322" r:id="rId8"/>
    <p:sldId id="428" r:id="rId9"/>
    <p:sldId id="355" r:id="rId10"/>
    <p:sldId id="405" r:id="rId11"/>
    <p:sldId id="424" r:id="rId12"/>
    <p:sldId id="411" r:id="rId13"/>
    <p:sldId id="437" r:id="rId14"/>
    <p:sldId id="427" r:id="rId15"/>
    <p:sldId id="412" r:id="rId16"/>
    <p:sldId id="413" r:id="rId17"/>
    <p:sldId id="414" r:id="rId18"/>
    <p:sldId id="415" r:id="rId19"/>
    <p:sldId id="438" r:id="rId20"/>
    <p:sldId id="417" r:id="rId21"/>
    <p:sldId id="439" r:id="rId22"/>
    <p:sldId id="419" r:id="rId23"/>
    <p:sldId id="440" r:id="rId24"/>
    <p:sldId id="441" r:id="rId25"/>
    <p:sldId id="442" r:id="rId26"/>
    <p:sldId id="431" r:id="rId27"/>
    <p:sldId id="432" r:id="rId28"/>
    <p:sldId id="433" r:id="rId29"/>
    <p:sldId id="434" r:id="rId30"/>
    <p:sldId id="435" r:id="rId31"/>
    <p:sldId id="436" r:id="rId32"/>
    <p:sldId id="443" r:id="rId33"/>
  </p:sldIdLst>
  <p:sldSz cx="9144000" cy="6858000" type="screen4x3"/>
  <p:notesSz cx="7315200" cy="9601200"/>
  <p:defaultTex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Arial"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Arial"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Arial"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Arial"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Arial"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Arial"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Arial"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Arial"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FABF8E"/>
    <a:srgbClr val="CC3300"/>
    <a:srgbClr val="66CCFF"/>
    <a:srgbClr val="008080"/>
    <a:srgbClr val="00FFFF"/>
    <a:srgbClr val="666699"/>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40" autoAdjust="0"/>
    <p:restoredTop sz="94660" autoAdjust="0"/>
  </p:normalViewPr>
  <p:slideViewPr>
    <p:cSldViewPr>
      <p:cViewPr>
        <p:scale>
          <a:sx n="60" d="100"/>
          <a:sy n="60" d="100"/>
        </p:scale>
        <p:origin x="-96" y="-5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6" d="100"/>
          <a:sy n="66" d="100"/>
        </p:scale>
        <p:origin x="-3288" y="-11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image" Target="../media/image2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34.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6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smtClean="0"/>
            </a:lvl1pPr>
          </a:lstStyle>
          <a:p>
            <a:pPr>
              <a:defRPr/>
            </a:pPr>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smtClean="0"/>
            </a:lvl1pPr>
          </a:lstStyle>
          <a:p>
            <a:pPr>
              <a:defRPr/>
            </a:pPr>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smtClean="0"/>
            </a:lvl1pPr>
          </a:lstStyle>
          <a:p>
            <a:pPr>
              <a:defRPr/>
            </a:pPr>
            <a:fld id="{45D2F91B-C373-461F-AD9C-877045AD5718}" type="slidenum">
              <a:rPr lang="en-US"/>
              <a:pPr>
                <a:defRPr/>
              </a:pPr>
              <a:t>‹#›</a:t>
            </a:fld>
            <a:endParaRPr lang="en-US"/>
          </a:p>
        </p:txBody>
      </p:sp>
    </p:spTree>
    <p:extLst>
      <p:ext uri="{BB962C8B-B14F-4D97-AF65-F5344CB8AC3E}">
        <p14:creationId xmlns:p14="http://schemas.microsoft.com/office/powerpoint/2010/main" val="915867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defRPr sz="1300">
                <a:effectLst/>
                <a:latin typeface="Times New Roman" pitchFamily="18" charset="0"/>
              </a:defRPr>
            </a:lvl1pPr>
          </a:lstStyle>
          <a:p>
            <a:pPr>
              <a:defRPr/>
            </a:pPr>
            <a:endParaRPr lang="en-US"/>
          </a:p>
        </p:txBody>
      </p:sp>
      <p:sp>
        <p:nvSpPr>
          <p:cNvPr id="69635" name="Rectangle 3"/>
          <p:cNvSpPr>
            <a:spLocks noGrp="1" noChangeArrowheads="1"/>
          </p:cNvSpPr>
          <p:nvPr>
            <p:ph type="dt" idx="1"/>
          </p:nvPr>
        </p:nvSpPr>
        <p:spPr bwMode="auto">
          <a:xfrm>
            <a:off x="414528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a:defRPr sz="1300">
                <a:effectLst/>
                <a:latin typeface="Times New Roman" pitchFamily="18" charset="0"/>
              </a:defRPr>
            </a:lvl1pPr>
          </a:lstStyle>
          <a:p>
            <a:pPr>
              <a:defRPr/>
            </a:pPr>
            <a:endParaRPr lang="en-US"/>
          </a:p>
        </p:txBody>
      </p:sp>
      <p:sp>
        <p:nvSpPr>
          <p:cNvPr id="24580"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7" name="Rectangle 5"/>
          <p:cNvSpPr>
            <a:spLocks noGrp="1" noChangeArrowheads="1"/>
          </p:cNvSpPr>
          <p:nvPr>
            <p:ph type="body" sz="quarter" idx="3"/>
          </p:nvPr>
        </p:nvSpPr>
        <p:spPr bwMode="auto">
          <a:xfrm>
            <a:off x="975360" y="4560570"/>
            <a:ext cx="5364480" cy="432054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9638" name="Rectangle 6"/>
          <p:cNvSpPr>
            <a:spLocks noGrp="1" noChangeArrowheads="1"/>
          </p:cNvSpPr>
          <p:nvPr>
            <p:ph type="ftr" sz="quarter" idx="4"/>
          </p:nvPr>
        </p:nvSpPr>
        <p:spPr bwMode="auto">
          <a:xfrm>
            <a:off x="0" y="9121140"/>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defRPr sz="1300">
                <a:effectLst/>
                <a:latin typeface="Times New Roman" pitchFamily="18" charset="0"/>
              </a:defRPr>
            </a:lvl1pPr>
          </a:lstStyle>
          <a:p>
            <a:pPr>
              <a:defRPr/>
            </a:pPr>
            <a:endParaRPr lang="en-US"/>
          </a:p>
        </p:txBody>
      </p:sp>
      <p:sp>
        <p:nvSpPr>
          <p:cNvPr id="69639" name="Rectangle 7"/>
          <p:cNvSpPr>
            <a:spLocks noGrp="1" noChangeArrowheads="1"/>
          </p:cNvSpPr>
          <p:nvPr>
            <p:ph type="sldNum" sz="quarter" idx="5"/>
          </p:nvPr>
        </p:nvSpPr>
        <p:spPr bwMode="auto">
          <a:xfrm>
            <a:off x="4145280" y="9121140"/>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a:defRPr sz="1300">
                <a:effectLst/>
                <a:latin typeface="Times New Roman" pitchFamily="18" charset="0"/>
              </a:defRPr>
            </a:lvl1pPr>
          </a:lstStyle>
          <a:p>
            <a:pPr>
              <a:defRPr/>
            </a:pPr>
            <a:fld id="{6AB07D27-7671-4B37-A706-482374E2652D}" type="slidenum">
              <a:rPr lang="en-US"/>
              <a:pPr>
                <a:defRPr/>
              </a:pPr>
              <a:t>‹#›</a:t>
            </a:fld>
            <a:endParaRPr lang="en-US"/>
          </a:p>
        </p:txBody>
      </p:sp>
    </p:spTree>
    <p:extLst>
      <p:ext uri="{BB962C8B-B14F-4D97-AF65-F5344CB8AC3E}">
        <p14:creationId xmlns:p14="http://schemas.microsoft.com/office/powerpoint/2010/main" val="401998503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Arial" charset="0"/>
              </a:defRPr>
            </a:lvl1pPr>
            <a:lvl2pPr marL="785372" indent="-302066">
              <a:defRPr sz="2500">
                <a:solidFill>
                  <a:schemeClr val="tx1"/>
                </a:solidFill>
                <a:latin typeface="Arial" charset="0"/>
              </a:defRPr>
            </a:lvl2pPr>
            <a:lvl3pPr marL="1208265" indent="-241653">
              <a:defRPr sz="2500">
                <a:solidFill>
                  <a:schemeClr val="tx1"/>
                </a:solidFill>
                <a:latin typeface="Arial" charset="0"/>
              </a:defRPr>
            </a:lvl3pPr>
            <a:lvl4pPr marL="1691571" indent="-241653">
              <a:defRPr sz="2500">
                <a:solidFill>
                  <a:schemeClr val="tx1"/>
                </a:solidFill>
                <a:latin typeface="Arial" charset="0"/>
              </a:defRPr>
            </a:lvl4pPr>
            <a:lvl5pPr marL="2174878" indent="-241653">
              <a:defRPr sz="2500">
                <a:solidFill>
                  <a:schemeClr val="tx1"/>
                </a:solidFill>
                <a:latin typeface="Arial" charset="0"/>
              </a:defRPr>
            </a:lvl5pPr>
            <a:lvl6pPr marL="2658184" indent="-241653" eaLnBrk="0" fontAlgn="base" hangingPunct="0">
              <a:spcBef>
                <a:spcPct val="0"/>
              </a:spcBef>
              <a:spcAft>
                <a:spcPct val="0"/>
              </a:spcAft>
              <a:defRPr sz="2500">
                <a:solidFill>
                  <a:schemeClr val="tx1"/>
                </a:solidFill>
                <a:latin typeface="Arial" charset="0"/>
              </a:defRPr>
            </a:lvl6pPr>
            <a:lvl7pPr marL="3141490" indent="-241653" eaLnBrk="0" fontAlgn="base" hangingPunct="0">
              <a:spcBef>
                <a:spcPct val="0"/>
              </a:spcBef>
              <a:spcAft>
                <a:spcPct val="0"/>
              </a:spcAft>
              <a:defRPr sz="2500">
                <a:solidFill>
                  <a:schemeClr val="tx1"/>
                </a:solidFill>
                <a:latin typeface="Arial" charset="0"/>
              </a:defRPr>
            </a:lvl7pPr>
            <a:lvl8pPr marL="3624796" indent="-241653" eaLnBrk="0" fontAlgn="base" hangingPunct="0">
              <a:spcBef>
                <a:spcPct val="0"/>
              </a:spcBef>
              <a:spcAft>
                <a:spcPct val="0"/>
              </a:spcAft>
              <a:defRPr sz="2500">
                <a:solidFill>
                  <a:schemeClr val="tx1"/>
                </a:solidFill>
                <a:latin typeface="Arial" charset="0"/>
              </a:defRPr>
            </a:lvl8pPr>
            <a:lvl9pPr marL="4108102" indent="-241653" eaLnBrk="0" fontAlgn="base" hangingPunct="0">
              <a:spcBef>
                <a:spcPct val="0"/>
              </a:spcBef>
              <a:spcAft>
                <a:spcPct val="0"/>
              </a:spcAft>
              <a:defRPr sz="2500">
                <a:solidFill>
                  <a:schemeClr val="tx1"/>
                </a:solidFill>
                <a:latin typeface="Arial" charset="0"/>
              </a:defRPr>
            </a:lvl9pPr>
          </a:lstStyle>
          <a:p>
            <a:fld id="{19756D57-021D-486A-9CBB-747A9AA89BB9}" type="slidenum">
              <a:rPr lang="en-US" sz="1300">
                <a:latin typeface="Times New Roman" pitchFamily="18" charset="0"/>
              </a:rPr>
              <a:pPr/>
              <a:t>9</a:t>
            </a:fld>
            <a:endParaRPr lang="en-US" sz="1300">
              <a:latin typeface="Times New Roman" pitchFamily="18"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Arial"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Arial" charset="0"/>
              </a:defRPr>
            </a:lvl1pPr>
            <a:lvl2pPr marL="785372" indent="-302066">
              <a:defRPr sz="2500">
                <a:solidFill>
                  <a:schemeClr val="tx1"/>
                </a:solidFill>
                <a:latin typeface="Arial" charset="0"/>
              </a:defRPr>
            </a:lvl2pPr>
            <a:lvl3pPr marL="1208265" indent="-241653">
              <a:defRPr sz="2500">
                <a:solidFill>
                  <a:schemeClr val="tx1"/>
                </a:solidFill>
                <a:latin typeface="Arial" charset="0"/>
              </a:defRPr>
            </a:lvl3pPr>
            <a:lvl4pPr marL="1691571" indent="-241653">
              <a:defRPr sz="2500">
                <a:solidFill>
                  <a:schemeClr val="tx1"/>
                </a:solidFill>
                <a:latin typeface="Arial" charset="0"/>
              </a:defRPr>
            </a:lvl4pPr>
            <a:lvl5pPr marL="2174878" indent="-241653">
              <a:defRPr sz="2500">
                <a:solidFill>
                  <a:schemeClr val="tx1"/>
                </a:solidFill>
                <a:latin typeface="Arial" charset="0"/>
              </a:defRPr>
            </a:lvl5pPr>
            <a:lvl6pPr marL="2658184" indent="-241653" eaLnBrk="0" fontAlgn="base" hangingPunct="0">
              <a:spcBef>
                <a:spcPct val="0"/>
              </a:spcBef>
              <a:spcAft>
                <a:spcPct val="0"/>
              </a:spcAft>
              <a:defRPr sz="2500">
                <a:solidFill>
                  <a:schemeClr val="tx1"/>
                </a:solidFill>
                <a:latin typeface="Arial" charset="0"/>
              </a:defRPr>
            </a:lvl6pPr>
            <a:lvl7pPr marL="3141490" indent="-241653" eaLnBrk="0" fontAlgn="base" hangingPunct="0">
              <a:spcBef>
                <a:spcPct val="0"/>
              </a:spcBef>
              <a:spcAft>
                <a:spcPct val="0"/>
              </a:spcAft>
              <a:defRPr sz="2500">
                <a:solidFill>
                  <a:schemeClr val="tx1"/>
                </a:solidFill>
                <a:latin typeface="Arial" charset="0"/>
              </a:defRPr>
            </a:lvl7pPr>
            <a:lvl8pPr marL="3624796" indent="-241653" eaLnBrk="0" fontAlgn="base" hangingPunct="0">
              <a:spcBef>
                <a:spcPct val="0"/>
              </a:spcBef>
              <a:spcAft>
                <a:spcPct val="0"/>
              </a:spcAft>
              <a:defRPr sz="2500">
                <a:solidFill>
                  <a:schemeClr val="tx1"/>
                </a:solidFill>
                <a:latin typeface="Arial" charset="0"/>
              </a:defRPr>
            </a:lvl8pPr>
            <a:lvl9pPr marL="4108102" indent="-241653" eaLnBrk="0" fontAlgn="base" hangingPunct="0">
              <a:spcBef>
                <a:spcPct val="0"/>
              </a:spcBef>
              <a:spcAft>
                <a:spcPct val="0"/>
              </a:spcAft>
              <a:defRPr sz="2500">
                <a:solidFill>
                  <a:schemeClr val="tx1"/>
                </a:solidFill>
                <a:latin typeface="Arial" charset="0"/>
              </a:defRPr>
            </a:lvl9pPr>
          </a:lstStyle>
          <a:p>
            <a:fld id="{5F597980-3C7F-440C-A156-8697432E9DC6}" type="slidenum">
              <a:rPr lang="en-US" sz="1300">
                <a:latin typeface="Times New Roman" pitchFamily="18" charset="0"/>
              </a:rPr>
              <a:pPr/>
              <a:t>11</a:t>
            </a:fld>
            <a:endParaRPr lang="en-US" sz="1300">
              <a:latin typeface="Times New Roman" pitchFamily="18"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latin typeface="Arial"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ln/>
        </p:spPr>
      </p:sp>
      <p:sp>
        <p:nvSpPr>
          <p:cNvPr id="266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266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a:solidFill>
                  <a:schemeClr val="tx1"/>
                </a:solidFill>
                <a:latin typeface="Arial" charset="0"/>
              </a:defRPr>
            </a:lvl1pPr>
            <a:lvl2pPr marL="785372" indent="-302066">
              <a:defRPr sz="2500">
                <a:solidFill>
                  <a:schemeClr val="tx1"/>
                </a:solidFill>
                <a:latin typeface="Arial" charset="0"/>
              </a:defRPr>
            </a:lvl2pPr>
            <a:lvl3pPr marL="1208265" indent="-241653">
              <a:defRPr sz="2500">
                <a:solidFill>
                  <a:schemeClr val="tx1"/>
                </a:solidFill>
                <a:latin typeface="Arial" charset="0"/>
              </a:defRPr>
            </a:lvl3pPr>
            <a:lvl4pPr marL="1691571" indent="-241653">
              <a:defRPr sz="2500">
                <a:solidFill>
                  <a:schemeClr val="tx1"/>
                </a:solidFill>
                <a:latin typeface="Arial" charset="0"/>
              </a:defRPr>
            </a:lvl4pPr>
            <a:lvl5pPr marL="2174878" indent="-241653">
              <a:defRPr sz="2500">
                <a:solidFill>
                  <a:schemeClr val="tx1"/>
                </a:solidFill>
                <a:latin typeface="Arial" charset="0"/>
              </a:defRPr>
            </a:lvl5pPr>
            <a:lvl6pPr marL="2658184" indent="-241653" eaLnBrk="0" fontAlgn="base" hangingPunct="0">
              <a:spcBef>
                <a:spcPct val="0"/>
              </a:spcBef>
              <a:spcAft>
                <a:spcPct val="0"/>
              </a:spcAft>
              <a:defRPr sz="2500">
                <a:solidFill>
                  <a:schemeClr val="tx1"/>
                </a:solidFill>
                <a:latin typeface="Arial" charset="0"/>
              </a:defRPr>
            </a:lvl6pPr>
            <a:lvl7pPr marL="3141490" indent="-241653" eaLnBrk="0" fontAlgn="base" hangingPunct="0">
              <a:spcBef>
                <a:spcPct val="0"/>
              </a:spcBef>
              <a:spcAft>
                <a:spcPct val="0"/>
              </a:spcAft>
              <a:defRPr sz="2500">
                <a:solidFill>
                  <a:schemeClr val="tx1"/>
                </a:solidFill>
                <a:latin typeface="Arial" charset="0"/>
              </a:defRPr>
            </a:lvl7pPr>
            <a:lvl8pPr marL="3624796" indent="-241653" eaLnBrk="0" fontAlgn="base" hangingPunct="0">
              <a:spcBef>
                <a:spcPct val="0"/>
              </a:spcBef>
              <a:spcAft>
                <a:spcPct val="0"/>
              </a:spcAft>
              <a:defRPr sz="2500">
                <a:solidFill>
                  <a:schemeClr val="tx1"/>
                </a:solidFill>
                <a:latin typeface="Arial" charset="0"/>
              </a:defRPr>
            </a:lvl8pPr>
            <a:lvl9pPr marL="4108102" indent="-241653" eaLnBrk="0" fontAlgn="base" hangingPunct="0">
              <a:spcBef>
                <a:spcPct val="0"/>
              </a:spcBef>
              <a:spcAft>
                <a:spcPct val="0"/>
              </a:spcAft>
              <a:defRPr sz="2500">
                <a:solidFill>
                  <a:schemeClr val="tx1"/>
                </a:solidFill>
                <a:latin typeface="Arial" charset="0"/>
              </a:defRPr>
            </a:lvl9pPr>
          </a:lstStyle>
          <a:p>
            <a:fld id="{C3F64063-40A8-4D5D-8379-6EB3C5EF993D}" type="slidenum">
              <a:rPr lang="en-US" sz="1300">
                <a:latin typeface="Times New Roman" pitchFamily="18" charset="0"/>
              </a:rPr>
              <a:pPr/>
              <a:t>18</a:t>
            </a:fld>
            <a:endParaRPr lang="en-US" sz="1300">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FF54A27-B13C-4C11-9D4C-7DC7D89DAB0E}" type="slidenum">
              <a:rPr lang="en-US"/>
              <a:pPr>
                <a:defRPr/>
              </a:pPr>
              <a:t>‹#›</a:t>
            </a:fld>
            <a:endParaRPr lang="en-US"/>
          </a:p>
        </p:txBody>
      </p:sp>
    </p:spTree>
    <p:extLst>
      <p:ext uri="{BB962C8B-B14F-4D97-AF65-F5344CB8AC3E}">
        <p14:creationId xmlns:p14="http://schemas.microsoft.com/office/powerpoint/2010/main" val="1921230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6E21340-ECD0-4C33-80FC-D76EEEBDC499}" type="slidenum">
              <a:rPr lang="en-US"/>
              <a:pPr>
                <a:defRPr/>
              </a:pPr>
              <a:t>‹#›</a:t>
            </a:fld>
            <a:endParaRPr lang="en-US"/>
          </a:p>
        </p:txBody>
      </p:sp>
    </p:spTree>
    <p:extLst>
      <p:ext uri="{BB962C8B-B14F-4D97-AF65-F5344CB8AC3E}">
        <p14:creationId xmlns:p14="http://schemas.microsoft.com/office/powerpoint/2010/main" val="3837294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98C7D59-A19F-4D0C-A7B1-AA4AFE8F86C7}" type="slidenum">
              <a:rPr lang="en-US"/>
              <a:pPr>
                <a:defRPr/>
              </a:pPr>
              <a:t>‹#›</a:t>
            </a:fld>
            <a:endParaRPr lang="en-US"/>
          </a:p>
        </p:txBody>
      </p:sp>
    </p:spTree>
    <p:extLst>
      <p:ext uri="{BB962C8B-B14F-4D97-AF65-F5344CB8AC3E}">
        <p14:creationId xmlns:p14="http://schemas.microsoft.com/office/powerpoint/2010/main" val="722799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69E96B9-4E44-41A7-94CB-2AAD09D567AC}" type="slidenum">
              <a:rPr lang="en-US"/>
              <a:pPr>
                <a:defRPr/>
              </a:pPr>
              <a:t>‹#›</a:t>
            </a:fld>
            <a:endParaRPr lang="en-US"/>
          </a:p>
        </p:txBody>
      </p:sp>
    </p:spTree>
    <p:extLst>
      <p:ext uri="{BB962C8B-B14F-4D97-AF65-F5344CB8AC3E}">
        <p14:creationId xmlns:p14="http://schemas.microsoft.com/office/powerpoint/2010/main" val="450960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03B0C1C0-E57C-4DE7-BDED-BD2CE0156C47}" type="slidenum">
              <a:rPr lang="en-US"/>
              <a:pPr>
                <a:defRPr/>
              </a:pPr>
              <a:t>‹#›</a:t>
            </a:fld>
            <a:endParaRPr lang="en-US"/>
          </a:p>
        </p:txBody>
      </p:sp>
    </p:spTree>
    <p:extLst>
      <p:ext uri="{BB962C8B-B14F-4D97-AF65-F5344CB8AC3E}">
        <p14:creationId xmlns:p14="http://schemas.microsoft.com/office/powerpoint/2010/main" val="3471659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EB3136E5-76D9-4BFE-8BC0-B9EE8BD78337}" type="slidenum">
              <a:rPr lang="en-US"/>
              <a:pPr>
                <a:defRPr/>
              </a:pPr>
              <a:t>‹#›</a:t>
            </a:fld>
            <a:endParaRPr lang="en-US"/>
          </a:p>
        </p:txBody>
      </p:sp>
    </p:spTree>
    <p:extLst>
      <p:ext uri="{BB962C8B-B14F-4D97-AF65-F5344CB8AC3E}">
        <p14:creationId xmlns:p14="http://schemas.microsoft.com/office/powerpoint/2010/main" val="1480341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D024410D-5CC3-41D5-A699-3E7B77CC4153}" type="slidenum">
              <a:rPr lang="en-US"/>
              <a:pPr>
                <a:defRPr/>
              </a:pPr>
              <a:t>‹#›</a:t>
            </a:fld>
            <a:endParaRPr lang="en-US"/>
          </a:p>
        </p:txBody>
      </p:sp>
    </p:spTree>
    <p:extLst>
      <p:ext uri="{BB962C8B-B14F-4D97-AF65-F5344CB8AC3E}">
        <p14:creationId xmlns:p14="http://schemas.microsoft.com/office/powerpoint/2010/main" val="4154906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F1FC84FF-D6E6-4EE1-8479-23FCC8CCBA29}" type="slidenum">
              <a:rPr lang="en-US"/>
              <a:pPr>
                <a:defRPr/>
              </a:pPr>
              <a:t>‹#›</a:t>
            </a:fld>
            <a:endParaRPr lang="en-US"/>
          </a:p>
        </p:txBody>
      </p:sp>
    </p:spTree>
    <p:extLst>
      <p:ext uri="{BB962C8B-B14F-4D97-AF65-F5344CB8AC3E}">
        <p14:creationId xmlns:p14="http://schemas.microsoft.com/office/powerpoint/2010/main" val="471820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CC85F3B-D1E9-4FE3-84D3-11BEA6D9A865}" type="slidenum">
              <a:rPr lang="en-US"/>
              <a:pPr>
                <a:defRPr/>
              </a:pPr>
              <a:t>‹#›</a:t>
            </a:fld>
            <a:endParaRPr lang="en-US"/>
          </a:p>
        </p:txBody>
      </p:sp>
    </p:spTree>
    <p:extLst>
      <p:ext uri="{BB962C8B-B14F-4D97-AF65-F5344CB8AC3E}">
        <p14:creationId xmlns:p14="http://schemas.microsoft.com/office/powerpoint/2010/main" val="1208905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84570DF-3592-44E2-91A8-8421D18687DC}" type="slidenum">
              <a:rPr lang="en-US"/>
              <a:pPr>
                <a:defRPr/>
              </a:pPr>
              <a:t>‹#›</a:t>
            </a:fld>
            <a:endParaRPr lang="en-US"/>
          </a:p>
        </p:txBody>
      </p:sp>
    </p:spTree>
    <p:extLst>
      <p:ext uri="{BB962C8B-B14F-4D97-AF65-F5344CB8AC3E}">
        <p14:creationId xmlns:p14="http://schemas.microsoft.com/office/powerpoint/2010/main" val="2673586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62A764-EDA7-4043-A999-83BA4DC5C6F2}" type="slidenum">
              <a:rPr lang="en-US"/>
              <a:pPr>
                <a:defRPr/>
              </a:pPr>
              <a:t>‹#›</a:t>
            </a:fld>
            <a:endParaRPr lang="en-US"/>
          </a:p>
        </p:txBody>
      </p:sp>
    </p:spTree>
    <p:extLst>
      <p:ext uri="{BB962C8B-B14F-4D97-AF65-F5344CB8AC3E}">
        <p14:creationId xmlns:p14="http://schemas.microsoft.com/office/powerpoint/2010/main" val="26575480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143000"/>
            <a:ext cx="4038600" cy="548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143000"/>
            <a:ext cx="4038600" cy="2667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62400"/>
            <a:ext cx="4038600" cy="2667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219874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BF8E"/>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876DF227-82A1-465F-80BF-E1CFC1CC1CE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6.wmf"/><Relationship Id="rId3" Type="http://schemas.openxmlformats.org/officeDocument/2006/relationships/oleObject" Target="../embeddings/oleObject2.bin"/><Relationship Id="rId7" Type="http://schemas.openxmlformats.org/officeDocument/2006/relationships/image" Target="../media/image3.wmf"/><Relationship Id="rId12"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3.bin"/><Relationship Id="rId11" Type="http://schemas.openxmlformats.org/officeDocument/2006/relationships/image" Target="../media/image5.wmf"/><Relationship Id="rId5" Type="http://schemas.openxmlformats.org/officeDocument/2006/relationships/image" Target="../media/image8.jpeg"/><Relationship Id="rId15" Type="http://schemas.openxmlformats.org/officeDocument/2006/relationships/image" Target="../media/image7.wmf"/><Relationship Id="rId10" Type="http://schemas.openxmlformats.org/officeDocument/2006/relationships/oleObject" Target="../embeddings/oleObject5.bin"/><Relationship Id="rId4" Type="http://schemas.openxmlformats.org/officeDocument/2006/relationships/image" Target="../media/image2.wmf"/><Relationship Id="rId9" Type="http://schemas.openxmlformats.org/officeDocument/2006/relationships/image" Target="../media/image4.wmf"/><Relationship Id="rId14" Type="http://schemas.openxmlformats.org/officeDocument/2006/relationships/oleObject" Target="../embeddings/oleObject7.bin"/></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image" Target="../media/image5.wmf"/><Relationship Id="rId5" Type="http://schemas.openxmlformats.org/officeDocument/2006/relationships/oleObject" Target="../embeddings/oleObject9.bin"/><Relationship Id="rId4" Type="http://schemas.openxmlformats.org/officeDocument/2006/relationships/image" Target="../media/image10.wmf"/></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image" Target="../media/image14.wmf"/><Relationship Id="rId5" Type="http://schemas.openxmlformats.org/officeDocument/2006/relationships/oleObject" Target="../embeddings/oleObject11.bin"/><Relationship Id="rId4" Type="http://schemas.openxmlformats.org/officeDocument/2006/relationships/image" Target="../media/image13.emf"/><Relationship Id="rId9" Type="http://schemas.openxmlformats.org/officeDocument/2006/relationships/image" Target="../media/image16.jpeg"/></Relationships>
</file>

<file path=ppt/slides/_rels/slide9.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notesSlide" Target="../notesSlides/notesSlide1.xml"/><Relationship Id="rId7" Type="http://schemas.openxmlformats.org/officeDocument/2006/relationships/image" Target="../media/image19.png"/><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8.png"/><Relationship Id="rId5" Type="http://schemas.openxmlformats.org/officeDocument/2006/relationships/image" Target="../media/image17.wmf"/><Relationship Id="rId4" Type="http://schemas.openxmlformats.org/officeDocument/2006/relationships/oleObject" Target="../embeddings/oleObject13.bin"/></Relationships>
</file>

<file path=ppt/slides/_rels/slide1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3.wmf"/><Relationship Id="rId4" Type="http://schemas.openxmlformats.org/officeDocument/2006/relationships/oleObject" Target="../embeddings/oleObject14.bin"/></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audio" Target="../media/audio1.wav"/><Relationship Id="rId7" Type="http://schemas.openxmlformats.org/officeDocument/2006/relationships/image" Target="../media/image1.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6.bin"/><Relationship Id="rId5" Type="http://schemas.openxmlformats.org/officeDocument/2006/relationships/image" Target="../media/image24.wmf"/><Relationship Id="rId4" Type="http://schemas.openxmlformats.org/officeDocument/2006/relationships/oleObject" Target="../embeddings/oleObject15.bin"/></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28.jpeg"/><Relationship Id="rId5" Type="http://schemas.openxmlformats.org/officeDocument/2006/relationships/image" Target="../media/image26.wmf"/><Relationship Id="rId4" Type="http://schemas.openxmlformats.org/officeDocument/2006/relationships/oleObject" Target="../embeddings/oleObject17.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6.xml"/><Relationship Id="rId1" Type="http://schemas.openxmlformats.org/officeDocument/2006/relationships/vmlDrawing" Target="../drawings/vmlDrawing9.vml"/><Relationship Id="rId4" Type="http://schemas.openxmlformats.org/officeDocument/2006/relationships/image" Target="../media/image29.wmf"/></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7.xml"/><Relationship Id="rId4" Type="http://schemas.openxmlformats.org/officeDocument/2006/relationships/image" Target="../media/image32.wmf"/></Relationships>
</file>

<file path=ppt/slides/_rels/slide16.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image" Target="../media/image31.png"/><Relationship Id="rId7"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33.wmf"/><Relationship Id="rId5" Type="http://schemas.openxmlformats.org/officeDocument/2006/relationships/oleObject" Target="../embeddings/oleObject19.bin"/><Relationship Id="rId4" Type="http://schemas.openxmlformats.org/officeDocument/2006/relationships/image" Target="../media/image32.wmf"/></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2.wmf"/><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38.png"/><Relationship Id="rId5" Type="http://schemas.openxmlformats.org/officeDocument/2006/relationships/image" Target="../media/image37.wmf"/><Relationship Id="rId4" Type="http://schemas.openxmlformats.org/officeDocument/2006/relationships/oleObject" Target="../embeddings/oleObject21.bin"/></Relationships>
</file>

<file path=ppt/slides/_rels/slide19.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40.wmf"/><Relationship Id="rId11" Type="http://schemas.openxmlformats.org/officeDocument/2006/relationships/image" Target="../media/image44.png"/><Relationship Id="rId5" Type="http://schemas.openxmlformats.org/officeDocument/2006/relationships/oleObject" Target="../embeddings/oleObject23.bin"/><Relationship Id="rId10" Type="http://schemas.openxmlformats.org/officeDocument/2006/relationships/image" Target="../media/image43.png"/><Relationship Id="rId4" Type="http://schemas.openxmlformats.org/officeDocument/2006/relationships/image" Target="../media/image39.wmf"/><Relationship Id="rId9"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7.xml"/><Relationship Id="rId4" Type="http://schemas.openxmlformats.org/officeDocument/2006/relationships/image" Target="../media/image32.wmf"/></Relationships>
</file>

<file path=ppt/slides/_rels/slide21.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image" Target="../media/image31.png"/><Relationship Id="rId7"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34.wmf"/><Relationship Id="rId5" Type="http://schemas.openxmlformats.org/officeDocument/2006/relationships/oleObject" Target="../embeddings/oleObject25.bin"/><Relationship Id="rId4" Type="http://schemas.openxmlformats.org/officeDocument/2006/relationships/image" Target="../media/image32.wmf"/><Relationship Id="rId9" Type="http://schemas.openxmlformats.org/officeDocument/2006/relationships/image" Target="../media/image46.emf"/></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47.wmf"/><Relationship Id="rId5" Type="http://schemas.openxmlformats.org/officeDocument/2006/relationships/oleObject" Target="../embeddings/oleObject27.bin"/><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1.wmf"/><Relationship Id="rId2" Type="http://schemas.openxmlformats.org/officeDocument/2006/relationships/slideLayout" Target="../slideLayouts/slideLayout12.xml"/><Relationship Id="rId1" Type="http://schemas.openxmlformats.org/officeDocument/2006/relationships/vmlDrawing" Target="../drawings/vmlDrawing15.vml"/><Relationship Id="rId6" Type="http://schemas.openxmlformats.org/officeDocument/2006/relationships/oleObject" Target="../embeddings/oleObject28.bin"/><Relationship Id="rId5" Type="http://schemas.openxmlformats.org/officeDocument/2006/relationships/image" Target="../media/image54.png"/><Relationship Id="rId4" Type="http://schemas.openxmlformats.org/officeDocument/2006/relationships/image" Target="../media/image5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55.wmf"/></Relationships>
</file>

<file path=ppt/slides/_rels/slide28.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56.wmf"/><Relationship Id="rId4" Type="http://schemas.openxmlformats.org/officeDocument/2006/relationships/oleObject" Target="../embeddings/oleObject30.bin"/></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58.wmf"/></Relationships>
</file>

<file path=ppt/slides/_rels/slide3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wmf"/><Relationship Id="rId1" Type="http://schemas.openxmlformats.org/officeDocument/2006/relationships/slideLayout" Target="../slideLayouts/slideLayout12.xml"/><Relationship Id="rId4" Type="http://schemas.openxmlformats.org/officeDocument/2006/relationships/image" Target="../media/image61.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12.xml"/><Relationship Id="rId1" Type="http://schemas.openxmlformats.org/officeDocument/2006/relationships/vmlDrawing" Target="../drawings/vmlDrawing19.vml"/><Relationship Id="rId6" Type="http://schemas.openxmlformats.org/officeDocument/2006/relationships/image" Target="../media/image32.wmf"/><Relationship Id="rId5" Type="http://schemas.openxmlformats.org/officeDocument/2006/relationships/image" Target="../media/image59.wmf"/><Relationship Id="rId4" Type="http://schemas.openxmlformats.org/officeDocument/2006/relationships/image" Target="../media/image62.wmf"/></Relationships>
</file>

<file path=ppt/slides/_rels/slide32.x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ctrTitle"/>
          </p:nvPr>
        </p:nvSpPr>
        <p:spPr>
          <a:xfrm>
            <a:off x="685800" y="2286000"/>
            <a:ext cx="7924800" cy="2971800"/>
          </a:xfrm>
          <a:effectLst>
            <a:outerShdw dist="28398" dir="20006097" algn="ctr" rotWithShape="0">
              <a:schemeClr val="bg2"/>
            </a:outerShdw>
          </a:effectLst>
        </p:spPr>
        <p:txBody>
          <a:bodyPr rtlCol="0">
            <a:normAutofit fontScale="90000"/>
          </a:bodyPr>
          <a:lstStyle/>
          <a:p>
            <a:pPr eaLnBrk="1" fontAlgn="auto" hangingPunct="1">
              <a:spcAft>
                <a:spcPts val="0"/>
              </a:spcAft>
              <a:defRPr/>
            </a:pPr>
            <a:r>
              <a:rPr lang="en-US" dirty="0" smtClean="0"/>
              <a:t>Comparing Means:</a:t>
            </a:r>
            <a:br>
              <a:rPr lang="en-US" dirty="0" smtClean="0"/>
            </a:br>
            <a:r>
              <a:rPr lang="en-US" dirty="0" smtClean="0"/>
              <a:t>Confidence Intervals and Hypotheses Tests for the Difference between Two Population Means µ</a:t>
            </a:r>
            <a:r>
              <a:rPr lang="en-US" baseline="-25000" dirty="0" smtClean="0"/>
              <a:t>1</a:t>
            </a:r>
            <a:r>
              <a:rPr lang="en-US" dirty="0" smtClean="0"/>
              <a:t> - µ</a:t>
            </a:r>
            <a:r>
              <a:rPr lang="en-US" baseline="-25000" dirty="0" smtClean="0"/>
              <a:t>2</a:t>
            </a:r>
            <a:endParaRPr lang="en-US" dirty="0" smtClean="0"/>
          </a:p>
        </p:txBody>
      </p:sp>
      <p:sp>
        <p:nvSpPr>
          <p:cNvPr id="11268" name="Rectangle 6"/>
          <p:cNvSpPr>
            <a:spLocks noGrp="1" noChangeArrowheads="1"/>
          </p:cNvSpPr>
          <p:nvPr>
            <p:ph type="subTitle" idx="1"/>
          </p:nvPr>
        </p:nvSpPr>
        <p:spPr>
          <a:xfrm>
            <a:off x="914400" y="685800"/>
            <a:ext cx="7086600" cy="1295400"/>
          </a:xfrm>
        </p:spPr>
        <p:txBody>
          <a:bodyPr rtlCol="0">
            <a:noAutofit/>
          </a:bodyPr>
          <a:lstStyle/>
          <a:p>
            <a:pPr eaLnBrk="1" fontAlgn="auto" hangingPunct="1">
              <a:spcAft>
                <a:spcPts val="0"/>
              </a:spcAft>
              <a:buFont typeface="Arial" pitchFamily="34" charset="0"/>
              <a:buNone/>
              <a:defRPr/>
            </a:pPr>
            <a:r>
              <a:rPr lang="en-US" sz="3600" b="1" dirty="0" smtClean="0"/>
              <a:t>Chapter 24 Independent Samples</a:t>
            </a:r>
          </a:p>
          <a:p>
            <a:pPr eaLnBrk="1" fontAlgn="auto" hangingPunct="1">
              <a:spcAft>
                <a:spcPts val="0"/>
              </a:spcAft>
              <a:buFont typeface="Arial" pitchFamily="34" charset="0"/>
              <a:buNone/>
              <a:defRPr/>
            </a:pPr>
            <a:r>
              <a:rPr lang="en-US" sz="3600" b="1" dirty="0" smtClean="0"/>
              <a:t>Chapter 25 Paired Data</a:t>
            </a:r>
          </a:p>
        </p:txBody>
      </p:sp>
      <p:sp>
        <p:nvSpPr>
          <p:cNvPr id="11266" name="Rectangle 6"/>
          <p:cNvSpPr>
            <a:spLocks noGrp="1" noChangeArrowheads="1"/>
          </p:cNvSpPr>
          <p:nvPr>
            <p:ph type="sldNum" sz="quarter" idx="12"/>
          </p:nvPr>
        </p:nvSpPr>
        <p:spPr/>
        <p:txBody>
          <a:bodyPr/>
          <a:lstStyle/>
          <a:p>
            <a:pPr>
              <a:defRPr/>
            </a:pPr>
            <a:fld id="{522438AB-89CF-4D1B-8B2B-A2BBC2CA9E3A}" type="slidenum">
              <a:rPr lang="en-US"/>
              <a:pPr>
                <a:defRPr/>
              </a:pPr>
              <a:t>1</a:t>
            </a:fld>
            <a:endParaRPr lang="en-US"/>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85800" y="533400"/>
            <a:ext cx="7772400" cy="2057400"/>
          </a:xfrm>
        </p:spPr>
        <p:txBody>
          <a:bodyPr rtlCol="0">
            <a:normAutofit fontScale="90000"/>
          </a:bodyPr>
          <a:lstStyle/>
          <a:p>
            <a:pPr eaLnBrk="1" fontAlgn="auto" hangingPunct="1">
              <a:spcAft>
                <a:spcPts val="0"/>
              </a:spcAft>
              <a:tabLst>
                <a:tab pos="1201738" algn="l"/>
              </a:tabLst>
              <a:defRPr/>
            </a:pPr>
            <a:r>
              <a:rPr lang="en-US" dirty="0" smtClean="0"/>
              <a:t>Confidence Intervals for the Difference between Two Population Means µ</a:t>
            </a:r>
            <a:r>
              <a:rPr lang="en-US" baseline="-25000" dirty="0" smtClean="0"/>
              <a:t>1</a:t>
            </a:r>
            <a:r>
              <a:rPr lang="en-US" dirty="0" smtClean="0"/>
              <a:t> - µ</a:t>
            </a:r>
            <a:r>
              <a:rPr lang="en-US" baseline="-25000" dirty="0" smtClean="0"/>
              <a:t>2</a:t>
            </a:r>
            <a:r>
              <a:rPr lang="en-US" dirty="0" smtClean="0"/>
              <a:t>: </a:t>
            </a:r>
            <a:r>
              <a:rPr lang="en-US" u="sng" dirty="0" smtClean="0"/>
              <a:t>Independent Samples</a:t>
            </a:r>
          </a:p>
        </p:txBody>
      </p:sp>
      <p:sp>
        <p:nvSpPr>
          <p:cNvPr id="4099" name="Rectangle 3"/>
          <p:cNvSpPr>
            <a:spLocks noGrp="1" noChangeArrowheads="1"/>
          </p:cNvSpPr>
          <p:nvPr>
            <p:ph idx="1"/>
          </p:nvPr>
        </p:nvSpPr>
        <p:spPr>
          <a:xfrm>
            <a:off x="762000" y="2743200"/>
            <a:ext cx="7772400" cy="3810000"/>
          </a:xfrm>
        </p:spPr>
        <p:txBody>
          <a:bodyPr/>
          <a:lstStyle/>
          <a:p>
            <a:pPr eaLnBrk="1" hangingPunct="1"/>
            <a:endParaRPr lang="en-US" smtClean="0"/>
          </a:p>
          <a:p>
            <a:pPr eaLnBrk="1" hangingPunct="1"/>
            <a:r>
              <a:rPr lang="en-US" smtClean="0"/>
              <a:t>Two random samples are drawn from the two populations of interest.</a:t>
            </a:r>
          </a:p>
          <a:p>
            <a:pPr eaLnBrk="1" hangingPunct="1"/>
            <a:r>
              <a:rPr lang="en-US" smtClean="0"/>
              <a:t>Because we compare two population means, we use the statistic                . </a:t>
            </a:r>
          </a:p>
        </p:txBody>
      </p:sp>
      <p:sp>
        <p:nvSpPr>
          <p:cNvPr id="1027" name="Slide Number Placeholder 5"/>
          <p:cNvSpPr>
            <a:spLocks noGrp="1"/>
          </p:cNvSpPr>
          <p:nvPr>
            <p:ph type="sldNum" sz="quarter" idx="12"/>
          </p:nvPr>
        </p:nvSpPr>
        <p:spPr/>
        <p:txBody>
          <a:bodyPr/>
          <a:lstStyle/>
          <a:p>
            <a:pPr>
              <a:defRPr/>
            </a:pPr>
            <a:fld id="{DE674394-190A-49C6-94D9-F15BF5C03E38}" type="slidenum">
              <a:rPr lang="en-US"/>
              <a:pPr>
                <a:defRPr/>
              </a:pPr>
              <a:t>2</a:t>
            </a:fld>
            <a:endParaRPr lang="en-US"/>
          </a:p>
        </p:txBody>
      </p:sp>
      <p:graphicFrame>
        <p:nvGraphicFramePr>
          <p:cNvPr id="4101" name="Object 4"/>
          <p:cNvGraphicFramePr>
            <a:graphicFrameLocks noChangeAspect="1"/>
          </p:cNvGraphicFramePr>
          <p:nvPr/>
        </p:nvGraphicFramePr>
        <p:xfrm>
          <a:off x="5715000" y="4876800"/>
          <a:ext cx="1320800" cy="704850"/>
        </p:xfrm>
        <a:graphic>
          <a:graphicData uri="http://schemas.openxmlformats.org/presentationml/2006/ole">
            <mc:AlternateContent xmlns:mc="http://schemas.openxmlformats.org/markup-compatibility/2006">
              <mc:Choice xmlns:v="urn:schemas-microsoft-com:vml" Requires="v">
                <p:oleObj spid="_x0000_s4125" name="Equation" r:id="rId3" imgW="406048" imgH="215713" progId="Equation.3">
                  <p:embed/>
                </p:oleObj>
              </mc:Choice>
              <mc:Fallback>
                <p:oleObj name="Equation" r:id="rId3" imgW="406048" imgH="215713"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4876800"/>
                        <a:ext cx="1320800"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3"/>
          <p:cNvSpPr>
            <a:spLocks noGrp="1"/>
          </p:cNvSpPr>
          <p:nvPr>
            <p:ph type="sldNum" sz="quarter" idx="12"/>
          </p:nvPr>
        </p:nvSpPr>
        <p:spPr/>
        <p:txBody>
          <a:bodyPr/>
          <a:lstStyle/>
          <a:p>
            <a:pPr>
              <a:defRPr/>
            </a:pPr>
            <a:fld id="{923ACBB2-9B00-4B41-9884-1504634F4328}" type="slidenum">
              <a:rPr lang="en-US"/>
              <a:pPr>
                <a:defRPr/>
              </a:pPr>
              <a:t>3</a:t>
            </a:fld>
            <a:endParaRPr lang="en-US"/>
          </a:p>
        </p:txBody>
      </p:sp>
      <p:sp>
        <p:nvSpPr>
          <p:cNvPr id="12291" name="Rectangle 3"/>
          <p:cNvSpPr>
            <a:spLocks noGrp="1" noChangeArrowheads="1"/>
          </p:cNvSpPr>
          <p:nvPr>
            <p:ph type="body" idx="4294967295"/>
          </p:nvPr>
        </p:nvSpPr>
        <p:spPr>
          <a:xfrm>
            <a:off x="990600" y="304800"/>
            <a:ext cx="8153400" cy="6019800"/>
          </a:xfrm>
        </p:spPr>
        <p:txBody>
          <a:bodyPr rtlCol="0">
            <a:normAutofit lnSpcReduction="10000"/>
          </a:bodyPr>
          <a:lstStyle/>
          <a:p>
            <a:pPr eaLnBrk="1" fontAlgn="auto" hangingPunct="1">
              <a:lnSpc>
                <a:spcPct val="90000"/>
              </a:lnSpc>
              <a:spcAft>
                <a:spcPts val="0"/>
              </a:spcAft>
              <a:buFontTx/>
              <a:buNone/>
              <a:defRPr/>
            </a:pPr>
            <a:r>
              <a:rPr lang="en-US" dirty="0" smtClean="0"/>
              <a:t>		</a:t>
            </a:r>
            <a:r>
              <a:rPr lang="en-US" b="1" dirty="0" smtClean="0"/>
              <a:t>Population 1</a:t>
            </a:r>
            <a:r>
              <a:rPr lang="en-US" dirty="0" smtClean="0"/>
              <a:t>		</a:t>
            </a:r>
            <a:r>
              <a:rPr lang="en-US" b="1" dirty="0" smtClean="0"/>
              <a:t>Population 2</a:t>
            </a:r>
          </a:p>
          <a:p>
            <a:pPr eaLnBrk="1" fontAlgn="auto" hangingPunct="1">
              <a:lnSpc>
                <a:spcPct val="90000"/>
              </a:lnSpc>
              <a:spcAft>
                <a:spcPts val="0"/>
              </a:spcAft>
              <a:buFontTx/>
              <a:buNone/>
              <a:defRPr/>
            </a:pPr>
            <a:r>
              <a:rPr lang="en-US" b="1" dirty="0" smtClean="0"/>
              <a:t>							</a:t>
            </a:r>
            <a:endParaRPr lang="en-US" dirty="0" smtClean="0"/>
          </a:p>
          <a:p>
            <a:pPr eaLnBrk="1" fontAlgn="auto" hangingPunct="1">
              <a:lnSpc>
                <a:spcPct val="90000"/>
              </a:lnSpc>
              <a:spcAft>
                <a:spcPts val="0"/>
              </a:spcAft>
              <a:buFontTx/>
              <a:buNone/>
              <a:defRPr/>
            </a:pPr>
            <a:r>
              <a:rPr lang="en-US" sz="2800" u="sng" dirty="0" smtClean="0"/>
              <a:t>Parameters</a:t>
            </a:r>
            <a:r>
              <a:rPr lang="en-US" sz="2800" dirty="0" smtClean="0"/>
              <a:t>:  µ</a:t>
            </a:r>
            <a:r>
              <a:rPr lang="en-US" sz="2800" baseline="-25000" dirty="0" smtClean="0"/>
              <a:t>1</a:t>
            </a:r>
            <a:r>
              <a:rPr lang="en-US" sz="2800" dirty="0" smtClean="0"/>
              <a:t> and </a:t>
            </a:r>
            <a:r>
              <a:rPr lang="en-US" sz="2800" dirty="0" smtClean="0">
                <a:sym typeface="Symbol" pitchFamily="18" charset="2"/>
              </a:rPr>
              <a:t></a:t>
            </a:r>
            <a:r>
              <a:rPr lang="en-US" sz="2800" baseline="-25000" dirty="0" smtClean="0">
                <a:sym typeface="Symbol" pitchFamily="18" charset="2"/>
              </a:rPr>
              <a:t>1</a:t>
            </a:r>
            <a:r>
              <a:rPr lang="en-US" sz="2800" baseline="30000" dirty="0" smtClean="0">
                <a:sym typeface="Symbol" pitchFamily="18" charset="2"/>
              </a:rPr>
              <a:t>2</a:t>
            </a:r>
            <a:r>
              <a:rPr lang="en-US" sz="2800" dirty="0" smtClean="0"/>
              <a:t>       </a:t>
            </a:r>
            <a:r>
              <a:rPr lang="en-US" sz="2800" u="sng" dirty="0" smtClean="0"/>
              <a:t>Parameters</a:t>
            </a:r>
            <a:r>
              <a:rPr lang="en-US" sz="2800" dirty="0" smtClean="0"/>
              <a:t>: µ</a:t>
            </a:r>
            <a:r>
              <a:rPr lang="en-US" sz="2800" baseline="-25000" dirty="0" smtClean="0"/>
              <a:t>2</a:t>
            </a:r>
            <a:r>
              <a:rPr lang="en-US" sz="2800" dirty="0" smtClean="0"/>
              <a:t> and </a:t>
            </a:r>
            <a:r>
              <a:rPr lang="en-US" sz="2800" dirty="0" smtClean="0">
                <a:sym typeface="Symbol" pitchFamily="18" charset="2"/>
              </a:rPr>
              <a:t></a:t>
            </a:r>
            <a:r>
              <a:rPr lang="en-US" sz="2800" baseline="-25000" dirty="0" smtClean="0">
                <a:sym typeface="Symbol" pitchFamily="18" charset="2"/>
              </a:rPr>
              <a:t>2</a:t>
            </a:r>
            <a:r>
              <a:rPr lang="en-US" sz="2800" baseline="30000" dirty="0" smtClean="0">
                <a:sym typeface="Symbol" pitchFamily="18" charset="2"/>
              </a:rPr>
              <a:t>2</a:t>
            </a:r>
            <a:r>
              <a:rPr lang="en-US" sz="2800" dirty="0" smtClean="0"/>
              <a:t> </a:t>
            </a:r>
          </a:p>
          <a:p>
            <a:pPr eaLnBrk="1" fontAlgn="auto" hangingPunct="1">
              <a:lnSpc>
                <a:spcPct val="90000"/>
              </a:lnSpc>
              <a:spcBef>
                <a:spcPct val="5000"/>
              </a:spcBef>
              <a:spcAft>
                <a:spcPts val="0"/>
              </a:spcAft>
              <a:buFontTx/>
              <a:buNone/>
              <a:defRPr/>
            </a:pPr>
            <a:r>
              <a:rPr lang="en-US" sz="2800" dirty="0" smtClean="0"/>
              <a:t>      (values are unknown)	 (values are unknown)			</a:t>
            </a:r>
          </a:p>
          <a:p>
            <a:pPr eaLnBrk="1" fontAlgn="auto" hangingPunct="1">
              <a:lnSpc>
                <a:spcPct val="90000"/>
              </a:lnSpc>
              <a:spcAft>
                <a:spcPts val="0"/>
              </a:spcAft>
              <a:buFontTx/>
              <a:buNone/>
              <a:defRPr/>
            </a:pPr>
            <a:endParaRPr lang="en-US" sz="2800" dirty="0" smtClean="0"/>
          </a:p>
          <a:p>
            <a:pPr eaLnBrk="1" fontAlgn="auto" hangingPunct="1">
              <a:lnSpc>
                <a:spcPct val="90000"/>
              </a:lnSpc>
              <a:spcAft>
                <a:spcPts val="0"/>
              </a:spcAft>
              <a:buFontTx/>
              <a:buNone/>
              <a:defRPr/>
            </a:pPr>
            <a:r>
              <a:rPr lang="en-US" sz="2800" dirty="0" smtClean="0"/>
              <a:t>	</a:t>
            </a:r>
            <a:r>
              <a:rPr lang="en-US" sz="2800" u="sng" dirty="0" smtClean="0"/>
              <a:t>Sample size</a:t>
            </a:r>
            <a:r>
              <a:rPr lang="en-US" sz="2800" dirty="0" smtClean="0"/>
              <a:t>: n</a:t>
            </a:r>
            <a:r>
              <a:rPr lang="en-US" sz="2800" baseline="-25000" dirty="0" smtClean="0"/>
              <a:t>1</a:t>
            </a:r>
            <a:r>
              <a:rPr lang="en-US" sz="2800" dirty="0" smtClean="0"/>
              <a:t>		          </a:t>
            </a:r>
            <a:r>
              <a:rPr lang="en-US" sz="2800" u="sng" dirty="0" smtClean="0"/>
              <a:t>Sample size</a:t>
            </a:r>
            <a:r>
              <a:rPr lang="en-US" sz="2800" dirty="0" smtClean="0"/>
              <a:t>: n</a:t>
            </a:r>
            <a:r>
              <a:rPr lang="en-US" sz="2800" baseline="-25000" dirty="0" smtClean="0"/>
              <a:t>2</a:t>
            </a:r>
            <a:endParaRPr lang="en-US" sz="2800" dirty="0" smtClean="0"/>
          </a:p>
          <a:p>
            <a:pPr eaLnBrk="1" fontAlgn="auto" hangingPunct="1">
              <a:lnSpc>
                <a:spcPct val="90000"/>
              </a:lnSpc>
              <a:spcAft>
                <a:spcPts val="0"/>
              </a:spcAft>
              <a:buFontTx/>
              <a:buNone/>
              <a:defRPr/>
            </a:pPr>
            <a:r>
              <a:rPr lang="en-US" sz="2800" dirty="0" smtClean="0"/>
              <a:t>						</a:t>
            </a:r>
          </a:p>
          <a:p>
            <a:pPr eaLnBrk="1" fontAlgn="auto" hangingPunct="1">
              <a:lnSpc>
                <a:spcPct val="90000"/>
              </a:lnSpc>
              <a:spcAft>
                <a:spcPts val="0"/>
              </a:spcAft>
              <a:buFontTx/>
              <a:buNone/>
              <a:defRPr/>
            </a:pPr>
            <a:endParaRPr lang="en-US" sz="2800" u="sng" dirty="0" smtClean="0"/>
          </a:p>
          <a:p>
            <a:pPr eaLnBrk="1" fontAlgn="auto" hangingPunct="1">
              <a:lnSpc>
                <a:spcPct val="90000"/>
              </a:lnSpc>
              <a:spcAft>
                <a:spcPts val="0"/>
              </a:spcAft>
              <a:buFontTx/>
              <a:buNone/>
              <a:defRPr/>
            </a:pPr>
            <a:r>
              <a:rPr lang="en-US" sz="2800" u="sng" dirty="0" smtClean="0"/>
              <a:t>Statistics</a:t>
            </a:r>
            <a:r>
              <a:rPr lang="en-US" sz="2800" dirty="0" smtClean="0"/>
              <a:t>: x</a:t>
            </a:r>
            <a:r>
              <a:rPr lang="en-US" sz="2800" baseline="-25000" dirty="0" smtClean="0"/>
              <a:t>1</a:t>
            </a:r>
            <a:r>
              <a:rPr lang="en-US" sz="2800" dirty="0" smtClean="0"/>
              <a:t> and s</a:t>
            </a:r>
            <a:r>
              <a:rPr lang="en-US" sz="2800" baseline="-25000" dirty="0" smtClean="0"/>
              <a:t>1</a:t>
            </a:r>
            <a:r>
              <a:rPr lang="en-US" sz="2800" baseline="30000" dirty="0" smtClean="0"/>
              <a:t>2</a:t>
            </a:r>
            <a:r>
              <a:rPr lang="en-US" sz="2800" dirty="0" smtClean="0"/>
              <a:t>	    </a:t>
            </a:r>
            <a:r>
              <a:rPr lang="en-US" sz="2800" u="sng" dirty="0" smtClean="0"/>
              <a:t>Statistics</a:t>
            </a:r>
            <a:r>
              <a:rPr lang="en-US" sz="2800" dirty="0" smtClean="0"/>
              <a:t>: x</a:t>
            </a:r>
            <a:r>
              <a:rPr lang="en-US" sz="2800" baseline="-25000" dirty="0" smtClean="0"/>
              <a:t>2</a:t>
            </a:r>
            <a:r>
              <a:rPr lang="en-US" sz="2800" dirty="0" smtClean="0"/>
              <a:t> and s</a:t>
            </a:r>
            <a:r>
              <a:rPr lang="en-US" sz="2800" baseline="-25000" dirty="0" smtClean="0"/>
              <a:t>2</a:t>
            </a:r>
            <a:r>
              <a:rPr lang="en-US" sz="2800" baseline="30000" dirty="0" smtClean="0"/>
              <a:t>2</a:t>
            </a:r>
          </a:p>
          <a:p>
            <a:pPr eaLnBrk="1" fontAlgn="auto" hangingPunct="1">
              <a:lnSpc>
                <a:spcPct val="90000"/>
              </a:lnSpc>
              <a:spcAft>
                <a:spcPts val="0"/>
              </a:spcAft>
              <a:buFontTx/>
              <a:buNone/>
              <a:defRPr/>
            </a:pPr>
            <a:endParaRPr lang="en-US" baseline="30000" dirty="0" smtClean="0"/>
          </a:p>
          <a:p>
            <a:pPr eaLnBrk="1" fontAlgn="auto" hangingPunct="1">
              <a:lnSpc>
                <a:spcPct val="90000"/>
              </a:lnSpc>
              <a:spcAft>
                <a:spcPts val="0"/>
              </a:spcAft>
              <a:buFontTx/>
              <a:buNone/>
              <a:defRPr/>
            </a:pPr>
            <a:endParaRPr lang="en-US" dirty="0" smtClean="0"/>
          </a:p>
          <a:p>
            <a:pPr eaLnBrk="1" fontAlgn="auto" hangingPunct="1">
              <a:lnSpc>
                <a:spcPct val="90000"/>
              </a:lnSpc>
              <a:spcAft>
                <a:spcPts val="0"/>
              </a:spcAft>
              <a:buFontTx/>
              <a:buNone/>
              <a:defRPr/>
            </a:pPr>
            <a:r>
              <a:rPr lang="en-US" dirty="0" smtClean="0"/>
              <a:t>			Estimate µ</a:t>
            </a:r>
            <a:r>
              <a:rPr lang="en-US" baseline="-25000" dirty="0" smtClean="0"/>
              <a:t>1</a:t>
            </a:r>
            <a:r>
              <a:rPr lang="en-US" b="1" dirty="0" smtClean="0">
                <a:sym typeface="Symbol" pitchFamily="18" charset="2"/>
              </a:rPr>
              <a:t> </a:t>
            </a:r>
            <a:r>
              <a:rPr lang="en-US" dirty="0" smtClean="0"/>
              <a:t>µ</a:t>
            </a:r>
            <a:r>
              <a:rPr lang="en-US" baseline="-25000" dirty="0" smtClean="0"/>
              <a:t>2</a:t>
            </a:r>
            <a:r>
              <a:rPr lang="en-US" dirty="0" smtClean="0"/>
              <a:t> with x</a:t>
            </a:r>
            <a:r>
              <a:rPr lang="en-US" baseline="-25000" dirty="0" smtClean="0"/>
              <a:t>1</a:t>
            </a:r>
            <a:r>
              <a:rPr lang="en-US" dirty="0" smtClean="0">
                <a:sym typeface="Symbol" pitchFamily="18" charset="2"/>
              </a:rPr>
              <a:t> </a:t>
            </a:r>
            <a:r>
              <a:rPr lang="en-US" dirty="0" smtClean="0"/>
              <a:t>x</a:t>
            </a:r>
            <a:r>
              <a:rPr lang="en-US" baseline="-25000" dirty="0" smtClean="0"/>
              <a:t>2</a:t>
            </a:r>
          </a:p>
        </p:txBody>
      </p:sp>
      <p:sp>
        <p:nvSpPr>
          <p:cNvPr id="193540" name="Line 4"/>
          <p:cNvSpPr>
            <a:spLocks noChangeShapeType="1"/>
          </p:cNvSpPr>
          <p:nvPr/>
        </p:nvSpPr>
        <p:spPr bwMode="auto">
          <a:xfrm>
            <a:off x="2514600" y="4191000"/>
            <a:ext cx="228600" cy="0"/>
          </a:xfrm>
          <a:prstGeom prst="line">
            <a:avLst/>
          </a:prstGeom>
          <a:noFill/>
          <a:ln w="28575">
            <a:solidFill>
              <a:srgbClr val="000000"/>
            </a:solidFill>
            <a:round/>
            <a:headEnd/>
            <a:tailEnd/>
          </a:ln>
          <a:effectLst/>
        </p:spPr>
        <p:txBody>
          <a:bodyPr/>
          <a:lstStyle/>
          <a:p>
            <a:pPr>
              <a:defRPr/>
            </a:pPr>
            <a:endParaRPr lang="en-US"/>
          </a:p>
        </p:txBody>
      </p:sp>
      <p:sp>
        <p:nvSpPr>
          <p:cNvPr id="193541" name="Line 5"/>
          <p:cNvSpPr>
            <a:spLocks noChangeShapeType="1"/>
          </p:cNvSpPr>
          <p:nvPr/>
        </p:nvSpPr>
        <p:spPr bwMode="auto">
          <a:xfrm>
            <a:off x="6477000" y="4191000"/>
            <a:ext cx="228600" cy="0"/>
          </a:xfrm>
          <a:prstGeom prst="line">
            <a:avLst/>
          </a:prstGeom>
          <a:noFill/>
          <a:ln w="28575">
            <a:solidFill>
              <a:srgbClr val="000000"/>
            </a:solidFill>
            <a:round/>
            <a:headEnd/>
            <a:tailEnd/>
          </a:ln>
          <a:effectLst/>
        </p:spPr>
        <p:txBody>
          <a:bodyPr/>
          <a:lstStyle/>
          <a:p>
            <a:pPr>
              <a:defRPr/>
            </a:pPr>
            <a:endParaRPr lang="en-US"/>
          </a:p>
        </p:txBody>
      </p:sp>
      <p:sp>
        <p:nvSpPr>
          <p:cNvPr id="193544" name="Line 8"/>
          <p:cNvSpPr>
            <a:spLocks noChangeShapeType="1"/>
          </p:cNvSpPr>
          <p:nvPr/>
        </p:nvSpPr>
        <p:spPr bwMode="auto">
          <a:xfrm>
            <a:off x="2743200" y="2057400"/>
            <a:ext cx="0" cy="685800"/>
          </a:xfrm>
          <a:prstGeom prst="line">
            <a:avLst/>
          </a:prstGeom>
          <a:noFill/>
          <a:ln w="28575">
            <a:solidFill>
              <a:srgbClr val="CC3300"/>
            </a:solidFill>
            <a:round/>
            <a:headEnd/>
            <a:tailEnd type="triangle" w="med" len="med"/>
          </a:ln>
          <a:effectLst/>
        </p:spPr>
        <p:txBody>
          <a:bodyPr/>
          <a:lstStyle/>
          <a:p>
            <a:pPr>
              <a:defRPr/>
            </a:pPr>
            <a:endParaRPr lang="en-US"/>
          </a:p>
        </p:txBody>
      </p:sp>
      <p:sp>
        <p:nvSpPr>
          <p:cNvPr id="193545" name="Line 9"/>
          <p:cNvSpPr>
            <a:spLocks noChangeShapeType="1"/>
          </p:cNvSpPr>
          <p:nvPr/>
        </p:nvSpPr>
        <p:spPr bwMode="auto">
          <a:xfrm>
            <a:off x="6400800" y="2057400"/>
            <a:ext cx="0" cy="609600"/>
          </a:xfrm>
          <a:prstGeom prst="line">
            <a:avLst/>
          </a:prstGeom>
          <a:noFill/>
          <a:ln w="28575">
            <a:solidFill>
              <a:srgbClr val="CC3300"/>
            </a:solidFill>
            <a:round/>
            <a:headEnd/>
            <a:tailEnd type="triangle" w="med" len="med"/>
          </a:ln>
          <a:effectLst/>
        </p:spPr>
        <p:txBody>
          <a:bodyPr/>
          <a:lstStyle/>
          <a:p>
            <a:pPr>
              <a:defRPr/>
            </a:pPr>
            <a:endParaRPr lang="en-US"/>
          </a:p>
        </p:txBody>
      </p:sp>
      <p:sp>
        <p:nvSpPr>
          <p:cNvPr id="193546" name="Line 10"/>
          <p:cNvSpPr>
            <a:spLocks noChangeShapeType="1"/>
          </p:cNvSpPr>
          <p:nvPr/>
        </p:nvSpPr>
        <p:spPr bwMode="auto">
          <a:xfrm>
            <a:off x="6400800" y="3276600"/>
            <a:ext cx="0" cy="533400"/>
          </a:xfrm>
          <a:prstGeom prst="line">
            <a:avLst/>
          </a:prstGeom>
          <a:noFill/>
          <a:ln w="28575">
            <a:solidFill>
              <a:srgbClr val="CC3300"/>
            </a:solidFill>
            <a:round/>
            <a:headEnd/>
            <a:tailEnd type="triangle" w="med" len="med"/>
          </a:ln>
          <a:effectLst/>
        </p:spPr>
        <p:txBody>
          <a:bodyPr/>
          <a:lstStyle/>
          <a:p>
            <a:pPr>
              <a:defRPr/>
            </a:pPr>
            <a:endParaRPr lang="en-US"/>
          </a:p>
        </p:txBody>
      </p:sp>
      <p:sp>
        <p:nvSpPr>
          <p:cNvPr id="193547" name="Line 11"/>
          <p:cNvSpPr>
            <a:spLocks noChangeShapeType="1"/>
          </p:cNvSpPr>
          <p:nvPr/>
        </p:nvSpPr>
        <p:spPr bwMode="auto">
          <a:xfrm>
            <a:off x="2743200" y="3276600"/>
            <a:ext cx="0" cy="609600"/>
          </a:xfrm>
          <a:prstGeom prst="line">
            <a:avLst/>
          </a:prstGeom>
          <a:noFill/>
          <a:ln w="28575">
            <a:solidFill>
              <a:srgbClr val="CC3300"/>
            </a:solidFill>
            <a:round/>
            <a:headEnd/>
            <a:tailEnd type="triangle" w="med" len="med"/>
          </a:ln>
          <a:effectLst/>
        </p:spPr>
        <p:txBody>
          <a:bodyPr/>
          <a:lstStyle/>
          <a:p>
            <a:pPr>
              <a:defRPr/>
            </a:pPr>
            <a:endParaRPr lang="en-US"/>
          </a:p>
        </p:txBody>
      </p:sp>
      <p:sp>
        <p:nvSpPr>
          <p:cNvPr id="193548" name="Line 12"/>
          <p:cNvSpPr>
            <a:spLocks noChangeShapeType="1"/>
          </p:cNvSpPr>
          <p:nvPr/>
        </p:nvSpPr>
        <p:spPr bwMode="auto">
          <a:xfrm>
            <a:off x="6400800" y="5410200"/>
            <a:ext cx="228600" cy="0"/>
          </a:xfrm>
          <a:prstGeom prst="line">
            <a:avLst/>
          </a:prstGeom>
          <a:noFill/>
          <a:ln w="28575">
            <a:solidFill>
              <a:srgbClr val="000000"/>
            </a:solidFill>
            <a:round/>
            <a:headEnd/>
            <a:tailEnd/>
          </a:ln>
          <a:effectLst/>
        </p:spPr>
        <p:txBody>
          <a:bodyPr/>
          <a:lstStyle/>
          <a:p>
            <a:pPr>
              <a:defRPr/>
            </a:pPr>
            <a:endParaRPr lang="en-US"/>
          </a:p>
        </p:txBody>
      </p:sp>
      <p:sp>
        <p:nvSpPr>
          <p:cNvPr id="193549" name="Line 13"/>
          <p:cNvSpPr>
            <a:spLocks noChangeShapeType="1"/>
          </p:cNvSpPr>
          <p:nvPr/>
        </p:nvSpPr>
        <p:spPr bwMode="auto">
          <a:xfrm>
            <a:off x="7010400" y="5410200"/>
            <a:ext cx="228600" cy="0"/>
          </a:xfrm>
          <a:prstGeom prst="line">
            <a:avLst/>
          </a:prstGeom>
          <a:noFill/>
          <a:ln w="28575">
            <a:solidFill>
              <a:srgbClr val="000000"/>
            </a:solidFill>
            <a:round/>
            <a:headEnd/>
            <a:tailEnd/>
          </a:ln>
          <a:effectLst/>
        </p:spPr>
        <p:txBody>
          <a:bodyPr/>
          <a:lstStyle/>
          <a:p>
            <a:pPr>
              <a:defRPr/>
            </a:pPr>
            <a:endParaRPr lang="en-US"/>
          </a:p>
        </p:txBody>
      </p:sp>
      <p:sp>
        <p:nvSpPr>
          <p:cNvPr id="193550" name="Line 14"/>
          <p:cNvSpPr>
            <a:spLocks noChangeShapeType="1"/>
          </p:cNvSpPr>
          <p:nvPr/>
        </p:nvSpPr>
        <p:spPr bwMode="auto">
          <a:xfrm>
            <a:off x="2590800" y="4572000"/>
            <a:ext cx="1676400" cy="762000"/>
          </a:xfrm>
          <a:prstGeom prst="line">
            <a:avLst/>
          </a:prstGeom>
          <a:noFill/>
          <a:ln w="28575">
            <a:solidFill>
              <a:srgbClr val="CC3300"/>
            </a:solidFill>
            <a:round/>
            <a:headEnd/>
            <a:tailEnd type="triangle" w="med" len="med"/>
          </a:ln>
          <a:effectLst/>
        </p:spPr>
        <p:txBody>
          <a:bodyPr/>
          <a:lstStyle/>
          <a:p>
            <a:pPr>
              <a:defRPr/>
            </a:pPr>
            <a:endParaRPr lang="en-US"/>
          </a:p>
        </p:txBody>
      </p:sp>
      <p:sp>
        <p:nvSpPr>
          <p:cNvPr id="193551" name="Line 15"/>
          <p:cNvSpPr>
            <a:spLocks noChangeShapeType="1"/>
          </p:cNvSpPr>
          <p:nvPr/>
        </p:nvSpPr>
        <p:spPr bwMode="auto">
          <a:xfrm flipH="1">
            <a:off x="5029200" y="4648200"/>
            <a:ext cx="1447800" cy="685800"/>
          </a:xfrm>
          <a:prstGeom prst="line">
            <a:avLst/>
          </a:prstGeom>
          <a:noFill/>
          <a:ln w="28575">
            <a:solidFill>
              <a:srgbClr val="CC3300"/>
            </a:solidFill>
            <a:round/>
            <a:headEnd/>
            <a:tailEnd type="triangle" w="med" len="med"/>
          </a:ln>
          <a:effectLst/>
        </p:spPr>
        <p:txBody>
          <a:bodyPr/>
          <a:lstStyle/>
          <a:p>
            <a:pPr>
              <a:defRPr/>
            </a:pPr>
            <a:endParaRPr lang="en-US"/>
          </a:p>
        </p:txBody>
      </p:sp>
      <p:sp>
        <p:nvSpPr>
          <p:cNvPr id="16" name="Line 11"/>
          <p:cNvSpPr>
            <a:spLocks noChangeShapeType="1"/>
          </p:cNvSpPr>
          <p:nvPr/>
        </p:nvSpPr>
        <p:spPr bwMode="auto">
          <a:xfrm>
            <a:off x="2971800" y="685800"/>
            <a:ext cx="0" cy="609600"/>
          </a:xfrm>
          <a:prstGeom prst="line">
            <a:avLst/>
          </a:prstGeom>
          <a:noFill/>
          <a:ln w="28575">
            <a:solidFill>
              <a:srgbClr val="CC3300"/>
            </a:solidFill>
            <a:round/>
            <a:headEnd/>
            <a:tailEnd type="triangle" w="med" len="med"/>
          </a:ln>
          <a:effectLst/>
        </p:spPr>
        <p:txBody>
          <a:bodyPr/>
          <a:lstStyle/>
          <a:p>
            <a:pPr>
              <a:defRPr/>
            </a:pPr>
            <a:endParaRPr lang="en-US"/>
          </a:p>
        </p:txBody>
      </p:sp>
      <p:sp>
        <p:nvSpPr>
          <p:cNvPr id="17" name="Line 11"/>
          <p:cNvSpPr>
            <a:spLocks noChangeShapeType="1"/>
          </p:cNvSpPr>
          <p:nvPr/>
        </p:nvSpPr>
        <p:spPr bwMode="auto">
          <a:xfrm>
            <a:off x="6553200" y="685800"/>
            <a:ext cx="0" cy="609600"/>
          </a:xfrm>
          <a:prstGeom prst="line">
            <a:avLst/>
          </a:prstGeom>
          <a:noFill/>
          <a:ln w="28575">
            <a:solidFill>
              <a:srgbClr val="CC3300"/>
            </a:solidFill>
            <a:round/>
            <a:headEnd/>
            <a:tailEnd type="triangle" w="med" len="med"/>
          </a:ln>
          <a:effectLst/>
        </p:spPr>
        <p:txBody>
          <a:bodyPr/>
          <a:lstStyle/>
          <a:p>
            <a:pPr>
              <a:defRPr/>
            </a:pPr>
            <a:endParaRPr lang="en-US"/>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ChangeArrowheads="1"/>
          </p:cNvSpPr>
          <p:nvPr/>
        </p:nvSpPr>
        <p:spPr bwMode="auto">
          <a:xfrm>
            <a:off x="3886200" y="6400800"/>
            <a:ext cx="5105400" cy="381000"/>
          </a:xfrm>
          <a:prstGeom prst="rect">
            <a:avLst/>
          </a:prstGeom>
          <a:solidFill>
            <a:srgbClr val="DAE7F8"/>
          </a:solidFill>
          <a:ln w="9525">
            <a:noFill/>
            <a:miter lim="800000"/>
            <a:headEnd/>
            <a:tailEnd/>
          </a:ln>
        </p:spPr>
        <p:txBody>
          <a:bodyPr wrap="none" anchor="ctr"/>
          <a:lstStyle/>
          <a:p>
            <a:pPr>
              <a:defRPr/>
            </a:pPr>
            <a:endParaRPr lang="en-US"/>
          </a:p>
        </p:txBody>
      </p:sp>
      <p:graphicFrame>
        <p:nvGraphicFramePr>
          <p:cNvPr id="3074" name="Object 5"/>
          <p:cNvGraphicFramePr>
            <a:graphicFrameLocks noChangeAspect="1"/>
          </p:cNvGraphicFramePr>
          <p:nvPr>
            <p:extLst>
              <p:ext uri="{D42A27DB-BD31-4B8C-83A1-F6EECF244321}">
                <p14:modId xmlns:p14="http://schemas.microsoft.com/office/powerpoint/2010/main" val="3151056106"/>
              </p:ext>
            </p:extLst>
          </p:nvPr>
        </p:nvGraphicFramePr>
        <p:xfrm>
          <a:off x="5384800" y="1325562"/>
          <a:ext cx="3098800" cy="1069975"/>
        </p:xfrm>
        <a:graphic>
          <a:graphicData uri="http://schemas.openxmlformats.org/presentationml/2006/ole">
            <mc:AlternateContent xmlns:mc="http://schemas.openxmlformats.org/markup-compatibility/2006">
              <mc:Choice xmlns:v="urn:schemas-microsoft-com:vml" Requires="v">
                <p:oleObj spid="_x0000_s44136" name="Equation" r:id="rId3" imgW="1434960" imgH="495000" progId="Equation.DSMT4">
                  <p:embed/>
                </p:oleObj>
              </mc:Choice>
              <mc:Fallback>
                <p:oleObj name="Equation" r:id="rId3" imgW="1434960" imgH="4950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84800" y="1325562"/>
                        <a:ext cx="3098800" cy="1069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078" name="Picture 6" descr="F07-02"/>
          <p:cNvPicPr>
            <a:picLocks noChangeAspect="1" noChangeArrowheads="1"/>
          </p:cNvPicPr>
          <p:nvPr/>
        </p:nvPicPr>
        <p:blipFill>
          <a:blip r:embed="rId5">
            <a:extLst>
              <a:ext uri="{28A0092B-C50C-407E-A947-70E740481C1C}">
                <a14:useLocalDpi xmlns:a14="http://schemas.microsoft.com/office/drawing/2010/main" val="0"/>
              </a:ext>
            </a:extLst>
          </a:blip>
          <a:srcRect l="7813" r="7896" b="11639"/>
          <a:stretch>
            <a:fillRect/>
          </a:stretch>
        </p:blipFill>
        <p:spPr bwMode="auto">
          <a:xfrm>
            <a:off x="3886200" y="2544763"/>
            <a:ext cx="5105400" cy="391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5" name="Text Box 8"/>
          <p:cNvSpPr txBox="1">
            <a:spLocks noChangeArrowheads="1"/>
          </p:cNvSpPr>
          <p:nvPr/>
        </p:nvSpPr>
        <p:spPr bwMode="auto">
          <a:xfrm>
            <a:off x="4449763" y="3686175"/>
            <a:ext cx="350837" cy="304800"/>
          </a:xfrm>
          <a:prstGeom prst="rect">
            <a:avLst/>
          </a:prstGeom>
          <a:noFill/>
          <a:ln w="9525">
            <a:noFill/>
            <a:miter lim="800000"/>
            <a:headEnd/>
            <a:tailEnd/>
          </a:ln>
        </p:spPr>
        <p:txBody>
          <a:bodyPr wrap="none">
            <a:spAutoFit/>
          </a:bodyPr>
          <a:lstStyle/>
          <a:p>
            <a:pPr>
              <a:defRPr/>
            </a:pPr>
            <a:r>
              <a:rPr lang="en-US" sz="1400" b="1"/>
              <a:t>df</a:t>
            </a:r>
          </a:p>
        </p:txBody>
      </p:sp>
      <p:sp>
        <p:nvSpPr>
          <p:cNvPr id="2056" name="Line 9"/>
          <p:cNvSpPr>
            <a:spLocks noChangeShapeType="1"/>
          </p:cNvSpPr>
          <p:nvPr/>
        </p:nvSpPr>
        <p:spPr bwMode="auto">
          <a:xfrm>
            <a:off x="6426200" y="2667000"/>
            <a:ext cx="0" cy="3759200"/>
          </a:xfrm>
          <a:prstGeom prst="line">
            <a:avLst/>
          </a:prstGeom>
          <a:noFill/>
          <a:ln w="9525">
            <a:solidFill>
              <a:schemeClr val="tx1"/>
            </a:solidFill>
            <a:round/>
            <a:headEnd/>
            <a:tailEnd/>
          </a:ln>
        </p:spPr>
        <p:txBody>
          <a:bodyPr wrap="none" anchor="ctr"/>
          <a:lstStyle/>
          <a:p>
            <a:pPr>
              <a:defRPr/>
            </a:pPr>
            <a:endParaRPr lang="en-US"/>
          </a:p>
        </p:txBody>
      </p:sp>
      <p:sp>
        <p:nvSpPr>
          <p:cNvPr id="2058" name="Text Box 11"/>
          <p:cNvSpPr txBox="1">
            <a:spLocks noChangeArrowheads="1"/>
          </p:cNvSpPr>
          <p:nvPr/>
        </p:nvSpPr>
        <p:spPr bwMode="auto">
          <a:xfrm>
            <a:off x="6312804" y="6389404"/>
            <a:ext cx="317716" cy="379591"/>
          </a:xfrm>
          <a:prstGeom prst="rect">
            <a:avLst/>
          </a:prstGeom>
          <a:noFill/>
          <a:ln w="9525">
            <a:noFill/>
            <a:miter lim="800000"/>
            <a:headEnd/>
            <a:tailEnd/>
          </a:ln>
        </p:spPr>
        <p:txBody>
          <a:bodyPr wrap="none">
            <a:spAutoFit/>
          </a:bodyPr>
          <a:lstStyle/>
          <a:p>
            <a:pPr>
              <a:defRPr/>
            </a:pPr>
            <a:r>
              <a:rPr lang="en-US" sz="2800" baseline="-25000" dirty="0" smtClean="0"/>
              <a:t>0</a:t>
            </a:r>
            <a:endParaRPr lang="en-US" sz="2800" baseline="-25000" dirty="0"/>
          </a:p>
        </p:txBody>
      </p:sp>
      <p:graphicFrame>
        <p:nvGraphicFramePr>
          <p:cNvPr id="3076" name="Object 12"/>
          <p:cNvGraphicFramePr>
            <a:graphicFrameLocks noChangeAspect="1"/>
          </p:cNvGraphicFramePr>
          <p:nvPr>
            <p:extLst>
              <p:ext uri="{D42A27DB-BD31-4B8C-83A1-F6EECF244321}">
                <p14:modId xmlns:p14="http://schemas.microsoft.com/office/powerpoint/2010/main" val="3808458363"/>
              </p:ext>
            </p:extLst>
          </p:nvPr>
        </p:nvGraphicFramePr>
        <p:xfrm>
          <a:off x="8418513" y="6388100"/>
          <a:ext cx="174625" cy="298450"/>
        </p:xfrm>
        <a:graphic>
          <a:graphicData uri="http://schemas.openxmlformats.org/presentationml/2006/ole">
            <mc:AlternateContent xmlns:mc="http://schemas.openxmlformats.org/markup-compatibility/2006">
              <mc:Choice xmlns:v="urn:schemas-microsoft-com:vml" Requires="v">
                <p:oleObj spid="_x0000_s44137" name="Equation" r:id="rId6" imgW="88560" imgH="152280" progId="Equation.3">
                  <p:embed/>
                </p:oleObj>
              </mc:Choice>
              <mc:Fallback>
                <p:oleObj name="Equation" r:id="rId6" imgW="88560" imgH="152280" progId="Equation.3">
                  <p:embed/>
                  <p:pic>
                    <p:nvPicPr>
                      <p:cNvPr id="0" name=""/>
                      <p:cNvPicPr>
                        <a:picLocks noChangeAspect="1" noChangeArrowheads="1"/>
                      </p:cNvPicPr>
                      <p:nvPr/>
                    </p:nvPicPr>
                    <p:blipFill>
                      <a:blip r:embed="rId7"/>
                      <a:srcRect/>
                      <a:stretch>
                        <a:fillRect/>
                      </a:stretch>
                    </p:blipFill>
                    <p:spPr bwMode="auto">
                      <a:xfrm>
                        <a:off x="8418513" y="6388100"/>
                        <a:ext cx="174625" cy="298450"/>
                      </a:xfrm>
                      <a:prstGeom prst="rect">
                        <a:avLst/>
                      </a:prstGeom>
                      <a:solidFill>
                        <a:srgbClr val="DAE7F8"/>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62" name="Rectangle 14"/>
          <p:cNvSpPr>
            <a:spLocks noGrp="1" noChangeArrowheads="1"/>
          </p:cNvSpPr>
          <p:nvPr>
            <p:ph idx="1"/>
          </p:nvPr>
        </p:nvSpPr>
        <p:spPr>
          <a:xfrm>
            <a:off x="228600" y="304800"/>
            <a:ext cx="8458200" cy="609600"/>
          </a:xfrm>
        </p:spPr>
        <p:txBody>
          <a:bodyPr rtlCol="0">
            <a:normAutofit fontScale="25000" lnSpcReduction="20000"/>
          </a:bodyPr>
          <a:lstStyle/>
          <a:p>
            <a:pPr marL="0" indent="0" eaLnBrk="1" fontAlgn="auto" hangingPunct="1">
              <a:spcBef>
                <a:spcPct val="0"/>
              </a:spcBef>
              <a:spcAft>
                <a:spcPts val="0"/>
              </a:spcAft>
              <a:buFontTx/>
              <a:buNone/>
              <a:defRPr/>
            </a:pPr>
            <a:r>
              <a:rPr lang="en-US" sz="11200" b="1" dirty="0" smtClean="0"/>
              <a:t>Sampling distribution model for            ?</a:t>
            </a:r>
          </a:p>
          <a:p>
            <a:pPr marL="0" indent="0" eaLnBrk="1" fontAlgn="auto" hangingPunct="1">
              <a:spcBef>
                <a:spcPct val="0"/>
              </a:spcBef>
              <a:spcAft>
                <a:spcPts val="0"/>
              </a:spcAft>
              <a:buFontTx/>
              <a:buNone/>
              <a:defRPr/>
            </a:pPr>
            <a:r>
              <a:rPr lang="en-US" dirty="0" smtClean="0"/>
              <a:t> </a:t>
            </a:r>
          </a:p>
          <a:p>
            <a:pPr marL="0" indent="0" eaLnBrk="1" fontAlgn="auto" hangingPunct="1">
              <a:lnSpc>
                <a:spcPct val="160000"/>
              </a:lnSpc>
              <a:spcBef>
                <a:spcPct val="0"/>
              </a:spcBef>
              <a:spcAft>
                <a:spcPts val="0"/>
              </a:spcAft>
              <a:buFontTx/>
              <a:buNone/>
              <a:defRPr/>
            </a:pPr>
            <a:r>
              <a:rPr lang="en-US" dirty="0" smtClean="0"/>
              <a:t/>
            </a:r>
            <a:br>
              <a:rPr lang="en-US" dirty="0" smtClean="0"/>
            </a:br>
            <a:endParaRPr lang="en-US" dirty="0" smtClean="0"/>
          </a:p>
        </p:txBody>
      </p:sp>
      <p:graphicFrame>
        <p:nvGraphicFramePr>
          <p:cNvPr id="2" name="Object 13"/>
          <p:cNvGraphicFramePr>
            <a:graphicFrameLocks noChangeAspect="1"/>
          </p:cNvGraphicFramePr>
          <p:nvPr/>
        </p:nvGraphicFramePr>
        <p:xfrm>
          <a:off x="5105400" y="304800"/>
          <a:ext cx="838200" cy="457200"/>
        </p:xfrm>
        <a:graphic>
          <a:graphicData uri="http://schemas.openxmlformats.org/presentationml/2006/ole">
            <mc:AlternateContent xmlns:mc="http://schemas.openxmlformats.org/markup-compatibility/2006">
              <mc:Choice xmlns:v="urn:schemas-microsoft-com:vml" Requires="v">
                <p:oleObj spid="_x0000_s44138" name="Equation" r:id="rId8" imgW="419040" imgH="228600" progId="Equation.DSMT4">
                  <p:embed/>
                </p:oleObj>
              </mc:Choice>
              <mc:Fallback>
                <p:oleObj name="Equation" r:id="rId8" imgW="419040" imgH="2286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05400" y="304800"/>
                        <a:ext cx="8382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86" name="Object 6"/>
          <p:cNvGraphicFramePr>
            <a:graphicFrameLocks noChangeAspect="1"/>
          </p:cNvGraphicFramePr>
          <p:nvPr>
            <p:extLst>
              <p:ext uri="{D42A27DB-BD31-4B8C-83A1-F6EECF244321}">
                <p14:modId xmlns:p14="http://schemas.microsoft.com/office/powerpoint/2010/main" val="2381150093"/>
              </p:ext>
            </p:extLst>
          </p:nvPr>
        </p:nvGraphicFramePr>
        <p:xfrm>
          <a:off x="188118" y="3403229"/>
          <a:ext cx="3509963" cy="1897063"/>
        </p:xfrm>
        <a:graphic>
          <a:graphicData uri="http://schemas.openxmlformats.org/presentationml/2006/ole">
            <mc:AlternateContent xmlns:mc="http://schemas.openxmlformats.org/markup-compatibility/2006">
              <mc:Choice xmlns:v="urn:schemas-microsoft-com:vml" Requires="v">
                <p:oleObj spid="_x0000_s44139" name="Equation" r:id="rId10" imgW="1981080" imgH="990360" progId="Equation.DSMT4">
                  <p:embed/>
                </p:oleObj>
              </mc:Choice>
              <mc:Fallback>
                <p:oleObj name="Equation" r:id="rId10" imgW="1981080" imgH="99036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8118" y="3403229"/>
                        <a:ext cx="3509963" cy="189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Rectangle 14"/>
          <p:cNvSpPr/>
          <p:nvPr/>
        </p:nvSpPr>
        <p:spPr>
          <a:xfrm>
            <a:off x="0" y="5300292"/>
            <a:ext cx="3886200" cy="1443408"/>
          </a:xfrm>
          <a:prstGeom prst="rect">
            <a:avLst/>
          </a:prstGeom>
        </p:spPr>
        <p:txBody>
          <a:bodyPr>
            <a:spAutoFit/>
          </a:bodyPr>
          <a:lstStyle/>
          <a:p>
            <a:pPr algn="ctr">
              <a:defRPr/>
            </a:pPr>
            <a:r>
              <a:rPr lang="en-US" sz="2000" b="1" dirty="0">
                <a:solidFill>
                  <a:srgbClr val="FF0000"/>
                </a:solidFill>
                <a:effectLst/>
              </a:rPr>
              <a:t>Sometimes used (not always very good) estimate of the degrees of freedom is</a:t>
            </a:r>
          </a:p>
          <a:p>
            <a:pPr algn="ctr">
              <a:lnSpc>
                <a:spcPct val="160000"/>
              </a:lnSpc>
              <a:defRPr/>
            </a:pPr>
            <a:r>
              <a:rPr lang="en-US" sz="2000" b="1" dirty="0">
                <a:solidFill>
                  <a:srgbClr val="FF0000"/>
                </a:solidFill>
                <a:effectLst/>
              </a:rPr>
              <a:t>min(</a:t>
            </a:r>
            <a:r>
              <a:rPr lang="en-US" sz="2000" b="1" i="1" dirty="0">
                <a:solidFill>
                  <a:srgbClr val="FF0000"/>
                </a:solidFill>
                <a:effectLst/>
              </a:rPr>
              <a:t>n</a:t>
            </a:r>
            <a:r>
              <a:rPr lang="en-US" sz="2000" b="1" baseline="-25000" dirty="0">
                <a:solidFill>
                  <a:srgbClr val="FF0000"/>
                </a:solidFill>
                <a:effectLst/>
              </a:rPr>
              <a:t>1 </a:t>
            </a:r>
            <a:r>
              <a:rPr lang="en-US" sz="2000" b="1" dirty="0">
                <a:solidFill>
                  <a:srgbClr val="FF0000"/>
                </a:solidFill>
                <a:effectLst/>
                <a:cs typeface="Arial" charset="0"/>
              </a:rPr>
              <a:t>− </a:t>
            </a:r>
            <a:r>
              <a:rPr lang="en-US" sz="2000" b="1" dirty="0">
                <a:solidFill>
                  <a:srgbClr val="FF0000"/>
                </a:solidFill>
                <a:effectLst/>
              </a:rPr>
              <a:t>1, </a:t>
            </a:r>
            <a:r>
              <a:rPr lang="en-US" sz="2000" b="1" i="1" dirty="0">
                <a:solidFill>
                  <a:srgbClr val="FF0000"/>
                </a:solidFill>
                <a:effectLst/>
              </a:rPr>
              <a:t>n</a:t>
            </a:r>
            <a:r>
              <a:rPr lang="en-US" sz="2000" b="1" baseline="-25000" dirty="0">
                <a:solidFill>
                  <a:srgbClr val="FF0000"/>
                </a:solidFill>
                <a:effectLst/>
              </a:rPr>
              <a:t>2 </a:t>
            </a:r>
            <a:r>
              <a:rPr lang="en-US" sz="2000" b="1" dirty="0">
                <a:solidFill>
                  <a:srgbClr val="FF0000"/>
                </a:solidFill>
                <a:effectLst/>
                <a:cs typeface="Arial" charset="0"/>
              </a:rPr>
              <a:t>− </a:t>
            </a:r>
            <a:r>
              <a:rPr lang="en-US" sz="2000" b="1" dirty="0">
                <a:solidFill>
                  <a:srgbClr val="FF0000"/>
                </a:solidFill>
                <a:effectLst/>
              </a:rPr>
              <a:t>1).</a:t>
            </a:r>
            <a:endParaRPr lang="en-US" sz="2000" dirty="0"/>
          </a:p>
        </p:txBody>
      </p:sp>
      <p:graphicFrame>
        <p:nvGraphicFramePr>
          <p:cNvPr id="16" name="Object 15"/>
          <p:cNvGraphicFramePr>
            <a:graphicFrameLocks noChangeAspect="1"/>
          </p:cNvGraphicFramePr>
          <p:nvPr>
            <p:extLst>
              <p:ext uri="{D42A27DB-BD31-4B8C-83A1-F6EECF244321}">
                <p14:modId xmlns:p14="http://schemas.microsoft.com/office/powerpoint/2010/main" val="1137940110"/>
              </p:ext>
            </p:extLst>
          </p:nvPr>
        </p:nvGraphicFramePr>
        <p:xfrm>
          <a:off x="264922" y="756029"/>
          <a:ext cx="4624388" cy="819150"/>
        </p:xfrm>
        <a:graphic>
          <a:graphicData uri="http://schemas.openxmlformats.org/presentationml/2006/ole">
            <mc:AlternateContent xmlns:mc="http://schemas.openxmlformats.org/markup-compatibility/2006">
              <mc:Choice xmlns:v="urn:schemas-microsoft-com:vml" Requires="v">
                <p:oleObj spid="_x0000_s44140" name="Equation" r:id="rId12" imgW="2793960" imgH="495000" progId="Equation.DSMT4">
                  <p:embed/>
                </p:oleObj>
              </mc:Choice>
              <mc:Fallback>
                <p:oleObj name="Equation" r:id="rId12" imgW="2793960" imgH="495000" progId="Equation.DSMT4">
                  <p:embed/>
                  <p:pic>
                    <p:nvPicPr>
                      <p:cNvPr id="0" name=""/>
                      <p:cNvPicPr>
                        <a:picLocks noChangeAspect="1" noChangeArrowheads="1"/>
                      </p:cNvPicPr>
                      <p:nvPr/>
                    </p:nvPicPr>
                    <p:blipFill>
                      <a:blip r:embed="rId13"/>
                      <a:srcRect/>
                      <a:stretch>
                        <a:fillRect/>
                      </a:stretch>
                    </p:blipFill>
                    <p:spPr bwMode="auto">
                      <a:xfrm>
                        <a:off x="264922" y="756029"/>
                        <a:ext cx="4624388" cy="819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TextBox 16"/>
          <p:cNvSpPr txBox="1">
            <a:spLocks noChangeArrowheads="1"/>
          </p:cNvSpPr>
          <p:nvPr/>
        </p:nvSpPr>
        <p:spPr bwMode="auto">
          <a:xfrm>
            <a:off x="2743200" y="1600200"/>
            <a:ext cx="2057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r>
              <a:rPr lang="en-US" sz="2800" dirty="0">
                <a:effectLst/>
              </a:rPr>
              <a:t>Shape?</a:t>
            </a:r>
          </a:p>
        </p:txBody>
      </p:sp>
      <p:cxnSp>
        <p:nvCxnSpPr>
          <p:cNvPr id="19" name="Straight Arrow Connector 18"/>
          <p:cNvCxnSpPr>
            <a:cxnSpLocks noChangeShapeType="1"/>
          </p:cNvCxnSpPr>
          <p:nvPr/>
        </p:nvCxnSpPr>
        <p:spPr bwMode="auto">
          <a:xfrm>
            <a:off x="5063426" y="1143000"/>
            <a:ext cx="1524699" cy="457200"/>
          </a:xfrm>
          <a:prstGeom prst="straightConnector1">
            <a:avLst/>
          </a:prstGeom>
          <a:noFill/>
          <a:ln w="15875"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20" name="TextBox 19"/>
          <p:cNvSpPr txBox="1">
            <a:spLocks noChangeArrowheads="1"/>
          </p:cNvSpPr>
          <p:nvPr/>
        </p:nvSpPr>
        <p:spPr bwMode="auto">
          <a:xfrm>
            <a:off x="5327011" y="958056"/>
            <a:ext cx="1981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r>
              <a:rPr lang="en-US" sz="1800" dirty="0">
                <a:effectLst/>
              </a:rPr>
              <a:t>Estimate using</a:t>
            </a:r>
          </a:p>
        </p:txBody>
      </p:sp>
      <p:graphicFrame>
        <p:nvGraphicFramePr>
          <p:cNvPr id="3" name="Object 2"/>
          <p:cNvGraphicFramePr>
            <a:graphicFrameLocks noChangeAspect="1"/>
          </p:cNvGraphicFramePr>
          <p:nvPr>
            <p:extLst>
              <p:ext uri="{D42A27DB-BD31-4B8C-83A1-F6EECF244321}">
                <p14:modId xmlns:p14="http://schemas.microsoft.com/office/powerpoint/2010/main" val="2664595147"/>
              </p:ext>
            </p:extLst>
          </p:nvPr>
        </p:nvGraphicFramePr>
        <p:xfrm>
          <a:off x="228600" y="1378424"/>
          <a:ext cx="2463800" cy="1371600"/>
        </p:xfrm>
        <a:graphic>
          <a:graphicData uri="http://schemas.openxmlformats.org/presentationml/2006/ole">
            <mc:AlternateContent xmlns:mc="http://schemas.openxmlformats.org/markup-compatibility/2006">
              <mc:Choice xmlns:v="urn:schemas-microsoft-com:vml" Requires="v">
                <p:oleObj spid="_x0000_s44141" name="Equation" r:id="rId14" imgW="1231560" imgH="685800" progId="Equation.DSMT4">
                  <p:embed/>
                </p:oleObj>
              </mc:Choice>
              <mc:Fallback>
                <p:oleObj name="Equation" r:id="rId14" imgW="1231560" imgH="685800" progId="Equation.DSMT4">
                  <p:embed/>
                  <p:pic>
                    <p:nvPicPr>
                      <p:cNvPr id="0" name=""/>
                      <p:cNvPicPr>
                        <a:picLocks noChangeAspect="1" noChangeArrowheads="1"/>
                      </p:cNvPicPr>
                      <p:nvPr/>
                    </p:nvPicPr>
                    <p:blipFill>
                      <a:blip r:embed="rId15"/>
                      <a:srcRect/>
                      <a:stretch>
                        <a:fillRect/>
                      </a:stretch>
                    </p:blipFill>
                    <p:spPr bwMode="auto">
                      <a:xfrm>
                        <a:off x="228600" y="1378424"/>
                        <a:ext cx="2463800" cy="137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TextBox 4"/>
          <p:cNvSpPr txBox="1"/>
          <p:nvPr/>
        </p:nvSpPr>
        <p:spPr>
          <a:xfrm>
            <a:off x="76200" y="2819400"/>
            <a:ext cx="3695700" cy="461665"/>
          </a:xfrm>
          <a:prstGeom prst="rect">
            <a:avLst/>
          </a:prstGeom>
          <a:noFill/>
        </p:spPr>
        <p:txBody>
          <a:bodyPr wrap="square" rtlCol="0">
            <a:spAutoFit/>
          </a:bodyPr>
          <a:lstStyle/>
          <a:p>
            <a:r>
              <a:rPr lang="en-US" dirty="0" smtClean="0">
                <a:effectLst/>
              </a:rPr>
              <a:t>Approximately t dist. with</a:t>
            </a:r>
            <a:endParaRPr lang="en-US" dirty="0">
              <a:effectLst/>
            </a:endParaRPr>
          </a:p>
        </p:txBody>
      </p:sp>
    </p:spTree>
    <p:extLst>
      <p:ext uri="{BB962C8B-B14F-4D97-AF65-F5344CB8AC3E}">
        <p14:creationId xmlns:p14="http://schemas.microsoft.com/office/powerpoint/2010/main" val="3619859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ppt_x"/>
                                          </p:val>
                                        </p:tav>
                                        <p:tav tm="100000">
                                          <p:val>
                                            <p:strVal val="#ppt_x"/>
                                          </p:val>
                                        </p:tav>
                                      </p:tavLst>
                                    </p:anim>
                                    <p:anim calcmode="lin" valueType="num">
                                      <p:cBhvr additive="base">
                                        <p:cTn id="14" dur="500" fill="hold"/>
                                        <p:tgtEl>
                                          <p:spTgt spid="19"/>
                                        </p:tgtEl>
                                        <p:attrNameLst>
                                          <p:attrName>ppt_y</p:attrName>
                                        </p:attrNameLst>
                                      </p:cBhvr>
                                      <p:tavLst>
                                        <p:tav tm="0">
                                          <p:val>
                                            <p:strVal val="0-#ppt_h/2"/>
                                          </p:val>
                                        </p:tav>
                                        <p:tav tm="100000">
                                          <p:val>
                                            <p:strVal val="#ppt_y"/>
                                          </p:val>
                                        </p:tav>
                                      </p:tavLst>
                                    </p:anim>
                                  </p:childTnLst>
                                </p:cTn>
                              </p:par>
                              <p:par>
                                <p:cTn id="15" presetID="2" presetClass="entr" presetSubtype="1"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additive="base">
                                        <p:cTn id="17" dur="500" fill="hold"/>
                                        <p:tgtEl>
                                          <p:spTgt spid="20"/>
                                        </p:tgtEl>
                                        <p:attrNameLst>
                                          <p:attrName>ppt_x</p:attrName>
                                        </p:attrNameLst>
                                      </p:cBhvr>
                                      <p:tavLst>
                                        <p:tav tm="0">
                                          <p:val>
                                            <p:strVal val="#ppt_x"/>
                                          </p:val>
                                        </p:tav>
                                        <p:tav tm="100000">
                                          <p:val>
                                            <p:strVal val="#ppt_x"/>
                                          </p:val>
                                        </p:tav>
                                      </p:tavLst>
                                    </p:anim>
                                    <p:anim calcmode="lin" valueType="num">
                                      <p:cBhvr additive="base">
                                        <p:cTn id="18" dur="500" fill="hold"/>
                                        <p:tgtEl>
                                          <p:spTgt spid="20"/>
                                        </p:tgtEl>
                                        <p:attrNameLst>
                                          <p:attrName>ppt_y</p:attrName>
                                        </p:attrNameLst>
                                      </p:cBhvr>
                                      <p:tavLst>
                                        <p:tav tm="0">
                                          <p:val>
                                            <p:strVal val="0-#ppt_h/2"/>
                                          </p:val>
                                        </p:tav>
                                        <p:tav tm="100000">
                                          <p:val>
                                            <p:strVal val="#ppt_y"/>
                                          </p:val>
                                        </p:tav>
                                      </p:tavLst>
                                    </p:anim>
                                  </p:childTnLst>
                                </p:cTn>
                              </p:par>
                              <p:par>
                                <p:cTn id="19" presetID="2" presetClass="entr" presetSubtype="2" fill="hold" nodeType="withEffect">
                                  <p:stCondLst>
                                    <p:cond delay="0"/>
                                  </p:stCondLst>
                                  <p:childTnLst>
                                    <p:set>
                                      <p:cBhvr>
                                        <p:cTn id="20" dur="1" fill="hold">
                                          <p:stCondLst>
                                            <p:cond delay="0"/>
                                          </p:stCondLst>
                                        </p:cTn>
                                        <p:tgtEl>
                                          <p:spTgt spid="3074"/>
                                        </p:tgtEl>
                                        <p:attrNameLst>
                                          <p:attrName>style.visibility</p:attrName>
                                        </p:attrNameLst>
                                      </p:cBhvr>
                                      <p:to>
                                        <p:strVal val="visible"/>
                                      </p:to>
                                    </p:set>
                                    <p:anim calcmode="lin" valueType="num">
                                      <p:cBhvr additive="base">
                                        <p:cTn id="21" dur="500" fill="hold"/>
                                        <p:tgtEl>
                                          <p:spTgt spid="3074"/>
                                        </p:tgtEl>
                                        <p:attrNameLst>
                                          <p:attrName>ppt_x</p:attrName>
                                        </p:attrNameLst>
                                      </p:cBhvr>
                                      <p:tavLst>
                                        <p:tav tm="0">
                                          <p:val>
                                            <p:strVal val="1+#ppt_w/2"/>
                                          </p:val>
                                        </p:tav>
                                        <p:tav tm="100000">
                                          <p:val>
                                            <p:strVal val="#ppt_x"/>
                                          </p:val>
                                        </p:tav>
                                      </p:tavLst>
                                    </p:anim>
                                    <p:anim calcmode="lin" valueType="num">
                                      <p:cBhvr additive="base">
                                        <p:cTn id="22" dur="500" fill="hold"/>
                                        <p:tgtEl>
                                          <p:spTgt spid="3074"/>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0-#ppt_w/2"/>
                                          </p:val>
                                        </p:tav>
                                        <p:tav tm="100000">
                                          <p:val>
                                            <p:strVal val="#ppt_x"/>
                                          </p:val>
                                        </p:tav>
                                      </p:tavLst>
                                    </p:anim>
                                    <p:anim calcmode="lin" valueType="num">
                                      <p:cBhvr additive="base">
                                        <p:cTn id="2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 calcmode="lin" valueType="num">
                                      <p:cBhvr additive="base">
                                        <p:cTn id="37" dur="500" fill="hold"/>
                                        <p:tgtEl>
                                          <p:spTgt spid="5"/>
                                        </p:tgtEl>
                                        <p:attrNameLst>
                                          <p:attrName>ppt_x</p:attrName>
                                        </p:attrNameLst>
                                      </p:cBhvr>
                                      <p:tavLst>
                                        <p:tav tm="0">
                                          <p:val>
                                            <p:strVal val="0-#ppt_w/2"/>
                                          </p:val>
                                        </p:tav>
                                        <p:tav tm="100000">
                                          <p:val>
                                            <p:strVal val="#ppt_x"/>
                                          </p:val>
                                        </p:tav>
                                      </p:tavLst>
                                    </p:anim>
                                    <p:anim calcmode="lin" valueType="num">
                                      <p:cBhvr additive="base">
                                        <p:cTn id="38" dur="500" fill="hold"/>
                                        <p:tgtEl>
                                          <p:spTgt spid="5"/>
                                        </p:tgtEl>
                                        <p:attrNameLst>
                                          <p:attrName>ppt_y</p:attrName>
                                        </p:attrNameLst>
                                      </p:cBhvr>
                                      <p:tavLst>
                                        <p:tav tm="0">
                                          <p:val>
                                            <p:strVal val="#ppt_y"/>
                                          </p:val>
                                        </p:tav>
                                        <p:tav tm="100000">
                                          <p:val>
                                            <p:strVal val="#ppt_y"/>
                                          </p:val>
                                        </p:tav>
                                      </p:tavLst>
                                    </p:anim>
                                  </p:childTnLst>
                                </p:cTn>
                              </p:par>
                              <p:par>
                                <p:cTn id="39" presetID="2" presetClass="entr" presetSubtype="2" fill="hold" nodeType="withEffect">
                                  <p:stCondLst>
                                    <p:cond delay="0"/>
                                  </p:stCondLst>
                                  <p:childTnLst>
                                    <p:set>
                                      <p:cBhvr>
                                        <p:cTn id="40" dur="1" fill="hold">
                                          <p:stCondLst>
                                            <p:cond delay="0"/>
                                          </p:stCondLst>
                                        </p:cTn>
                                        <p:tgtEl>
                                          <p:spTgt spid="3078"/>
                                        </p:tgtEl>
                                        <p:attrNameLst>
                                          <p:attrName>style.visibility</p:attrName>
                                        </p:attrNameLst>
                                      </p:cBhvr>
                                      <p:to>
                                        <p:strVal val="visible"/>
                                      </p:to>
                                    </p:set>
                                    <p:anim calcmode="lin" valueType="num">
                                      <p:cBhvr additive="base">
                                        <p:cTn id="41" dur="500" fill="hold"/>
                                        <p:tgtEl>
                                          <p:spTgt spid="3078"/>
                                        </p:tgtEl>
                                        <p:attrNameLst>
                                          <p:attrName>ppt_x</p:attrName>
                                        </p:attrNameLst>
                                      </p:cBhvr>
                                      <p:tavLst>
                                        <p:tav tm="0">
                                          <p:val>
                                            <p:strVal val="1+#ppt_w/2"/>
                                          </p:val>
                                        </p:tav>
                                        <p:tav tm="100000">
                                          <p:val>
                                            <p:strVal val="#ppt_x"/>
                                          </p:val>
                                        </p:tav>
                                      </p:tavLst>
                                    </p:anim>
                                    <p:anim calcmode="lin" valueType="num">
                                      <p:cBhvr additive="base">
                                        <p:cTn id="42" dur="500" fill="hold"/>
                                        <p:tgtEl>
                                          <p:spTgt spid="3078"/>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2058"/>
                                        </p:tgtEl>
                                        <p:attrNameLst>
                                          <p:attrName>style.visibility</p:attrName>
                                        </p:attrNameLst>
                                      </p:cBhvr>
                                      <p:to>
                                        <p:strVal val="visible"/>
                                      </p:to>
                                    </p:set>
                                    <p:anim calcmode="lin" valueType="num">
                                      <p:cBhvr additive="base">
                                        <p:cTn id="45" dur="500" fill="hold"/>
                                        <p:tgtEl>
                                          <p:spTgt spid="2058"/>
                                        </p:tgtEl>
                                        <p:attrNameLst>
                                          <p:attrName>ppt_x</p:attrName>
                                        </p:attrNameLst>
                                      </p:cBhvr>
                                      <p:tavLst>
                                        <p:tav tm="0">
                                          <p:val>
                                            <p:strVal val="1+#ppt_w/2"/>
                                          </p:val>
                                        </p:tav>
                                        <p:tav tm="100000">
                                          <p:val>
                                            <p:strVal val="#ppt_x"/>
                                          </p:val>
                                        </p:tav>
                                      </p:tavLst>
                                    </p:anim>
                                    <p:anim calcmode="lin" valueType="num">
                                      <p:cBhvr additive="base">
                                        <p:cTn id="46" dur="500" fill="hold"/>
                                        <p:tgtEl>
                                          <p:spTgt spid="2058"/>
                                        </p:tgtEl>
                                        <p:attrNameLst>
                                          <p:attrName>ppt_y</p:attrName>
                                        </p:attrNameLst>
                                      </p:cBhvr>
                                      <p:tavLst>
                                        <p:tav tm="0">
                                          <p:val>
                                            <p:strVal val="#ppt_y"/>
                                          </p:val>
                                        </p:tav>
                                        <p:tav tm="100000">
                                          <p:val>
                                            <p:strVal val="#ppt_y"/>
                                          </p:val>
                                        </p:tav>
                                      </p:tavLst>
                                    </p:anim>
                                  </p:childTnLst>
                                </p:cTn>
                              </p:par>
                              <p:par>
                                <p:cTn id="47" presetID="2" presetClass="entr" presetSubtype="2" fill="hold" nodeType="withEffect">
                                  <p:stCondLst>
                                    <p:cond delay="0"/>
                                  </p:stCondLst>
                                  <p:childTnLst>
                                    <p:set>
                                      <p:cBhvr>
                                        <p:cTn id="48" dur="1" fill="hold">
                                          <p:stCondLst>
                                            <p:cond delay="0"/>
                                          </p:stCondLst>
                                        </p:cTn>
                                        <p:tgtEl>
                                          <p:spTgt spid="3086"/>
                                        </p:tgtEl>
                                        <p:attrNameLst>
                                          <p:attrName>style.visibility</p:attrName>
                                        </p:attrNameLst>
                                      </p:cBhvr>
                                      <p:to>
                                        <p:strVal val="visible"/>
                                      </p:to>
                                    </p:set>
                                    <p:anim calcmode="lin" valueType="num">
                                      <p:cBhvr additive="base">
                                        <p:cTn id="49" dur="500" fill="hold"/>
                                        <p:tgtEl>
                                          <p:spTgt spid="3086"/>
                                        </p:tgtEl>
                                        <p:attrNameLst>
                                          <p:attrName>ppt_x</p:attrName>
                                        </p:attrNameLst>
                                      </p:cBhvr>
                                      <p:tavLst>
                                        <p:tav tm="0">
                                          <p:val>
                                            <p:strVal val="1+#ppt_w/2"/>
                                          </p:val>
                                        </p:tav>
                                        <p:tav tm="100000">
                                          <p:val>
                                            <p:strVal val="#ppt_x"/>
                                          </p:val>
                                        </p:tav>
                                      </p:tavLst>
                                    </p:anim>
                                    <p:anim calcmode="lin" valueType="num">
                                      <p:cBhvr additive="base">
                                        <p:cTn id="50" dur="500" fill="hold"/>
                                        <p:tgtEl>
                                          <p:spTgt spid="3086"/>
                                        </p:tgtEl>
                                        <p:attrNameLst>
                                          <p:attrName>ppt_y</p:attrName>
                                        </p:attrNameLst>
                                      </p:cBhvr>
                                      <p:tavLst>
                                        <p:tav tm="0">
                                          <p:val>
                                            <p:strVal val="#ppt_y"/>
                                          </p:val>
                                        </p:tav>
                                        <p:tav tm="100000">
                                          <p:val>
                                            <p:strVal val="#ppt_y"/>
                                          </p:val>
                                        </p:tav>
                                      </p:tavLst>
                                    </p:anim>
                                  </p:childTnLst>
                                </p:cTn>
                              </p:par>
                              <p:par>
                                <p:cTn id="51" presetID="2" presetClass="entr" presetSubtype="2" fill="hold" nodeType="withEffect">
                                  <p:stCondLst>
                                    <p:cond delay="0"/>
                                  </p:stCondLst>
                                  <p:childTnLst>
                                    <p:set>
                                      <p:cBhvr>
                                        <p:cTn id="52" dur="1" fill="hold">
                                          <p:stCondLst>
                                            <p:cond delay="0"/>
                                          </p:stCondLst>
                                        </p:cTn>
                                        <p:tgtEl>
                                          <p:spTgt spid="3076"/>
                                        </p:tgtEl>
                                        <p:attrNameLst>
                                          <p:attrName>style.visibility</p:attrName>
                                        </p:attrNameLst>
                                      </p:cBhvr>
                                      <p:to>
                                        <p:strVal val="visible"/>
                                      </p:to>
                                    </p:set>
                                    <p:anim calcmode="lin" valueType="num">
                                      <p:cBhvr additive="base">
                                        <p:cTn id="53" dur="500" fill="hold"/>
                                        <p:tgtEl>
                                          <p:spTgt spid="3076"/>
                                        </p:tgtEl>
                                        <p:attrNameLst>
                                          <p:attrName>ppt_x</p:attrName>
                                        </p:attrNameLst>
                                      </p:cBhvr>
                                      <p:tavLst>
                                        <p:tav tm="0">
                                          <p:val>
                                            <p:strVal val="1+#ppt_w/2"/>
                                          </p:val>
                                        </p:tav>
                                        <p:tav tm="100000">
                                          <p:val>
                                            <p:strVal val="#ppt_x"/>
                                          </p:val>
                                        </p:tav>
                                      </p:tavLst>
                                    </p:anim>
                                    <p:anim calcmode="lin" valueType="num">
                                      <p:cBhvr additive="base">
                                        <p:cTn id="54" dur="500" fill="hold"/>
                                        <p:tgtEl>
                                          <p:spTgt spid="3076"/>
                                        </p:tgtEl>
                                        <p:attrNameLst>
                                          <p:attrName>ppt_y</p:attrName>
                                        </p:attrNameLst>
                                      </p:cBhvr>
                                      <p:tavLst>
                                        <p:tav tm="0">
                                          <p:val>
                                            <p:strVal val="#ppt_y"/>
                                          </p:val>
                                        </p:tav>
                                        <p:tav tm="100000">
                                          <p:val>
                                            <p:strVal val="#ppt_y"/>
                                          </p:val>
                                        </p:tav>
                                      </p:tavLst>
                                    </p:anim>
                                  </p:childTnLst>
                                </p:cTn>
                              </p:par>
                              <p:par>
                                <p:cTn id="55" presetID="2" presetClass="entr" presetSubtype="2" fill="hold" grpId="1" nodeType="withEffect">
                                  <p:stCondLst>
                                    <p:cond delay="0"/>
                                  </p:stCondLst>
                                  <p:childTnLst>
                                    <p:set>
                                      <p:cBhvr>
                                        <p:cTn id="56" dur="1" fill="hold">
                                          <p:stCondLst>
                                            <p:cond delay="0"/>
                                          </p:stCondLst>
                                        </p:cTn>
                                        <p:tgtEl>
                                          <p:spTgt spid="2058"/>
                                        </p:tgtEl>
                                        <p:attrNameLst>
                                          <p:attrName>style.visibility</p:attrName>
                                        </p:attrNameLst>
                                      </p:cBhvr>
                                      <p:to>
                                        <p:strVal val="visible"/>
                                      </p:to>
                                    </p:set>
                                    <p:anim calcmode="lin" valueType="num">
                                      <p:cBhvr additive="base">
                                        <p:cTn id="57" dur="500" fill="hold"/>
                                        <p:tgtEl>
                                          <p:spTgt spid="2058"/>
                                        </p:tgtEl>
                                        <p:attrNameLst>
                                          <p:attrName>ppt_x</p:attrName>
                                        </p:attrNameLst>
                                      </p:cBhvr>
                                      <p:tavLst>
                                        <p:tav tm="0">
                                          <p:val>
                                            <p:strVal val="1+#ppt_w/2"/>
                                          </p:val>
                                        </p:tav>
                                        <p:tav tm="100000">
                                          <p:val>
                                            <p:strVal val="#ppt_x"/>
                                          </p:val>
                                        </p:tav>
                                      </p:tavLst>
                                    </p:anim>
                                    <p:anim calcmode="lin" valueType="num">
                                      <p:cBhvr additive="base">
                                        <p:cTn id="58" dur="500" fill="hold"/>
                                        <p:tgtEl>
                                          <p:spTgt spid="2058"/>
                                        </p:tgtEl>
                                        <p:attrNameLst>
                                          <p:attrName>ppt_y</p:attrName>
                                        </p:attrNameLst>
                                      </p:cBhvr>
                                      <p:tavLst>
                                        <p:tav tm="0">
                                          <p:val>
                                            <p:strVal val="#ppt_y"/>
                                          </p:val>
                                        </p:tav>
                                        <p:tav tm="100000">
                                          <p:val>
                                            <p:strVal val="#ppt_y"/>
                                          </p:val>
                                        </p:tav>
                                      </p:tavLst>
                                    </p:anim>
                                  </p:childTnLst>
                                </p:cTn>
                              </p:par>
                              <p:par>
                                <p:cTn id="59" presetID="2" presetClass="entr" presetSubtype="2" fill="hold" nodeType="withEffect">
                                  <p:stCondLst>
                                    <p:cond delay="0"/>
                                  </p:stCondLst>
                                  <p:childTnLst>
                                    <p:set>
                                      <p:cBhvr>
                                        <p:cTn id="60" dur="1" fill="hold">
                                          <p:stCondLst>
                                            <p:cond delay="0"/>
                                          </p:stCondLst>
                                        </p:cTn>
                                        <p:tgtEl>
                                          <p:spTgt spid="3076"/>
                                        </p:tgtEl>
                                        <p:attrNameLst>
                                          <p:attrName>style.visibility</p:attrName>
                                        </p:attrNameLst>
                                      </p:cBhvr>
                                      <p:to>
                                        <p:strVal val="visible"/>
                                      </p:to>
                                    </p:set>
                                    <p:anim calcmode="lin" valueType="num">
                                      <p:cBhvr additive="base">
                                        <p:cTn id="61" dur="500" fill="hold"/>
                                        <p:tgtEl>
                                          <p:spTgt spid="3076"/>
                                        </p:tgtEl>
                                        <p:attrNameLst>
                                          <p:attrName>ppt_x</p:attrName>
                                        </p:attrNameLst>
                                      </p:cBhvr>
                                      <p:tavLst>
                                        <p:tav tm="0">
                                          <p:val>
                                            <p:strVal val="1+#ppt_w/2"/>
                                          </p:val>
                                        </p:tav>
                                        <p:tav tm="100000">
                                          <p:val>
                                            <p:strVal val="#ppt_x"/>
                                          </p:val>
                                        </p:tav>
                                      </p:tavLst>
                                    </p:anim>
                                    <p:anim calcmode="lin" valueType="num">
                                      <p:cBhvr additive="base">
                                        <p:cTn id="62" dur="500" fill="hold"/>
                                        <p:tgtEl>
                                          <p:spTgt spid="3076"/>
                                        </p:tgtEl>
                                        <p:attrNameLst>
                                          <p:attrName>ppt_y</p:attrName>
                                        </p:attrNameLst>
                                      </p:cBhvr>
                                      <p:tavLst>
                                        <p:tav tm="0">
                                          <p:val>
                                            <p:strVal val="#ppt_y"/>
                                          </p:val>
                                        </p:tav>
                                        <p:tav tm="100000">
                                          <p:val>
                                            <p:strVal val="#ppt_y"/>
                                          </p:val>
                                        </p:tav>
                                      </p:tavLst>
                                    </p:anim>
                                  </p:childTnLst>
                                </p:cTn>
                              </p:par>
                              <p:par>
                                <p:cTn id="63" presetID="2" presetClass="entr" presetSubtype="2" fill="hold" grpId="0" nodeType="withEffect">
                                  <p:stCondLst>
                                    <p:cond delay="0"/>
                                  </p:stCondLst>
                                  <p:childTnLst>
                                    <p:set>
                                      <p:cBhvr>
                                        <p:cTn id="64" dur="1" fill="hold">
                                          <p:stCondLst>
                                            <p:cond delay="0"/>
                                          </p:stCondLst>
                                        </p:cTn>
                                        <p:tgtEl>
                                          <p:spTgt spid="2055"/>
                                        </p:tgtEl>
                                        <p:attrNameLst>
                                          <p:attrName>style.visibility</p:attrName>
                                        </p:attrNameLst>
                                      </p:cBhvr>
                                      <p:to>
                                        <p:strVal val="visible"/>
                                      </p:to>
                                    </p:set>
                                    <p:anim calcmode="lin" valueType="num">
                                      <p:cBhvr additive="base">
                                        <p:cTn id="65" dur="500" fill="hold"/>
                                        <p:tgtEl>
                                          <p:spTgt spid="2055"/>
                                        </p:tgtEl>
                                        <p:attrNameLst>
                                          <p:attrName>ppt_x</p:attrName>
                                        </p:attrNameLst>
                                      </p:cBhvr>
                                      <p:tavLst>
                                        <p:tav tm="0">
                                          <p:val>
                                            <p:strVal val="1+#ppt_w/2"/>
                                          </p:val>
                                        </p:tav>
                                        <p:tav tm="100000">
                                          <p:val>
                                            <p:strVal val="#ppt_x"/>
                                          </p:val>
                                        </p:tav>
                                      </p:tavLst>
                                    </p:anim>
                                    <p:anim calcmode="lin" valueType="num">
                                      <p:cBhvr additive="base">
                                        <p:cTn id="66" dur="500" fill="hold"/>
                                        <p:tgtEl>
                                          <p:spTgt spid="2055"/>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15"/>
                                        </p:tgtEl>
                                        <p:attrNameLst>
                                          <p:attrName>style.visibility</p:attrName>
                                        </p:attrNameLst>
                                      </p:cBhvr>
                                      <p:to>
                                        <p:strVal val="visible"/>
                                      </p:to>
                                    </p:set>
                                    <p:anim calcmode="lin" valueType="num">
                                      <p:cBhvr additive="base">
                                        <p:cTn id="71" dur="500" fill="hold"/>
                                        <p:tgtEl>
                                          <p:spTgt spid="15"/>
                                        </p:tgtEl>
                                        <p:attrNameLst>
                                          <p:attrName>ppt_x</p:attrName>
                                        </p:attrNameLst>
                                      </p:cBhvr>
                                      <p:tavLst>
                                        <p:tav tm="0">
                                          <p:val>
                                            <p:strVal val="#ppt_x"/>
                                          </p:val>
                                        </p:tav>
                                        <p:tav tm="100000">
                                          <p:val>
                                            <p:strVal val="#ppt_x"/>
                                          </p:val>
                                        </p:tav>
                                      </p:tavLst>
                                    </p:anim>
                                    <p:anim calcmode="lin" valueType="num">
                                      <p:cBhvr additive="base">
                                        <p:cTn id="7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5" grpId="0"/>
      <p:bldP spid="2058" grpId="0"/>
      <p:bldP spid="2058" grpId="1"/>
      <p:bldP spid="15" grpId="0"/>
      <p:bldP spid="17" grpId="0"/>
      <p:bldP spid="20"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type="title"/>
          </p:nvPr>
        </p:nvSpPr>
        <p:spPr>
          <a:xfrm>
            <a:off x="381000" y="228600"/>
            <a:ext cx="8610600" cy="1295400"/>
          </a:xfrm>
        </p:spPr>
        <p:txBody>
          <a:bodyPr/>
          <a:lstStyle/>
          <a:p>
            <a:pPr eaLnBrk="1" hangingPunct="1"/>
            <a:r>
              <a:rPr lang="en-US" dirty="0" smtClean="0"/>
              <a:t>Two sample </a:t>
            </a:r>
            <a:r>
              <a:rPr lang="en-US" i="1" dirty="0" smtClean="0"/>
              <a:t>t</a:t>
            </a:r>
            <a:r>
              <a:rPr lang="en-US" dirty="0" smtClean="0"/>
              <a:t>-confidence interval with confidence level C</a:t>
            </a:r>
          </a:p>
        </p:txBody>
      </p:sp>
      <p:sp>
        <p:nvSpPr>
          <p:cNvPr id="19459" name="Rectangle 4"/>
          <p:cNvSpPr>
            <a:spLocks noGrp="1" noChangeArrowheads="1"/>
          </p:cNvSpPr>
          <p:nvPr>
            <p:ph idx="1"/>
          </p:nvPr>
        </p:nvSpPr>
        <p:spPr>
          <a:xfrm>
            <a:off x="457200" y="990600"/>
            <a:ext cx="8229600" cy="838200"/>
          </a:xfrm>
        </p:spPr>
        <p:txBody>
          <a:bodyPr/>
          <a:lstStyle/>
          <a:p>
            <a:pPr marL="0" indent="0" eaLnBrk="1" hangingPunct="1">
              <a:lnSpc>
                <a:spcPct val="130000"/>
              </a:lnSpc>
              <a:spcBef>
                <a:spcPct val="45000"/>
              </a:spcBef>
              <a:buFont typeface="Wingdings" pitchFamily="-95" charset="2"/>
              <a:buNone/>
            </a:pPr>
            <a:endParaRPr lang="en-US" smtClean="0"/>
          </a:p>
        </p:txBody>
      </p:sp>
      <p:grpSp>
        <p:nvGrpSpPr>
          <p:cNvPr id="19460" name="Group 5"/>
          <p:cNvGrpSpPr>
            <a:grpSpLocks/>
          </p:cNvGrpSpPr>
          <p:nvPr/>
        </p:nvGrpSpPr>
        <p:grpSpPr bwMode="auto">
          <a:xfrm>
            <a:off x="4876800" y="2667000"/>
            <a:ext cx="4038600" cy="3227388"/>
            <a:chOff x="3352" y="1152"/>
            <a:chExt cx="2264" cy="1920"/>
          </a:xfrm>
        </p:grpSpPr>
        <p:pic>
          <p:nvPicPr>
            <p:cNvPr id="19463" name="Picture 6" descr="F06-05"/>
            <p:cNvPicPr>
              <a:picLocks noChangeAspect="1" noChangeArrowheads="1"/>
            </p:cNvPicPr>
            <p:nvPr/>
          </p:nvPicPr>
          <p:blipFill>
            <a:blip r:embed="rId2">
              <a:clrChange>
                <a:clrFrom>
                  <a:srgbClr val="D8E2F3"/>
                </a:clrFrom>
                <a:clrTo>
                  <a:srgbClr val="D8E2F3">
                    <a:alpha val="0"/>
                  </a:srgbClr>
                </a:clrTo>
              </a:clrChange>
              <a:lum bright="-20000" contrast="46000"/>
              <a:extLst>
                <a:ext uri="{28A0092B-C50C-407E-A947-70E740481C1C}">
                  <a14:useLocalDpi xmlns:a14="http://schemas.microsoft.com/office/drawing/2010/main" val="0"/>
                </a:ext>
              </a:extLst>
            </a:blip>
            <a:srcRect l="4094" r="4094" b="-6517"/>
            <a:stretch>
              <a:fillRect/>
            </a:stretch>
          </p:blipFill>
          <p:spPr bwMode="auto">
            <a:xfrm>
              <a:off x="3352" y="1152"/>
              <a:ext cx="2264" cy="192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5133" name="Text Box 7"/>
            <p:cNvSpPr txBox="1">
              <a:spLocks noChangeArrowheads="1"/>
            </p:cNvSpPr>
            <p:nvPr/>
          </p:nvSpPr>
          <p:spPr bwMode="auto">
            <a:xfrm>
              <a:off x="4146" y="1953"/>
              <a:ext cx="676" cy="236"/>
            </a:xfrm>
            <a:prstGeom prst="rect">
              <a:avLst/>
            </a:prstGeom>
            <a:solidFill>
              <a:srgbClr val="FFE65E"/>
            </a:solidFill>
            <a:ln w="9525">
              <a:noFill/>
              <a:miter lim="800000"/>
              <a:headEnd/>
              <a:tailEnd/>
            </a:ln>
          </p:spPr>
          <p:txBody>
            <a:bodyPr>
              <a:spAutoFit/>
            </a:bodyPr>
            <a:lstStyle/>
            <a:p>
              <a:pPr algn="ctr">
                <a:defRPr/>
              </a:pPr>
              <a:r>
                <a:rPr lang="en-US" sz="2000" i="1"/>
                <a:t>C</a:t>
              </a:r>
            </a:p>
          </p:txBody>
        </p:sp>
        <p:sp>
          <p:nvSpPr>
            <p:cNvPr id="5134" name="Rectangle 8"/>
            <p:cNvSpPr>
              <a:spLocks noChangeArrowheads="1"/>
            </p:cNvSpPr>
            <p:nvPr/>
          </p:nvSpPr>
          <p:spPr bwMode="auto">
            <a:xfrm>
              <a:off x="4766" y="2832"/>
              <a:ext cx="242" cy="121"/>
            </a:xfrm>
            <a:prstGeom prst="rect">
              <a:avLst/>
            </a:prstGeom>
            <a:solidFill>
              <a:srgbClr val="FFFFCC"/>
            </a:solidFill>
            <a:ln w="9525">
              <a:noFill/>
              <a:miter lim="800000"/>
              <a:headEnd/>
              <a:tailEnd/>
            </a:ln>
          </p:spPr>
          <p:txBody>
            <a:bodyPr wrap="none" anchor="ctr"/>
            <a:lstStyle/>
            <a:p>
              <a:pPr>
                <a:defRPr/>
              </a:pPr>
              <a:endParaRPr lang="en-US"/>
            </a:p>
          </p:txBody>
        </p:sp>
        <p:sp>
          <p:nvSpPr>
            <p:cNvPr id="5135" name="Text Box 9"/>
            <p:cNvSpPr txBox="1">
              <a:spLocks noChangeArrowheads="1"/>
            </p:cNvSpPr>
            <p:nvPr/>
          </p:nvSpPr>
          <p:spPr bwMode="auto">
            <a:xfrm>
              <a:off x="4663" y="2832"/>
              <a:ext cx="437" cy="218"/>
            </a:xfrm>
            <a:prstGeom prst="rect">
              <a:avLst/>
            </a:prstGeom>
            <a:solidFill>
              <a:srgbClr val="FFFFCC"/>
            </a:solidFill>
            <a:ln w="9525">
              <a:noFill/>
              <a:miter lim="800000"/>
              <a:headEnd/>
              <a:tailEnd/>
            </a:ln>
          </p:spPr>
          <p:txBody>
            <a:bodyPr>
              <a:spAutoFit/>
            </a:bodyPr>
            <a:lstStyle/>
            <a:p>
              <a:pPr algn="ctr">
                <a:defRPr/>
              </a:pPr>
              <a:r>
                <a:rPr lang="en-US" i="1"/>
                <a:t>t</a:t>
              </a:r>
              <a:r>
                <a:rPr lang="en-US"/>
                <a:t>*</a:t>
              </a:r>
            </a:p>
          </p:txBody>
        </p:sp>
        <p:sp>
          <p:nvSpPr>
            <p:cNvPr id="5136" name="Text Box 10"/>
            <p:cNvSpPr txBox="1">
              <a:spLocks noChangeArrowheads="1"/>
            </p:cNvSpPr>
            <p:nvPr/>
          </p:nvSpPr>
          <p:spPr bwMode="auto">
            <a:xfrm>
              <a:off x="3875" y="2832"/>
              <a:ext cx="351" cy="218"/>
            </a:xfrm>
            <a:prstGeom prst="rect">
              <a:avLst/>
            </a:prstGeom>
            <a:solidFill>
              <a:srgbClr val="FFFFCC"/>
            </a:solidFill>
            <a:ln w="9525">
              <a:noFill/>
              <a:miter lim="800000"/>
              <a:headEnd/>
              <a:tailEnd/>
            </a:ln>
          </p:spPr>
          <p:txBody>
            <a:bodyPr>
              <a:spAutoFit/>
            </a:bodyPr>
            <a:lstStyle/>
            <a:p>
              <a:pPr algn="ctr">
                <a:defRPr/>
              </a:pPr>
              <a:r>
                <a:rPr lang="en-US">
                  <a:cs typeface="Arial" charset="0"/>
                </a:rPr>
                <a:t>−</a:t>
              </a:r>
              <a:r>
                <a:rPr lang="en-US" i="1"/>
                <a:t>t</a:t>
              </a:r>
              <a:r>
                <a:rPr lang="en-US"/>
                <a:t>*</a:t>
              </a:r>
            </a:p>
          </p:txBody>
        </p:sp>
        <p:sp>
          <p:nvSpPr>
            <p:cNvPr id="5137" name="Rectangle 11"/>
            <p:cNvSpPr>
              <a:spLocks noChangeArrowheads="1"/>
            </p:cNvSpPr>
            <p:nvPr/>
          </p:nvSpPr>
          <p:spPr bwMode="auto">
            <a:xfrm>
              <a:off x="3360" y="2083"/>
              <a:ext cx="548" cy="202"/>
            </a:xfrm>
            <a:prstGeom prst="rect">
              <a:avLst/>
            </a:prstGeom>
            <a:solidFill>
              <a:srgbClr val="FFFFCC"/>
            </a:solidFill>
            <a:ln w="9525">
              <a:noFill/>
              <a:miter lim="800000"/>
              <a:headEnd/>
              <a:tailEnd/>
            </a:ln>
          </p:spPr>
          <p:txBody>
            <a:bodyPr wrap="none" anchor="ctr"/>
            <a:lstStyle/>
            <a:p>
              <a:pPr>
                <a:defRPr/>
              </a:pPr>
              <a:endParaRPr lang="en-US"/>
            </a:p>
          </p:txBody>
        </p:sp>
        <p:sp>
          <p:nvSpPr>
            <p:cNvPr id="5138" name="Rectangle 12"/>
            <p:cNvSpPr>
              <a:spLocks noChangeArrowheads="1"/>
            </p:cNvSpPr>
            <p:nvPr/>
          </p:nvSpPr>
          <p:spPr bwMode="auto">
            <a:xfrm>
              <a:off x="5020" y="2083"/>
              <a:ext cx="596" cy="202"/>
            </a:xfrm>
            <a:prstGeom prst="rect">
              <a:avLst/>
            </a:prstGeom>
            <a:solidFill>
              <a:srgbClr val="FFFFCC"/>
            </a:solidFill>
            <a:ln w="9525">
              <a:noFill/>
              <a:miter lim="800000"/>
              <a:headEnd/>
              <a:tailEnd/>
            </a:ln>
          </p:spPr>
          <p:txBody>
            <a:bodyPr wrap="none" anchor="ctr"/>
            <a:lstStyle/>
            <a:p>
              <a:pPr>
                <a:defRPr/>
              </a:pPr>
              <a:endParaRPr lang="en-US"/>
            </a:p>
          </p:txBody>
        </p:sp>
        <p:sp>
          <p:nvSpPr>
            <p:cNvPr id="5139" name="Rectangle 13"/>
            <p:cNvSpPr>
              <a:spLocks noChangeArrowheads="1"/>
            </p:cNvSpPr>
            <p:nvPr/>
          </p:nvSpPr>
          <p:spPr bwMode="auto">
            <a:xfrm>
              <a:off x="4742" y="1354"/>
              <a:ext cx="675" cy="203"/>
            </a:xfrm>
            <a:prstGeom prst="rect">
              <a:avLst/>
            </a:prstGeom>
            <a:solidFill>
              <a:srgbClr val="FFFFCC"/>
            </a:solidFill>
            <a:ln w="9525">
              <a:noFill/>
              <a:miter lim="800000"/>
              <a:headEnd/>
              <a:tailEnd/>
            </a:ln>
          </p:spPr>
          <p:txBody>
            <a:bodyPr wrap="none" anchor="ctr"/>
            <a:lstStyle/>
            <a:p>
              <a:pPr>
                <a:defRPr/>
              </a:pPr>
              <a:endParaRPr lang="en-US"/>
            </a:p>
          </p:txBody>
        </p:sp>
        <p:sp>
          <p:nvSpPr>
            <p:cNvPr id="5140" name="Rectangle 14"/>
            <p:cNvSpPr>
              <a:spLocks noChangeArrowheads="1"/>
            </p:cNvSpPr>
            <p:nvPr/>
          </p:nvSpPr>
          <p:spPr bwMode="auto">
            <a:xfrm>
              <a:off x="3630" y="2164"/>
              <a:ext cx="198" cy="364"/>
            </a:xfrm>
            <a:prstGeom prst="rect">
              <a:avLst/>
            </a:prstGeom>
            <a:solidFill>
              <a:srgbClr val="FFFFCC"/>
            </a:solidFill>
            <a:ln w="9525">
              <a:noFill/>
              <a:miter lim="800000"/>
              <a:headEnd/>
              <a:tailEnd/>
            </a:ln>
          </p:spPr>
          <p:txBody>
            <a:bodyPr wrap="none" anchor="ctr"/>
            <a:lstStyle/>
            <a:p>
              <a:pPr>
                <a:defRPr/>
              </a:pPr>
              <a:endParaRPr lang="en-US"/>
            </a:p>
          </p:txBody>
        </p:sp>
        <p:sp>
          <p:nvSpPr>
            <p:cNvPr id="5141" name="Line 15"/>
            <p:cNvSpPr>
              <a:spLocks noChangeShapeType="1"/>
            </p:cNvSpPr>
            <p:nvPr/>
          </p:nvSpPr>
          <p:spPr bwMode="auto">
            <a:xfrm>
              <a:off x="4027" y="2649"/>
              <a:ext cx="837" cy="0"/>
            </a:xfrm>
            <a:prstGeom prst="line">
              <a:avLst/>
            </a:prstGeom>
            <a:noFill/>
            <a:ln w="28575">
              <a:solidFill>
                <a:schemeClr val="tx1"/>
              </a:solidFill>
              <a:round/>
              <a:headEnd type="triangle" w="med" len="med"/>
              <a:tailEnd type="triangle" w="med" len="med"/>
            </a:ln>
          </p:spPr>
          <p:txBody>
            <a:bodyPr wrap="none" anchor="ctr"/>
            <a:lstStyle/>
            <a:p>
              <a:pPr>
                <a:defRPr/>
              </a:pPr>
              <a:endParaRPr lang="en-US"/>
            </a:p>
          </p:txBody>
        </p:sp>
        <p:sp>
          <p:nvSpPr>
            <p:cNvPr id="5142" name="Text Box 16"/>
            <p:cNvSpPr txBox="1">
              <a:spLocks noChangeArrowheads="1"/>
            </p:cNvSpPr>
            <p:nvPr/>
          </p:nvSpPr>
          <p:spPr bwMode="auto">
            <a:xfrm>
              <a:off x="4080" y="2448"/>
              <a:ext cx="104" cy="275"/>
            </a:xfrm>
            <a:prstGeom prst="rect">
              <a:avLst/>
            </a:prstGeom>
            <a:noFill/>
            <a:ln w="9525">
              <a:noFill/>
              <a:miter lim="800000"/>
              <a:headEnd/>
              <a:tailEnd/>
            </a:ln>
          </p:spPr>
          <p:txBody>
            <a:bodyPr wrap="none">
              <a:spAutoFit/>
            </a:bodyPr>
            <a:lstStyle/>
            <a:p>
              <a:pPr>
                <a:defRPr/>
              </a:pPr>
              <a:endParaRPr lang="en-US" i="1" dirty="0"/>
            </a:p>
          </p:txBody>
        </p:sp>
        <p:sp>
          <p:nvSpPr>
            <p:cNvPr id="5143" name="Line 17"/>
            <p:cNvSpPr>
              <a:spLocks noChangeShapeType="1"/>
            </p:cNvSpPr>
            <p:nvPr/>
          </p:nvSpPr>
          <p:spPr bwMode="auto">
            <a:xfrm flipV="1">
              <a:off x="4464" y="2609"/>
              <a:ext cx="0" cy="81"/>
            </a:xfrm>
            <a:prstGeom prst="line">
              <a:avLst/>
            </a:prstGeom>
            <a:noFill/>
            <a:ln w="9525">
              <a:solidFill>
                <a:schemeClr val="tx1"/>
              </a:solidFill>
              <a:round/>
              <a:headEnd/>
              <a:tailEnd/>
            </a:ln>
          </p:spPr>
          <p:txBody>
            <a:bodyPr wrap="none" anchor="ctr"/>
            <a:lstStyle/>
            <a:p>
              <a:pPr>
                <a:defRPr/>
              </a:pPr>
              <a:endParaRPr lang="en-US"/>
            </a:p>
          </p:txBody>
        </p:sp>
      </p:grpSp>
      <p:sp>
        <p:nvSpPr>
          <p:cNvPr id="5127" name="Line 19"/>
          <p:cNvSpPr>
            <a:spLocks noChangeShapeType="1"/>
          </p:cNvSpPr>
          <p:nvPr/>
        </p:nvSpPr>
        <p:spPr bwMode="auto">
          <a:xfrm>
            <a:off x="6870700" y="2794000"/>
            <a:ext cx="0" cy="2743200"/>
          </a:xfrm>
          <a:prstGeom prst="line">
            <a:avLst/>
          </a:prstGeom>
          <a:noFill/>
          <a:ln w="9525">
            <a:solidFill>
              <a:schemeClr val="tx1"/>
            </a:solidFill>
            <a:round/>
            <a:headEnd/>
            <a:tailEnd/>
          </a:ln>
        </p:spPr>
        <p:txBody>
          <a:bodyPr wrap="none" anchor="ctr"/>
          <a:lstStyle/>
          <a:p>
            <a:pPr>
              <a:defRPr/>
            </a:pPr>
            <a:endParaRPr lang="en-US"/>
          </a:p>
        </p:txBody>
      </p:sp>
      <p:sp>
        <p:nvSpPr>
          <p:cNvPr id="5129" name="Rectangle 23"/>
          <p:cNvSpPr>
            <a:spLocks noChangeArrowheads="1"/>
          </p:cNvSpPr>
          <p:nvPr/>
        </p:nvSpPr>
        <p:spPr bwMode="auto">
          <a:xfrm>
            <a:off x="685800" y="2057399"/>
            <a:ext cx="4038600" cy="3836989"/>
          </a:xfrm>
          <a:prstGeom prst="rect">
            <a:avLst/>
          </a:prstGeom>
          <a:noFill/>
          <a:ln w="9525">
            <a:noFill/>
            <a:miter lim="800000"/>
            <a:headEnd/>
            <a:tailEnd/>
          </a:ln>
        </p:spPr>
        <p:txBody>
          <a:bodyPr/>
          <a:lstStyle/>
          <a:p>
            <a:pPr>
              <a:lnSpc>
                <a:spcPct val="130000"/>
              </a:lnSpc>
              <a:spcBef>
                <a:spcPct val="20000"/>
              </a:spcBef>
              <a:spcAft>
                <a:spcPct val="25000"/>
              </a:spcAft>
              <a:buClr>
                <a:srgbClr val="00CC99"/>
              </a:buClr>
              <a:buSzPct val="65000"/>
              <a:buFont typeface="Wingdings" pitchFamily="2" charset="2"/>
              <a:buNone/>
              <a:defRPr/>
            </a:pPr>
            <a:r>
              <a:rPr lang="en-US" sz="2000" b="1" dirty="0">
                <a:solidFill>
                  <a:srgbClr val="333399"/>
                </a:solidFill>
              </a:rPr>
              <a:t>Practical use of </a:t>
            </a:r>
            <a:r>
              <a:rPr lang="en-US" sz="2000" b="1" i="1" dirty="0">
                <a:solidFill>
                  <a:srgbClr val="333399"/>
                </a:solidFill>
              </a:rPr>
              <a:t>t</a:t>
            </a:r>
            <a:r>
              <a:rPr lang="en-US" sz="2000" b="1" dirty="0">
                <a:solidFill>
                  <a:srgbClr val="333399"/>
                </a:solidFill>
              </a:rPr>
              <a:t>: </a:t>
            </a:r>
            <a:r>
              <a:rPr lang="en-US" sz="2000" b="1" i="1" dirty="0">
                <a:solidFill>
                  <a:srgbClr val="333399"/>
                </a:solidFill>
              </a:rPr>
              <a:t>t</a:t>
            </a:r>
            <a:r>
              <a:rPr lang="en-US" sz="2000" b="1" dirty="0">
                <a:solidFill>
                  <a:srgbClr val="333399"/>
                </a:solidFill>
              </a:rPr>
              <a:t>*</a:t>
            </a:r>
            <a:endParaRPr lang="en-US" sz="2000" dirty="0">
              <a:solidFill>
                <a:srgbClr val="333399"/>
              </a:solidFill>
            </a:endParaRPr>
          </a:p>
          <a:p>
            <a:pPr>
              <a:lnSpc>
                <a:spcPct val="130000"/>
              </a:lnSpc>
              <a:spcBef>
                <a:spcPct val="20000"/>
              </a:spcBef>
              <a:spcAft>
                <a:spcPct val="25000"/>
              </a:spcAft>
              <a:buClr>
                <a:srgbClr val="CC0000"/>
              </a:buClr>
              <a:buSzPct val="50000"/>
              <a:buFont typeface="Wingdings" pitchFamily="2" charset="2"/>
              <a:buChar char="p"/>
              <a:defRPr/>
            </a:pPr>
            <a:r>
              <a:rPr lang="en-US" sz="2000" dirty="0"/>
              <a:t> </a:t>
            </a:r>
            <a:r>
              <a:rPr lang="en-US" sz="2000" i="1" dirty="0">
                <a:effectLst/>
              </a:rPr>
              <a:t>C</a:t>
            </a:r>
            <a:r>
              <a:rPr lang="en-US" sz="2000" dirty="0">
                <a:effectLst/>
              </a:rPr>
              <a:t> is the area between </a:t>
            </a:r>
            <a:r>
              <a:rPr lang="en-US" sz="2000" dirty="0">
                <a:effectLst/>
                <a:cs typeface="Arial" charset="0"/>
              </a:rPr>
              <a:t>−</a:t>
            </a:r>
            <a:r>
              <a:rPr lang="en-US" sz="2000" i="1" dirty="0">
                <a:effectLst/>
              </a:rPr>
              <a:t>t</a:t>
            </a:r>
            <a:r>
              <a:rPr lang="en-US" sz="2000" dirty="0">
                <a:effectLst/>
              </a:rPr>
              <a:t>* and </a:t>
            </a:r>
            <a:r>
              <a:rPr lang="en-US" sz="2000" i="1" dirty="0">
                <a:effectLst/>
              </a:rPr>
              <a:t>t</a:t>
            </a:r>
            <a:r>
              <a:rPr lang="en-US" sz="2000" dirty="0">
                <a:effectLst/>
              </a:rPr>
              <a:t>*.</a:t>
            </a:r>
          </a:p>
          <a:p>
            <a:pPr>
              <a:lnSpc>
                <a:spcPct val="130000"/>
              </a:lnSpc>
              <a:spcBef>
                <a:spcPct val="20000"/>
              </a:spcBef>
              <a:spcAft>
                <a:spcPct val="25000"/>
              </a:spcAft>
              <a:buClr>
                <a:srgbClr val="CC0000"/>
              </a:buClr>
              <a:buSzPct val="50000"/>
              <a:buFont typeface="Wingdings" pitchFamily="2" charset="2"/>
              <a:buChar char="p"/>
              <a:defRPr/>
            </a:pPr>
            <a:r>
              <a:rPr lang="en-US" sz="2000" dirty="0">
                <a:effectLst/>
              </a:rPr>
              <a:t> </a:t>
            </a:r>
            <a:r>
              <a:rPr lang="en-US" sz="2000" dirty="0" smtClean="0">
                <a:effectLst/>
              </a:rPr>
              <a:t>If </a:t>
            </a:r>
            <a:r>
              <a:rPr lang="en-US" sz="2000" dirty="0" err="1" smtClean="0">
                <a:effectLst/>
              </a:rPr>
              <a:t>df</a:t>
            </a:r>
            <a:r>
              <a:rPr lang="en-US" sz="2000" dirty="0" smtClean="0">
                <a:effectLst/>
              </a:rPr>
              <a:t> is an integer, we can </a:t>
            </a:r>
            <a:r>
              <a:rPr lang="en-US" sz="2000" dirty="0">
                <a:effectLst/>
              </a:rPr>
              <a:t>find the value of </a:t>
            </a:r>
            <a:r>
              <a:rPr lang="en-US" sz="2000" i="1" dirty="0">
                <a:effectLst/>
              </a:rPr>
              <a:t>t</a:t>
            </a:r>
            <a:r>
              <a:rPr lang="en-US" sz="2000" dirty="0">
                <a:effectLst/>
              </a:rPr>
              <a:t>* in the line of the t-table for the correct </a:t>
            </a:r>
            <a:r>
              <a:rPr lang="en-US" sz="2000" dirty="0" err="1">
                <a:effectLst/>
              </a:rPr>
              <a:t>df</a:t>
            </a:r>
            <a:r>
              <a:rPr lang="en-US" sz="2000" dirty="0">
                <a:effectLst/>
              </a:rPr>
              <a:t> and the column for confidence level C</a:t>
            </a:r>
            <a:r>
              <a:rPr lang="en-US" sz="2000" dirty="0" smtClean="0">
                <a:effectLst/>
              </a:rPr>
              <a:t>.</a:t>
            </a:r>
          </a:p>
          <a:p>
            <a:pPr>
              <a:lnSpc>
                <a:spcPct val="130000"/>
              </a:lnSpc>
              <a:spcBef>
                <a:spcPct val="20000"/>
              </a:spcBef>
              <a:spcAft>
                <a:spcPct val="25000"/>
              </a:spcAft>
              <a:buClr>
                <a:srgbClr val="CC0000"/>
              </a:buClr>
              <a:buSzPct val="50000"/>
              <a:buFont typeface="Wingdings" pitchFamily="2" charset="2"/>
              <a:buChar char="p"/>
              <a:defRPr/>
            </a:pPr>
            <a:r>
              <a:rPr lang="en-US" sz="2000" dirty="0" smtClean="0">
                <a:effectLst/>
              </a:rPr>
              <a:t> If </a:t>
            </a:r>
            <a:r>
              <a:rPr lang="en-US" sz="2000" dirty="0" err="1" smtClean="0">
                <a:effectLst/>
              </a:rPr>
              <a:t>df</a:t>
            </a:r>
            <a:r>
              <a:rPr lang="en-US" sz="2000" dirty="0" smtClean="0">
                <a:effectLst/>
              </a:rPr>
              <a:t> is not an integer find the value of t* using technology.</a:t>
            </a:r>
            <a:endParaRPr lang="en-US" sz="2000" dirty="0">
              <a:effectLst/>
            </a:endParaRPr>
          </a:p>
        </p:txBody>
      </p:sp>
    </p:spTree>
    <p:extLst>
      <p:ext uri="{BB962C8B-B14F-4D97-AF65-F5344CB8AC3E}">
        <p14:creationId xmlns:p14="http://schemas.microsoft.com/office/powerpoint/2010/main" val="8955512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85800" y="152400"/>
            <a:ext cx="8001000" cy="762000"/>
          </a:xfrm>
        </p:spPr>
        <p:txBody>
          <a:bodyPr/>
          <a:lstStyle/>
          <a:p>
            <a:pPr eaLnBrk="1" hangingPunct="1"/>
            <a:r>
              <a:rPr lang="en-US" sz="3600" dirty="0" smtClean="0"/>
              <a:t>Confidence Interval for </a:t>
            </a:r>
            <a:r>
              <a:rPr lang="en-US" sz="3600" dirty="0" smtClean="0">
                <a:latin typeface="Symbol" pitchFamily="18" charset="2"/>
              </a:rPr>
              <a:t>m</a:t>
            </a:r>
            <a:r>
              <a:rPr lang="en-US" sz="3600" baseline="-25000" dirty="0" smtClean="0">
                <a:latin typeface="Symbol" pitchFamily="18" charset="2"/>
              </a:rPr>
              <a:t>1</a:t>
            </a:r>
            <a:r>
              <a:rPr lang="en-US" sz="3600" dirty="0" smtClean="0">
                <a:latin typeface="Symbol" pitchFamily="18" charset="2"/>
              </a:rPr>
              <a:t> </a:t>
            </a:r>
            <a:r>
              <a:rPr lang="en-US" sz="3600" dirty="0" smtClean="0"/>
              <a:t>–</a:t>
            </a:r>
            <a:r>
              <a:rPr lang="en-US" sz="3600" dirty="0" smtClean="0">
                <a:latin typeface="Symbol" pitchFamily="18" charset="2"/>
              </a:rPr>
              <a:t> m</a:t>
            </a:r>
            <a:r>
              <a:rPr lang="en-US" sz="3600" baseline="-25000" dirty="0" smtClean="0">
                <a:latin typeface="Symbol" pitchFamily="18" charset="2"/>
              </a:rPr>
              <a:t>2</a:t>
            </a:r>
            <a:endParaRPr lang="en-US" sz="3600" dirty="0" smtClean="0">
              <a:latin typeface="Arial" charset="0"/>
            </a:endParaRPr>
          </a:p>
        </p:txBody>
      </p:sp>
      <p:sp>
        <p:nvSpPr>
          <p:cNvPr id="3076" name="Slide Number Placeholder 4"/>
          <p:cNvSpPr>
            <a:spLocks noGrp="1"/>
          </p:cNvSpPr>
          <p:nvPr>
            <p:ph type="sldNum" sz="quarter" idx="12"/>
          </p:nvPr>
        </p:nvSpPr>
        <p:spPr/>
        <p:txBody>
          <a:bodyPr/>
          <a:lstStyle/>
          <a:p>
            <a:pPr>
              <a:defRPr/>
            </a:pPr>
            <a:fld id="{05C9B898-111A-470E-B0DA-DE886572553D}" type="slidenum">
              <a:rPr lang="en-US"/>
              <a:pPr>
                <a:defRPr/>
              </a:pPr>
              <a:t>6</a:t>
            </a:fld>
            <a:endParaRPr lang="en-US"/>
          </a:p>
        </p:txBody>
      </p:sp>
      <p:graphicFrame>
        <p:nvGraphicFramePr>
          <p:cNvPr id="194563" name="Object 3"/>
          <p:cNvGraphicFramePr>
            <a:graphicFrameLocks noChangeAspect="1"/>
          </p:cNvGraphicFramePr>
          <p:nvPr>
            <p:extLst>
              <p:ext uri="{D42A27DB-BD31-4B8C-83A1-F6EECF244321}">
                <p14:modId xmlns:p14="http://schemas.microsoft.com/office/powerpoint/2010/main" val="570298720"/>
              </p:ext>
            </p:extLst>
          </p:nvPr>
        </p:nvGraphicFramePr>
        <p:xfrm>
          <a:off x="1600200" y="838200"/>
          <a:ext cx="5551488" cy="3933825"/>
        </p:xfrm>
        <a:graphic>
          <a:graphicData uri="http://schemas.openxmlformats.org/presentationml/2006/ole">
            <mc:AlternateContent xmlns:mc="http://schemas.openxmlformats.org/markup-compatibility/2006">
              <mc:Choice xmlns:v="urn:schemas-microsoft-com:vml" Requires="v">
                <p:oleObj spid="_x0000_s7220" name="Equation" r:id="rId3" imgW="2489040" imgH="1777680" progId="Equation.DSMT4">
                  <p:embed/>
                </p:oleObj>
              </mc:Choice>
              <mc:Fallback>
                <p:oleObj name="Equation" r:id="rId3" imgW="2489040" imgH="1777680" progId="Equation.DSMT4">
                  <p:embed/>
                  <p:pic>
                    <p:nvPicPr>
                      <p:cNvPr id="0" name="Object 3"/>
                      <p:cNvPicPr>
                        <a:picLocks noChangeAspect="1" noChangeArrowheads="1"/>
                      </p:cNvPicPr>
                      <p:nvPr/>
                    </p:nvPicPr>
                    <p:blipFill>
                      <a:blip r:embed="rId4"/>
                      <a:srcRect/>
                      <a:stretch>
                        <a:fillRect/>
                      </a:stretch>
                    </p:blipFill>
                    <p:spPr bwMode="auto">
                      <a:xfrm>
                        <a:off x="1600200" y="838200"/>
                        <a:ext cx="5551488" cy="3933825"/>
                      </a:xfrm>
                      <a:prstGeom prst="rect">
                        <a:avLst/>
                      </a:prstGeom>
                      <a:solidFill>
                        <a:schemeClr val="bg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3" name="Object 6"/>
          <p:cNvGraphicFramePr>
            <a:graphicFrameLocks noChangeAspect="1"/>
          </p:cNvGraphicFramePr>
          <p:nvPr/>
        </p:nvGraphicFramePr>
        <p:xfrm>
          <a:off x="304800" y="4800600"/>
          <a:ext cx="3509963" cy="1897063"/>
        </p:xfrm>
        <a:graphic>
          <a:graphicData uri="http://schemas.openxmlformats.org/presentationml/2006/ole">
            <mc:AlternateContent xmlns:mc="http://schemas.openxmlformats.org/markup-compatibility/2006">
              <mc:Choice xmlns:v="urn:schemas-microsoft-com:vml" Requires="v">
                <p:oleObj spid="_x0000_s7221" name="Equation" r:id="rId5" imgW="1981200" imgH="990600" progId="Equation.DSMT4">
                  <p:embed/>
                </p:oleObj>
              </mc:Choice>
              <mc:Fallback>
                <p:oleObj name="Equation" r:id="rId5" imgW="1981200" imgH="9906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4800600"/>
                        <a:ext cx="3509963" cy="189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94563"/>
                                        </p:tgtEl>
                                        <p:attrNameLst>
                                          <p:attrName>style.visibility</p:attrName>
                                        </p:attrNameLst>
                                      </p:cBhvr>
                                      <p:to>
                                        <p:strVal val="visible"/>
                                      </p:to>
                                    </p:set>
                                    <p:anim calcmode="lin" valueType="num">
                                      <p:cBhvr additive="base">
                                        <p:cTn id="7" dur="500" fill="hold"/>
                                        <p:tgtEl>
                                          <p:spTgt spid="194563"/>
                                        </p:tgtEl>
                                        <p:attrNameLst>
                                          <p:attrName>ppt_x</p:attrName>
                                        </p:attrNameLst>
                                      </p:cBhvr>
                                      <p:tavLst>
                                        <p:tav tm="0">
                                          <p:val>
                                            <p:strVal val="1+#ppt_w/2"/>
                                          </p:val>
                                        </p:tav>
                                        <p:tav tm="100000">
                                          <p:val>
                                            <p:strVal val="#ppt_x"/>
                                          </p:val>
                                        </p:tav>
                                      </p:tavLst>
                                    </p:anim>
                                    <p:anim calcmode="lin" valueType="num">
                                      <p:cBhvr additive="base">
                                        <p:cTn id="8" dur="500" fill="hold"/>
                                        <p:tgtEl>
                                          <p:spTgt spid="19456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053"/>
                                        </p:tgtEl>
                                        <p:attrNameLst>
                                          <p:attrName>style.visibility</p:attrName>
                                        </p:attrNameLst>
                                      </p:cBhvr>
                                      <p:to>
                                        <p:strVal val="visible"/>
                                      </p:to>
                                    </p:set>
                                    <p:anim calcmode="lin" valueType="num">
                                      <p:cBhvr additive="base">
                                        <p:cTn id="13" dur="500" fill="hold"/>
                                        <p:tgtEl>
                                          <p:spTgt spid="2053"/>
                                        </p:tgtEl>
                                        <p:attrNameLst>
                                          <p:attrName>ppt_x</p:attrName>
                                        </p:attrNameLst>
                                      </p:cBhvr>
                                      <p:tavLst>
                                        <p:tav tm="0">
                                          <p:val>
                                            <p:strVal val="0-#ppt_w/2"/>
                                          </p:val>
                                        </p:tav>
                                        <p:tav tm="100000">
                                          <p:val>
                                            <p:strVal val="#ppt_x"/>
                                          </p:val>
                                        </p:tav>
                                      </p:tavLst>
                                    </p:anim>
                                    <p:anim calcmode="lin" valueType="num">
                                      <p:cBhvr additive="base">
                                        <p:cTn id="14" dur="500" fill="hold"/>
                                        <p:tgtEl>
                                          <p:spTgt spid="20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6"/>
          <p:cNvSpPr>
            <a:spLocks noGrp="1" noChangeArrowheads="1"/>
          </p:cNvSpPr>
          <p:nvPr>
            <p:ph type="title"/>
          </p:nvPr>
        </p:nvSpPr>
        <p:spPr>
          <a:xfrm>
            <a:off x="21021" y="533400"/>
            <a:ext cx="5181600" cy="990600"/>
          </a:xfrm>
        </p:spPr>
        <p:txBody>
          <a:bodyPr/>
          <a:lstStyle/>
          <a:p>
            <a:pPr eaLnBrk="1" hangingPunct="1">
              <a:tabLst>
                <a:tab pos="1201738" algn="l"/>
              </a:tabLst>
            </a:pPr>
            <a:r>
              <a:rPr lang="en-US" sz="3600" dirty="0" smtClean="0"/>
              <a:t>Example: 95% confidence</a:t>
            </a:r>
            <a:br>
              <a:rPr lang="en-US" sz="3600" dirty="0" smtClean="0"/>
            </a:br>
            <a:r>
              <a:rPr lang="en-US" sz="3600" dirty="0" smtClean="0"/>
              <a:t>interval for </a:t>
            </a:r>
            <a:r>
              <a:rPr lang="en-US" sz="3600" dirty="0" smtClean="0">
                <a:latin typeface="Symbol" pitchFamily="18" charset="2"/>
              </a:rPr>
              <a:t>m</a:t>
            </a:r>
            <a:r>
              <a:rPr lang="en-US" sz="3600" baseline="-25000" dirty="0" smtClean="0">
                <a:latin typeface="Symbol" pitchFamily="18" charset="2"/>
              </a:rPr>
              <a:t>1</a:t>
            </a:r>
            <a:r>
              <a:rPr lang="en-US" sz="3600" dirty="0" smtClean="0">
                <a:latin typeface="Symbol" pitchFamily="18" charset="2"/>
              </a:rPr>
              <a:t> </a:t>
            </a:r>
            <a:r>
              <a:rPr lang="en-US" sz="3600" dirty="0" smtClean="0"/>
              <a:t>–</a:t>
            </a:r>
            <a:r>
              <a:rPr lang="en-US" sz="3600" dirty="0" smtClean="0">
                <a:latin typeface="Symbol" pitchFamily="18" charset="2"/>
              </a:rPr>
              <a:t> m</a:t>
            </a:r>
            <a:r>
              <a:rPr lang="en-US" sz="3600" baseline="-25000" dirty="0" smtClean="0">
                <a:latin typeface="Symbol" pitchFamily="18" charset="2"/>
              </a:rPr>
              <a:t>2</a:t>
            </a:r>
          </a:p>
        </p:txBody>
      </p:sp>
      <p:sp>
        <p:nvSpPr>
          <p:cNvPr id="14339" name="Rectangle 3"/>
          <p:cNvSpPr>
            <a:spLocks noGrp="1" noChangeArrowheads="1"/>
          </p:cNvSpPr>
          <p:nvPr>
            <p:ph idx="1"/>
          </p:nvPr>
        </p:nvSpPr>
        <p:spPr>
          <a:xfrm>
            <a:off x="685800" y="1981200"/>
            <a:ext cx="7772400" cy="4724400"/>
          </a:xfrm>
        </p:spPr>
        <p:txBody>
          <a:bodyPr rtlCol="0">
            <a:normAutofit lnSpcReduction="10000"/>
          </a:bodyPr>
          <a:lstStyle/>
          <a:p>
            <a:pPr eaLnBrk="1" fontAlgn="auto" hangingPunct="1">
              <a:lnSpc>
                <a:spcPct val="90000"/>
              </a:lnSpc>
              <a:spcAft>
                <a:spcPts val="0"/>
              </a:spcAft>
              <a:buFont typeface="Arial" pitchFamily="34" charset="0"/>
              <a:buChar char="•"/>
              <a:defRPr/>
            </a:pPr>
            <a:r>
              <a:rPr lang="en-US" b="1" dirty="0" smtClean="0"/>
              <a:t>Example</a:t>
            </a:r>
          </a:p>
          <a:p>
            <a:pPr lvl="1" eaLnBrk="1" fontAlgn="auto" hangingPunct="1">
              <a:lnSpc>
                <a:spcPct val="90000"/>
              </a:lnSpc>
              <a:spcAft>
                <a:spcPts val="0"/>
              </a:spcAft>
              <a:buFont typeface="Arial" pitchFamily="34" charset="0"/>
              <a:buChar char="–"/>
              <a:defRPr/>
            </a:pPr>
            <a:r>
              <a:rPr lang="en-US" sz="3200" dirty="0" smtClean="0"/>
              <a:t>Do people who eat high-fiber cereal for breakfast consume, on average, fewer calories for lunch than people who do not eat high-fiber cereal for breakfast?</a:t>
            </a:r>
          </a:p>
          <a:p>
            <a:pPr lvl="1" eaLnBrk="1" fontAlgn="auto" hangingPunct="1">
              <a:lnSpc>
                <a:spcPct val="90000"/>
              </a:lnSpc>
              <a:spcAft>
                <a:spcPts val="0"/>
              </a:spcAft>
              <a:buFont typeface="Arial" pitchFamily="34" charset="0"/>
              <a:buChar char="–"/>
              <a:defRPr/>
            </a:pPr>
            <a:r>
              <a:rPr lang="en-US" sz="3200" dirty="0" smtClean="0"/>
              <a:t>A sample of 150 people was randomly drawn. Each person was identified as a consumer or a non-consumer of high-fiber cereal.</a:t>
            </a:r>
          </a:p>
          <a:p>
            <a:pPr lvl="1" eaLnBrk="1" fontAlgn="auto" hangingPunct="1">
              <a:lnSpc>
                <a:spcPct val="90000"/>
              </a:lnSpc>
              <a:spcAft>
                <a:spcPts val="0"/>
              </a:spcAft>
              <a:buFont typeface="Arial" pitchFamily="34" charset="0"/>
              <a:buChar char="–"/>
              <a:defRPr/>
            </a:pPr>
            <a:r>
              <a:rPr lang="en-US" sz="3200" dirty="0" smtClean="0"/>
              <a:t>For each person the number of calories consumed at lunch was recorded.</a:t>
            </a:r>
          </a:p>
        </p:txBody>
      </p:sp>
      <p:sp>
        <p:nvSpPr>
          <p:cNvPr id="2" name="Slide Number Placeholder 5"/>
          <p:cNvSpPr>
            <a:spLocks noGrp="1"/>
          </p:cNvSpPr>
          <p:nvPr>
            <p:ph type="sldNum" sz="quarter" idx="12"/>
          </p:nvPr>
        </p:nvSpPr>
        <p:spPr/>
        <p:txBody>
          <a:bodyPr/>
          <a:lstStyle/>
          <a:p>
            <a:pPr>
              <a:defRPr/>
            </a:pPr>
            <a:fld id="{30018BEB-4965-4B5B-94CB-A505BF6BE74A}" type="slidenum">
              <a:rPr lang="en-US"/>
              <a:pPr>
                <a:defRPr/>
              </a:pPr>
              <a:t>7</a:t>
            </a:fld>
            <a:endParaRPr lang="en-US"/>
          </a:p>
        </p:txBody>
      </p:sp>
      <p:pic>
        <p:nvPicPr>
          <p:cNvPr id="49154" name="Picture 2" descr="https://encrypted-tbn1.gstatic.com/images?q=tbn:ANd9GcSI9p-tZTLf9Mowhp9RsJltFm1xX2Y8xNUgiRUjU6T1mnV4tpSqI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0400" y="100013"/>
            <a:ext cx="1962150" cy="2333626"/>
          </a:xfrm>
          <a:prstGeom prst="rect">
            <a:avLst/>
          </a:prstGeom>
          <a:noFill/>
          <a:extLst>
            <a:ext uri="{909E8E84-426E-40DD-AFC4-6F175D3DCCD1}">
              <a14:hiddenFill xmlns:a14="http://schemas.microsoft.com/office/drawing/2010/main">
                <a:solidFill>
                  <a:srgbClr val="FFFFFF"/>
                </a:solidFill>
              </a14:hiddenFill>
            </a:ext>
          </a:extLst>
        </p:spPr>
      </p:pic>
      <p:pic>
        <p:nvPicPr>
          <p:cNvPr id="49156" name="Picture 4" descr="https://encrypted-tbn0.gstatic.com/images?q=tbn:ANd9GcR7w9KBbFwaP_7AXi9Y9EIrrq7mPplKoEeiNM9LeejvF0DkoKjryQ"/>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100013"/>
            <a:ext cx="1743075" cy="23336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7"/>
          <p:cNvSpPr>
            <a:spLocks noGrp="1" noChangeArrowheads="1"/>
          </p:cNvSpPr>
          <p:nvPr>
            <p:ph type="title"/>
          </p:nvPr>
        </p:nvSpPr>
        <p:spPr>
          <a:xfrm>
            <a:off x="228600" y="152400"/>
            <a:ext cx="8645525" cy="609600"/>
          </a:xfrm>
        </p:spPr>
        <p:txBody>
          <a:bodyPr/>
          <a:lstStyle/>
          <a:p>
            <a:pPr algn="l" eaLnBrk="1" hangingPunct="1">
              <a:tabLst>
                <a:tab pos="1201738" algn="l"/>
              </a:tabLst>
            </a:pPr>
            <a:r>
              <a:rPr lang="en-US" sz="3600" dirty="0" smtClean="0"/>
              <a:t>Example: 95% confidence interval for </a:t>
            </a:r>
            <a:r>
              <a:rPr lang="en-US" sz="3600" dirty="0" smtClean="0">
                <a:latin typeface="Symbol" pitchFamily="18" charset="2"/>
              </a:rPr>
              <a:t>m</a:t>
            </a:r>
            <a:r>
              <a:rPr lang="en-US" sz="3600" baseline="-25000" dirty="0" smtClean="0">
                <a:latin typeface="Symbol" pitchFamily="18" charset="2"/>
              </a:rPr>
              <a:t>1</a:t>
            </a:r>
            <a:r>
              <a:rPr lang="en-US" sz="3600" dirty="0" smtClean="0">
                <a:latin typeface="Symbol" pitchFamily="18" charset="2"/>
              </a:rPr>
              <a:t> </a:t>
            </a:r>
            <a:r>
              <a:rPr lang="en-US" sz="3600" dirty="0" smtClean="0"/>
              <a:t>–</a:t>
            </a:r>
            <a:r>
              <a:rPr lang="en-US" sz="3600" dirty="0" smtClean="0">
                <a:latin typeface="Symbol" pitchFamily="18" charset="2"/>
              </a:rPr>
              <a:t> m</a:t>
            </a:r>
            <a:r>
              <a:rPr lang="en-US" sz="3600" baseline="-25000" dirty="0" smtClean="0">
                <a:latin typeface="Symbol" pitchFamily="18" charset="2"/>
              </a:rPr>
              <a:t>2</a:t>
            </a:r>
          </a:p>
        </p:txBody>
      </p:sp>
      <p:sp>
        <p:nvSpPr>
          <p:cNvPr id="2" name="Slide Number Placeholder 4"/>
          <p:cNvSpPr>
            <a:spLocks noGrp="1"/>
          </p:cNvSpPr>
          <p:nvPr>
            <p:ph type="sldNum" sz="quarter" idx="12"/>
          </p:nvPr>
        </p:nvSpPr>
        <p:spPr/>
        <p:txBody>
          <a:bodyPr/>
          <a:lstStyle/>
          <a:p>
            <a:pPr>
              <a:defRPr/>
            </a:pPr>
            <a:fld id="{62219131-B814-4B49-AACE-6C61DA54598A}" type="slidenum">
              <a:rPr lang="en-US"/>
              <a:pPr>
                <a:defRPr/>
              </a:pPr>
              <a:t>8</a:t>
            </a:fld>
            <a:endParaRPr lang="en-US"/>
          </a:p>
        </p:txBody>
      </p:sp>
      <p:graphicFrame>
        <p:nvGraphicFramePr>
          <p:cNvPr id="143364" name="Object 4"/>
          <p:cNvGraphicFramePr>
            <a:graphicFrameLocks noChangeAspect="1"/>
          </p:cNvGraphicFramePr>
          <p:nvPr/>
        </p:nvGraphicFramePr>
        <p:xfrm>
          <a:off x="228600" y="685800"/>
          <a:ext cx="2381250" cy="4495800"/>
        </p:xfrm>
        <a:graphic>
          <a:graphicData uri="http://schemas.openxmlformats.org/presentationml/2006/ole">
            <mc:AlternateContent xmlns:mc="http://schemas.openxmlformats.org/markup-compatibility/2006">
              <mc:Choice xmlns:v="urn:schemas-microsoft-com:vml" Requires="v">
                <p:oleObj spid="_x0000_s43069" name="Worksheet" r:id="rId3" imgW="2371931" imgH="5210368" progId="Excel.Sheet.8">
                  <p:embed/>
                </p:oleObj>
              </mc:Choice>
              <mc:Fallback>
                <p:oleObj name="Worksheet" r:id="rId3" imgW="2371931" imgH="5210368" progId="Excel.Shee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685800"/>
                        <a:ext cx="2381250" cy="4495800"/>
                      </a:xfrm>
                      <a:prstGeom prst="rect">
                        <a:avLst/>
                      </a:prstGeom>
                      <a:solidFill>
                        <a:schemeClr val="bg1"/>
                      </a:solidFill>
                      <a:ln>
                        <a:noFill/>
                      </a:ln>
                      <a:effectLst>
                        <a:outerShdw dist="71842" dir="2700000" algn="ctr" rotWithShape="0">
                          <a:srgbClr val="666699"/>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365" name="Text Box 5"/>
          <p:cNvSpPr txBox="1">
            <a:spLocks noChangeArrowheads="1"/>
          </p:cNvSpPr>
          <p:nvPr/>
        </p:nvSpPr>
        <p:spPr bwMode="auto">
          <a:xfrm>
            <a:off x="2895600" y="762000"/>
            <a:ext cx="6030913" cy="27384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r>
              <a:rPr lang="en-US" sz="3200" b="1" u="sng">
                <a:effectLst/>
                <a:latin typeface="Arial Narrow" pitchFamily="34" charset="0"/>
              </a:rPr>
              <a:t>Solution:</a:t>
            </a:r>
            <a:endParaRPr lang="en-US" sz="2800">
              <a:effectLst/>
              <a:latin typeface="Arial Narrow" pitchFamily="34" charset="0"/>
            </a:endParaRPr>
          </a:p>
          <a:p>
            <a:pPr>
              <a:buFontTx/>
              <a:buChar char="•"/>
            </a:pPr>
            <a:r>
              <a:rPr lang="en-US" sz="2800">
                <a:effectLst/>
                <a:latin typeface="Arial Narrow" pitchFamily="34" charset="0"/>
              </a:rPr>
              <a:t>  The parameter to be tested is </a:t>
            </a:r>
          </a:p>
          <a:p>
            <a:r>
              <a:rPr lang="en-US" sz="2800">
                <a:effectLst/>
                <a:latin typeface="Arial Narrow" pitchFamily="34" charset="0"/>
              </a:rPr>
              <a:t>    the difference between two means.  </a:t>
            </a:r>
          </a:p>
          <a:p>
            <a:pPr>
              <a:buFontTx/>
              <a:buChar char="•"/>
            </a:pPr>
            <a:r>
              <a:rPr lang="en-US" sz="2800">
                <a:effectLst/>
                <a:latin typeface="Arial Narrow" pitchFamily="34" charset="0"/>
              </a:rPr>
              <a:t>  The claim to be tested is: </a:t>
            </a:r>
          </a:p>
          <a:p>
            <a:r>
              <a:rPr lang="en-US" sz="2800">
                <a:effectLst/>
                <a:latin typeface="Arial Narrow" pitchFamily="34" charset="0"/>
              </a:rPr>
              <a:t>    The mean caloric intake of consumers (</a:t>
            </a:r>
            <a:r>
              <a:rPr lang="en-US" sz="2800">
                <a:effectLst/>
                <a:latin typeface="Symbol" pitchFamily="18" charset="2"/>
              </a:rPr>
              <a:t>m</a:t>
            </a:r>
            <a:r>
              <a:rPr lang="en-US" sz="2800" baseline="-25000">
                <a:effectLst/>
                <a:latin typeface="Arial Narrow" pitchFamily="34" charset="0"/>
              </a:rPr>
              <a:t>1</a:t>
            </a:r>
            <a:r>
              <a:rPr lang="en-US" sz="2800">
                <a:effectLst/>
                <a:latin typeface="Arial Narrow" pitchFamily="34" charset="0"/>
              </a:rPr>
              <a:t>)</a:t>
            </a:r>
          </a:p>
          <a:p>
            <a:r>
              <a:rPr lang="en-US" sz="2800">
                <a:effectLst/>
                <a:latin typeface="Arial Narrow" pitchFamily="34" charset="0"/>
              </a:rPr>
              <a:t>    is less than that of non-consumers (</a:t>
            </a:r>
            <a:r>
              <a:rPr lang="en-US" sz="2800">
                <a:effectLst/>
                <a:latin typeface="Symbol" pitchFamily="18" charset="2"/>
              </a:rPr>
              <a:t>m</a:t>
            </a:r>
            <a:r>
              <a:rPr lang="en-US" sz="2800" baseline="-25000">
                <a:effectLst/>
                <a:latin typeface="Arial Narrow" pitchFamily="34" charset="0"/>
              </a:rPr>
              <a:t>2</a:t>
            </a:r>
            <a:r>
              <a:rPr lang="en-US" sz="2800">
                <a:effectLst/>
                <a:latin typeface="Arial Narrow" pitchFamily="34" charset="0"/>
              </a:rPr>
              <a:t>).</a:t>
            </a:r>
          </a:p>
        </p:txBody>
      </p:sp>
      <p:graphicFrame>
        <p:nvGraphicFramePr>
          <p:cNvPr id="5123" name="Object 6"/>
          <p:cNvGraphicFramePr>
            <a:graphicFrameLocks noChangeAspect="1"/>
          </p:cNvGraphicFramePr>
          <p:nvPr>
            <p:extLst>
              <p:ext uri="{D42A27DB-BD31-4B8C-83A1-F6EECF244321}">
                <p14:modId xmlns:p14="http://schemas.microsoft.com/office/powerpoint/2010/main" val="770467980"/>
              </p:ext>
            </p:extLst>
          </p:nvPr>
        </p:nvGraphicFramePr>
        <p:xfrm>
          <a:off x="2795587" y="3524086"/>
          <a:ext cx="4252913" cy="1897063"/>
        </p:xfrm>
        <a:graphic>
          <a:graphicData uri="http://schemas.openxmlformats.org/presentationml/2006/ole">
            <mc:AlternateContent xmlns:mc="http://schemas.openxmlformats.org/markup-compatibility/2006">
              <mc:Choice xmlns:v="urn:schemas-microsoft-com:vml" Requires="v">
                <p:oleObj spid="_x0000_s43070" name="Equation" r:id="rId5" imgW="2400120" imgH="990360" progId="Equation.DSMT4">
                  <p:embed/>
                </p:oleObj>
              </mc:Choice>
              <mc:Fallback>
                <p:oleObj name="Equation" r:id="rId5" imgW="2400120" imgH="99036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95587" y="3524086"/>
                        <a:ext cx="4252913" cy="189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4" name="Object 8"/>
          <p:cNvGraphicFramePr>
            <a:graphicFrameLocks noChangeAspect="1"/>
          </p:cNvGraphicFramePr>
          <p:nvPr/>
        </p:nvGraphicFramePr>
        <p:xfrm>
          <a:off x="304800" y="5181600"/>
          <a:ext cx="2514600" cy="1676400"/>
        </p:xfrm>
        <a:graphic>
          <a:graphicData uri="http://schemas.openxmlformats.org/presentationml/2006/ole">
            <mc:AlternateContent xmlns:mc="http://schemas.openxmlformats.org/markup-compatibility/2006">
              <mc:Choice xmlns:v="urn:schemas-microsoft-com:vml" Requires="v">
                <p:oleObj spid="_x0000_s43071" name="Equation" r:id="rId7" imgW="1244520" imgH="698400" progId="Equation.DSMT4">
                  <p:embed/>
                </p:oleObj>
              </mc:Choice>
              <mc:Fallback>
                <p:oleObj name="Equation" r:id="rId7" imgW="1244520" imgH="6984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4800" y="5181600"/>
                        <a:ext cx="2514600" cy="167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3047" name="Picture 39" descr="https://encrypted-tbn0.gstatic.com/images?q=tbn:ANd9GcRyJdfH0DyugI9K1PYPsk1LYP5FCk-WO7dFSSE37VgLSCan8s40ew"/>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48500" y="4655753"/>
            <a:ext cx="2095500" cy="2181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093865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1000"/>
                                  </p:stCondLst>
                                  <p:childTnLst>
                                    <p:set>
                                      <p:cBhvr>
                                        <p:cTn id="6" dur="1" fill="hold">
                                          <p:stCondLst>
                                            <p:cond delay="0"/>
                                          </p:stCondLst>
                                        </p:cTn>
                                        <p:tgtEl>
                                          <p:spTgt spid="143364"/>
                                        </p:tgtEl>
                                        <p:attrNameLst>
                                          <p:attrName>style.visibility</p:attrName>
                                        </p:attrNameLst>
                                      </p:cBhvr>
                                      <p:to>
                                        <p:strVal val="visible"/>
                                      </p:to>
                                    </p:set>
                                    <p:animEffect transition="in" filter="wipe(up)">
                                      <p:cBhvr>
                                        <p:cTn id="7" dur="500"/>
                                        <p:tgtEl>
                                          <p:spTgt spid="1433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3365"/>
                                        </p:tgtEl>
                                        <p:attrNameLst>
                                          <p:attrName>style.visibility</p:attrName>
                                        </p:attrNameLst>
                                      </p:cBhvr>
                                      <p:to>
                                        <p:strVal val="visible"/>
                                      </p:to>
                                    </p:set>
                                    <p:animEffect transition="in" filter="wipe(up)">
                                      <p:cBhvr>
                                        <p:cTn id="12" dur="500"/>
                                        <p:tgtEl>
                                          <p:spTgt spid="143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5"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1"/>
          <p:cNvSpPr>
            <a:spLocks noGrp="1" noChangeArrowheads="1"/>
          </p:cNvSpPr>
          <p:nvPr>
            <p:ph type="title"/>
          </p:nvPr>
        </p:nvSpPr>
        <p:spPr>
          <a:xfrm>
            <a:off x="166085" y="133183"/>
            <a:ext cx="8569325" cy="552617"/>
          </a:xfrm>
        </p:spPr>
        <p:txBody>
          <a:bodyPr/>
          <a:lstStyle/>
          <a:p>
            <a:pPr algn="l" eaLnBrk="1" hangingPunct="1">
              <a:tabLst>
                <a:tab pos="1201738" algn="l"/>
              </a:tabLst>
            </a:pPr>
            <a:r>
              <a:rPr lang="en-US" sz="3600" dirty="0" smtClean="0"/>
              <a:t>Example: 95% confidence interval for </a:t>
            </a:r>
            <a:r>
              <a:rPr lang="en-US" sz="3600" dirty="0" smtClean="0">
                <a:latin typeface="Symbol" pitchFamily="18" charset="2"/>
              </a:rPr>
              <a:t>m</a:t>
            </a:r>
            <a:r>
              <a:rPr lang="en-US" sz="3600" baseline="-25000" dirty="0" smtClean="0">
                <a:latin typeface="Symbol" pitchFamily="18" charset="2"/>
              </a:rPr>
              <a:t>1</a:t>
            </a:r>
            <a:r>
              <a:rPr lang="en-US" sz="3600" dirty="0" smtClean="0">
                <a:latin typeface="Symbol" pitchFamily="18" charset="2"/>
              </a:rPr>
              <a:t> </a:t>
            </a:r>
            <a:r>
              <a:rPr lang="en-US" sz="3600" dirty="0" smtClean="0"/>
              <a:t>–</a:t>
            </a:r>
            <a:r>
              <a:rPr lang="en-US" sz="3600" dirty="0" smtClean="0">
                <a:latin typeface="Symbol" pitchFamily="18" charset="2"/>
              </a:rPr>
              <a:t> m</a:t>
            </a:r>
            <a:r>
              <a:rPr lang="en-US" sz="3600" baseline="-25000" dirty="0" smtClean="0">
                <a:latin typeface="Symbol" pitchFamily="18" charset="2"/>
              </a:rPr>
              <a:t>2</a:t>
            </a:r>
          </a:p>
        </p:txBody>
      </p:sp>
      <p:sp>
        <p:nvSpPr>
          <p:cNvPr id="5124" name="Rectangle 3"/>
          <p:cNvSpPr>
            <a:spLocks noGrp="1" noChangeArrowheads="1"/>
          </p:cNvSpPr>
          <p:nvPr>
            <p:ph idx="1"/>
          </p:nvPr>
        </p:nvSpPr>
        <p:spPr>
          <a:xfrm>
            <a:off x="155575" y="2743200"/>
            <a:ext cx="5181600" cy="1069975"/>
          </a:xfrm>
          <a:solidFill>
            <a:srgbClr val="FFFF00"/>
          </a:solidFill>
        </p:spPr>
        <p:txBody>
          <a:bodyPr rtlCol="0">
            <a:normAutofit fontScale="92500" lnSpcReduction="10000"/>
          </a:bodyPr>
          <a:lstStyle/>
          <a:p>
            <a:pPr eaLnBrk="1" fontAlgn="auto" hangingPunct="1">
              <a:lnSpc>
                <a:spcPct val="90000"/>
              </a:lnSpc>
              <a:spcAft>
                <a:spcPts val="0"/>
              </a:spcAft>
              <a:buFont typeface="Arial" pitchFamily="34" charset="0"/>
              <a:buChar char="•"/>
              <a:defRPr/>
            </a:pPr>
            <a:r>
              <a:rPr lang="en-US" sz="2400" dirty="0" smtClean="0"/>
              <a:t>Let’s use </a:t>
            </a:r>
            <a:r>
              <a:rPr lang="en-US" sz="2400" dirty="0" err="1" smtClean="0"/>
              <a:t>df</a:t>
            </a:r>
            <a:r>
              <a:rPr lang="en-US" sz="2400" dirty="0" smtClean="0"/>
              <a:t> = 122.6; </a:t>
            </a:r>
            <a:r>
              <a:rPr lang="en-US" sz="2400" i="1" dirty="0" smtClean="0"/>
              <a:t>t</a:t>
            </a:r>
            <a:r>
              <a:rPr lang="en-US" sz="2400" baseline="-25000" dirty="0" smtClean="0"/>
              <a:t>122.6</a:t>
            </a:r>
            <a:r>
              <a:rPr lang="en-US" sz="2400" dirty="0" smtClean="0"/>
              <a:t>* = 1.9795</a:t>
            </a:r>
          </a:p>
          <a:p>
            <a:pPr eaLnBrk="1" fontAlgn="auto" hangingPunct="1">
              <a:lnSpc>
                <a:spcPct val="90000"/>
              </a:lnSpc>
              <a:spcAft>
                <a:spcPts val="0"/>
              </a:spcAft>
              <a:buFont typeface="Arial" pitchFamily="34" charset="0"/>
              <a:buChar char="•"/>
              <a:defRPr/>
            </a:pPr>
            <a:r>
              <a:rPr lang="en-US" sz="2400" dirty="0" smtClean="0"/>
              <a:t>The confidence interval estimator for</a:t>
            </a:r>
          </a:p>
          <a:p>
            <a:pPr eaLnBrk="1" fontAlgn="auto" hangingPunct="1">
              <a:lnSpc>
                <a:spcPct val="90000"/>
              </a:lnSpc>
              <a:spcAft>
                <a:spcPts val="0"/>
              </a:spcAft>
              <a:buFont typeface="Arial" pitchFamily="34" charset="0"/>
              <a:buChar char="•"/>
              <a:defRPr/>
            </a:pPr>
            <a:r>
              <a:rPr lang="en-US" sz="2400" dirty="0" smtClean="0"/>
              <a:t>the difference between two means is…</a:t>
            </a:r>
          </a:p>
        </p:txBody>
      </p:sp>
      <p:sp>
        <p:nvSpPr>
          <p:cNvPr id="2" name="Slide Number Placeholder 5"/>
          <p:cNvSpPr>
            <a:spLocks noGrp="1"/>
          </p:cNvSpPr>
          <p:nvPr>
            <p:ph type="sldNum" sz="quarter" idx="12"/>
          </p:nvPr>
        </p:nvSpPr>
        <p:spPr/>
        <p:txBody>
          <a:bodyPr/>
          <a:lstStyle/>
          <a:p>
            <a:pPr>
              <a:defRPr/>
            </a:pPr>
            <a:fld id="{602AC4C5-2F49-448D-BDDA-FC8653F0D2B5}" type="slidenum">
              <a:rPr lang="en-US"/>
              <a:pPr>
                <a:defRPr/>
              </a:pPr>
              <a:t>9</a:t>
            </a:fld>
            <a:endParaRPr lang="en-US"/>
          </a:p>
        </p:txBody>
      </p:sp>
      <p:graphicFrame>
        <p:nvGraphicFramePr>
          <p:cNvPr id="120836" name="Object 4"/>
          <p:cNvGraphicFramePr>
            <a:graphicFrameLocks noChangeAspect="1"/>
          </p:cNvGraphicFramePr>
          <p:nvPr>
            <p:extLst>
              <p:ext uri="{D42A27DB-BD31-4B8C-83A1-F6EECF244321}">
                <p14:modId xmlns:p14="http://schemas.microsoft.com/office/powerpoint/2010/main" val="3971505216"/>
              </p:ext>
            </p:extLst>
          </p:nvPr>
        </p:nvGraphicFramePr>
        <p:xfrm>
          <a:off x="289582" y="3886200"/>
          <a:ext cx="6078537" cy="2786063"/>
        </p:xfrm>
        <a:graphic>
          <a:graphicData uri="http://schemas.openxmlformats.org/presentationml/2006/ole">
            <mc:AlternateContent xmlns:mc="http://schemas.openxmlformats.org/markup-compatibility/2006">
              <mc:Choice xmlns:v="urn:schemas-microsoft-com:vml" Requires="v">
                <p:oleObj spid="_x0000_s10278" name="Equation" r:id="rId4" imgW="2819160" imgH="1358640" progId="Equation.DSMT4">
                  <p:embed/>
                </p:oleObj>
              </mc:Choice>
              <mc:Fallback>
                <p:oleObj name="Equation" r:id="rId4" imgW="2819160" imgH="1358640" progId="Equation.DSMT4">
                  <p:embed/>
                  <p:pic>
                    <p:nvPicPr>
                      <p:cNvPr id="0" name="Object 4"/>
                      <p:cNvPicPr>
                        <a:picLocks noChangeAspect="1" noChangeArrowheads="1"/>
                      </p:cNvPicPr>
                      <p:nvPr/>
                    </p:nvPicPr>
                    <p:blipFill>
                      <a:blip r:embed="rId5"/>
                      <a:srcRect/>
                      <a:stretch>
                        <a:fillRect/>
                      </a:stretch>
                    </p:blipFill>
                    <p:spPr bwMode="auto">
                      <a:xfrm>
                        <a:off x="289582" y="3886200"/>
                        <a:ext cx="6078537" cy="2786063"/>
                      </a:xfrm>
                      <a:prstGeom prst="rect">
                        <a:avLst/>
                      </a:prstGeom>
                      <a:noFill/>
                      <a:ln>
                        <a:noFill/>
                      </a:ln>
                      <a:effectLst/>
                      <a:extLst>
                        <a:ext uri="{909E8E84-426E-40DD-AFC4-6F175D3DCCD1}">
                          <a14:hiddenFill xmlns:a14="http://schemas.microsoft.com/office/drawing/2010/main">
                            <a:gradFill rotWithShape="0">
                              <a:gsLst>
                                <a:gs pos="0">
                                  <a:srgbClr val="89E3E1"/>
                                </a:gs>
                                <a:gs pos="50000">
                                  <a:srgbClr val="35A39E"/>
                                </a:gs>
                                <a:gs pos="100000">
                                  <a:srgbClr val="89E3E1"/>
                                </a:gs>
                              </a:gsLst>
                              <a:lin ang="5400000" scaled="1"/>
                            </a:gra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AutoShape 27" descr="data:image/jpeg;base64,/9j/4AAQSkZJRgABAQAAAQABAAD/2wCEAAkGBxMTEhUUEhQVFhUXFxgXGBgYGBcZHBsbFxcXFxcYGBoaHCggGBwlHBcXITEhJSkrLi4uFx8zODMsNygtLiwBCgoKDg0OGhAQGywkICQsLCwsLCwsLCwsLCwsLCwsLCwsLCwsLCwsLCwsLCwsLCwsLCwsLCwsLCwsLCwsNyssLP/AABEIAOEA4QMBIgACEQEDEQH/xAAcAAACAQUBAAAAAAAAAAAAAAAFBgQAAQIDBwj/xABBEAABAwIEAwYDBQUHBAMAAAABAAIRAwQFEiExBkFREyJhcYGRMqGxBxTB0fAzQlJi4RUjU3KCkvEWF0OiNHOy/8QAGQEAAgMBAAAAAAAAAAAAAAAAAgMAAQQF/8QAJhEAAgICAgEEAwEBAQAAAAAAAAECEQMSITETBCJBURQyYXFSFf/aAAwDAQACEQMRAD8AWI0VNCuqhbjGWKyVleVCGTSrhYyryoQ2NKyWsK8qEo2rMLSCs5VENoKuFrBWUoiGyVcFagVcOUIbgVkCtQcspVlG0FXlYNM6DdSHUo3n0Usuma1ZYFxVNfKiZVGUKlZWlEUXKuFgSqlSyGZVljKsXISGRcsCVRKwJULL5lSwVKEIAVBXV0JZaFQCpU1QheFcKyvKhZQCurKgoWbAVeVgrqFUbAVeVgspUJRlKyOg8FamwmVJFvlE6HrM6IJ5FEOMLNdEtOsn0Ue5vWtiSNdpUPFqzg0w4sHI6fRJd5Ue14L3F0iQZ5fik+e+hvhrsdRi4bUIadhvEo5hd45/xT4bQlDBb+lWLWH+7jSS7KPOT9E/4dhNFtOadZrjE/FP/sDp6pW7sPREW9rgfE0adNCUGqYjSDoDonkSJCL3/Zn4s0jfafPySZxNhg3a73aPkQrjlaZTxpjPTqSFmXJDwHHHUn9nVMtOk9Cnem6RIO+q2wnsjLKGrNkqxKsrFECXKxLlZxWBKhZkXLFzlbMsCVREZ5lS1SqULo0hZBag5ZByooyVK0rJQtFFUAs6VIkwASSdkU/sGqNxHmglOK7DjBvoEK4Uq4sntMFpB8t/JSGYJWInIYPqh8sfsvR/QNCyCkXVi9m4UeUSkmC0XJW6hTLvLqo7nQJKhXOMZe40E9Y5BVOeqLjGxwtbZrRGhdtr1PRacRqsYIkSOUz9EKwfES4EAgdSfDorXrm8ydfT1WST2NMVqLeOl1TQudE8hH1S5Use+1u3iU0Y1cdm3QCToI1gdfNLtZs5AzV2pd4a6BArDfJFr2jhqdG7AkdUc4VtXPfAq+bZd+CjXNZxpFsDTcHoNiEKtL59InISCdEYI8Y3XFKYqzUA5n5aJUfc1397KcvhMeYVrJgJz1JfzI2nzJ/BELbiNzHHMwNHIaaD1Q9BAC7BmYIHimfhniJrWilWMRo13LyKE4o1tWagcBvLdPlCDJuPI0KnFPs6414IkGfJYuKQeH8ddROV5mmfl4hPTaoIBBkHUELXGexmlBxM5WJKxLljKsEuXLAlWJWBcoEZqlrnxVKiGsFUtbXLMKENjRKI2liXbQZ9CPJZ4Rh76mjRpzJgD3TZR4ZqsAInL+8PxErLlzqI/HiciNhGFGm4SATp3uglPFy9oZpEz9ElcR4022DWtdryG5M7iUrv4nunBzwDk2HmsE9puzZFRiqGzE7Yn+9qP+AF0bSZ2jpCH1BXAzCIOs5iCOf6CWaVW5r1JfnMkFwAJGm3t0TlSsH1GDsmlzgNcxy/I6oNUkMUr/wmWt1SrUstdrS6ILhofOOqWMQwkZj2Jzs5GRI8wiLsHuM2U0w0xGpifInRQaNI0HjNULSDDmGSNeUwITMU5wfYvJCElwhVx2t2cB0xufTZQqlNzqYJ7gfsJgkH95xRDju7YDTzNAqbloPdjkfXoUKt6T6jQS45pnw8gdhHRapT2M8Y6jFhNoykwGRMbnb9eai3eMUmxJDz6ABRbt1HIGgOJ216+iWBhjjJdp4bc/dDaCSM8XxYVScrY+codbOObYmdNETp4c7KdN+S3WVg6dANDO23hKrZBUQ7hha0uDj09+XshBKZr+17TQac/VLzqBBiNVcJWVKDCuAOEuDhILYP5rRXt2kkSYnQ9ETwDCqp1DHEHSYge6nXGE1AZFME+JCFt2GkqFR9NzJ19tlGcUwYvY1A2Swjy1j2S+4I4uxc410UmfhHETJpOOm7fApXUiyrZajXdCEyEqYqStHSsywLlqa+QrFy12Z6MyVjmWDnrB9QdVRZtlUo33tvUe6sqslMuHqVZtzOUBr0Uws94aTrP66oZypBRVsbLCGdm0ubJ1g6wPLZNd9cONPLTMEiJafoOqRMAtjWruJPdGpPICfryC6fYWTYAaIAEdfNcebd/wBOlFJIQbTgtzndrUJMSddf6Std3g9Sg5pcQymXRG++7l0m7GRoYz4jEfmhfE2GiqaTTuXCfAN7x+f1QbSXyGtX8AW1w1jLgW9Ud4jNRqbZuZY4dfHwTXata09m/R3Jw0+ah4jYipTa46Pp7HnLJg/rqpV/D6IJ0JaCTzB5EeRhXFK7Kk+KCvZg6Og+Y/XulXjXh0VQ2qw5XNkE7yCDlHlOnqjlO8/ZknUgT57FbrmqHAs6jT1kfkm7poXTs8ucR1prw8TADYk/rmpLrx2QMok6aAbn+qw41hty8DcaH0JlFPs2sG1q4LxoD7aJspawspRudEfI9gI7xd18fJRfvTp7zSTt4+OvJdZxPAacEtShf4T3tRPTRIWezQ/T10LrJI1Ink0bqaaJDQNAANh8yTzRGjh4GzVZ9KDqq3b6L8VcshWuCmq8MZOY7AbeJPQIqMJt6OjWipUG7j8I/wAv8XmdFutbnsqRA0L/AIjzjk3yUOveN3BTU66FOnyyY57j8TjHLXQeQGgWurWa0aKBdVXtjM0tkSM3d066oc+4ok/3ly1o6NBchsJL6JlXE2zCH3thRrDvCHdW6H8itZp2HK4qE/5CtBq0x8FQv8iPoQCjjL/QJwf8AGJ4a6kddWnZw+h6HwUEJtbcU3SyoHQ6AZA9HeYS3f2hpVHMPI79RuD6hPjKzPKNDVYYpTLB3oIABnwWFfG2DaT5JTpAzoidHDHu5J6yMV40Sa2NPPwgBRX1Xu3JTJwtwe+6rNpN3OpPJoG5K7Fh32V2NNoz56juZnKPQD80EsgcYI87dkfH5ql6S/7bWP8AC/8A3/0VIPL/AAPU4TbPkxMJlsQKbHPiY0Eg6yDCSrW7adxBn0TXbVw6gIMmdvH/AITMr9oiEeRy4Lt5LWjmc7/DLo1p9dV0myENPnuuc4BU7BrKY0c9uZ5O/e1aPZN+I3oYzK3d2/gNJ/ALlzdM3JWqClJuZ5f/AAxHmefoFHxW5DRJ5FonxcZlXfdhrS1upBYD5vIHyCVuLsah2Rvg75gfRDJ8Ug4q3Yx3t21rHa6RPo79BYYjdAUWuGoHzBAlK1bFW1GEF0aFvnoAELseIc9uKTic7Q4Anbun4faUCcqGaqwli2PZOzg7P38DH5n2Ug8SAc9WuB9i2R+K5vil9mYf5XT6bO/NR6GKOLiDuQHD00PygpkYcAyYO+0WgGX9cD4S7O3yeMw+p9kxfZG5pc9p5apd42qds9lQanINuYbp7hW+zjETRvafRxynyK0zW2ITB1M9Ciyzs1gDko9XC2AQS0oNi+MPaWkV2U6QHPvOcZ5N5hK+OcbgCKbqzupyNbr4eCwwp8I120+xhvrFgmIQC9tWgOfpDYSlX4lqPM5njzy/gtj8UfWoVmu0gN28ToVohjaZWTL7WSsRuxV7rTrtI5Jbvq76XwAl38Z2/wBPREMKtz1MAQs79zQ0iJnSFpUeTG50KtZ9SoZq1Cf8xJKvQdRbMmVufgjzJEAbknl+a22WEtLoFQdoN2OaQfSU3QW8hstWUX6CEcw7BaW8AlQPuLQf3fLYjy6ohamBqfJVrRN7RjiOGNEETuJCDcSUJZSqcwXUnf6YLfkUz6EGf1CtYYJTu6DxUr9iBWJB7N1QHuAGcvw8kF1IJcoK8A/Z1bvoMuryr3XjM2m0gaToXH8E3XtzhdGmWMo05GgkTPqdUhUmXNF4tLd/3lop5w5oLYEElve6dEoYhjjnH80iSyydfBrj4Yx2fLO+fZfQoHt6tFsSQ2OkakDw1T05cA+ybivsM9M6kuzeYiCuoXXEOZpyk7ctvdX5NFT7FPHu7XTGX7wPBUuef2jU6/NUk+SQ38eJx9+EU82jizwd+Dtj5FN3D+EFtNzhDg2J6E/rdSsHww135IER3tBEc/NTsTwA28utnObOnZGS13+Xot2XIo+0wY4uXJGwF7n1wXaga67/AKhG8XxfK9gJ3JLvY5R+vBAbLEW5TlbkeBlcDvKh47V74M7Ea+X6K58725N0EtRtGOHtK+uhqNdP8pDo9iQkTGMUc5+/ID6hYtxIZi0Gc30QrFKsHTfpHiijHkjfBNt75xGUE+K0W+Ilj53h0g+e8hCrW7dJ8RCxezNIOnQpihzyVYZrFsufJyx0QR11z1BB5fOPRbu3JpkE/CI9PFBKtzromQgBOVBGreAhrZOWd55cxPJHql3ToUnOosDQSGtjUkkTJcdTA5JKdVlHcOmraVaY1dTIqNHVoBDo8hr6Ip4+ioZOx9wa8bXsaVRwzVKYcx0+DiQT10KXrfDn3VVzS7KACSeQA6dSi32QsbVbXpO1jK+Pkn+5wE0wHW7GTEOa4TIPWRr8klOMJ0Mlco2cMrWlHtA1tR2U7HmDMd4eO+iM8O2riKzDJlpynrkObT5pvdwfUqP0t6VIk/ugk+kkwmWjwqy1pE/FWdDWzyJIGnqmSzKrQtY30zltnU+L5q9TGabZaWGRtpM+KYOMeHHWdxI/Zv2PUH8QhhwRr4dE+PVMhOhU4AW7uzUpMDGmc0uEeyE1LKu+pndnLpBzOJnTxOqbxhWXaQqfYTuSfNE8gCgL2IUXPh7SczefXyRPC74ujtRB2nl69FPp4fr1Ul+E6T8kHkYxY7Mb5gZSc7+Ux5nRC7vGa1m2lQoVDTcGZqsc3PMwfENj3R+/w/7tRbVr89aVM7uI/ecOTRp5rmV5euqPc5x7ziST5n6fkonsyVqdNwyzxB9u9zSXvqAHs8rSACIzOcdnEdEjX3DlywkPovDp8E+YDxPXp27AOYGoP16K9bHy9394YPWEpzyQfRphDHNVZz3DmVbeq1zmubrBkcjuuu4U2tUpEsgNHM80v3tyyo0g6rLCuMTaU+ydTLmjYj8UDn5OWhkYePiwv93rdAqQb/uQz/DPzV0Or+hu8fsYsCty3KAxxLjoSXN+iJ8UUHUabXvgawYdJ1CG4rxa0uNG2AEAgvI19OiGVBUc3NULiP3QTMnrCY4ym3JnOTUUkAsTuS+vTqsGp7p5BwGoPton6+4EpXDWPZWdSzAOyubmjMOoOyR7uzqVKjAxpc/NoBv4BoTPh/F5ps7GtDSwR3pbtyPinwhGS5BlNp8GFz9mWSm5wuqfm5rgPfVKnEPB96zVjW1QNnUjPuCAU2V8TZUg5iRvEmJ8tlt/6jbTbA1Osaq9Unwi1Ntcs4w+pVpuh4c08w4Qi1i/MACNSnJmKAip29OlWD3Ew5gcROwB3CF4dhzBWBAgE6DePBXkxcWiseX3UJWNU303lpkc46oaQuh/aVhYaQ/nAPoQkKnRzGAqi+Apx5I5ClYbeOpPD27j5jmD4FSRagNM7ocUV2A468nXvsnNIXbqlIgMqMLXMdoWOkOAHVvRdqa0EahcL+y+2NGvkeA6lWpgiYPeEOggrr9dmVh7Nxbpp3nQPITCxZHrN2aYrdKgjUe1okAfT38EsUcSFe7a1vfazWRsXbafyjr1QLEqz3E9tUe4D90nT2RPh/EW29F1U03GTqWiYaBp6JLybM0+BwjfbG3G7ClXomnWaC0+4PUHkVyS7waravLabhVp8gIzt8gfiHkmu/4wZUpywyFz7ifHYh3OdAneRydIUsCUbkFWXNM6OMHo4EH2KzLaRiCD5FJFLi64PdkOnbMA6PKZTPhvENYASQDHJoH0RTckVCKbD+H4S94llOG/xO7jR6u39Fe5xi0stSRc1xs1v7Np8T+8UsYriT3zme4+qWrh8qoNsk4pEnHcZq3VV1Ws6SZ8gOQA5BLuJYeG06VVvw1AZ8HDcKdUfDXH+UopY4a6vYOaN2N7Vo8viC2YkY8r6LcDXfaHsHOgE7nVdXwjhOhBNc9q4AwzVrffeVxThOplqH6rq3DuNPDiJ0iDOvtK0RpqmZpKpWgFxLgLrWoHM1oP1YeYnXKfEId2IeNdV1ahTp1aHZ1gCwt5jbxHiFy99Ps6rmgy0OIB6idFj9Ri0do24M2/DB39hs6KkY7YdVSy7s1aG2ytonIJPxE6ct/SERtqwORriIbvrKA0a7wHiG5CZ7QyPh1LQNlkLwEENG7RH68SunkjUaRyoyt8hJ13kqvDTJaTBHLLrmUrEMZtq2R1amA/m9m55SfqliiZqOIPxAz5qMaYhxqHKxvqT5QlSgtVQ2M2mdIscMtWN77c4OoPTx0QDE8NpFx7OWt6b+qi8PYyK1HKJDqewO5ZMA+iIfeNEvyTRojjxyIAwxrB8XqVMwLDwagLQXQdzrCjXdWUbw66r29uCykKkuJdrBg7JbySl2MWGMei32g4W19GAQSG6/guL2Qy1IO0wuhcS4/UJMjKTy81zi5qGT5yjhzZWSuAhizwBAQOVIq1y4QeSjJkVRmySsbOHOK30qlPNGVrm+w0J9l2e/xYdmC0yCJB8F5xpuEeMro3CuOdtb9i499g08W8vZI9Rj25H+nyJcMMG4fWfDOuq6Bg7A2kA6BpqPBc8w+7NEOjcmU3WPEVBlJrrh72Hxbp6ELJrXRteRyVAjijDm702hnkI9+qRL/h2q8zmkdfyTvi3G2Hg6B9XoDMf1QTEPtBpZA2nTY3qYlOhsuUgJavtgC2wIM13IU1tLLBnZC7njF06NBHlCjv4jDxBZr4Jms32hTcF+rCF9dd6J3CGudKprphxWBKkVyBJ8EXFauVpA3cfonXgXHLVvZ0aj3Nf8Heb3SHaETySRYs7a7pt5Zh7DU/RRqjc1apl17zo8pMfJa8ftMc6kMdaxNpfVaThoHGOctdq0jwhM2HvyMNQtc7WAACZPJC61LtPulV7hn7EtcCe8WNcQ0+MBNuNXlO0w9tZmZlSo6GA6Egc/AI0nbYtsj43xUOybTa0tecsNB3J3afXoiuG8DZ7bM95Fd3ek/Dr+7HIeKT+E8AfWrsr1tTHaGdtSY8l2K2qgN1IA201RuG0fcCp0/ac+/6LvP4Gf7wqXR/vA6fVUkfjxH/AJEjzrdYm4F2pyzqNCN/ZarW7JiNS4Eg9PDXRYXdJnZvzNeyTDCSCIA7zfMnmhNCWjMdNCASDGvRNmhURjsLwtEkhwkzB/JY4lXqOlrBkE96eUAb9N0GF8cgpgEAHWIHzTLY2jrzIGac3nX4Wavc4+QQtKi1di7a4hUt6tNzTq0bci08j5hdKw+5Fak2q1pDH/Jw3C5ZjVcPrvc34c0N8hoPoul/YxfsqCrZ1RId/eN6zsYPI80KgpIa5uPJueyCJ6o5QvRl7z2taBuT+pVuJMFfRJjvN5OH0PQpHxnB3VNQ9wPSdPZIljp8mjHmvol8Q4pZl0yXQPKT4DokDE7hj3EsaGjopV3hBb+98ihtS3I5ooRSKySk/g0ErEK7ldjZIHVNSMrLALo3AGHUw0Va3dpsGZ5O5nQNHWUCqYL/AHQDRJGspv4Ja2vRfbOOWo5zXM5AloILfY6J0Y0KlPjgk4hZ5QyqyTSqjM2dxrs780z4I+nUpCjWAcx2mvKUXxHCmVLVrGD9mwMI2c0tEEjqlWkw0z2bjqNVj9Rhcfejb6XOn7WJXGnBVW2rO7MZqZ1aR0Ss/Ca3+G72Xav7cAGWu3MAd1IrcSWAGjBA1iAgjmNcvTxfJxzDOEq9SXOaWMaMxc7T081FNEB5y7AwnzizivtwadIZG+CTH5Qpu2DKEY8Izq6BDryvDT12UutXGUlCaTDVqBvLc+DRqT7I4RM2SVBG0YKFsa21WrLKfg395yicP0M9UCYHM9BzWjE7rtH93RjRlYN4ARTCLMMaX1dGnTz/AJR+K0IysY7WnSdVbWc5wpslrZ2IGzWc4mST7LVj3E9TEK1GgBFMPaGgecT5QgWIXr6muzWjQDQAdIW77P7ftL+gP559tUafwVr8nbbG1Yyu9sA9mxjd9PhmY9VNdcmZy6Db+gQDD65fe3RAJh4A/wBLQPwTnaUmwCZ15fmU++LM/N0QPvLuh9iqRnsx/CFSC0HTPMeJXM0aYIMEk8uRhC673vptkmATDfPoqq3WYNBMADLp+HmtVRxc0xs3b+qU2OSMRTJyhurjyA69TzT1RcbWwNP/AMlfTock6+509Cl7h6wzOzObFNgDnu12/hHiVhjuMPr1CYDWjRrRsGt0aB5D6pUuWEgTWpwYRnhPEn21zSrMBJa4aDmNi1Q6NrUqCQ1zgOYBIHmu8fZpwNTtqLa9dgdcPGYAj9mDtof3vFMI3xyb+FcLuara9W5OVlZ5eymRq2RoT00jRDMfwXswSWnL1AmPNdCF0HONMiDEg8jBUa7aDIcDpvz5bJmuypiN9XcThmIWzHAw6fKEn4k1oJ1ldut+Frf70S6m0ioCII0DhqCB4jdIXEnCbaVzIYQwnUch4+SX+O4sd+Smc6cOaZ8FwBuUOq7kSB06KfxPhrW0szY7pGkQpb6Gekx7DJDQU1QSYqU7QVw+xdUENOg0W2rgTqffBjWJ8ZjfeVE4a4j7J/fYS3TNET5hPF3luXxb6saA5wEZu9/KdU6OrEu0acL4sNKGVTnggSNXzty+JScap0HntnnKSwtY9veZI17w+JrvRQa+HFsQNW7aQfLXVSDesbTLXM5QRyI5hSWJ/wCoqORIgPp5mDtA2HAEOBBB9QlLHMIaJLD80cujTZFKm4tpO1lx0mdtNiolXBatSQ0mDMSN48QuZP0ktridSHrE41ISbi0cFBfTI+I6JoxbCq1JhMSfb2PNKDKdStUDPfwA3JVxg/kuWVPowrVC8hrAYO3iVncOFJpptILnfG4f/keH4qdVY1py0x8AJLueukDoELsLJ9aoGjc7noExIRJhLhvDA8mrU0pt59T0TG6xdVhz2gNb8LPDqp+FYcCBTiKTP/Yjn5I5XLKbTm2A38PVaFj4szOfIh8VU206Ya3dx28lM+y60d94NUD4WmNPc+ygvpOvro5f2Y0nw8PErpmDYObdhIaR3DEGPdCo/IxypUSeDKJh9R0jO9zp6ySnimDGnzQaxLaDGiRAAOmu+8rRc8RUxoCT5ab+aaouqEtq7GLT9EKkrf2wz9OKur8ZWx5u23W+zpZiGAHMTpr8ludZMyyKjTz8Y8ipFG/7OOxEOiC8wT/p0hv1WQ1k7Ea/Y0xQpu1j+8gfI+K04RhBubinRoBxLyBr15nTlzWOB2T6tUNaw1HO5QXGTzidfVd3+zTgM2ZNevHauENaI7gO8xzjSOShOho4f4do2tsygxogDvGPiPMlTRoYcdP17KU90LRXphwKJASBl22DNONNfJbLgT3vCY9NUBv7M0H5m1HAEyM2w/lUmxxEPpGXaiZjx2WlR4szN8tEmxtQ94f/AA6/WPkUB4tsMxJDQdOXX8EzYX8BMRICq5oB2ukeiil7uSV7eDhHGVCKZifEfrdb+E7zNRDDBgRB8EycbYUMrsux02SRwywtMa6E6IXxMYuYh5uFNfUENEkjTrJTJcYI378GszRtIJBBa0AwRroVN4WswajXbAGY321Mohw83ta76vIaT/M4lxj3RtK6Yu2Q7zEru20eG3NIfu1G96PB41USliFC4dDf7t3+G/UjyOhIT7d2zXMyuA1GqSsX4Ra5xyj36oY2n7S5U+JArFMLdq0tjzB/5W7hzEuycKdWdDoTsRsR7LS199a6NcalP+CqM4jwO4ROzxWjUEVqDqJ6/EyfaW/JGsjvlAuK+xjr4VRqjQZmu3A1/wCCuR8VYUy0rPpNEZjJcN4OzfDxXWMLvKVtGYFrHatM5myeh3GnI+65xWpi+v6pdIbJd84CVNbOkMg9VbYk0sOJa4tzS4wNeXTxTVSwVlsxtJkOquA7R3idXZfASAnG14dbTp5w3RjczfE8kGtLU5TVdu4mB0CtYdWR5dkXt2ikwBugA15/VKfEN8+u4W9ETJ1PQJyqNaWkB2hGx/NSsDwNlMFzWD/MSCmODlwApa8luEcBpW1LXUxJJ0BJRmjfCqyuGmYpn4R4HdQ8dvWMpEOdDj4Az5dEO4LuA83DYIzU/Lr7qSqqRI92xPv+ILmo97aT2tYI1M9JULt60Zu3dI5QNeqE1bs0nOBBEmB/p0/BaMP7So5ri45S4t9YnZc6byO3fB0sSxJLjkOf2lV/xT+vVUoXYjqfYK6T5JfZq8eP/kFWdkHkDvZiYgCf0V1DhD7H31IqXjjTZuGD43Dxn4R810HhXgW0tajqzBmcTLM0QwHbKOvim9zgtbOdYKwThy1tBFvRa0x8W7j5uKKPK1PcRzUOreESIn9bq1GwZTolv8VpPUGNNkGvcZygzy3Q2txGNpyzsdwU5Y2KeSwjj1QVGObvzB6Ef1hI9rijab5GgPdqN6eI9dUUrY3mJPXcDw8t0kcStPaZ6Z0dv+BTH7VwLS2fJ2HCqwdSkd4FTwNIC5Z9nOMOLH0XOILHZg6Y7p/quk2dfqR4mUDVqy06dMCcS2Ae0wzrsYOvhzXMqFn2dYjaSu33HeBgAjzXOeJbAsrBwHPX+qL9kiLhjFgbGtouqN5NPrpzWzgNoFqDuXOcT7q2E1Wmg9sQHMI7upGmpQ3g26DGGmTJDiQHSDB8FJK2ROkOuT1+isWNnmoZuo0J8dAruuiIgTPOPwQasmyM7yzzKM3DWjcb7lSK15GkafqVErYrAmJ6E7Ji2AephidjTfTyZDkkSPy6JKo4Q5ly5gALoBDiSM7J023cCnD75WeIAbr7eik0LIitRLiA7vNJbuGvaR9YKu9efkpcuhYxu6NOydT2iBIPMyI9AlOteuytaJIAgdE4faPb6hknKHUwZ/ygSeuyg22DAjcH8FSufITqHAoVbmo3WCP10WhuP1wYklvknOpgo+Hfz2WDuFjvlReJ/ZFkRzzGMSe4Z3nbYI99kV86pePa90A0TA8jv80K48smUa9Km6csZ3xvBPJTvs1siL5lSnTqii9rmBz45gcxy0SmnY21oBbu8ZS+8U3Na/LUcG5hJkuI0UOybULaTnnu535WiBsB3tNx4qVj3D1f73Vy0swNV0CdwT9FMurTsjRpl4NQB7ntEwzMBDR0gJOVVjbH4a3SRB+7O/UKlv7AfxH/AGlWXNs6ujO6YJjodTDjplhrvI7FGGX7TUykieQndK2GcG3VOZcyC2CJOpHot1Thi7MmWyA3KQ47tG+y6y1fZw3aGmpetJiNemyi1q7B3S6Z5eH4oM7Brt7QXxnaNCD9UBucIxLOT2bS3mM2np0RJRXQLbfYx3Nk17SCeehHh9Ut4hhmXQz/ACka6+fRSPuWIt/8c+REhaq1G+gg27iDy0+WqapL5FU0KGJVXMJ305IFd3xePijQpsxTCLx5/wDjVNugSRi+B3bST93qj/SdPZJl/B8f6R+GMYNvc5nEwZa712K7BgXELXNaXOJ5CTouCXFs9p77XN8wR9QjnC+Pdi7K8nLyPQqY51wy8kLVo9F2940ugQfEbLXiVgyo0jKATOyT8C4gaSC4zpIiPTZNNvioqNGwB8Jnqm18ozp/YJtLciaTj5Lda4Q1tYPYD3tdeRG/gpt3TEZhH5LfhtOm8scR3m7FFL7KT+Ccy3A31PU8lcWk+Pqpcg8wVk3Sf1KRsN1RCfh+Y6nT6rEWAnaR48kRptJ3H/Co90KbsmiIpohuwgeG/qhGJHPmaNCQQ0gkGR0IMhbsSxdrNJ16D+qAXl1q1waZzDbodDJToQ+xUn9AO4uX1aWZwy5S1h7znHuOOpLiST4putqLcoJA232KUxoy7aREHMNOTj/yiFjXc6mx0u+EaIooqb+Q4aPtERCwfXDBtPgtVljLSQ1wAO0n8lLuqGfUbfy6ov4wRZx1lvVI7RjHwZGgJEckRtKwDqeWIBENH4Rootxgxc4gAz7Faalq6m4eDhvvy2R0iEPE2tbdHQ/EfPdJvGbRSuHFxcwVA1zS2dSBBTlxbUiuXAEd6dfIKPidvRu6badYABsGRoZ8CkTxeSLiPxZPHJSOYfe6X+JVVJ+/6DsP8R/+8Klk/AZt/wDR/h1YKxVKkItmL1gqVI4iZFgrhUqRsr4KeoV3sVSpHHoFnP8AjX9mfVcndv7qlSXkH4+hw4b+AeSdsP2Z5FUqT8fRmn+wQp7eql2e3qqVIpfqCuwpbbqTU5KypZn2PXRtbv6LS/ZypUrj2X8CHiP7Z3qpVT4G+f5KlS1LozM0XH7a5/8Arb9Vuw79i3/KPoqVK4kkRG/G3yKLYZsFdUo+ygk/ml2p8fqFSpXHtlmji/8AaO8x9AgP7qpUh+Q/gxVKlSMo/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68" name="Picture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62724" y="847388"/>
            <a:ext cx="1914525" cy="1914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9" name="Picture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01255" y="3048000"/>
            <a:ext cx="2847975" cy="16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1" name="Picture 31" descr="https://encrypted-tbn2.gstatic.com/images?q=tbn:ANd9GcSRS9520JkFo_wjLV69VUkn3zxYT38oGR-x0DntrdEec__Up1lw"/>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9200" y="818983"/>
            <a:ext cx="3886200" cy="17622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208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152400"/>
            <a:ext cx="8229600" cy="838200"/>
          </a:xfrm>
        </p:spPr>
        <p:txBody>
          <a:bodyPr/>
          <a:lstStyle/>
          <a:p>
            <a:pPr eaLnBrk="1" hangingPunct="1"/>
            <a:r>
              <a:rPr lang="en-US" dirty="0" smtClean="0"/>
              <a:t>Interpretation</a:t>
            </a:r>
          </a:p>
        </p:txBody>
      </p:sp>
      <p:sp>
        <p:nvSpPr>
          <p:cNvPr id="11267" name="Rectangle 3"/>
          <p:cNvSpPr>
            <a:spLocks noGrp="1" noChangeArrowheads="1"/>
          </p:cNvSpPr>
          <p:nvPr>
            <p:ph idx="1"/>
          </p:nvPr>
        </p:nvSpPr>
        <p:spPr>
          <a:xfrm>
            <a:off x="381000" y="1143000"/>
            <a:ext cx="8229600" cy="4525963"/>
          </a:xfrm>
        </p:spPr>
        <p:txBody>
          <a:bodyPr/>
          <a:lstStyle/>
          <a:p>
            <a:pPr eaLnBrk="1" hangingPunct="1"/>
            <a:r>
              <a:rPr lang="en-US" dirty="0" smtClean="0"/>
              <a:t>The 95% CI is (-56.862, -1.56).</a:t>
            </a:r>
          </a:p>
          <a:p>
            <a:pPr eaLnBrk="1" hangingPunct="1"/>
            <a:r>
              <a:rPr lang="en-US" dirty="0" smtClean="0"/>
              <a:t>Since the interval is entirely negative (that is, does not contain 0), there is evidence from the data that µ</a:t>
            </a:r>
            <a:r>
              <a:rPr lang="en-US" baseline="-25000" dirty="0" smtClean="0"/>
              <a:t>1</a:t>
            </a:r>
            <a:r>
              <a:rPr lang="en-US" dirty="0" smtClean="0"/>
              <a:t> is less than µ</a:t>
            </a:r>
            <a:r>
              <a:rPr lang="en-US" baseline="-25000" dirty="0" smtClean="0"/>
              <a:t>2</a:t>
            </a:r>
            <a:r>
              <a:rPr lang="en-US" dirty="0" smtClean="0"/>
              <a:t>.  We estimate that non-consumers of high-fiber breakfast consume on average between 1.56 and 56.862 more calories for lunch.</a:t>
            </a:r>
          </a:p>
        </p:txBody>
      </p:sp>
      <p:sp>
        <p:nvSpPr>
          <p:cNvPr id="2" name="Slide Number Placeholder 5"/>
          <p:cNvSpPr>
            <a:spLocks noGrp="1"/>
          </p:cNvSpPr>
          <p:nvPr>
            <p:ph type="sldNum" sz="quarter" idx="12"/>
          </p:nvPr>
        </p:nvSpPr>
        <p:spPr/>
        <p:txBody>
          <a:bodyPr/>
          <a:lstStyle/>
          <a:p>
            <a:pPr>
              <a:defRPr/>
            </a:pPr>
            <a:fld id="{5BC7E499-112C-4C79-8887-1CC01CE3762C}" type="slidenum">
              <a:rPr lang="en-US"/>
              <a:pPr>
                <a:defRPr/>
              </a:pPr>
              <a:t>10</a:t>
            </a:fld>
            <a:endParaRPr lang="en-US"/>
          </a:p>
        </p:txBody>
      </p:sp>
      <p:pic>
        <p:nvPicPr>
          <p:cNvPr id="50178" name="Picture 2" descr="https://encrypted-tbn3.gstatic.com/images?q=tbn:ANd9GcR2_4kyxDrpZPoNjJTUS-hKjZMmzihnKJ3QlEp5M--D_k7Uh3dQ"/>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4191000"/>
            <a:ext cx="1790700" cy="2552700"/>
          </a:xfrm>
          <a:prstGeom prst="rect">
            <a:avLst/>
          </a:prstGeom>
          <a:noFill/>
          <a:extLst>
            <a:ext uri="{909E8E84-426E-40DD-AFC4-6F175D3DCCD1}">
              <a14:hiddenFill xmlns:a14="http://schemas.microsoft.com/office/drawing/2010/main">
                <a:solidFill>
                  <a:srgbClr val="FFFFFF"/>
                </a:solidFill>
              </a14:hiddenFill>
            </a:ext>
          </a:extLst>
        </p:spPr>
      </p:pic>
      <p:pic>
        <p:nvPicPr>
          <p:cNvPr id="50180" name="Picture 4" descr="https://encrypted-tbn0.gstatic.com/images?q=tbn:ANd9GcSf77gVdimM0xGYWGckJLBLT1978Aym-8PZfd6-Otucr1X44b00u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4725057"/>
            <a:ext cx="2657475" cy="1714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idx="1"/>
          </p:nvPr>
        </p:nvSpPr>
        <p:spPr>
          <a:xfrm>
            <a:off x="762000" y="1676400"/>
            <a:ext cx="7772400" cy="1524000"/>
          </a:xfrm>
        </p:spPr>
        <p:txBody>
          <a:bodyPr/>
          <a:lstStyle/>
          <a:p>
            <a:pPr eaLnBrk="1" hangingPunct="1">
              <a:lnSpc>
                <a:spcPct val="90000"/>
              </a:lnSpc>
            </a:pPr>
            <a:r>
              <a:rPr lang="en-US" sz="2400" dirty="0" smtClean="0"/>
              <a:t>Let’s use </a:t>
            </a:r>
            <a:r>
              <a:rPr lang="en-US" sz="2400" dirty="0" err="1" smtClean="0"/>
              <a:t>df</a:t>
            </a:r>
            <a:r>
              <a:rPr lang="en-US" sz="2400" dirty="0" smtClean="0"/>
              <a:t> = min(43-1, 107-1) = min(42, 106) = 42;</a:t>
            </a:r>
          </a:p>
          <a:p>
            <a:pPr eaLnBrk="1" hangingPunct="1">
              <a:lnSpc>
                <a:spcPct val="90000"/>
              </a:lnSpc>
            </a:pPr>
            <a:r>
              <a:rPr lang="en-US" sz="2400" i="1" dirty="0" smtClean="0"/>
              <a:t>t</a:t>
            </a:r>
            <a:r>
              <a:rPr lang="en-US" sz="2400" baseline="-25000" dirty="0" smtClean="0"/>
              <a:t>42</a:t>
            </a:r>
            <a:r>
              <a:rPr lang="en-US" sz="2400" dirty="0" smtClean="0"/>
              <a:t>* = 2.0181</a:t>
            </a:r>
          </a:p>
          <a:p>
            <a:pPr eaLnBrk="1" hangingPunct="1">
              <a:lnSpc>
                <a:spcPct val="90000"/>
              </a:lnSpc>
            </a:pPr>
            <a:r>
              <a:rPr lang="en-US" sz="2400" dirty="0" smtClean="0"/>
              <a:t>The confidence interval estimator for the difference between two means is</a:t>
            </a:r>
          </a:p>
        </p:txBody>
      </p:sp>
      <p:sp>
        <p:nvSpPr>
          <p:cNvPr id="2" name="Slide Number Placeholder 5"/>
          <p:cNvSpPr>
            <a:spLocks noGrp="1"/>
          </p:cNvSpPr>
          <p:nvPr>
            <p:ph type="sldNum" sz="quarter" idx="12"/>
          </p:nvPr>
        </p:nvSpPr>
        <p:spPr/>
        <p:txBody>
          <a:bodyPr/>
          <a:lstStyle/>
          <a:p>
            <a:pPr>
              <a:defRPr/>
            </a:pPr>
            <a:fld id="{E283B922-8386-4D50-AB3D-98A0A96EB022}" type="slidenum">
              <a:rPr lang="en-US"/>
              <a:pPr>
                <a:defRPr/>
              </a:pPr>
              <a:t>11</a:t>
            </a:fld>
            <a:endParaRPr lang="en-US"/>
          </a:p>
        </p:txBody>
      </p:sp>
      <p:graphicFrame>
        <p:nvGraphicFramePr>
          <p:cNvPr id="120836" name="Object 4"/>
          <p:cNvGraphicFramePr>
            <a:graphicFrameLocks noChangeAspect="1"/>
          </p:cNvGraphicFramePr>
          <p:nvPr/>
        </p:nvGraphicFramePr>
        <p:xfrm>
          <a:off x="1319213" y="3416300"/>
          <a:ext cx="6078537" cy="2786063"/>
        </p:xfrm>
        <a:graphic>
          <a:graphicData uri="http://schemas.openxmlformats.org/presentationml/2006/ole">
            <mc:AlternateContent xmlns:mc="http://schemas.openxmlformats.org/markup-compatibility/2006">
              <mc:Choice xmlns:v="urn:schemas-microsoft-com:vml" Requires="v">
                <p:oleObj spid="_x0000_s39961" name="Equation" r:id="rId4" imgW="2819400" imgH="1358900" progId="Equation.DSMT4">
                  <p:embed/>
                </p:oleObj>
              </mc:Choice>
              <mc:Fallback>
                <p:oleObj name="Equation" r:id="rId4" imgW="2819400" imgH="13589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9213" y="3416300"/>
                        <a:ext cx="6078537" cy="2786063"/>
                      </a:xfrm>
                      <a:prstGeom prst="rect">
                        <a:avLst/>
                      </a:prstGeom>
                      <a:noFill/>
                      <a:ln>
                        <a:noFill/>
                      </a:ln>
                      <a:effectLst/>
                      <a:extLst>
                        <a:ext uri="{909E8E84-426E-40DD-AFC4-6F175D3DCCD1}">
                          <a14:hiddenFill xmlns:a14="http://schemas.microsoft.com/office/drawing/2010/main">
                            <a:gradFill rotWithShape="0">
                              <a:gsLst>
                                <a:gs pos="0">
                                  <a:srgbClr val="89E3E1"/>
                                </a:gs>
                                <a:gs pos="50000">
                                  <a:srgbClr val="35A39E"/>
                                </a:gs>
                                <a:gs pos="100000">
                                  <a:srgbClr val="89E3E1"/>
                                </a:gs>
                              </a:gsLst>
                              <a:lin ang="5400000" scaled="1"/>
                            </a:gra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Rectangle 5"/>
          <p:cNvSpPr/>
          <p:nvPr/>
        </p:nvSpPr>
        <p:spPr>
          <a:xfrm>
            <a:off x="1066800" y="228600"/>
            <a:ext cx="6781800" cy="1384300"/>
          </a:xfrm>
          <a:prstGeom prst="rect">
            <a:avLst/>
          </a:prstGeom>
        </p:spPr>
        <p:txBody>
          <a:bodyPr>
            <a:spAutoFit/>
          </a:bodyPr>
          <a:lstStyle/>
          <a:p>
            <a:pPr>
              <a:defRPr/>
            </a:pPr>
            <a:r>
              <a:rPr lang="en-US" sz="2800" b="1" dirty="0">
                <a:effectLst/>
                <a:latin typeface="+mj-lt"/>
                <a:cs typeface="Arial" pitchFamily="34" charset="0"/>
              </a:rPr>
              <a:t>Example: (cont.) confidence interval for </a:t>
            </a:r>
            <a:r>
              <a:rPr lang="en-US" sz="2800" b="1" dirty="0">
                <a:effectLst/>
                <a:latin typeface="+mj-lt"/>
                <a:cs typeface="Arial" pitchFamily="34" charset="0"/>
                <a:sym typeface="Symbol"/>
              </a:rPr>
              <a:t></a:t>
            </a:r>
            <a:r>
              <a:rPr lang="en-US" sz="2800" b="1" baseline="-25000" dirty="0">
                <a:effectLst/>
                <a:latin typeface="+mj-lt"/>
                <a:cs typeface="Arial" pitchFamily="34" charset="0"/>
              </a:rPr>
              <a:t>1</a:t>
            </a:r>
            <a:r>
              <a:rPr lang="en-US" sz="2800" b="1" dirty="0">
                <a:effectLst/>
                <a:latin typeface="+mj-lt"/>
                <a:cs typeface="Arial" pitchFamily="34" charset="0"/>
              </a:rPr>
              <a:t> – </a:t>
            </a:r>
            <a:r>
              <a:rPr lang="en-US" sz="2800" b="1" dirty="0">
                <a:effectLst/>
                <a:latin typeface="+mj-lt"/>
                <a:cs typeface="Arial" pitchFamily="34" charset="0"/>
                <a:sym typeface="Symbol"/>
              </a:rPr>
              <a:t></a:t>
            </a:r>
            <a:r>
              <a:rPr lang="en-US" sz="2800" b="1" baseline="-25000" dirty="0">
                <a:effectLst/>
                <a:latin typeface="+mj-lt"/>
                <a:cs typeface="Arial" pitchFamily="34" charset="0"/>
              </a:rPr>
              <a:t>2</a:t>
            </a:r>
            <a:r>
              <a:rPr lang="en-US" sz="2800" b="1" dirty="0">
                <a:effectLst/>
                <a:latin typeface="+mj-lt"/>
                <a:cs typeface="Arial" pitchFamily="34" charset="0"/>
              </a:rPr>
              <a:t> </a:t>
            </a:r>
            <a:r>
              <a:rPr lang="en-US" sz="2800" b="1" dirty="0">
                <a:solidFill>
                  <a:srgbClr val="FF0000"/>
                </a:solidFill>
                <a:effectLst/>
                <a:latin typeface="+mj-lt"/>
                <a:cs typeface="Arial" pitchFamily="34" charset="0"/>
              </a:rPr>
              <a:t>using min(n</a:t>
            </a:r>
            <a:r>
              <a:rPr lang="en-US" sz="2800" b="1" baseline="-25000" dirty="0">
                <a:solidFill>
                  <a:srgbClr val="FF0000"/>
                </a:solidFill>
                <a:effectLst/>
                <a:latin typeface="+mj-lt"/>
                <a:cs typeface="Arial" pitchFamily="34" charset="0"/>
              </a:rPr>
              <a:t>1</a:t>
            </a:r>
            <a:r>
              <a:rPr lang="en-US" sz="2800" b="1" dirty="0">
                <a:solidFill>
                  <a:srgbClr val="FF0000"/>
                </a:solidFill>
                <a:effectLst/>
                <a:latin typeface="+mj-lt"/>
                <a:cs typeface="Arial" pitchFamily="34" charset="0"/>
              </a:rPr>
              <a:t> –1, n</a:t>
            </a:r>
            <a:r>
              <a:rPr lang="en-US" sz="2800" b="1" baseline="-25000" dirty="0">
                <a:solidFill>
                  <a:srgbClr val="FF0000"/>
                </a:solidFill>
                <a:effectLst/>
                <a:latin typeface="+mj-lt"/>
                <a:cs typeface="Arial" pitchFamily="34" charset="0"/>
              </a:rPr>
              <a:t>2</a:t>
            </a:r>
            <a:r>
              <a:rPr lang="en-US" sz="2800" b="1" dirty="0">
                <a:solidFill>
                  <a:srgbClr val="FF0000"/>
                </a:solidFill>
                <a:effectLst/>
                <a:latin typeface="+mj-lt"/>
                <a:cs typeface="Arial" pitchFamily="34" charset="0"/>
              </a:rPr>
              <a:t> -1) to approximate the </a:t>
            </a:r>
            <a:r>
              <a:rPr lang="en-US" sz="2800" b="1" dirty="0" err="1">
                <a:solidFill>
                  <a:srgbClr val="FF0000"/>
                </a:solidFill>
                <a:effectLst/>
                <a:latin typeface="+mj-lt"/>
                <a:cs typeface="Arial" pitchFamily="34" charset="0"/>
              </a:rPr>
              <a:t>df</a:t>
            </a:r>
            <a:r>
              <a:rPr lang="en-US" sz="2800" b="1" baseline="-25000" dirty="0">
                <a:solidFill>
                  <a:srgbClr val="FF0000"/>
                </a:solidFill>
                <a:effectLst/>
                <a:latin typeface="+mj-lt"/>
                <a:cs typeface="Arial" pitchFamily="34" charset="0"/>
              </a:rPr>
              <a:t> </a:t>
            </a:r>
            <a:endParaRPr lang="en-US" sz="2800" b="1" dirty="0">
              <a:solidFill>
                <a:srgbClr val="FF0000"/>
              </a:solidFill>
              <a:effectLst/>
              <a:latin typeface="+mj-lt"/>
              <a:cs typeface="Arial" pitchFamily="34" charset="0"/>
            </a:endParaRPr>
          </a:p>
        </p:txBody>
      </p:sp>
    </p:spTree>
    <p:extLst>
      <p:ext uri="{BB962C8B-B14F-4D97-AF65-F5344CB8AC3E}">
        <p14:creationId xmlns:p14="http://schemas.microsoft.com/office/powerpoint/2010/main" val="419199905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208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1828800" y="457200"/>
            <a:ext cx="5334000" cy="762000"/>
          </a:xfrm>
        </p:spPr>
        <p:txBody>
          <a:bodyPr/>
          <a:lstStyle/>
          <a:p>
            <a:pPr algn="l" eaLnBrk="1" hangingPunct="1">
              <a:lnSpc>
                <a:spcPct val="110000"/>
              </a:lnSpc>
            </a:pPr>
            <a:r>
              <a:rPr lang="en-US" sz="3200" b="1" smtClean="0">
                <a:solidFill>
                  <a:srgbClr val="333399"/>
                </a:solidFill>
              </a:rPr>
              <a:t>Beware!! Common Mistake !!!</a:t>
            </a:r>
          </a:p>
        </p:txBody>
      </p:sp>
      <p:sp>
        <p:nvSpPr>
          <p:cNvPr id="7172" name="Rectangle 3"/>
          <p:cNvSpPr>
            <a:spLocks noGrp="1" noChangeArrowheads="1"/>
          </p:cNvSpPr>
          <p:nvPr>
            <p:ph idx="1"/>
          </p:nvPr>
        </p:nvSpPr>
        <p:spPr>
          <a:xfrm>
            <a:off x="457200" y="1828800"/>
            <a:ext cx="8305800" cy="5029200"/>
          </a:xfrm>
        </p:spPr>
        <p:txBody>
          <a:bodyPr/>
          <a:lstStyle/>
          <a:p>
            <a:pPr marL="0" indent="0" algn="ctr" eaLnBrk="1" hangingPunct="1">
              <a:lnSpc>
                <a:spcPct val="130000"/>
              </a:lnSpc>
              <a:buFont typeface="Arial" charset="0"/>
              <a:buNone/>
            </a:pPr>
            <a:r>
              <a:rPr lang="en-US" sz="2400" smtClean="0"/>
              <a:t>      A common mistake is to calculate a one-sample </a:t>
            </a:r>
          </a:p>
          <a:p>
            <a:pPr marL="0" indent="0" eaLnBrk="1" hangingPunct="1">
              <a:lnSpc>
                <a:spcPct val="130000"/>
              </a:lnSpc>
              <a:buFont typeface="Arial" charset="0"/>
              <a:buNone/>
            </a:pPr>
            <a:r>
              <a:rPr lang="en-US" sz="2400" smtClean="0"/>
              <a:t>confidence interval for </a:t>
            </a:r>
            <a:r>
              <a:rPr lang="en-US" sz="2400" i="1" smtClean="0">
                <a:latin typeface="Symbol" pitchFamily="18" charset="2"/>
              </a:rPr>
              <a:t>m</a:t>
            </a:r>
            <a:r>
              <a:rPr lang="en-US" sz="2400" baseline="-25000" smtClean="0">
                <a:latin typeface="Symbol" pitchFamily="18" charset="2"/>
              </a:rPr>
              <a:t>1</a:t>
            </a:r>
            <a:r>
              <a:rPr lang="en-US" sz="2400" smtClean="0">
                <a:latin typeface="Symbol" pitchFamily="18" charset="2"/>
              </a:rPr>
              <a:t>,</a:t>
            </a:r>
            <a:r>
              <a:rPr lang="en-US" sz="2400" smtClean="0"/>
              <a:t> a one-sample confidence interval for </a:t>
            </a:r>
            <a:r>
              <a:rPr lang="en-US" sz="2400" i="1" smtClean="0">
                <a:latin typeface="Symbol" pitchFamily="18" charset="2"/>
              </a:rPr>
              <a:t>m</a:t>
            </a:r>
            <a:r>
              <a:rPr lang="en-US" sz="2400" baseline="-25000" smtClean="0">
                <a:latin typeface="Symbol" pitchFamily="18" charset="2"/>
              </a:rPr>
              <a:t>2</a:t>
            </a:r>
            <a:r>
              <a:rPr lang="en-US" sz="2400" smtClean="0">
                <a:latin typeface="Symbol" pitchFamily="18" charset="2"/>
              </a:rPr>
              <a:t>, </a:t>
            </a:r>
            <a:r>
              <a:rPr lang="en-US" sz="2400" smtClean="0"/>
              <a:t>and to then conclude that </a:t>
            </a:r>
            <a:r>
              <a:rPr lang="en-US" sz="2400" i="1" smtClean="0">
                <a:latin typeface="Symbol" pitchFamily="18" charset="2"/>
              </a:rPr>
              <a:t>m</a:t>
            </a:r>
            <a:r>
              <a:rPr lang="en-US" sz="2400" baseline="-25000" smtClean="0">
                <a:latin typeface="Symbol" pitchFamily="18" charset="2"/>
              </a:rPr>
              <a:t>1</a:t>
            </a:r>
            <a:r>
              <a:rPr lang="en-US" sz="2400" baseline="-25000" smtClean="0"/>
              <a:t> </a:t>
            </a:r>
            <a:r>
              <a:rPr lang="en-US" sz="2400" smtClean="0"/>
              <a:t>and </a:t>
            </a:r>
            <a:r>
              <a:rPr lang="en-US" sz="2400" i="1" smtClean="0">
                <a:latin typeface="Symbol" pitchFamily="18" charset="2"/>
              </a:rPr>
              <a:t>m</a:t>
            </a:r>
            <a:r>
              <a:rPr lang="en-US" sz="2400" baseline="-25000" smtClean="0">
                <a:latin typeface="Symbol" pitchFamily="18" charset="2"/>
              </a:rPr>
              <a:t>2</a:t>
            </a:r>
            <a:r>
              <a:rPr lang="en-US" sz="2400" smtClean="0"/>
              <a:t> are equal if the confidence intervals overlap.</a:t>
            </a:r>
          </a:p>
          <a:p>
            <a:pPr marL="0" indent="0" eaLnBrk="1" hangingPunct="1">
              <a:lnSpc>
                <a:spcPct val="130000"/>
              </a:lnSpc>
              <a:buFont typeface="Wingdings" pitchFamily="2" charset="2"/>
              <a:buNone/>
            </a:pPr>
            <a:r>
              <a:rPr lang="en-US" sz="2400" b="1" smtClean="0">
                <a:solidFill>
                  <a:srgbClr val="FF0000"/>
                </a:solidFill>
              </a:rPr>
              <a:t>This is WRONG </a:t>
            </a:r>
            <a:r>
              <a:rPr lang="en-US" sz="2400" smtClean="0"/>
              <a:t>because the variability in the sampling distribution for               from two independent samples is more complex and must take into account variability coming from both samples. Hence the more complex formula for the standard error. </a:t>
            </a:r>
          </a:p>
        </p:txBody>
      </p:sp>
      <p:graphicFrame>
        <p:nvGraphicFramePr>
          <p:cNvPr id="7170" name="Object 5"/>
          <p:cNvGraphicFramePr>
            <a:graphicFrameLocks noChangeAspect="1"/>
          </p:cNvGraphicFramePr>
          <p:nvPr/>
        </p:nvGraphicFramePr>
        <p:xfrm>
          <a:off x="3429000" y="5867400"/>
          <a:ext cx="1905000" cy="990600"/>
        </p:xfrm>
        <a:graphic>
          <a:graphicData uri="http://schemas.openxmlformats.org/presentationml/2006/ole">
            <mc:AlternateContent xmlns:mc="http://schemas.openxmlformats.org/markup-compatibility/2006">
              <mc:Choice xmlns:v="urn:schemas-microsoft-com:vml" Requires="v">
                <p:oleObj spid="_x0000_s12342" name="Equation" r:id="rId4" imgW="952087" imgH="495085" progId="Equation.3">
                  <p:embed/>
                </p:oleObj>
              </mc:Choice>
              <mc:Fallback>
                <p:oleObj name="Equation" r:id="rId4" imgW="952087" imgH="495085"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9000" y="5867400"/>
                        <a:ext cx="19050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1" name="Object 4"/>
          <p:cNvGraphicFramePr>
            <a:graphicFrameLocks noChangeAspect="1"/>
          </p:cNvGraphicFramePr>
          <p:nvPr/>
        </p:nvGraphicFramePr>
        <p:xfrm>
          <a:off x="2438400" y="4419600"/>
          <a:ext cx="914400" cy="487363"/>
        </p:xfrm>
        <a:graphic>
          <a:graphicData uri="http://schemas.openxmlformats.org/presentationml/2006/ole">
            <mc:AlternateContent xmlns:mc="http://schemas.openxmlformats.org/markup-compatibility/2006">
              <mc:Choice xmlns:v="urn:schemas-microsoft-com:vml" Requires="v">
                <p:oleObj spid="_x0000_s12343" name="Equation" r:id="rId6" imgW="406048" imgH="215713" progId="Equation.3">
                  <p:embed/>
                </p:oleObj>
              </mc:Choice>
              <mc:Fallback>
                <p:oleObj name="Equation" r:id="rId6" imgW="406048" imgH="215713"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38400" y="4419600"/>
                        <a:ext cx="914400" cy="487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7174"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304800"/>
            <a:ext cx="1143000"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5"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43800" y="304800"/>
            <a:ext cx="1101725" cy="105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mph" presetSubtype="0" fill="hold" grpId="0" nodeType="clickEffect">
                                  <p:stCondLst>
                                    <p:cond delay="0"/>
                                  </p:stCondLst>
                                  <p:childTnLst>
                                    <p:animScale>
                                      <p:cBhvr>
                                        <p:cTn id="6" dur="2000" fill="hold"/>
                                        <p:tgtEl>
                                          <p:spTgt spid="6147"/>
                                        </p:tgtEl>
                                      </p:cBhvr>
                                      <p:by x="150000" y="150000"/>
                                    </p:animScale>
                                  </p:childTnLst>
                                  <p:subTnLst>
                                    <p:audio>
                                      <p:cMediaNode>
                                        <p:cTn display="0" masterRel="sameClick">
                                          <p:stCondLst>
                                            <p:cond evt="begin" delay="0">
                                              <p:tn val="5"/>
                                            </p:cond>
                                          </p:stCondLst>
                                          <p:endCondLst>
                                            <p:cond evt="onStopAudio" delay="0">
                                              <p:tgtEl>
                                                <p:sldTgt/>
                                              </p:tgtEl>
                                            </p:cond>
                                          </p:endCondLst>
                                        </p:cTn>
                                        <p:tgtEl>
                                          <p:sndTgt r:embed="rId3" name="Scream_Psycho.wav"/>
                                        </p:tgtEl>
                                      </p:cMediaNode>
                                    </p:audio>
                                  </p:subTnLst>
                                </p:cTn>
                              </p:par>
                              <p:par>
                                <p:cTn id="7" presetID="42" presetClass="path" presetSubtype="0" accel="50000" decel="50000" fill="hold" nodeType="withEffect">
                                  <p:stCondLst>
                                    <p:cond delay="0"/>
                                  </p:stCondLst>
                                  <p:childTnLst>
                                    <p:animMotion origin="layout" path="M -3.33333E-6 -1.6632E-7 L 0.0125 0.11966 " pathEditMode="relative" rAng="0" ptsTypes="AA">
                                      <p:cBhvr>
                                        <p:cTn id="8" dur="2000" fill="hold"/>
                                        <p:tgtEl>
                                          <p:spTgt spid="7174"/>
                                        </p:tgtEl>
                                        <p:attrNameLst>
                                          <p:attrName>ppt_x</p:attrName>
                                          <p:attrName>ppt_y</p:attrName>
                                        </p:attrNameLst>
                                      </p:cBhvr>
                                      <p:rCtr x="625" y="5983"/>
                                    </p:animMotion>
                                  </p:childTnLst>
                                </p:cTn>
                              </p:par>
                              <p:par>
                                <p:cTn id="9" presetID="42" presetClass="path" presetSubtype="0" accel="50000" decel="50000" fill="hold" nodeType="withEffect">
                                  <p:stCondLst>
                                    <p:cond delay="0"/>
                                  </p:stCondLst>
                                  <p:childTnLst>
                                    <p:animMotion origin="layout" path="M -3.33333E-6 -1.1088E-7 L 0.04167 0.14414 " pathEditMode="relative" rAng="0" ptsTypes="AA">
                                      <p:cBhvr>
                                        <p:cTn id="10" dur="2000" fill="hold"/>
                                        <p:tgtEl>
                                          <p:spTgt spid="7175"/>
                                        </p:tgtEl>
                                        <p:attrNameLst>
                                          <p:attrName>ppt_x</p:attrName>
                                          <p:attrName>ppt_y</p:attrName>
                                        </p:attrNameLst>
                                      </p:cBhvr>
                                      <p:rCtr x="2083" y="7207"/>
                                    </p:animMotion>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2" fill="hold" grpId="0" nodeType="clickEffect">
                                  <p:stCondLst>
                                    <p:cond delay="0"/>
                                  </p:stCondLst>
                                  <p:childTnLst>
                                    <p:set>
                                      <p:cBhvr>
                                        <p:cTn id="14" dur="1" fill="hold">
                                          <p:stCondLst>
                                            <p:cond delay="0"/>
                                          </p:stCondLst>
                                        </p:cTn>
                                        <p:tgtEl>
                                          <p:spTgt spid="7172">
                                            <p:txEl>
                                              <p:pRg st="0" end="0"/>
                                            </p:txEl>
                                          </p:spTgt>
                                        </p:tgtEl>
                                        <p:attrNameLst>
                                          <p:attrName>style.visibility</p:attrName>
                                        </p:attrNameLst>
                                      </p:cBhvr>
                                      <p:to>
                                        <p:strVal val="visible"/>
                                      </p:to>
                                    </p:set>
                                    <p:anim calcmode="lin" valueType="num">
                                      <p:cBhvr additive="base">
                                        <p:cTn id="15" dur="500" fill="hold"/>
                                        <p:tgtEl>
                                          <p:spTgt spid="7172">
                                            <p:txEl>
                                              <p:pRg st="0" end="0"/>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7172">
                                            <p:txEl>
                                              <p:pRg st="0" end="0"/>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7172">
                                            <p:txEl>
                                              <p:pRg st="1" end="1"/>
                                            </p:txEl>
                                          </p:spTgt>
                                        </p:tgtEl>
                                        <p:attrNameLst>
                                          <p:attrName>style.visibility</p:attrName>
                                        </p:attrNameLst>
                                      </p:cBhvr>
                                      <p:to>
                                        <p:strVal val="visible"/>
                                      </p:to>
                                    </p:set>
                                    <p:anim calcmode="lin" valueType="num">
                                      <p:cBhvr additive="base">
                                        <p:cTn id="19" dur="500" fill="hold"/>
                                        <p:tgtEl>
                                          <p:spTgt spid="7172">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17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7172">
                                            <p:txEl>
                                              <p:pRg st="2" end="2"/>
                                            </p:txEl>
                                          </p:spTgt>
                                        </p:tgtEl>
                                        <p:attrNameLst>
                                          <p:attrName>style.visibility</p:attrName>
                                        </p:attrNameLst>
                                      </p:cBhvr>
                                      <p:to>
                                        <p:strVal val="visible"/>
                                      </p:to>
                                    </p:set>
                                    <p:anim calcmode="lin" valueType="num">
                                      <p:cBhvr additive="base">
                                        <p:cTn id="25" dur="500" fill="hold"/>
                                        <p:tgtEl>
                                          <p:spTgt spid="7172">
                                            <p:txEl>
                                              <p:pRg st="2" end="2"/>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7172">
                                            <p:txEl>
                                              <p:pRg st="2" end="2"/>
                                            </p:txEl>
                                          </p:spTgt>
                                        </p:tgtEl>
                                        <p:attrNameLst>
                                          <p:attrName>ppt_y</p:attrName>
                                        </p:attrNameLst>
                                      </p:cBhvr>
                                      <p:tavLst>
                                        <p:tav tm="0">
                                          <p:val>
                                            <p:strVal val="#ppt_y"/>
                                          </p:val>
                                        </p:tav>
                                        <p:tav tm="100000">
                                          <p:val>
                                            <p:strVal val="#ppt_y"/>
                                          </p:val>
                                        </p:tav>
                                      </p:tavLst>
                                    </p:anim>
                                  </p:childTnLst>
                                </p:cTn>
                              </p:par>
                              <p:par>
                                <p:cTn id="27" presetID="2" presetClass="entr" presetSubtype="2" fill="hold" nodeType="withEffect">
                                  <p:stCondLst>
                                    <p:cond delay="0"/>
                                  </p:stCondLst>
                                  <p:childTnLst>
                                    <p:set>
                                      <p:cBhvr>
                                        <p:cTn id="28" dur="1" fill="hold">
                                          <p:stCondLst>
                                            <p:cond delay="0"/>
                                          </p:stCondLst>
                                        </p:cTn>
                                        <p:tgtEl>
                                          <p:spTgt spid="7171"/>
                                        </p:tgtEl>
                                        <p:attrNameLst>
                                          <p:attrName>style.visibility</p:attrName>
                                        </p:attrNameLst>
                                      </p:cBhvr>
                                      <p:to>
                                        <p:strVal val="visible"/>
                                      </p:to>
                                    </p:set>
                                    <p:anim calcmode="lin" valueType="num">
                                      <p:cBhvr additive="base">
                                        <p:cTn id="29" dur="500" fill="hold"/>
                                        <p:tgtEl>
                                          <p:spTgt spid="7171"/>
                                        </p:tgtEl>
                                        <p:attrNameLst>
                                          <p:attrName>ppt_x</p:attrName>
                                        </p:attrNameLst>
                                      </p:cBhvr>
                                      <p:tavLst>
                                        <p:tav tm="0">
                                          <p:val>
                                            <p:strVal val="1+#ppt_w/2"/>
                                          </p:val>
                                        </p:tav>
                                        <p:tav tm="100000">
                                          <p:val>
                                            <p:strVal val="#ppt_x"/>
                                          </p:val>
                                        </p:tav>
                                      </p:tavLst>
                                    </p:anim>
                                    <p:anim calcmode="lin" valueType="num">
                                      <p:cBhvr additive="base">
                                        <p:cTn id="30" dur="500" fill="hold"/>
                                        <p:tgtEl>
                                          <p:spTgt spid="7171"/>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7170"/>
                                        </p:tgtEl>
                                        <p:attrNameLst>
                                          <p:attrName>style.visibility</p:attrName>
                                        </p:attrNameLst>
                                      </p:cBhvr>
                                      <p:to>
                                        <p:strVal val="visible"/>
                                      </p:to>
                                    </p:set>
                                    <p:anim calcmode="lin" valueType="num">
                                      <p:cBhvr additive="base">
                                        <p:cTn id="35" dur="500" fill="hold"/>
                                        <p:tgtEl>
                                          <p:spTgt spid="7170"/>
                                        </p:tgtEl>
                                        <p:attrNameLst>
                                          <p:attrName>ppt_x</p:attrName>
                                        </p:attrNameLst>
                                      </p:cBhvr>
                                      <p:tavLst>
                                        <p:tav tm="0">
                                          <p:val>
                                            <p:strVal val="#ppt_x"/>
                                          </p:val>
                                        </p:tav>
                                        <p:tav tm="100000">
                                          <p:val>
                                            <p:strVal val="#ppt_x"/>
                                          </p:val>
                                        </p:tav>
                                      </p:tavLst>
                                    </p:anim>
                                    <p:anim calcmode="lin" valueType="num">
                                      <p:cBhvr additive="base">
                                        <p:cTn id="36" dur="500" fill="hold"/>
                                        <p:tgtEl>
                                          <p:spTgt spid="71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p:bldP spid="717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244725"/>
            <a:ext cx="4829175" cy="757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411" name="TextBox 27"/>
          <p:cNvSpPr txBox="1">
            <a:spLocks noChangeArrowheads="1"/>
          </p:cNvSpPr>
          <p:nvPr/>
        </p:nvSpPr>
        <p:spPr bwMode="auto">
          <a:xfrm>
            <a:off x="2057400" y="82550"/>
            <a:ext cx="7010400" cy="16319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a:spcBef>
                <a:spcPct val="0"/>
              </a:spcBef>
              <a:buFontTx/>
              <a:buNone/>
            </a:pPr>
            <a:r>
              <a:rPr lang="en-US" altLang="en-US" sz="2000" b="1">
                <a:effectLst/>
                <a:latin typeface="Arial" charset="0"/>
              </a:rPr>
              <a:t>INCORRECT </a:t>
            </a:r>
            <a:r>
              <a:rPr lang="en-US" altLang="en-US" sz="2000" u="sng">
                <a:effectLst/>
                <a:latin typeface="Arial" charset="0"/>
              </a:rPr>
              <a:t>Two single-sample 95% confidence intervals</a:t>
            </a:r>
            <a:r>
              <a:rPr lang="en-US" altLang="en-US" sz="2000">
                <a:effectLst/>
                <a:latin typeface="Arial" charset="0"/>
              </a:rPr>
              <a:t>: The confidence interval for the male mean and the confidence interval for the female mean </a:t>
            </a:r>
            <a:r>
              <a:rPr lang="en-US" altLang="en-US" sz="2000" u="sng">
                <a:effectLst/>
                <a:latin typeface="Arial" charset="0"/>
              </a:rPr>
              <a:t>overlap</a:t>
            </a:r>
            <a:r>
              <a:rPr lang="en-US" altLang="en-US" sz="2000" b="1">
                <a:effectLst/>
                <a:latin typeface="Arial" charset="0"/>
              </a:rPr>
              <a:t>, suggesting no significant difference </a:t>
            </a:r>
            <a:r>
              <a:rPr lang="en-US" altLang="en-US" sz="2000">
                <a:effectLst/>
                <a:latin typeface="Arial" charset="0"/>
              </a:rPr>
              <a:t>between the true mean for males and the true mean for females.</a:t>
            </a:r>
          </a:p>
        </p:txBody>
      </p:sp>
      <p:sp>
        <p:nvSpPr>
          <p:cNvPr id="30" name="Right Brace 29"/>
          <p:cNvSpPr>
            <a:spLocks noChangeAspect="1"/>
          </p:cNvSpPr>
          <p:nvPr/>
        </p:nvSpPr>
        <p:spPr bwMode="auto">
          <a:xfrm>
            <a:off x="4368030" y="1871039"/>
            <a:ext cx="332556" cy="746991"/>
          </a:xfrm>
          <a:prstGeom prst="rightBrace">
            <a:avLst/>
          </a:prstGeom>
          <a:noFill/>
          <a:ln w="19050" cap="flat" cmpd="sng" algn="ctr">
            <a:solidFill>
              <a:srgbClr val="FF0000"/>
            </a:solidFill>
            <a:prstDash val="solid"/>
            <a:round/>
            <a:headEnd type="none" w="med" len="med"/>
            <a:tailEnd type="none" w="med" len="med"/>
          </a:ln>
          <a:effectLst/>
          <a:scene3d>
            <a:camera prst="orthographicFront">
              <a:rot lat="0" lon="0" rev="5400000"/>
            </a:camera>
            <a:lightRig rig="threePt" dir="t"/>
          </a:scene3d>
        </p:spPr>
        <p:txBody>
          <a:bodyPr/>
          <a:lstStyle/>
          <a:p>
            <a:pPr>
              <a:defRPr/>
            </a:pPr>
            <a:endParaRPr lang="en-US">
              <a:effectLst/>
              <a:latin typeface="Times New Roman" pitchFamily="18" charset="0"/>
            </a:endParaRPr>
          </a:p>
        </p:txBody>
      </p:sp>
      <p:sp>
        <p:nvSpPr>
          <p:cNvPr id="17413" name="Left Brace 30"/>
          <p:cNvSpPr>
            <a:spLocks noChangeAspect="1"/>
          </p:cNvSpPr>
          <p:nvPr/>
        </p:nvSpPr>
        <p:spPr bwMode="auto">
          <a:xfrm rot="-5400000">
            <a:off x="3672681" y="2521744"/>
            <a:ext cx="401638" cy="889000"/>
          </a:xfrm>
          <a:prstGeom prst="leftBrace">
            <a:avLst>
              <a:gd name="adj1" fmla="val 8341"/>
              <a:gd name="adj2" fmla="val 50000"/>
            </a:avLst>
          </a:prstGeom>
          <a:noFill/>
          <a:ln w="222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spcBef>
                <a:spcPct val="0"/>
              </a:spcBef>
              <a:buFontTx/>
              <a:buNone/>
            </a:pPr>
            <a:endParaRPr lang="en-US" altLang="en-US" sz="2400">
              <a:solidFill>
                <a:srgbClr val="FF0000"/>
              </a:solidFill>
              <a:effectLst/>
              <a:latin typeface="Times New Roman" pitchFamily="18" charset="0"/>
            </a:endParaRPr>
          </a:p>
        </p:txBody>
      </p:sp>
      <p:sp>
        <p:nvSpPr>
          <p:cNvPr id="44032" name="Rectangle 44031"/>
          <p:cNvSpPr>
            <a:spLocks/>
          </p:cNvSpPr>
          <p:nvPr/>
        </p:nvSpPr>
        <p:spPr bwMode="auto">
          <a:xfrm>
            <a:off x="4187825" y="2473325"/>
            <a:ext cx="114300" cy="212725"/>
          </a:xfrm>
          <a:prstGeom prst="rect">
            <a:avLst/>
          </a:prstGeom>
          <a:pattFill prst="weave">
            <a:fgClr>
              <a:schemeClr val="tx1">
                <a:lumMod val="75000"/>
              </a:schemeClr>
            </a:fgClr>
            <a:bgClr>
              <a:schemeClr val="bg1"/>
            </a:bgClr>
          </a:pattFill>
          <a:ln w="9525" cap="flat" cmpd="sng" algn="ctr">
            <a:noFill/>
            <a:prstDash val="solid"/>
            <a:round/>
            <a:headEnd type="none" w="med" len="med"/>
            <a:tailEnd type="none" w="med" len="med"/>
          </a:ln>
          <a:effectLst/>
        </p:spPr>
        <p:txBody>
          <a:bodyPr/>
          <a:lstStyle/>
          <a:p>
            <a:pPr>
              <a:defRPr/>
            </a:pPr>
            <a:endParaRPr lang="en-US">
              <a:effectLst/>
              <a:latin typeface="Times New Roman" pitchFamily="18" charset="0"/>
            </a:endParaRPr>
          </a:p>
        </p:txBody>
      </p:sp>
      <p:sp>
        <p:nvSpPr>
          <p:cNvPr id="17415" name="TextBox 44032"/>
          <p:cNvSpPr txBox="1">
            <a:spLocks noChangeArrowheads="1"/>
          </p:cNvSpPr>
          <p:nvPr/>
        </p:nvSpPr>
        <p:spPr bwMode="auto">
          <a:xfrm>
            <a:off x="3224213" y="1714500"/>
            <a:ext cx="29479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spcBef>
                <a:spcPct val="0"/>
              </a:spcBef>
              <a:buFontTx/>
              <a:buNone/>
            </a:pPr>
            <a:r>
              <a:rPr lang="en-US" altLang="en-US" sz="1600" b="1">
                <a:solidFill>
                  <a:srgbClr val="FF0000"/>
                </a:solidFill>
                <a:effectLst/>
                <a:latin typeface="Arial" charset="0"/>
              </a:rPr>
              <a:t>Male interval: (18.68, 20.12)</a:t>
            </a:r>
          </a:p>
        </p:txBody>
      </p:sp>
      <p:graphicFrame>
        <p:nvGraphicFramePr>
          <p:cNvPr id="44038" name="Content Placeholder 44037"/>
          <p:cNvGraphicFramePr>
            <a:graphicFrameLocks noGrp="1"/>
          </p:cNvGraphicFramePr>
          <p:nvPr>
            <p:ph idx="1"/>
          </p:nvPr>
        </p:nvGraphicFramePr>
        <p:xfrm>
          <a:off x="339725" y="1882775"/>
          <a:ext cx="1981201" cy="1270006"/>
        </p:xfrm>
        <a:graphic>
          <a:graphicData uri="http://schemas.openxmlformats.org/drawingml/2006/table">
            <a:tbl>
              <a:tblPr>
                <a:tableStyleId>{C4B1156A-380E-4F78-BDF5-A606A8083BF9}</a:tableStyleId>
              </a:tblPr>
              <a:tblGrid>
                <a:gridCol w="731520"/>
                <a:gridCol w="563881"/>
                <a:gridCol w="685800"/>
              </a:tblGrid>
              <a:tr h="304750">
                <a:tc>
                  <a:txBody>
                    <a:bodyPr/>
                    <a:lstStyle/>
                    <a:p>
                      <a:endParaRPr lang="en-US" sz="1400" dirty="0"/>
                    </a:p>
                  </a:txBody>
                  <a:tcPr marL="45720" marR="45720" marT="45696" marB="4569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1400" dirty="0" smtClean="0"/>
                        <a:t>Male</a:t>
                      </a:r>
                      <a:endParaRPr lang="en-US" sz="1400" dirty="0"/>
                    </a:p>
                  </a:txBody>
                  <a:tcPr marL="45720" marR="45720" marT="45696" marB="4569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1400" dirty="0" smtClean="0"/>
                        <a:t>Female</a:t>
                      </a:r>
                      <a:endParaRPr lang="en-US" sz="1400" dirty="0"/>
                    </a:p>
                  </a:txBody>
                  <a:tcPr marL="45720" marR="45720" marT="45696" marB="4569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304750">
                <a:tc>
                  <a:txBody>
                    <a:bodyPr/>
                    <a:lstStyle/>
                    <a:p>
                      <a:pPr algn="r"/>
                      <a:r>
                        <a:rPr lang="en-US" sz="1400" dirty="0" smtClean="0"/>
                        <a:t>mean</a:t>
                      </a:r>
                      <a:endParaRPr lang="en-US" sz="1400" dirty="0"/>
                    </a:p>
                  </a:txBody>
                  <a:tcPr marL="45720" marR="45720" marT="45696" marB="4569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1400" dirty="0" smtClean="0"/>
                        <a:t>19.4</a:t>
                      </a:r>
                      <a:endParaRPr lang="en-US" sz="1400" dirty="0"/>
                    </a:p>
                  </a:txBody>
                  <a:tcPr marL="45720" marR="45720" marT="45696" marB="4569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1400" dirty="0" smtClean="0"/>
                        <a:t>17.9</a:t>
                      </a:r>
                      <a:endParaRPr lang="en-US" sz="1400" dirty="0"/>
                    </a:p>
                  </a:txBody>
                  <a:tcPr marL="45720" marR="45720" marT="45696" marB="4569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355750">
                <a:tc>
                  <a:txBody>
                    <a:bodyPr/>
                    <a:lstStyle/>
                    <a:p>
                      <a:pPr algn="r"/>
                      <a:r>
                        <a:rPr lang="en-US" sz="1400" dirty="0" err="1" smtClean="0"/>
                        <a:t>st.</a:t>
                      </a:r>
                      <a:r>
                        <a:rPr lang="en-US" sz="1400" dirty="0" smtClean="0"/>
                        <a:t> dev. s</a:t>
                      </a:r>
                      <a:endParaRPr lang="en-US" sz="1400" dirty="0"/>
                    </a:p>
                  </a:txBody>
                  <a:tcPr marL="45720" marR="45720" marT="45696" marB="4569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1400" dirty="0" smtClean="0"/>
                        <a:t>2.52</a:t>
                      </a:r>
                      <a:endParaRPr lang="en-US" sz="1400" dirty="0"/>
                    </a:p>
                  </a:txBody>
                  <a:tcPr marL="45720" marR="45720" marT="45696" marB="4569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1400" dirty="0" smtClean="0"/>
                        <a:t>3.39</a:t>
                      </a:r>
                      <a:endParaRPr lang="en-US" sz="1400" dirty="0"/>
                    </a:p>
                  </a:txBody>
                  <a:tcPr marL="45720" marR="45720" marT="45696" marB="4569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r h="304750">
                <a:tc>
                  <a:txBody>
                    <a:bodyPr/>
                    <a:lstStyle/>
                    <a:p>
                      <a:pPr algn="r"/>
                      <a:r>
                        <a:rPr lang="en-US" sz="1400" dirty="0" smtClean="0"/>
                        <a:t>n</a:t>
                      </a:r>
                      <a:endParaRPr lang="en-US" sz="1400" dirty="0"/>
                    </a:p>
                  </a:txBody>
                  <a:tcPr marL="45720" marR="45720" marT="45696" marB="4569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1400" dirty="0" smtClean="0"/>
                        <a:t>50</a:t>
                      </a:r>
                      <a:endParaRPr lang="en-US" sz="1400" dirty="0"/>
                    </a:p>
                  </a:txBody>
                  <a:tcPr marL="45720" marR="45720" marT="45696" marB="4569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r>
                        <a:rPr lang="en-US" sz="1400" dirty="0" smtClean="0"/>
                        <a:t>50</a:t>
                      </a:r>
                      <a:endParaRPr lang="en-US" sz="1400" dirty="0"/>
                    </a:p>
                  </a:txBody>
                  <a:tcPr marL="45720" marR="45720" marT="45696" marB="45696">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r>
            </a:tbl>
          </a:graphicData>
        </a:graphic>
      </p:graphicFrame>
      <p:sp>
        <p:nvSpPr>
          <p:cNvPr id="17438" name="TextBox 44035"/>
          <p:cNvSpPr txBox="1">
            <a:spLocks noChangeArrowheads="1"/>
          </p:cNvSpPr>
          <p:nvPr/>
        </p:nvSpPr>
        <p:spPr bwMode="auto">
          <a:xfrm>
            <a:off x="2486025" y="3167063"/>
            <a:ext cx="32591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spcBef>
                <a:spcPct val="0"/>
              </a:spcBef>
              <a:buFontTx/>
              <a:buNone/>
            </a:pPr>
            <a:r>
              <a:rPr lang="en-US" altLang="en-US" sz="1600" b="1">
                <a:solidFill>
                  <a:srgbClr val="FF0000"/>
                </a:solidFill>
                <a:effectLst/>
                <a:latin typeface="Arial" charset="0"/>
              </a:rPr>
              <a:t>Female interval: (16.94, 18.86)</a:t>
            </a:r>
          </a:p>
        </p:txBody>
      </p:sp>
      <p:graphicFrame>
        <p:nvGraphicFramePr>
          <p:cNvPr id="17439" name="Object 44039"/>
          <p:cNvGraphicFramePr>
            <a:graphicFrameLocks noChangeAspect="1"/>
          </p:cNvGraphicFramePr>
          <p:nvPr/>
        </p:nvGraphicFramePr>
        <p:xfrm>
          <a:off x="492125" y="3506788"/>
          <a:ext cx="7753350" cy="2151062"/>
        </p:xfrm>
        <a:graphic>
          <a:graphicData uri="http://schemas.openxmlformats.org/presentationml/2006/ole">
            <mc:AlternateContent xmlns:mc="http://schemas.openxmlformats.org/markup-compatibility/2006">
              <mc:Choice xmlns:v="urn:schemas-microsoft-com:vml" Requires="v">
                <p:oleObj spid="_x0000_s49155" name="Equation" r:id="rId4" imgW="4292600" imgH="1193800" progId="Equation.DSMT4">
                  <p:embed/>
                </p:oleObj>
              </mc:Choice>
              <mc:Fallback>
                <p:oleObj name="Equation" r:id="rId4" imgW="4292600" imgH="11938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2125" y="3506788"/>
                        <a:ext cx="7753350" cy="215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7440" name="Straight Connector 44041"/>
          <p:cNvCxnSpPr>
            <a:cxnSpLocks noChangeShapeType="1"/>
          </p:cNvCxnSpPr>
          <p:nvPr/>
        </p:nvCxnSpPr>
        <p:spPr bwMode="auto">
          <a:xfrm>
            <a:off x="1566863" y="5943600"/>
            <a:ext cx="5943600" cy="0"/>
          </a:xfrm>
          <a:prstGeom prst="line">
            <a:avLst/>
          </a:prstGeom>
          <a:noFill/>
          <a:ln w="25400" algn="ctr">
            <a:solidFill>
              <a:schemeClr val="tx1"/>
            </a:solidFill>
            <a:round/>
            <a:headEnd/>
            <a:tailEnd/>
          </a:ln>
          <a:extLst>
            <a:ext uri="{909E8E84-426E-40DD-AFC4-6F175D3DCCD1}">
              <a14:hiddenFill xmlns:a14="http://schemas.microsoft.com/office/drawing/2010/main">
                <a:noFill/>
              </a14:hiddenFill>
            </a:ext>
          </a:extLst>
        </p:spPr>
      </p:cxnSp>
      <p:cxnSp>
        <p:nvCxnSpPr>
          <p:cNvPr id="17441" name="Straight Connector 44047"/>
          <p:cNvCxnSpPr>
            <a:cxnSpLocks noChangeShapeType="1"/>
          </p:cNvCxnSpPr>
          <p:nvPr/>
        </p:nvCxnSpPr>
        <p:spPr bwMode="auto">
          <a:xfrm>
            <a:off x="2116138" y="5829300"/>
            <a:ext cx="0" cy="228600"/>
          </a:xfrm>
          <a:prstGeom prst="line">
            <a:avLst/>
          </a:prstGeom>
          <a:noFill/>
          <a:ln w="22225" algn="ctr">
            <a:solidFill>
              <a:schemeClr val="tx1"/>
            </a:solidFill>
            <a:round/>
            <a:headEnd/>
            <a:tailEnd/>
          </a:ln>
          <a:extLst>
            <a:ext uri="{909E8E84-426E-40DD-AFC4-6F175D3DCCD1}">
              <a14:hiddenFill xmlns:a14="http://schemas.microsoft.com/office/drawing/2010/main">
                <a:noFill/>
              </a14:hiddenFill>
            </a:ext>
          </a:extLst>
        </p:spPr>
      </p:cxnSp>
      <p:cxnSp>
        <p:nvCxnSpPr>
          <p:cNvPr id="17442" name="Straight Connector 44049"/>
          <p:cNvCxnSpPr>
            <a:cxnSpLocks noChangeShapeType="1"/>
          </p:cNvCxnSpPr>
          <p:nvPr/>
        </p:nvCxnSpPr>
        <p:spPr bwMode="auto">
          <a:xfrm>
            <a:off x="3873500" y="5829300"/>
            <a:ext cx="0" cy="228600"/>
          </a:xfrm>
          <a:prstGeom prst="line">
            <a:avLst/>
          </a:prstGeom>
          <a:noFill/>
          <a:ln w="22225" algn="ctr">
            <a:solidFill>
              <a:schemeClr val="tx1"/>
            </a:solidFill>
            <a:round/>
            <a:headEnd/>
            <a:tailEnd/>
          </a:ln>
          <a:extLst>
            <a:ext uri="{909E8E84-426E-40DD-AFC4-6F175D3DCCD1}">
              <a14:hiddenFill xmlns:a14="http://schemas.microsoft.com/office/drawing/2010/main">
                <a:noFill/>
              </a14:hiddenFill>
            </a:ext>
          </a:extLst>
        </p:spPr>
      </p:cxnSp>
      <p:sp>
        <p:nvSpPr>
          <p:cNvPr id="17443" name="TextBox 44050"/>
          <p:cNvSpPr txBox="1">
            <a:spLocks noChangeArrowheads="1"/>
          </p:cNvSpPr>
          <p:nvPr/>
        </p:nvSpPr>
        <p:spPr bwMode="auto">
          <a:xfrm>
            <a:off x="1963738" y="6072188"/>
            <a:ext cx="322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spcBef>
                <a:spcPct val="0"/>
              </a:spcBef>
              <a:buFontTx/>
              <a:buNone/>
            </a:pPr>
            <a:r>
              <a:rPr lang="en-US" altLang="en-US" sz="2000" b="1">
                <a:effectLst/>
                <a:latin typeface="Arial" charset="0"/>
              </a:rPr>
              <a:t>0</a:t>
            </a:r>
          </a:p>
        </p:txBody>
      </p:sp>
      <p:sp>
        <p:nvSpPr>
          <p:cNvPr id="17444" name="TextBox 51"/>
          <p:cNvSpPr txBox="1">
            <a:spLocks noChangeArrowheads="1"/>
          </p:cNvSpPr>
          <p:nvPr/>
        </p:nvSpPr>
        <p:spPr bwMode="auto">
          <a:xfrm>
            <a:off x="3697288" y="6089650"/>
            <a:ext cx="6715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spcBef>
                <a:spcPct val="0"/>
              </a:spcBef>
              <a:buFontTx/>
              <a:buNone/>
            </a:pPr>
            <a:r>
              <a:rPr lang="en-US" altLang="en-US" sz="2000" b="1">
                <a:effectLst/>
                <a:latin typeface="Arial" charset="0"/>
              </a:rPr>
              <a:t>1.5</a:t>
            </a:r>
          </a:p>
        </p:txBody>
      </p:sp>
      <p:sp>
        <p:nvSpPr>
          <p:cNvPr id="44052" name="Left Bracket 44051"/>
          <p:cNvSpPr/>
          <p:nvPr/>
        </p:nvSpPr>
        <p:spPr bwMode="auto">
          <a:xfrm flipH="1">
            <a:off x="2436117" y="5835739"/>
            <a:ext cx="154682" cy="260690"/>
          </a:xfrm>
          <a:prstGeom prst="leftBracket">
            <a:avLst/>
          </a:prstGeom>
          <a:noFill/>
          <a:ln w="22225" cap="flat" cmpd="sng" algn="ctr">
            <a:solidFill>
              <a:srgbClr val="FF0000"/>
            </a:solidFill>
            <a:prstDash val="solid"/>
            <a:round/>
            <a:headEnd type="none" w="med" len="med"/>
            <a:tailEnd type="none" w="med" len="med"/>
          </a:ln>
          <a:effectLst/>
          <a:scene3d>
            <a:camera prst="orthographicFront">
              <a:rot lat="0" lon="0" rev="10800000"/>
            </a:camera>
            <a:lightRig rig="threePt" dir="t"/>
          </a:scene3d>
        </p:spPr>
        <p:txBody>
          <a:bodyPr/>
          <a:lstStyle/>
          <a:p>
            <a:pPr>
              <a:defRPr/>
            </a:pPr>
            <a:endParaRPr lang="en-US">
              <a:effectLst/>
              <a:latin typeface="Times New Roman" pitchFamily="18" charset="0"/>
            </a:endParaRPr>
          </a:p>
        </p:txBody>
      </p:sp>
      <p:sp>
        <p:nvSpPr>
          <p:cNvPr id="44053" name="Left Bracket 44052"/>
          <p:cNvSpPr/>
          <p:nvPr/>
        </p:nvSpPr>
        <p:spPr bwMode="auto">
          <a:xfrm>
            <a:off x="5410200" y="5810712"/>
            <a:ext cx="152400" cy="267129"/>
          </a:xfrm>
          <a:prstGeom prst="leftBracket">
            <a:avLst/>
          </a:prstGeom>
          <a:noFill/>
          <a:ln w="22225" cap="flat" cmpd="sng" algn="ctr">
            <a:solidFill>
              <a:srgbClr val="FF0000"/>
            </a:solidFill>
            <a:prstDash val="solid"/>
            <a:round/>
            <a:headEnd type="none" w="med" len="med"/>
            <a:tailEnd type="none" w="med" len="med"/>
          </a:ln>
          <a:effectLst/>
          <a:scene3d>
            <a:camera prst="orthographicFront">
              <a:rot lat="0" lon="0" rev="10800000"/>
            </a:camera>
            <a:lightRig rig="threePt" dir="t"/>
          </a:scene3d>
        </p:spPr>
        <p:txBody>
          <a:bodyPr/>
          <a:lstStyle/>
          <a:p>
            <a:pPr>
              <a:defRPr/>
            </a:pPr>
            <a:endParaRPr lang="en-US">
              <a:effectLst/>
              <a:latin typeface="Times New Roman" pitchFamily="18" charset="0"/>
            </a:endParaRPr>
          </a:p>
        </p:txBody>
      </p:sp>
      <p:sp>
        <p:nvSpPr>
          <p:cNvPr id="17447" name="TextBox 54"/>
          <p:cNvSpPr txBox="1">
            <a:spLocks noChangeArrowheads="1"/>
          </p:cNvSpPr>
          <p:nvPr/>
        </p:nvSpPr>
        <p:spPr bwMode="auto">
          <a:xfrm>
            <a:off x="2178050" y="6097588"/>
            <a:ext cx="793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spcBef>
                <a:spcPct val="0"/>
              </a:spcBef>
              <a:buFontTx/>
              <a:buNone/>
            </a:pPr>
            <a:r>
              <a:rPr lang="en-US" altLang="en-US" sz="2000" b="1">
                <a:effectLst/>
                <a:latin typeface="Arial" charset="0"/>
              </a:rPr>
              <a:t>.313</a:t>
            </a:r>
          </a:p>
        </p:txBody>
      </p:sp>
      <p:sp>
        <p:nvSpPr>
          <p:cNvPr id="17448" name="TextBox 55"/>
          <p:cNvSpPr txBox="1">
            <a:spLocks noChangeArrowheads="1"/>
          </p:cNvSpPr>
          <p:nvPr/>
        </p:nvSpPr>
        <p:spPr bwMode="auto">
          <a:xfrm>
            <a:off x="5075238" y="6097588"/>
            <a:ext cx="7921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charset="0"/>
              <a:buChar char="•"/>
              <a:defRPr sz="3200">
                <a:solidFill>
                  <a:schemeClr val="tx1"/>
                </a:solidFill>
                <a:latin typeface="Calibri" pitchFamily="34" charset="0"/>
              </a:defRPr>
            </a:lvl1pPr>
            <a:lvl2pPr marL="742950" indent="-285750">
              <a:spcBef>
                <a:spcPct val="20000"/>
              </a:spcBef>
              <a:buFont typeface="Arial" charset="0"/>
              <a:buChar char="–"/>
              <a:defRPr sz="2800">
                <a:solidFill>
                  <a:schemeClr val="tx1"/>
                </a:solidFill>
                <a:latin typeface="Calibri" pitchFamily="34" charset="0"/>
              </a:defRPr>
            </a:lvl2pPr>
            <a:lvl3pPr marL="1143000" indent="-228600">
              <a:spcBef>
                <a:spcPct val="20000"/>
              </a:spcBef>
              <a:buFont typeface="Arial" charset="0"/>
              <a:buChar char="•"/>
              <a:defRPr sz="2400">
                <a:solidFill>
                  <a:schemeClr val="tx1"/>
                </a:solidFill>
                <a:latin typeface="Calibri" pitchFamily="34" charset="0"/>
              </a:defRPr>
            </a:lvl3pPr>
            <a:lvl4pPr marL="1600200" indent="-228600">
              <a:spcBef>
                <a:spcPct val="20000"/>
              </a:spcBef>
              <a:buFont typeface="Arial" charset="0"/>
              <a:buChar char="–"/>
              <a:defRPr sz="2000">
                <a:solidFill>
                  <a:schemeClr val="tx1"/>
                </a:solidFill>
                <a:latin typeface="Calibri" pitchFamily="34" charset="0"/>
              </a:defRPr>
            </a:lvl4pPr>
            <a:lvl5pPr marL="2057400" indent="-22860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spcBef>
                <a:spcPct val="0"/>
              </a:spcBef>
              <a:buFontTx/>
              <a:buNone/>
            </a:pPr>
            <a:r>
              <a:rPr lang="en-US" altLang="en-US" sz="2000" b="1">
                <a:effectLst/>
                <a:latin typeface="Arial" charset="0"/>
              </a:rPr>
              <a:t>2.69</a:t>
            </a:r>
          </a:p>
        </p:txBody>
      </p:sp>
      <p:pic>
        <p:nvPicPr>
          <p:cNvPr id="17449" name="Picture 43" descr="https://encrypted-tbn0.gstatic.com/images?q=tbn:ANd9GcT44gaPrhqqO_KJ2kFrnECtytQKRa_UdlnBUbGQghCSnarj2P0V"/>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375" y="541338"/>
            <a:ext cx="2365375"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63361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smtClean="0"/>
              <a:t>Reason for Contradictory Result</a:t>
            </a:r>
          </a:p>
        </p:txBody>
      </p:sp>
      <p:sp>
        <p:nvSpPr>
          <p:cNvPr id="3" name="Slide Number Placeholder 2"/>
          <p:cNvSpPr>
            <a:spLocks noGrp="1"/>
          </p:cNvSpPr>
          <p:nvPr>
            <p:ph type="sldNum" sz="quarter" idx="12"/>
          </p:nvPr>
        </p:nvSpPr>
        <p:spPr/>
        <p:txBody>
          <a:bodyPr/>
          <a:lstStyle/>
          <a:p>
            <a:pPr>
              <a:defRPr/>
            </a:pPr>
            <a:fld id="{FF238460-9F28-4DA3-8140-8BDEAEEE1677}" type="slidenum">
              <a:rPr lang="en-US" smtClean="0"/>
              <a:pPr>
                <a:defRPr/>
              </a:pPr>
              <a:t>14</a:t>
            </a:fld>
            <a:endParaRPr lang="en-US"/>
          </a:p>
        </p:txBody>
      </p:sp>
      <p:graphicFrame>
        <p:nvGraphicFramePr>
          <p:cNvPr id="15364" name="Object 3"/>
          <p:cNvGraphicFramePr>
            <a:graphicFrameLocks noChangeAspect="1"/>
          </p:cNvGraphicFramePr>
          <p:nvPr/>
        </p:nvGraphicFramePr>
        <p:xfrm>
          <a:off x="1219200" y="1447800"/>
          <a:ext cx="6553200" cy="4216400"/>
        </p:xfrm>
        <a:graphic>
          <a:graphicData uri="http://schemas.openxmlformats.org/presentationml/2006/ole">
            <mc:AlternateContent xmlns:mc="http://schemas.openxmlformats.org/markup-compatibility/2006">
              <mc:Choice xmlns:v="urn:schemas-microsoft-com:vml" Requires="v">
                <p:oleObj spid="_x0000_s42007" name="Equation" r:id="rId3" imgW="1638300" imgH="1054100" progId="Equation.DSMT4">
                  <p:embed/>
                </p:oleObj>
              </mc:Choice>
              <mc:Fallback>
                <p:oleObj name="Equation" r:id="rId3" imgW="1638300" imgH="10541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1447800"/>
                        <a:ext cx="6553200" cy="421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01057122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3"/>
          <p:cNvSpPr txBox="1">
            <a:spLocks noChangeArrowheads="1"/>
          </p:cNvSpPr>
          <p:nvPr/>
        </p:nvSpPr>
        <p:spPr bwMode="auto">
          <a:xfrm>
            <a:off x="609600" y="228600"/>
            <a:ext cx="6096000" cy="3305175"/>
          </a:xfrm>
          <a:prstGeom prst="rect">
            <a:avLst/>
          </a:prstGeom>
          <a:solidFill>
            <a:srgbClr val="FABF8E"/>
          </a:solidFill>
          <a:ln w="9525">
            <a:noFill/>
            <a:miter lim="800000"/>
            <a:headEnd/>
            <a:tailEnd/>
          </a:ln>
        </p:spPr>
        <p:txBody>
          <a:bodyPr>
            <a:spAutoFit/>
          </a:bodyPr>
          <a:lstStyle/>
          <a:p>
            <a:pPr>
              <a:lnSpc>
                <a:spcPct val="120000"/>
              </a:lnSpc>
              <a:defRPr/>
            </a:pPr>
            <a:r>
              <a:rPr lang="en-US" sz="1800" b="1" dirty="0">
                <a:solidFill>
                  <a:srgbClr val="333399"/>
                </a:solidFill>
                <a:effectLst/>
              </a:rPr>
              <a:t>Does smoking damage the lungs of children exposed to parental smoking?</a:t>
            </a:r>
            <a:endParaRPr lang="en-US" sz="1800" dirty="0">
              <a:solidFill>
                <a:srgbClr val="333399"/>
              </a:solidFill>
              <a:effectLst/>
            </a:endParaRPr>
          </a:p>
          <a:p>
            <a:pPr>
              <a:lnSpc>
                <a:spcPct val="120000"/>
              </a:lnSpc>
              <a:defRPr/>
            </a:pPr>
            <a:endParaRPr lang="en-US" dirty="0">
              <a:solidFill>
                <a:srgbClr val="333399"/>
              </a:solidFill>
            </a:endParaRPr>
          </a:p>
          <a:p>
            <a:pPr>
              <a:lnSpc>
                <a:spcPct val="120000"/>
              </a:lnSpc>
              <a:defRPr/>
            </a:pPr>
            <a:r>
              <a:rPr lang="en-US" sz="1800" dirty="0">
                <a:effectLst/>
              </a:rPr>
              <a:t>Forced vital capacity (FVC) is the volume (in milliliters) of air that an individual can exhale in 6 seconds.</a:t>
            </a:r>
          </a:p>
          <a:p>
            <a:pPr>
              <a:lnSpc>
                <a:spcPct val="120000"/>
              </a:lnSpc>
              <a:defRPr/>
            </a:pPr>
            <a:endParaRPr lang="en-US" dirty="0">
              <a:effectLst/>
            </a:endParaRPr>
          </a:p>
          <a:p>
            <a:pPr>
              <a:lnSpc>
                <a:spcPct val="120000"/>
              </a:lnSpc>
              <a:defRPr/>
            </a:pPr>
            <a:r>
              <a:rPr lang="en-US" sz="1800" dirty="0">
                <a:effectLst/>
              </a:rPr>
              <a:t>FVC was obtained for a sample of children not exposed to parental smoking and a group of children exposed to parental smoking. </a:t>
            </a:r>
          </a:p>
        </p:txBody>
      </p:sp>
      <p:pic>
        <p:nvPicPr>
          <p:cNvPr id="13315" name="Picture 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983163"/>
            <a:ext cx="3124200" cy="187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0521" name="Text Box 25"/>
          <p:cNvSpPr txBox="1">
            <a:spLocks noChangeArrowheads="1"/>
          </p:cNvSpPr>
          <p:nvPr/>
        </p:nvSpPr>
        <p:spPr bwMode="auto">
          <a:xfrm>
            <a:off x="3200400" y="4752975"/>
            <a:ext cx="5791200" cy="1892300"/>
          </a:xfrm>
          <a:prstGeom prst="rect">
            <a:avLst/>
          </a:prstGeom>
          <a:solidFill>
            <a:srgbClr val="FABF8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nSpc>
                <a:spcPct val="130000"/>
              </a:lnSpc>
            </a:pPr>
            <a:r>
              <a:rPr lang="en-US" sz="1800">
                <a:effectLst/>
              </a:rPr>
              <a:t>We want to know whether parental smoking decreases children’s lung capacity as measured by the FVC test.</a:t>
            </a:r>
            <a:endParaRPr lang="en-US" sz="1800" b="1">
              <a:solidFill>
                <a:srgbClr val="FF0000"/>
              </a:solidFill>
              <a:effectLst/>
            </a:endParaRPr>
          </a:p>
          <a:p>
            <a:pPr>
              <a:lnSpc>
                <a:spcPct val="130000"/>
              </a:lnSpc>
            </a:pPr>
            <a:endParaRPr lang="en-US" sz="1800" b="1">
              <a:solidFill>
                <a:srgbClr val="FF0000"/>
              </a:solidFill>
              <a:effectLst/>
            </a:endParaRPr>
          </a:p>
          <a:p>
            <a:pPr>
              <a:lnSpc>
                <a:spcPct val="130000"/>
              </a:lnSpc>
            </a:pPr>
            <a:r>
              <a:rPr lang="en-US" sz="1800" b="1">
                <a:effectLst/>
              </a:rPr>
              <a:t>Is the mean FVC lower in the population of children exposed to parental smoking?</a:t>
            </a:r>
          </a:p>
        </p:txBody>
      </p:sp>
      <p:graphicFrame>
        <p:nvGraphicFramePr>
          <p:cNvPr id="1130523" name="Group 27"/>
          <p:cNvGraphicFramePr>
            <a:graphicFrameLocks noGrp="1"/>
          </p:cNvGraphicFramePr>
          <p:nvPr/>
        </p:nvGraphicFramePr>
        <p:xfrm>
          <a:off x="3048000" y="3505200"/>
          <a:ext cx="4572000" cy="1006476"/>
        </p:xfrm>
        <a:graphic>
          <a:graphicData uri="http://schemas.openxmlformats.org/drawingml/2006/table">
            <a:tbl>
              <a:tblPr/>
              <a:tblGrid>
                <a:gridCol w="1820863"/>
                <a:gridCol w="1089025"/>
                <a:gridCol w="830262"/>
                <a:gridCol w="831850"/>
              </a:tblGrid>
              <a:tr h="335492">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Parental smoking</a:t>
                      </a:r>
                    </a:p>
                  </a:txBody>
                  <a:tcPr marT="45749" marB="4574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smtClean="0">
                          <a:ln>
                            <a:noFill/>
                          </a:ln>
                          <a:solidFill>
                            <a:schemeClr val="tx1"/>
                          </a:solidFill>
                          <a:effectLst/>
                          <a:latin typeface="Arial" charset="0"/>
                        </a:rPr>
                        <a:t>FVC </a:t>
                      </a:r>
                    </a:p>
                  </a:txBody>
                  <a:tcPr marT="45749" marB="457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1" u="none" strike="noStrike" cap="none" normalizeH="0" baseline="0" smtClean="0">
                          <a:ln>
                            <a:noFill/>
                          </a:ln>
                          <a:solidFill>
                            <a:schemeClr val="tx1"/>
                          </a:solidFill>
                          <a:effectLst/>
                          <a:latin typeface="Arial" charset="0"/>
                        </a:rPr>
                        <a:t>s</a:t>
                      </a:r>
                    </a:p>
                  </a:txBody>
                  <a:tcPr marT="45749" marB="457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1" u="none" strike="noStrike" cap="none" normalizeH="0" baseline="0" smtClean="0">
                          <a:ln>
                            <a:noFill/>
                          </a:ln>
                          <a:solidFill>
                            <a:schemeClr val="tx1"/>
                          </a:solidFill>
                          <a:effectLst/>
                          <a:latin typeface="Arial" charset="0"/>
                        </a:rPr>
                        <a:t>n</a:t>
                      </a:r>
                    </a:p>
                  </a:txBody>
                  <a:tcPr marT="45749" marB="4574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5492">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smtClean="0">
                          <a:ln>
                            <a:noFill/>
                          </a:ln>
                          <a:solidFill>
                            <a:schemeClr val="tx1"/>
                          </a:solidFill>
                          <a:effectLst/>
                          <a:latin typeface="Arial" charset="0"/>
                        </a:rPr>
                        <a:t>Yes</a:t>
                      </a:r>
                    </a:p>
                  </a:txBody>
                  <a:tcPr marT="45749" marB="4574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75.5</a:t>
                      </a:r>
                    </a:p>
                  </a:txBody>
                  <a:tcPr marT="45749" marB="457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smtClean="0">
                          <a:ln>
                            <a:noFill/>
                          </a:ln>
                          <a:solidFill>
                            <a:schemeClr val="tx1"/>
                          </a:solidFill>
                          <a:effectLst/>
                          <a:latin typeface="Arial" charset="0"/>
                        </a:rPr>
                        <a:t>9.3</a:t>
                      </a:r>
                    </a:p>
                  </a:txBody>
                  <a:tcPr marT="45749" marB="457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smtClean="0">
                          <a:ln>
                            <a:noFill/>
                          </a:ln>
                          <a:solidFill>
                            <a:schemeClr val="tx1"/>
                          </a:solidFill>
                          <a:effectLst/>
                          <a:latin typeface="Arial" charset="0"/>
                        </a:rPr>
                        <a:t>30</a:t>
                      </a:r>
                    </a:p>
                  </a:txBody>
                  <a:tcPr marT="45749" marB="4574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5492">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smtClean="0">
                          <a:ln>
                            <a:noFill/>
                          </a:ln>
                          <a:solidFill>
                            <a:schemeClr val="tx1"/>
                          </a:solidFill>
                          <a:effectLst/>
                          <a:latin typeface="Arial" charset="0"/>
                        </a:rPr>
                        <a:t>No</a:t>
                      </a:r>
                    </a:p>
                  </a:txBody>
                  <a:tcPr marT="45749" marB="4574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smtClean="0">
                          <a:ln>
                            <a:noFill/>
                          </a:ln>
                          <a:solidFill>
                            <a:schemeClr val="tx1"/>
                          </a:solidFill>
                          <a:effectLst/>
                          <a:latin typeface="Arial" charset="0"/>
                        </a:rPr>
                        <a:t>88.2</a:t>
                      </a:r>
                    </a:p>
                  </a:txBody>
                  <a:tcPr marT="45749" marB="457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smtClean="0">
                          <a:ln>
                            <a:noFill/>
                          </a:ln>
                          <a:solidFill>
                            <a:schemeClr val="tx1"/>
                          </a:solidFill>
                          <a:effectLst/>
                          <a:latin typeface="Arial" charset="0"/>
                        </a:rPr>
                        <a:t>15.1</a:t>
                      </a:r>
                    </a:p>
                  </a:txBody>
                  <a:tcPr marT="45749" marB="457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30</a:t>
                      </a:r>
                    </a:p>
                  </a:txBody>
                  <a:tcPr marT="45749" marB="4574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13339" name="Picture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6125" y="0"/>
            <a:ext cx="2047875"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40" name="Picture 52" descr="Picture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38800" y="3581400"/>
            <a:ext cx="222250" cy="22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305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0521"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32580" name="Group 36"/>
          <p:cNvGraphicFramePr>
            <a:graphicFrameLocks noGrp="1"/>
          </p:cNvGraphicFramePr>
          <p:nvPr/>
        </p:nvGraphicFramePr>
        <p:xfrm>
          <a:off x="219075" y="228600"/>
          <a:ext cx="3962400" cy="973138"/>
        </p:xfrm>
        <a:graphic>
          <a:graphicData uri="http://schemas.openxmlformats.org/drawingml/2006/table">
            <a:tbl>
              <a:tblPr/>
              <a:tblGrid>
                <a:gridCol w="1577975"/>
                <a:gridCol w="944563"/>
                <a:gridCol w="719137"/>
                <a:gridCol w="720725"/>
              </a:tblGrid>
              <a:tr h="212725">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dirty="0" smtClean="0">
                          <a:ln>
                            <a:noFill/>
                          </a:ln>
                          <a:solidFill>
                            <a:schemeClr val="tx1"/>
                          </a:solidFill>
                          <a:effectLst/>
                          <a:latin typeface="Arial" charset="0"/>
                        </a:rPr>
                        <a:t>Parental smoking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smtClean="0">
                          <a:ln>
                            <a:noFill/>
                          </a:ln>
                          <a:solidFill>
                            <a:schemeClr val="tx1"/>
                          </a:solidFill>
                          <a:effectLst/>
                          <a:latin typeface="Arial" charset="0"/>
                        </a:rPr>
                        <a:t>FVC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smtClean="0">
                          <a:ln>
                            <a:noFill/>
                          </a:ln>
                          <a:solidFill>
                            <a:schemeClr val="tx1"/>
                          </a:solidFill>
                          <a:effectLst/>
                          <a:latin typeface="Arial" charset="0"/>
                        </a:rPr>
                        <a: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smtClean="0">
                          <a:ln>
                            <a:noFill/>
                          </a:ln>
                          <a:solidFill>
                            <a:schemeClr val="tx1"/>
                          </a:solidFill>
                          <a:effectLst/>
                          <a:latin typeface="Arial" charset="0"/>
                        </a:rPr>
                        <a:t>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dirty="0" smtClean="0">
                          <a:ln>
                            <a:noFill/>
                          </a:ln>
                          <a:solidFill>
                            <a:schemeClr val="tx1"/>
                          </a:solidFill>
                          <a:effectLst/>
                          <a:latin typeface="Arial" charset="0"/>
                        </a:rPr>
                        <a:t>Yes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dirty="0" smtClean="0">
                          <a:ln>
                            <a:noFill/>
                          </a:ln>
                          <a:solidFill>
                            <a:schemeClr val="tx1"/>
                          </a:solidFill>
                          <a:effectLst/>
                          <a:latin typeface="Arial" charset="0"/>
                        </a:rPr>
                        <a:t>75.5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smtClean="0">
                          <a:ln>
                            <a:noFill/>
                          </a:ln>
                          <a:solidFill>
                            <a:schemeClr val="tx1"/>
                          </a:solidFill>
                          <a:effectLst/>
                          <a:latin typeface="Arial" charset="0"/>
                        </a:rPr>
                        <a:t>9.3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smtClean="0">
                          <a:ln>
                            <a:noFill/>
                          </a:ln>
                          <a:solidFill>
                            <a:schemeClr val="tx1"/>
                          </a:solidFill>
                          <a:effectLst/>
                          <a:latin typeface="Arial"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3375">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smtClean="0">
                          <a:ln>
                            <a:noFill/>
                          </a:ln>
                          <a:solidFill>
                            <a:schemeClr val="tx1"/>
                          </a:solidFill>
                          <a:effectLst/>
                          <a:latin typeface="Arial" charset="0"/>
                        </a:rPr>
                        <a:t>No</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smtClean="0">
                          <a:ln>
                            <a:noFill/>
                          </a:ln>
                          <a:solidFill>
                            <a:schemeClr val="tx1"/>
                          </a:solidFill>
                          <a:effectLst/>
                          <a:latin typeface="Arial" charset="0"/>
                        </a:rPr>
                        <a:t>88.2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smtClean="0">
                          <a:ln>
                            <a:noFill/>
                          </a:ln>
                          <a:solidFill>
                            <a:schemeClr val="tx1"/>
                          </a:solidFill>
                          <a:effectLst/>
                          <a:latin typeface="Arial" charset="0"/>
                        </a:rPr>
                        <a:t>15.1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dirty="0" smtClean="0">
                          <a:ln>
                            <a:noFill/>
                          </a:ln>
                          <a:solidFill>
                            <a:schemeClr val="tx1"/>
                          </a:solidFill>
                          <a:effectLst/>
                          <a:latin typeface="Arial"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132581" name="Text Box 37"/>
          <p:cNvSpPr txBox="1">
            <a:spLocks noChangeArrowheads="1"/>
          </p:cNvSpPr>
          <p:nvPr/>
        </p:nvSpPr>
        <p:spPr bwMode="auto">
          <a:xfrm>
            <a:off x="152400" y="5657850"/>
            <a:ext cx="8001000" cy="1200150"/>
          </a:xfrm>
          <a:prstGeom prst="rect">
            <a:avLst/>
          </a:prstGeom>
          <a:noFill/>
          <a:ln w="9525">
            <a:noFill/>
            <a:miter lim="800000"/>
            <a:headEnd/>
            <a:tailEnd/>
          </a:ln>
        </p:spPr>
        <p:txBody>
          <a:bodyPr>
            <a:spAutoFit/>
          </a:bodyPr>
          <a:lstStyle/>
          <a:p>
            <a:pPr>
              <a:defRPr/>
            </a:pPr>
            <a:r>
              <a:rPr lang="en-US" b="1" dirty="0"/>
              <a:t>We are 95% confident that lung capacity is between 19.21 and 6.19 milliliters </a:t>
            </a:r>
            <a:r>
              <a:rPr lang="en-US" b="1" dirty="0">
                <a:solidFill>
                  <a:srgbClr val="FF0000"/>
                </a:solidFill>
              </a:rPr>
              <a:t>LESS</a:t>
            </a:r>
            <a:r>
              <a:rPr lang="en-US" b="1" dirty="0"/>
              <a:t> in children of smoking parents. </a:t>
            </a:r>
            <a:endParaRPr lang="en-US" dirty="0"/>
          </a:p>
        </p:txBody>
      </p:sp>
      <p:pic>
        <p:nvPicPr>
          <p:cNvPr id="14361" name="Picture 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4200" y="3810000"/>
            <a:ext cx="2047875"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62" name="Picture 39" descr="Picture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17775" y="231775"/>
            <a:ext cx="225425"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0" y="1676400"/>
            <a:ext cx="6934200" cy="1089025"/>
          </a:xfrm>
          <a:prstGeom prst="rect">
            <a:avLst/>
          </a:prstGeom>
        </p:spPr>
        <p:txBody>
          <a:bodyPr>
            <a:spAutoFit/>
          </a:bodyPr>
          <a:lstStyle/>
          <a:p>
            <a:pPr>
              <a:spcBef>
                <a:spcPct val="20000"/>
              </a:spcBef>
              <a:buClr>
                <a:srgbClr val="00CC99"/>
              </a:buClr>
              <a:buSzPct val="65000"/>
              <a:buFont typeface="Wingdings" pitchFamily="2" charset="2"/>
              <a:buNone/>
              <a:defRPr/>
            </a:pPr>
            <a:r>
              <a:rPr lang="en-US" dirty="0">
                <a:effectLst/>
              </a:rPr>
              <a:t>95% confidence interval for (</a:t>
            </a:r>
            <a:r>
              <a:rPr lang="en-US" i="1" dirty="0">
                <a:effectLst/>
                <a:cs typeface="Arial" charset="0"/>
              </a:rPr>
              <a:t>µ</a:t>
            </a:r>
            <a:r>
              <a:rPr lang="en-US" baseline="-25000" dirty="0">
                <a:effectLst/>
                <a:cs typeface="Arial" charset="0"/>
              </a:rPr>
              <a:t>1 </a:t>
            </a:r>
            <a:r>
              <a:rPr lang="en-US" dirty="0">
                <a:effectLst/>
                <a:cs typeface="Arial" charset="0"/>
              </a:rPr>
              <a:t>− </a:t>
            </a:r>
            <a:r>
              <a:rPr lang="en-US" i="1" dirty="0">
                <a:effectLst/>
                <a:cs typeface="Arial" charset="0"/>
              </a:rPr>
              <a:t>µ</a:t>
            </a:r>
            <a:r>
              <a:rPr lang="en-US" baseline="-25000" dirty="0">
                <a:effectLst/>
                <a:cs typeface="Arial" charset="0"/>
              </a:rPr>
              <a:t>2</a:t>
            </a:r>
            <a:r>
              <a:rPr lang="en-US" dirty="0">
                <a:effectLst/>
              </a:rPr>
              <a:t>), with</a:t>
            </a:r>
          </a:p>
          <a:p>
            <a:pPr>
              <a:lnSpc>
                <a:spcPct val="150000"/>
              </a:lnSpc>
              <a:spcBef>
                <a:spcPct val="20000"/>
              </a:spcBef>
              <a:buClr>
                <a:srgbClr val="00CC99"/>
              </a:buClr>
              <a:buSzPct val="65000"/>
              <a:buFont typeface="Wingdings" pitchFamily="2" charset="2"/>
              <a:buNone/>
              <a:defRPr/>
            </a:pPr>
            <a:r>
              <a:rPr lang="en-US" dirty="0" err="1">
                <a:effectLst/>
              </a:rPr>
              <a:t>df</a:t>
            </a:r>
            <a:r>
              <a:rPr lang="en-US" dirty="0">
                <a:effectLst/>
              </a:rPr>
              <a:t> = 48.23</a:t>
            </a:r>
            <a:r>
              <a:rPr lang="en-US" dirty="0">
                <a:effectLst/>
                <a:sym typeface="Wingdings" pitchFamily="2" charset="2"/>
              </a:rPr>
              <a:t></a:t>
            </a:r>
            <a:r>
              <a:rPr lang="en-US" dirty="0">
                <a:effectLst/>
              </a:rPr>
              <a:t> </a:t>
            </a:r>
            <a:r>
              <a:rPr lang="en-US" i="1" dirty="0">
                <a:effectLst/>
              </a:rPr>
              <a:t>t</a:t>
            </a:r>
            <a:r>
              <a:rPr lang="en-US" dirty="0">
                <a:effectLst/>
              </a:rPr>
              <a:t>* = 2.0104</a:t>
            </a:r>
            <a:r>
              <a:rPr lang="en-US" dirty="0"/>
              <a:t>:</a:t>
            </a:r>
          </a:p>
        </p:txBody>
      </p:sp>
      <p:graphicFrame>
        <p:nvGraphicFramePr>
          <p:cNvPr id="1163273" name="Object 9"/>
          <p:cNvGraphicFramePr>
            <a:graphicFrameLocks noChangeAspect="1"/>
          </p:cNvGraphicFramePr>
          <p:nvPr/>
        </p:nvGraphicFramePr>
        <p:xfrm>
          <a:off x="227013" y="2765425"/>
          <a:ext cx="4427537" cy="2674938"/>
        </p:xfrm>
        <a:graphic>
          <a:graphicData uri="http://schemas.openxmlformats.org/presentationml/2006/ole">
            <mc:AlternateContent xmlns:mc="http://schemas.openxmlformats.org/markup-compatibility/2006">
              <mc:Choice xmlns:v="urn:schemas-microsoft-com:vml" Requires="v">
                <p:oleObj spid="_x0000_s14413" name="Equation" r:id="rId5" imgW="2349360" imgH="1422360" progId="Equation.DSMT4">
                  <p:embed/>
                </p:oleObj>
              </mc:Choice>
              <mc:Fallback>
                <p:oleObj name="Equation" r:id="rId5" imgW="2349360" imgH="142236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7013" y="2765425"/>
                        <a:ext cx="4427537" cy="2674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TextBox 12"/>
          <p:cNvSpPr txBox="1"/>
          <p:nvPr/>
        </p:nvSpPr>
        <p:spPr>
          <a:xfrm>
            <a:off x="5029200" y="2438400"/>
            <a:ext cx="3124200" cy="1200150"/>
          </a:xfrm>
          <a:prstGeom prst="rect">
            <a:avLst/>
          </a:prstGeom>
          <a:noFill/>
        </p:spPr>
        <p:txBody>
          <a:bodyPr>
            <a:spAutoFit/>
          </a:bodyPr>
          <a:lstStyle/>
          <a:p>
            <a:pPr>
              <a:buFont typeface="Symbol" pitchFamily="18" charset="2"/>
              <a:buChar char="m"/>
              <a:defRPr/>
            </a:pPr>
            <a:r>
              <a:rPr lang="en-US" sz="1800" baseline="-25000" dirty="0">
                <a:sym typeface="Symbol"/>
              </a:rPr>
              <a:t>1</a:t>
            </a:r>
            <a:r>
              <a:rPr lang="en-US" sz="1800" dirty="0">
                <a:sym typeface="Symbol"/>
              </a:rPr>
              <a:t> = mean FVC of children with a smoking parent;</a:t>
            </a:r>
          </a:p>
          <a:p>
            <a:pPr>
              <a:buFont typeface="Symbol" pitchFamily="18" charset="2"/>
              <a:buChar char="m"/>
              <a:defRPr/>
            </a:pPr>
            <a:r>
              <a:rPr lang="en-US" sz="1800" baseline="-25000" dirty="0"/>
              <a:t>2</a:t>
            </a:r>
            <a:r>
              <a:rPr lang="en-US" sz="1800" dirty="0"/>
              <a:t> = </a:t>
            </a:r>
            <a:r>
              <a:rPr lang="en-US" sz="1800" dirty="0">
                <a:sym typeface="Symbol"/>
              </a:rPr>
              <a:t>mean FVC of children without a smoking parent</a:t>
            </a:r>
            <a:endParaRPr lang="en-US" sz="1800" dirty="0"/>
          </a:p>
        </p:txBody>
      </p:sp>
      <p:graphicFrame>
        <p:nvGraphicFramePr>
          <p:cNvPr id="14366" name="Object 1"/>
          <p:cNvGraphicFramePr>
            <a:graphicFrameLocks noChangeAspect="1"/>
          </p:cNvGraphicFramePr>
          <p:nvPr/>
        </p:nvGraphicFramePr>
        <p:xfrm>
          <a:off x="4560888" y="23813"/>
          <a:ext cx="4289425" cy="1887537"/>
        </p:xfrm>
        <a:graphic>
          <a:graphicData uri="http://schemas.openxmlformats.org/presentationml/2006/ole">
            <mc:AlternateContent xmlns:mc="http://schemas.openxmlformats.org/markup-compatibility/2006">
              <mc:Choice xmlns:v="urn:schemas-microsoft-com:vml" Requires="v">
                <p:oleObj spid="_x0000_s14414" name="Equation" r:id="rId7" imgW="2412720" imgH="990360" progId="Equation.DSMT4">
                  <p:embed/>
                </p:oleObj>
              </mc:Choice>
              <mc:Fallback>
                <p:oleObj name="Equation" r:id="rId7" imgW="2412720" imgH="990360" progId="Equation.DSMT4">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60888" y="23813"/>
                        <a:ext cx="4289425" cy="188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 presetClass="entr" presetSubtype="16" fill="hold" nodeType="clickEffect">
                                  <p:stCondLst>
                                    <p:cond delay="0"/>
                                  </p:stCondLst>
                                  <p:childTnLst>
                                    <p:set>
                                      <p:cBhvr>
                                        <p:cTn id="18" dur="1" fill="hold">
                                          <p:stCondLst>
                                            <p:cond delay="0"/>
                                          </p:stCondLst>
                                        </p:cTn>
                                        <p:tgtEl>
                                          <p:spTgt spid="1163273"/>
                                        </p:tgtEl>
                                        <p:attrNameLst>
                                          <p:attrName>style.visibility</p:attrName>
                                        </p:attrNameLst>
                                      </p:cBhvr>
                                      <p:to>
                                        <p:strVal val="visible"/>
                                      </p:to>
                                    </p:set>
                                    <p:animEffect transition="in" filter="box(in)">
                                      <p:cBhvr>
                                        <p:cTn id="19" dur="500"/>
                                        <p:tgtEl>
                                          <p:spTgt spid="116327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11325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2581" grpId="0" autoUpdateAnimBg="0"/>
      <p:bldP spid="11" grpId="0"/>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3"/>
          <p:cNvSpPr txBox="1">
            <a:spLocks noChangeArrowheads="1"/>
          </p:cNvSpPr>
          <p:nvPr/>
        </p:nvSpPr>
        <p:spPr bwMode="auto">
          <a:xfrm>
            <a:off x="228600" y="228600"/>
            <a:ext cx="6477000" cy="2751138"/>
          </a:xfrm>
          <a:prstGeom prst="rect">
            <a:avLst/>
          </a:prstGeom>
          <a:solidFill>
            <a:srgbClr val="FABF8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nSpc>
                <a:spcPct val="120000"/>
              </a:lnSpc>
            </a:pPr>
            <a:r>
              <a:rPr lang="en-US" sz="1800" b="1">
                <a:solidFill>
                  <a:srgbClr val="FF0000"/>
                </a:solidFill>
                <a:effectLst/>
              </a:rPr>
              <a:t>Do left-handed people have a shorter life-expectancy than right-handed people?</a:t>
            </a:r>
            <a:endParaRPr lang="en-US" sz="1800">
              <a:solidFill>
                <a:srgbClr val="FF0000"/>
              </a:solidFill>
              <a:effectLst/>
            </a:endParaRPr>
          </a:p>
          <a:p>
            <a:pPr>
              <a:lnSpc>
                <a:spcPct val="120000"/>
              </a:lnSpc>
              <a:buFont typeface="Wingdings" pitchFamily="2" charset="2"/>
              <a:buChar char="Ø"/>
            </a:pPr>
            <a:r>
              <a:rPr lang="en-US" sz="1800">
                <a:solidFill>
                  <a:srgbClr val="333399"/>
                </a:solidFill>
                <a:effectLst/>
              </a:rPr>
              <a:t> Some psychologists believe that the stress of being left-handed in a right-handed world leads to earlier deaths among left-handers.</a:t>
            </a:r>
          </a:p>
          <a:p>
            <a:pPr>
              <a:lnSpc>
                <a:spcPct val="120000"/>
              </a:lnSpc>
              <a:buFont typeface="Wingdings" pitchFamily="2" charset="2"/>
              <a:buChar char="Ø"/>
            </a:pPr>
            <a:r>
              <a:rPr lang="en-US" sz="1800">
                <a:solidFill>
                  <a:srgbClr val="333399"/>
                </a:solidFill>
                <a:effectLst/>
              </a:rPr>
              <a:t> Several studies have compared the life expectancies of left-handers and right-handers.</a:t>
            </a:r>
          </a:p>
          <a:p>
            <a:pPr>
              <a:lnSpc>
                <a:spcPct val="120000"/>
              </a:lnSpc>
              <a:buFont typeface="Wingdings" pitchFamily="2" charset="2"/>
              <a:buChar char="Ø"/>
            </a:pPr>
            <a:r>
              <a:rPr lang="en-US" sz="1800">
                <a:solidFill>
                  <a:srgbClr val="333399"/>
                </a:solidFill>
                <a:effectLst/>
              </a:rPr>
              <a:t> One such study resulted in the data shown in the table.</a:t>
            </a:r>
            <a:endParaRPr lang="en-US">
              <a:effectLst/>
            </a:endParaRPr>
          </a:p>
        </p:txBody>
      </p:sp>
      <p:sp>
        <p:nvSpPr>
          <p:cNvPr id="1130521" name="Text Box 25"/>
          <p:cNvSpPr txBox="1">
            <a:spLocks noChangeArrowheads="1"/>
          </p:cNvSpPr>
          <p:nvPr/>
        </p:nvSpPr>
        <p:spPr bwMode="auto">
          <a:xfrm>
            <a:off x="2971800" y="4343400"/>
            <a:ext cx="5791200" cy="2216150"/>
          </a:xfrm>
          <a:prstGeom prst="rect">
            <a:avLst/>
          </a:prstGeom>
          <a:solidFill>
            <a:srgbClr val="FABF8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nSpc>
                <a:spcPct val="130000"/>
              </a:lnSpc>
            </a:pPr>
            <a:r>
              <a:rPr lang="en-US" sz="1800">
                <a:effectLst/>
              </a:rPr>
              <a:t>We will use the data to construct a confidence interval for the difference in mean life expectancies for left-handers and right-handers.</a:t>
            </a:r>
          </a:p>
          <a:p>
            <a:pPr>
              <a:lnSpc>
                <a:spcPct val="130000"/>
              </a:lnSpc>
            </a:pPr>
            <a:endParaRPr lang="en-US" sz="1800" b="1">
              <a:solidFill>
                <a:srgbClr val="FF0000"/>
              </a:solidFill>
              <a:effectLst/>
            </a:endParaRPr>
          </a:p>
          <a:p>
            <a:pPr>
              <a:lnSpc>
                <a:spcPct val="130000"/>
              </a:lnSpc>
            </a:pPr>
            <a:r>
              <a:rPr lang="en-US" sz="1800" b="1">
                <a:effectLst/>
              </a:rPr>
              <a:t>Is the mean life expectancy of left-handers less than the mean life expectancy of right-handers?</a:t>
            </a:r>
          </a:p>
        </p:txBody>
      </p:sp>
      <p:graphicFrame>
        <p:nvGraphicFramePr>
          <p:cNvPr id="1130523" name="Group 27"/>
          <p:cNvGraphicFramePr>
            <a:graphicFrameLocks noGrp="1"/>
          </p:cNvGraphicFramePr>
          <p:nvPr/>
        </p:nvGraphicFramePr>
        <p:xfrm>
          <a:off x="1524000" y="3124200"/>
          <a:ext cx="5257799" cy="1097026"/>
        </p:xfrm>
        <a:graphic>
          <a:graphicData uri="http://schemas.openxmlformats.org/drawingml/2006/table">
            <a:tbl>
              <a:tblPr/>
              <a:tblGrid>
                <a:gridCol w="1600200"/>
                <a:gridCol w="2362200"/>
                <a:gridCol w="609600"/>
                <a:gridCol w="685799"/>
              </a:tblGrid>
              <a:tr h="335211">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Handedness</a:t>
                      </a:r>
                    </a:p>
                  </a:txBody>
                  <a:tcPr marT="45701" marB="457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Mean age at death </a:t>
                      </a: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1" u="none" strike="noStrike" cap="none" normalizeH="0" baseline="0" smtClean="0">
                          <a:ln>
                            <a:noFill/>
                          </a:ln>
                          <a:solidFill>
                            <a:schemeClr val="tx1"/>
                          </a:solidFill>
                          <a:effectLst/>
                          <a:latin typeface="Arial" charset="0"/>
                        </a:rPr>
                        <a:t>s</a:t>
                      </a: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1" u="none" strike="noStrike" cap="none" normalizeH="0" baseline="0" smtClean="0">
                          <a:ln>
                            <a:noFill/>
                          </a:ln>
                          <a:solidFill>
                            <a:schemeClr val="tx1"/>
                          </a:solidFill>
                          <a:effectLst/>
                          <a:latin typeface="Arial" charset="0"/>
                        </a:rPr>
                        <a:t>n</a:t>
                      </a:r>
                    </a:p>
                  </a:txBody>
                  <a:tcPr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6542">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Left</a:t>
                      </a:r>
                    </a:p>
                  </a:txBody>
                  <a:tcPr marT="45701" marB="457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66.8</a:t>
                      </a: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25.3</a:t>
                      </a: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99</a:t>
                      </a:r>
                    </a:p>
                  </a:txBody>
                  <a:tcPr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5211">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Right</a:t>
                      </a:r>
                    </a:p>
                  </a:txBody>
                  <a:tcPr marT="45701" marB="457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75.2</a:t>
                      </a: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15.1</a:t>
                      </a: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888</a:t>
                      </a:r>
                    </a:p>
                  </a:txBody>
                  <a:tcPr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15386" name="Picture 52" descr="Picture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81600" y="3200400"/>
            <a:ext cx="222250" cy="22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8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4876800"/>
            <a:ext cx="2381250"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8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4200" y="152400"/>
            <a:ext cx="1905000"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89" name="TextBox 7"/>
          <p:cNvSpPr txBox="1">
            <a:spLocks noChangeArrowheads="1"/>
          </p:cNvSpPr>
          <p:nvPr/>
        </p:nvSpPr>
        <p:spPr bwMode="auto">
          <a:xfrm>
            <a:off x="6781800" y="1752600"/>
            <a:ext cx="2209800" cy="338138"/>
          </a:xfrm>
          <a:prstGeom prst="rect">
            <a:avLst/>
          </a:prstGeom>
          <a:solidFill>
            <a:schemeClr val="accent1"/>
          </a:solidFill>
          <a:ln w="9525">
            <a:solidFill>
              <a:schemeClr val="accent1"/>
            </a:solidFill>
            <a:miter lim="800000"/>
            <a:headEnd/>
            <a:tailEnd/>
          </a:ln>
        </p:spPr>
        <p:txBody>
          <a:bodyPr>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r>
              <a:rPr lang="en-US" sz="1600">
                <a:effectLst/>
              </a:rPr>
              <a:t>left-handed presidents</a:t>
            </a:r>
          </a:p>
        </p:txBody>
      </p:sp>
      <p:sp>
        <p:nvSpPr>
          <p:cNvPr id="15390" name="TextBox 8"/>
          <p:cNvSpPr txBox="1">
            <a:spLocks noChangeArrowheads="1"/>
          </p:cNvSpPr>
          <p:nvPr/>
        </p:nvSpPr>
        <p:spPr bwMode="auto">
          <a:xfrm>
            <a:off x="0" y="4267200"/>
            <a:ext cx="2971800" cy="584200"/>
          </a:xfrm>
          <a:prstGeom prst="rect">
            <a:avLst/>
          </a:prstGeom>
          <a:solidFill>
            <a:schemeClr val="accent1"/>
          </a:solidFill>
          <a:ln w="9525">
            <a:solidFill>
              <a:schemeClr val="accent1"/>
            </a:solidFill>
            <a:miter lim="800000"/>
            <a:headEnd/>
            <a:tailEnd/>
          </a:ln>
        </p:spPr>
        <p:txBody>
          <a:bodyPr>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r>
              <a:rPr lang="en-US" sz="1600">
                <a:effectLst/>
              </a:rPr>
              <a:t>star left-handed quarterback Steve Young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305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0521"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2581" name="Text Box 37"/>
          <p:cNvSpPr txBox="1">
            <a:spLocks noChangeArrowheads="1"/>
          </p:cNvSpPr>
          <p:nvPr/>
        </p:nvSpPr>
        <p:spPr bwMode="auto">
          <a:xfrm>
            <a:off x="152400" y="5657850"/>
            <a:ext cx="8001000" cy="1016000"/>
          </a:xfrm>
          <a:prstGeom prst="rect">
            <a:avLst/>
          </a:prstGeom>
          <a:noFill/>
          <a:ln w="9525">
            <a:noFill/>
            <a:miter lim="800000"/>
            <a:headEnd/>
            <a:tailEnd/>
          </a:ln>
        </p:spPr>
        <p:txBody>
          <a:bodyPr>
            <a:spAutoFit/>
          </a:bodyPr>
          <a:lstStyle/>
          <a:p>
            <a:pPr>
              <a:defRPr/>
            </a:pPr>
            <a:r>
              <a:rPr lang="en-US" sz="2000" b="1" dirty="0"/>
              <a:t>We are 95% confident that the mean life expectancy for left-handers is between 3.27 and 13.53 years </a:t>
            </a:r>
            <a:r>
              <a:rPr lang="en-US" sz="2000" b="1" dirty="0">
                <a:solidFill>
                  <a:srgbClr val="FF0000"/>
                </a:solidFill>
              </a:rPr>
              <a:t>LESS</a:t>
            </a:r>
            <a:r>
              <a:rPr lang="en-US" sz="2000" b="1" dirty="0"/>
              <a:t> than the mean life expectancy for right-handers.</a:t>
            </a:r>
            <a:endParaRPr lang="en-US" sz="2000" dirty="0"/>
          </a:p>
        </p:txBody>
      </p:sp>
      <p:sp>
        <p:nvSpPr>
          <p:cNvPr id="11" name="Rectangle 10"/>
          <p:cNvSpPr/>
          <p:nvPr/>
        </p:nvSpPr>
        <p:spPr>
          <a:xfrm>
            <a:off x="0" y="1676400"/>
            <a:ext cx="6096000" cy="1089025"/>
          </a:xfrm>
          <a:prstGeom prst="rect">
            <a:avLst/>
          </a:prstGeom>
        </p:spPr>
        <p:txBody>
          <a:bodyPr>
            <a:spAutoFit/>
          </a:bodyPr>
          <a:lstStyle/>
          <a:p>
            <a:pPr>
              <a:spcBef>
                <a:spcPct val="20000"/>
              </a:spcBef>
              <a:buClr>
                <a:srgbClr val="00CC99"/>
              </a:buClr>
              <a:buSzPct val="65000"/>
              <a:buFont typeface="Wingdings" pitchFamily="2" charset="2"/>
              <a:buNone/>
              <a:defRPr/>
            </a:pPr>
            <a:r>
              <a:rPr lang="en-US" dirty="0">
                <a:effectLst/>
              </a:rPr>
              <a:t>95% confidence interval for (</a:t>
            </a:r>
            <a:r>
              <a:rPr lang="en-US" i="1" dirty="0">
                <a:effectLst/>
                <a:cs typeface="Arial" charset="0"/>
              </a:rPr>
              <a:t>µ</a:t>
            </a:r>
            <a:r>
              <a:rPr lang="en-US" baseline="-25000" dirty="0">
                <a:effectLst/>
                <a:cs typeface="Arial" charset="0"/>
              </a:rPr>
              <a:t>1 </a:t>
            </a:r>
            <a:r>
              <a:rPr lang="en-US" dirty="0">
                <a:effectLst/>
                <a:cs typeface="Arial" charset="0"/>
              </a:rPr>
              <a:t>− </a:t>
            </a:r>
            <a:r>
              <a:rPr lang="en-US" i="1" dirty="0">
                <a:effectLst/>
                <a:cs typeface="Arial" charset="0"/>
              </a:rPr>
              <a:t>µ</a:t>
            </a:r>
            <a:r>
              <a:rPr lang="en-US" baseline="-25000" dirty="0">
                <a:effectLst/>
                <a:cs typeface="Arial" charset="0"/>
              </a:rPr>
              <a:t>2</a:t>
            </a:r>
            <a:r>
              <a:rPr lang="en-US" dirty="0">
                <a:effectLst/>
              </a:rPr>
              <a:t>), with</a:t>
            </a:r>
          </a:p>
          <a:p>
            <a:pPr>
              <a:lnSpc>
                <a:spcPct val="150000"/>
              </a:lnSpc>
              <a:spcBef>
                <a:spcPct val="20000"/>
              </a:spcBef>
              <a:buClr>
                <a:srgbClr val="00CC99"/>
              </a:buClr>
              <a:buSzPct val="65000"/>
              <a:buFont typeface="Wingdings" pitchFamily="2" charset="2"/>
              <a:buNone/>
              <a:defRPr/>
            </a:pPr>
            <a:r>
              <a:rPr lang="en-US" dirty="0" err="1">
                <a:effectLst/>
              </a:rPr>
              <a:t>df</a:t>
            </a:r>
            <a:r>
              <a:rPr lang="en-US" dirty="0">
                <a:effectLst/>
              </a:rPr>
              <a:t> = 105.92</a:t>
            </a:r>
            <a:r>
              <a:rPr lang="en-US" dirty="0">
                <a:effectLst/>
                <a:sym typeface="Wingdings" pitchFamily="2" charset="2"/>
              </a:rPr>
              <a:t></a:t>
            </a:r>
            <a:r>
              <a:rPr lang="en-US" dirty="0">
                <a:effectLst/>
              </a:rPr>
              <a:t> </a:t>
            </a:r>
            <a:r>
              <a:rPr lang="en-US" i="1" dirty="0">
                <a:effectLst/>
              </a:rPr>
              <a:t>t</a:t>
            </a:r>
            <a:r>
              <a:rPr lang="en-US" dirty="0">
                <a:effectLst/>
              </a:rPr>
              <a:t>* = 1.9826</a:t>
            </a:r>
            <a:r>
              <a:rPr lang="en-US" dirty="0"/>
              <a:t>:</a:t>
            </a:r>
          </a:p>
        </p:txBody>
      </p:sp>
      <p:graphicFrame>
        <p:nvGraphicFramePr>
          <p:cNvPr id="1163273" name="Object 9"/>
          <p:cNvGraphicFramePr>
            <a:graphicFrameLocks noChangeAspect="1"/>
          </p:cNvGraphicFramePr>
          <p:nvPr/>
        </p:nvGraphicFramePr>
        <p:xfrm>
          <a:off x="139700" y="2743200"/>
          <a:ext cx="4956175" cy="2674938"/>
        </p:xfrm>
        <a:graphic>
          <a:graphicData uri="http://schemas.openxmlformats.org/presentationml/2006/ole">
            <mc:AlternateContent xmlns:mc="http://schemas.openxmlformats.org/markup-compatibility/2006">
              <mc:Choice xmlns:v="urn:schemas-microsoft-com:vml" Requires="v">
                <p:oleObj spid="_x0000_s16437" name="Equation" r:id="rId4" imgW="2628720" imgH="1422360" progId="Equation.DSMT4">
                  <p:embed/>
                </p:oleObj>
              </mc:Choice>
              <mc:Fallback>
                <p:oleObj name="Equation" r:id="rId4" imgW="2628720" imgH="1422360" progId="Equation.DSMT4">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9700" y="2743200"/>
                        <a:ext cx="4956175" cy="2674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TextBox 12"/>
          <p:cNvSpPr txBox="1"/>
          <p:nvPr/>
        </p:nvSpPr>
        <p:spPr>
          <a:xfrm>
            <a:off x="5410200" y="3276600"/>
            <a:ext cx="3124200" cy="1200150"/>
          </a:xfrm>
          <a:prstGeom prst="rect">
            <a:avLst/>
          </a:prstGeom>
          <a:noFill/>
        </p:spPr>
        <p:txBody>
          <a:bodyPr>
            <a:spAutoFit/>
          </a:bodyPr>
          <a:lstStyle/>
          <a:p>
            <a:pPr>
              <a:buFont typeface="Symbol" pitchFamily="18" charset="2"/>
              <a:buChar char="m"/>
              <a:defRPr/>
            </a:pPr>
            <a:r>
              <a:rPr lang="en-US" sz="1800" baseline="-25000" dirty="0">
                <a:sym typeface="Symbol"/>
              </a:rPr>
              <a:t>1</a:t>
            </a:r>
            <a:r>
              <a:rPr lang="en-US" sz="1800" dirty="0">
                <a:sym typeface="Symbol"/>
              </a:rPr>
              <a:t> = mean life expectancy of left-handers;</a:t>
            </a:r>
          </a:p>
          <a:p>
            <a:pPr>
              <a:buFont typeface="Symbol" pitchFamily="18" charset="2"/>
              <a:buChar char="m"/>
              <a:defRPr/>
            </a:pPr>
            <a:r>
              <a:rPr lang="en-US" sz="1800" baseline="-25000" dirty="0"/>
              <a:t>2</a:t>
            </a:r>
            <a:r>
              <a:rPr lang="en-US" sz="1800" dirty="0"/>
              <a:t> = </a:t>
            </a:r>
            <a:r>
              <a:rPr lang="en-US" sz="1800" dirty="0">
                <a:sym typeface="Symbol"/>
              </a:rPr>
              <a:t>mean life expectancy of right-handers</a:t>
            </a:r>
            <a:endParaRPr lang="en-US" sz="1800" dirty="0"/>
          </a:p>
        </p:txBody>
      </p:sp>
      <p:graphicFrame>
        <p:nvGraphicFramePr>
          <p:cNvPr id="9" name="Group 27"/>
          <p:cNvGraphicFramePr>
            <a:graphicFrameLocks noGrp="1"/>
          </p:cNvGraphicFramePr>
          <p:nvPr/>
        </p:nvGraphicFramePr>
        <p:xfrm>
          <a:off x="228600" y="228600"/>
          <a:ext cx="5257799" cy="1097026"/>
        </p:xfrm>
        <a:graphic>
          <a:graphicData uri="http://schemas.openxmlformats.org/drawingml/2006/table">
            <a:tbl>
              <a:tblPr/>
              <a:tblGrid>
                <a:gridCol w="1600200"/>
                <a:gridCol w="2362200"/>
                <a:gridCol w="609600"/>
                <a:gridCol w="685799"/>
              </a:tblGrid>
              <a:tr h="335211">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Handedness</a:t>
                      </a:r>
                    </a:p>
                  </a:txBody>
                  <a:tcPr marT="45701" marB="457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Mean age at death </a:t>
                      </a: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1" u="none" strike="noStrike" cap="none" normalizeH="0" baseline="0" smtClean="0">
                          <a:ln>
                            <a:noFill/>
                          </a:ln>
                          <a:solidFill>
                            <a:schemeClr val="tx1"/>
                          </a:solidFill>
                          <a:effectLst/>
                          <a:latin typeface="Arial" charset="0"/>
                        </a:rPr>
                        <a:t>s</a:t>
                      </a: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1" u="none" strike="noStrike" cap="none" normalizeH="0" baseline="0" smtClean="0">
                          <a:ln>
                            <a:noFill/>
                          </a:ln>
                          <a:solidFill>
                            <a:schemeClr val="tx1"/>
                          </a:solidFill>
                          <a:effectLst/>
                          <a:latin typeface="Arial" charset="0"/>
                        </a:rPr>
                        <a:t>n</a:t>
                      </a:r>
                    </a:p>
                  </a:txBody>
                  <a:tcPr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26542">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Left</a:t>
                      </a:r>
                    </a:p>
                  </a:txBody>
                  <a:tcPr marT="45701" marB="457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66.8</a:t>
                      </a: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25.3</a:t>
                      </a: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99</a:t>
                      </a:r>
                    </a:p>
                  </a:txBody>
                  <a:tcPr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5211">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Right</a:t>
                      </a:r>
                    </a:p>
                  </a:txBody>
                  <a:tcPr marT="45701" marB="4570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75.2</a:t>
                      </a: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15.1</a:t>
                      </a:r>
                    </a:p>
                  </a:txBody>
                  <a:tcPr marT="45701" marB="4570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888</a:t>
                      </a:r>
                    </a:p>
                  </a:txBody>
                  <a:tcPr marT="45701" marB="4570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16412"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0" y="152400"/>
            <a:ext cx="2895600"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13" name="TextBox 7"/>
          <p:cNvSpPr txBox="1">
            <a:spLocks noChangeArrowheads="1"/>
          </p:cNvSpPr>
          <p:nvPr/>
        </p:nvSpPr>
        <p:spPr bwMode="auto">
          <a:xfrm>
            <a:off x="5791200" y="2286000"/>
            <a:ext cx="3200400" cy="830263"/>
          </a:xfrm>
          <a:prstGeom prst="rect">
            <a:avLst/>
          </a:prstGeom>
          <a:solidFill>
            <a:schemeClr val="accent1"/>
          </a:solidFill>
          <a:ln w="9525">
            <a:solidFill>
              <a:schemeClr val="accent1"/>
            </a:solidFill>
            <a:miter lim="800000"/>
            <a:headEnd/>
            <a:tailEnd/>
          </a:ln>
        </p:spPr>
        <p:txBody>
          <a:bodyPr>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r>
              <a:rPr lang="en-US" sz="1600">
                <a:effectLst/>
              </a:rPr>
              <a:t>The “Bambino”,left-handed  Babe Ruth, baseball’s all-time best player.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4" presetClass="entr" presetSubtype="16" fill="hold" nodeType="clickEffect">
                                  <p:stCondLst>
                                    <p:cond delay="0"/>
                                  </p:stCondLst>
                                  <p:childTnLst>
                                    <p:set>
                                      <p:cBhvr>
                                        <p:cTn id="18" dur="1" fill="hold">
                                          <p:stCondLst>
                                            <p:cond delay="0"/>
                                          </p:stCondLst>
                                        </p:cTn>
                                        <p:tgtEl>
                                          <p:spTgt spid="1163273"/>
                                        </p:tgtEl>
                                        <p:attrNameLst>
                                          <p:attrName>style.visibility</p:attrName>
                                        </p:attrNameLst>
                                      </p:cBhvr>
                                      <p:to>
                                        <p:strVal val="visible"/>
                                      </p:to>
                                    </p:set>
                                    <p:animEffect transition="in" filter="box(in)">
                                      <p:cBhvr>
                                        <p:cTn id="19" dur="500"/>
                                        <p:tgtEl>
                                          <p:spTgt spid="116327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11325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2581" grpId="0" autoUpdateAnimBg="0"/>
      <p:bldP spid="11" grpId="0"/>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58" name="Object 2"/>
          <p:cNvGraphicFramePr>
            <a:graphicFrameLocks noChangeAspect="1"/>
          </p:cNvGraphicFramePr>
          <p:nvPr/>
        </p:nvGraphicFramePr>
        <p:xfrm>
          <a:off x="76200" y="3200400"/>
          <a:ext cx="4170363" cy="1330325"/>
        </p:xfrm>
        <a:graphic>
          <a:graphicData uri="http://schemas.openxmlformats.org/presentationml/2006/ole">
            <mc:AlternateContent xmlns:mc="http://schemas.openxmlformats.org/markup-compatibility/2006">
              <mc:Choice xmlns:v="urn:schemas-microsoft-com:vml" Requires="v">
                <p:oleObj spid="_x0000_s50178" name="Equation" r:id="rId3" imgW="2235200" imgH="685800" progId="Equation.DSMT4">
                  <p:embed/>
                </p:oleObj>
              </mc:Choice>
              <mc:Fallback>
                <p:oleObj name="Equation" r:id="rId3" imgW="2235200" imgH="685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3200400"/>
                        <a:ext cx="4170363" cy="1330325"/>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59" name="Rectangle 4"/>
          <p:cNvSpPr>
            <a:spLocks noGrp="1" noChangeArrowheads="1"/>
          </p:cNvSpPr>
          <p:nvPr>
            <p:ph idx="1"/>
          </p:nvPr>
        </p:nvSpPr>
        <p:spPr>
          <a:xfrm>
            <a:off x="152400" y="76200"/>
            <a:ext cx="8769350" cy="1143000"/>
          </a:xfrm>
          <a:solidFill>
            <a:srgbClr val="00FFFF"/>
          </a:solidFill>
        </p:spPr>
        <p:txBody>
          <a:bodyPr/>
          <a:lstStyle/>
          <a:p>
            <a:pPr marL="0" indent="0" eaLnBrk="1" hangingPunct="1">
              <a:spcBef>
                <a:spcPct val="0"/>
              </a:spcBef>
              <a:buFont typeface="Wingdings" pitchFamily="2" charset="2"/>
              <a:buNone/>
            </a:pPr>
            <a:r>
              <a:rPr lang="en-US" altLang="en-US" sz="2400" smtClean="0"/>
              <a:t>				   The null hypothes </a:t>
            </a:r>
            <a:r>
              <a:rPr lang="en-US" altLang="en-US" sz="2400" i="1" smtClean="0"/>
              <a:t>H</a:t>
            </a:r>
            <a:r>
              <a:rPr lang="en-US" altLang="en-US" sz="2400" i="1" baseline="-25000" smtClean="0"/>
              <a:t>0</a:t>
            </a:r>
            <a:r>
              <a:rPr lang="en-US" altLang="en-US" sz="2400" smtClean="0"/>
              <a:t> is that both</a:t>
            </a:r>
          </a:p>
          <a:p>
            <a:pPr marL="0" indent="0" eaLnBrk="1" hangingPunct="1">
              <a:spcBef>
                <a:spcPct val="0"/>
              </a:spcBef>
              <a:buFont typeface="Wingdings" pitchFamily="2" charset="2"/>
              <a:buNone/>
            </a:pPr>
            <a:r>
              <a:rPr lang="en-US" altLang="en-US" sz="2400" smtClean="0"/>
              <a:t>				  population means </a:t>
            </a:r>
            <a:r>
              <a:rPr lang="en-US" altLang="en-US" sz="2400" i="1" smtClean="0">
                <a:latin typeface="Symbol" pitchFamily="18" charset="2"/>
              </a:rPr>
              <a:t>m</a:t>
            </a:r>
            <a:r>
              <a:rPr lang="en-US" altLang="en-US" sz="2400" baseline="-25000" smtClean="0">
                <a:latin typeface="Symbol" pitchFamily="18" charset="2"/>
              </a:rPr>
              <a:t>1 </a:t>
            </a:r>
            <a:r>
              <a:rPr lang="en-US" altLang="en-US" sz="2400" smtClean="0"/>
              <a:t>and </a:t>
            </a:r>
            <a:r>
              <a:rPr lang="en-US" altLang="en-US" sz="2400" i="1" smtClean="0">
                <a:latin typeface="Symbol" pitchFamily="18" charset="2"/>
              </a:rPr>
              <a:t>m</a:t>
            </a:r>
            <a:r>
              <a:rPr lang="en-US" altLang="en-US" sz="2400" baseline="-25000" smtClean="0">
                <a:latin typeface="Symbol" pitchFamily="18" charset="2"/>
              </a:rPr>
              <a:t>2</a:t>
            </a:r>
            <a:r>
              <a:rPr lang="en-US" altLang="en-US" sz="2400" smtClean="0"/>
              <a:t> are equal, thus their </a:t>
            </a:r>
            <a:r>
              <a:rPr lang="en-US" altLang="en-US" sz="2400" u="sng" smtClean="0"/>
              <a:t>difference</a:t>
            </a:r>
            <a:r>
              <a:rPr lang="en-US" altLang="en-US" sz="2400" smtClean="0"/>
              <a:t> is equal to zero.</a:t>
            </a:r>
          </a:p>
        </p:txBody>
      </p:sp>
      <p:graphicFrame>
        <p:nvGraphicFramePr>
          <p:cNvPr id="19461" name="Object 5"/>
          <p:cNvGraphicFramePr>
            <a:graphicFrameLocks noChangeAspect="1"/>
          </p:cNvGraphicFramePr>
          <p:nvPr/>
        </p:nvGraphicFramePr>
        <p:xfrm>
          <a:off x="5016500" y="4616450"/>
          <a:ext cx="2846388" cy="1733550"/>
        </p:xfrm>
        <a:graphic>
          <a:graphicData uri="http://schemas.openxmlformats.org/presentationml/2006/ole">
            <mc:AlternateContent xmlns:mc="http://schemas.openxmlformats.org/markup-compatibility/2006">
              <mc:Choice xmlns:v="urn:schemas-microsoft-com:vml" Requires="v">
                <p:oleObj spid="_x0000_s50179" name="Equation" r:id="rId5" imgW="1079500" imgH="685800" progId="Equation.3">
                  <p:embed/>
                </p:oleObj>
              </mc:Choice>
              <mc:Fallback>
                <p:oleObj name="Equation" r:id="rId5" imgW="1079500" imgH="685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16500" y="4616450"/>
                        <a:ext cx="2846388" cy="1733550"/>
                      </a:xfrm>
                      <a:prstGeom prst="rect">
                        <a:avLst/>
                      </a:prstGeom>
                      <a:noFill/>
                      <a:ln w="25400" cmpd="dbl">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extBox 1"/>
          <p:cNvSpPr txBox="1">
            <a:spLocks noChangeArrowheads="1"/>
          </p:cNvSpPr>
          <p:nvPr/>
        </p:nvSpPr>
        <p:spPr bwMode="auto">
          <a:xfrm>
            <a:off x="11113" y="4953000"/>
            <a:ext cx="4572000" cy="120015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US" altLang="en-US" sz="2400">
                <a:latin typeface="Arial" charset="0"/>
              </a:rPr>
              <a:t>Because in a two-sample test </a:t>
            </a:r>
            <a:r>
              <a:rPr lang="en-US" altLang="en-US" sz="2400" i="1">
                <a:latin typeface="Arial" charset="0"/>
              </a:rPr>
              <a:t>H</a:t>
            </a:r>
            <a:r>
              <a:rPr lang="en-US" altLang="en-US" sz="2400" baseline="-25000">
                <a:latin typeface="Arial" charset="0"/>
              </a:rPr>
              <a:t>0</a:t>
            </a:r>
            <a:r>
              <a:rPr lang="en-US" altLang="en-US" sz="2400">
                <a:latin typeface="Arial" charset="0"/>
              </a:rPr>
              <a:t> says (</a:t>
            </a:r>
            <a:r>
              <a:rPr lang="en-US" altLang="en-US" sz="2400" i="1">
                <a:latin typeface="Symbol" pitchFamily="18" charset="2"/>
              </a:rPr>
              <a:t>m</a:t>
            </a:r>
            <a:r>
              <a:rPr lang="en-US" altLang="en-US" sz="2400" baseline="-25000">
                <a:latin typeface="Symbol" pitchFamily="18" charset="2"/>
              </a:rPr>
              <a:t>1</a:t>
            </a:r>
            <a:r>
              <a:rPr lang="en-US" altLang="en-US" sz="2400">
                <a:latin typeface="Arial" charset="0"/>
              </a:rPr>
              <a:t> − </a:t>
            </a:r>
            <a:r>
              <a:rPr lang="en-US" altLang="en-US" sz="2400" i="1">
                <a:latin typeface="Symbol" pitchFamily="18" charset="2"/>
              </a:rPr>
              <a:t>m</a:t>
            </a:r>
            <a:r>
              <a:rPr lang="en-US" altLang="en-US" sz="2400" baseline="-25000">
                <a:latin typeface="Symbol" pitchFamily="18" charset="2"/>
              </a:rPr>
              <a:t>2</a:t>
            </a:r>
            <a:r>
              <a:rPr lang="en-US" altLang="en-US" sz="2400">
                <a:latin typeface="Symbol" pitchFamily="18" charset="2"/>
              </a:rPr>
              <a:t>) =</a:t>
            </a:r>
            <a:r>
              <a:rPr lang="en-US" altLang="en-US" sz="2400">
                <a:latin typeface="Arial" charset="0"/>
              </a:rPr>
              <a:t> 0, the test statistic is …</a:t>
            </a:r>
          </a:p>
        </p:txBody>
      </p:sp>
      <p:graphicFrame>
        <p:nvGraphicFramePr>
          <p:cNvPr id="19462" name="Object 2"/>
          <p:cNvGraphicFramePr>
            <a:graphicFrameLocks noChangeAspect="1"/>
          </p:cNvGraphicFramePr>
          <p:nvPr/>
        </p:nvGraphicFramePr>
        <p:xfrm>
          <a:off x="96838" y="1298575"/>
          <a:ext cx="2511425" cy="1624013"/>
        </p:xfrm>
        <a:graphic>
          <a:graphicData uri="http://schemas.openxmlformats.org/presentationml/2006/ole">
            <mc:AlternateContent xmlns:mc="http://schemas.openxmlformats.org/markup-compatibility/2006">
              <mc:Choice xmlns:v="urn:schemas-microsoft-com:vml" Requires="v">
                <p:oleObj spid="_x0000_s50180" name="Equation" r:id="rId7" imgW="1727200" imgH="1117600" progId="Equation.DSMT4">
                  <p:embed/>
                </p:oleObj>
              </mc:Choice>
              <mc:Fallback>
                <p:oleObj name="Equation" r:id="rId7" imgW="1727200" imgH="11176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838" y="1298575"/>
                        <a:ext cx="2511425" cy="162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63" name="Rectangle 3"/>
          <p:cNvSpPr>
            <a:spLocks noGrp="1" noChangeArrowheads="1"/>
          </p:cNvSpPr>
          <p:nvPr>
            <p:ph type="title"/>
          </p:nvPr>
        </p:nvSpPr>
        <p:spPr>
          <a:xfrm>
            <a:off x="11113" y="76200"/>
            <a:ext cx="4027487" cy="609600"/>
          </a:xfrm>
          <a:solidFill>
            <a:srgbClr val="FFFF00"/>
          </a:solidFill>
        </p:spPr>
        <p:txBody>
          <a:bodyPr/>
          <a:lstStyle/>
          <a:p>
            <a:pPr algn="l" eaLnBrk="1" hangingPunct="1"/>
            <a:r>
              <a:rPr lang="en-US" altLang="en-US" sz="4000" b="1" smtClean="0">
                <a:solidFill>
                  <a:srgbClr val="FF0000"/>
                </a:solidFill>
              </a:rPr>
              <a:t>Two-sample </a:t>
            </a:r>
            <a:r>
              <a:rPr lang="en-US" altLang="en-US" sz="4000" b="1" i="1" smtClean="0">
                <a:solidFill>
                  <a:srgbClr val="FF0000"/>
                </a:solidFill>
              </a:rPr>
              <a:t>t</a:t>
            </a:r>
            <a:r>
              <a:rPr lang="en-US" altLang="en-US" sz="4000" b="1" smtClean="0">
                <a:solidFill>
                  <a:srgbClr val="FF0000"/>
                </a:solidFill>
              </a:rPr>
              <a:t>-test </a:t>
            </a:r>
          </a:p>
        </p:txBody>
      </p:sp>
      <p:pic>
        <p:nvPicPr>
          <p:cNvPr id="19470" name="Picture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25788" y="1252538"/>
            <a:ext cx="2667000" cy="159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971800" y="2397125"/>
            <a:ext cx="1916113" cy="369888"/>
          </a:xfrm>
          <a:prstGeom prst="rect">
            <a:avLst/>
          </a:prstGeom>
        </p:spPr>
        <p:txBody>
          <a:bodyPr>
            <a:spAutoFit/>
          </a:bodyPr>
          <a:lstStyle/>
          <a:p>
            <a:pPr fontAlgn="auto">
              <a:spcBef>
                <a:spcPts val="0"/>
              </a:spcBef>
              <a:spcAft>
                <a:spcPts val="0"/>
              </a:spcAft>
              <a:defRPr/>
            </a:pPr>
            <a:r>
              <a:rPr lang="en-US" sz="1800" i="1" kern="0" dirty="0">
                <a:solidFill>
                  <a:srgbClr val="000000"/>
                </a:solidFill>
                <a:latin typeface="Arial"/>
              </a:rPr>
              <a:t>P-value=P(t &gt; t</a:t>
            </a:r>
            <a:r>
              <a:rPr lang="en-US" sz="1800" i="1" kern="0" baseline="-25000" dirty="0">
                <a:solidFill>
                  <a:srgbClr val="000000"/>
                </a:solidFill>
                <a:latin typeface="Arial"/>
              </a:rPr>
              <a:t>0</a:t>
            </a:r>
            <a:r>
              <a:rPr lang="en-US" sz="1800" i="1" kern="0" dirty="0">
                <a:solidFill>
                  <a:srgbClr val="000000"/>
                </a:solidFill>
                <a:latin typeface="Arial"/>
              </a:rPr>
              <a:t>) </a:t>
            </a:r>
            <a:endParaRPr lang="en-US" sz="1800" kern="0" dirty="0">
              <a:solidFill>
                <a:sysClr val="windowText" lastClr="000000"/>
              </a:solidFill>
            </a:endParaRPr>
          </a:p>
        </p:txBody>
      </p:sp>
      <p:pic>
        <p:nvPicPr>
          <p:cNvPr id="19471" name="Picture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43600" y="1228725"/>
            <a:ext cx="2608263" cy="155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a:spLocks noChangeArrowheads="1"/>
          </p:cNvSpPr>
          <p:nvPr/>
        </p:nvSpPr>
        <p:spPr bwMode="auto">
          <a:xfrm>
            <a:off x="7086600" y="2381250"/>
            <a:ext cx="1885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spcBef>
                <a:spcPct val="0"/>
              </a:spcBef>
              <a:buFontTx/>
              <a:buNone/>
            </a:pPr>
            <a:r>
              <a:rPr lang="en-US" altLang="en-US" sz="1800" i="1">
                <a:solidFill>
                  <a:srgbClr val="000000"/>
                </a:solidFill>
                <a:latin typeface="Arial" charset="0"/>
              </a:rPr>
              <a:t>P-value=P(t &lt; </a:t>
            </a:r>
            <a:r>
              <a:rPr lang="en-US" altLang="en-US" sz="1800" i="1">
                <a:solidFill>
                  <a:srgbClr val="000000"/>
                </a:solidFill>
                <a:latin typeface="Arial" charset="0"/>
                <a:sym typeface="Symbol" pitchFamily="18" charset="2"/>
              </a:rPr>
              <a:t>t</a:t>
            </a:r>
            <a:r>
              <a:rPr lang="en-US" altLang="en-US" sz="1800" i="1" baseline="-25000">
                <a:solidFill>
                  <a:srgbClr val="000000"/>
                </a:solidFill>
                <a:latin typeface="Arial" charset="0"/>
              </a:rPr>
              <a:t>0</a:t>
            </a:r>
            <a:r>
              <a:rPr lang="en-US" altLang="en-US" sz="1800" i="1">
                <a:solidFill>
                  <a:srgbClr val="000000"/>
                </a:solidFill>
                <a:latin typeface="Arial" charset="0"/>
              </a:rPr>
              <a:t>)</a:t>
            </a:r>
          </a:p>
        </p:txBody>
      </p:sp>
      <p:pic>
        <p:nvPicPr>
          <p:cNvPr id="19472" name="Picture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87913" y="2890838"/>
            <a:ext cx="2593975"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a:spLocks noChangeArrowheads="1"/>
          </p:cNvSpPr>
          <p:nvPr/>
        </p:nvSpPr>
        <p:spPr bwMode="auto">
          <a:xfrm>
            <a:off x="4343400" y="3962400"/>
            <a:ext cx="2132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spcBef>
                <a:spcPct val="0"/>
              </a:spcBef>
              <a:buFontTx/>
              <a:buNone/>
            </a:pPr>
            <a:r>
              <a:rPr lang="en-US" altLang="en-US" sz="1800" i="1">
                <a:solidFill>
                  <a:srgbClr val="000000"/>
                </a:solidFill>
                <a:latin typeface="Arial" charset="0"/>
              </a:rPr>
              <a:t>P-value=2P(t &gt; |t</a:t>
            </a:r>
            <a:r>
              <a:rPr lang="en-US" altLang="en-US" sz="1800" i="1" baseline="-25000">
                <a:solidFill>
                  <a:srgbClr val="000000"/>
                </a:solidFill>
                <a:latin typeface="Arial" charset="0"/>
              </a:rPr>
              <a:t>0</a:t>
            </a:r>
            <a:r>
              <a:rPr lang="en-US" altLang="en-US" sz="1800" i="1">
                <a:solidFill>
                  <a:srgbClr val="000000"/>
                </a:solidFill>
                <a:latin typeface="Arial" charset="0"/>
              </a:rPr>
              <a:t>|)</a:t>
            </a:r>
          </a:p>
        </p:txBody>
      </p:sp>
      <p:cxnSp>
        <p:nvCxnSpPr>
          <p:cNvPr id="8" name="Straight Arrow Connector 7"/>
          <p:cNvCxnSpPr/>
          <p:nvPr/>
        </p:nvCxnSpPr>
        <p:spPr>
          <a:xfrm>
            <a:off x="2590800" y="2209800"/>
            <a:ext cx="3594100"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2590800" y="2751138"/>
            <a:ext cx="2514600" cy="373062"/>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667000" y="1828800"/>
            <a:ext cx="838200"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9423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9458"/>
                                        </p:tgtEl>
                                        <p:attrNameLst>
                                          <p:attrName>style.visibility</p:attrName>
                                        </p:attrNameLst>
                                      </p:cBhvr>
                                      <p:to>
                                        <p:strVal val="visible"/>
                                      </p:to>
                                    </p:set>
                                    <p:anim calcmode="lin" valueType="num">
                                      <p:cBhvr additive="base">
                                        <p:cTn id="7" dur="500" fill="hold"/>
                                        <p:tgtEl>
                                          <p:spTgt spid="19458"/>
                                        </p:tgtEl>
                                        <p:attrNameLst>
                                          <p:attrName>ppt_x</p:attrName>
                                        </p:attrNameLst>
                                      </p:cBhvr>
                                      <p:tavLst>
                                        <p:tav tm="0">
                                          <p:val>
                                            <p:strVal val="0-#ppt_w/2"/>
                                          </p:val>
                                        </p:tav>
                                        <p:tav tm="100000">
                                          <p:val>
                                            <p:strVal val="#ppt_x"/>
                                          </p:val>
                                        </p:tav>
                                      </p:tavLst>
                                    </p:anim>
                                    <p:anim calcmode="lin" valueType="num">
                                      <p:cBhvr additive="base">
                                        <p:cTn id="8" dur="500" fill="hold"/>
                                        <p:tgtEl>
                                          <p:spTgt spid="1945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9461"/>
                                        </p:tgtEl>
                                        <p:attrNameLst>
                                          <p:attrName>style.visibility</p:attrName>
                                        </p:attrNameLst>
                                      </p:cBhvr>
                                      <p:to>
                                        <p:strVal val="visible"/>
                                      </p:to>
                                    </p:set>
                                    <p:anim calcmode="lin" valueType="num">
                                      <p:cBhvr additive="base">
                                        <p:cTn id="19" dur="500" fill="hold"/>
                                        <p:tgtEl>
                                          <p:spTgt spid="19461"/>
                                        </p:tgtEl>
                                        <p:attrNameLst>
                                          <p:attrName>ppt_x</p:attrName>
                                        </p:attrNameLst>
                                      </p:cBhvr>
                                      <p:tavLst>
                                        <p:tav tm="0">
                                          <p:val>
                                            <p:strVal val="#ppt_x"/>
                                          </p:val>
                                        </p:tav>
                                        <p:tav tm="100000">
                                          <p:val>
                                            <p:strVal val="#ppt_x"/>
                                          </p:val>
                                        </p:tav>
                                      </p:tavLst>
                                    </p:anim>
                                    <p:anim calcmode="lin" valueType="num">
                                      <p:cBhvr additive="base">
                                        <p:cTn id="20" dur="500" fill="hold"/>
                                        <p:tgtEl>
                                          <p:spTgt spid="19461"/>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947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1947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1947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5" grpId="0"/>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3"/>
          <p:cNvSpPr txBox="1">
            <a:spLocks noChangeArrowheads="1"/>
          </p:cNvSpPr>
          <p:nvPr/>
        </p:nvSpPr>
        <p:spPr bwMode="auto">
          <a:xfrm>
            <a:off x="304800" y="228600"/>
            <a:ext cx="7391400" cy="264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nSpc>
                <a:spcPct val="120000"/>
              </a:lnSpc>
            </a:pPr>
            <a:r>
              <a:rPr lang="en-US" b="1">
                <a:solidFill>
                  <a:srgbClr val="333399"/>
                </a:solidFill>
                <a:effectLst/>
              </a:rPr>
              <a:t>Does smoking damage the lungs of children exposed to parental smoking?</a:t>
            </a:r>
            <a:endParaRPr lang="en-US">
              <a:solidFill>
                <a:srgbClr val="333399"/>
              </a:solidFill>
              <a:effectLst/>
            </a:endParaRPr>
          </a:p>
          <a:p>
            <a:pPr>
              <a:lnSpc>
                <a:spcPct val="120000"/>
              </a:lnSpc>
            </a:pPr>
            <a:r>
              <a:rPr lang="en-US" sz="1800">
                <a:effectLst/>
              </a:rPr>
              <a:t>Forced vital capacity (FVC) is the volume (in milliliters) of air that an individual can exhale in 6 seconds.</a:t>
            </a:r>
          </a:p>
          <a:p>
            <a:pPr>
              <a:lnSpc>
                <a:spcPct val="120000"/>
              </a:lnSpc>
            </a:pPr>
            <a:endParaRPr lang="en-US" sz="1800">
              <a:effectLst/>
            </a:endParaRPr>
          </a:p>
          <a:p>
            <a:pPr>
              <a:lnSpc>
                <a:spcPct val="120000"/>
              </a:lnSpc>
            </a:pPr>
            <a:r>
              <a:rPr lang="en-US" sz="1800">
                <a:effectLst/>
              </a:rPr>
              <a:t>FVC was obtained for a sample of children not exposed to parental smoking and a group of children exposed to parental smoking. </a:t>
            </a:r>
          </a:p>
        </p:txBody>
      </p:sp>
      <p:pic>
        <p:nvPicPr>
          <p:cNvPr id="18435" name="Picture 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983163"/>
            <a:ext cx="3124200" cy="187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0521" name="Text Box 25"/>
          <p:cNvSpPr txBox="1">
            <a:spLocks noChangeArrowheads="1"/>
          </p:cNvSpPr>
          <p:nvPr/>
        </p:nvSpPr>
        <p:spPr bwMode="auto">
          <a:xfrm>
            <a:off x="3197225" y="4419600"/>
            <a:ext cx="5791200" cy="189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nSpc>
                <a:spcPct val="130000"/>
              </a:lnSpc>
            </a:pPr>
            <a:r>
              <a:rPr lang="en-US" sz="1800">
                <a:effectLst/>
              </a:rPr>
              <a:t>We want to know whether parental smoking decreases children’s lung capacity as measured by the FVC test.</a:t>
            </a:r>
            <a:endParaRPr lang="en-US" sz="1800" b="1">
              <a:solidFill>
                <a:srgbClr val="FF0000"/>
              </a:solidFill>
              <a:effectLst/>
            </a:endParaRPr>
          </a:p>
          <a:p>
            <a:pPr>
              <a:lnSpc>
                <a:spcPct val="130000"/>
              </a:lnSpc>
            </a:pPr>
            <a:endParaRPr lang="en-US" sz="1800" b="1">
              <a:solidFill>
                <a:srgbClr val="FF0000"/>
              </a:solidFill>
              <a:effectLst/>
            </a:endParaRPr>
          </a:p>
          <a:p>
            <a:pPr>
              <a:lnSpc>
                <a:spcPct val="130000"/>
              </a:lnSpc>
            </a:pPr>
            <a:r>
              <a:rPr lang="en-US" sz="1800" b="1">
                <a:effectLst/>
              </a:rPr>
              <a:t>Is the mean FVC lower in the population of children exposed to parental smoking?</a:t>
            </a:r>
          </a:p>
        </p:txBody>
      </p:sp>
      <p:graphicFrame>
        <p:nvGraphicFramePr>
          <p:cNvPr id="1130523" name="Group 27"/>
          <p:cNvGraphicFramePr>
            <a:graphicFrameLocks noGrp="1"/>
          </p:cNvGraphicFramePr>
          <p:nvPr/>
        </p:nvGraphicFramePr>
        <p:xfrm>
          <a:off x="1562100" y="2998788"/>
          <a:ext cx="4572000" cy="1006476"/>
        </p:xfrm>
        <a:graphic>
          <a:graphicData uri="http://schemas.openxmlformats.org/drawingml/2006/table">
            <a:tbl>
              <a:tblPr/>
              <a:tblGrid>
                <a:gridCol w="1820863"/>
                <a:gridCol w="1089025"/>
                <a:gridCol w="830262"/>
                <a:gridCol w="831850"/>
              </a:tblGrid>
              <a:tr h="335492">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smtClean="0">
                          <a:ln>
                            <a:noFill/>
                          </a:ln>
                          <a:solidFill>
                            <a:schemeClr val="tx1"/>
                          </a:solidFill>
                          <a:effectLst/>
                          <a:latin typeface="Arial" charset="0"/>
                        </a:rPr>
                        <a:t>Parental smoking</a:t>
                      </a:r>
                    </a:p>
                  </a:txBody>
                  <a:tcPr marT="45749" marB="4574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smtClean="0">
                          <a:ln>
                            <a:noFill/>
                          </a:ln>
                          <a:solidFill>
                            <a:schemeClr val="tx1"/>
                          </a:solidFill>
                          <a:effectLst/>
                          <a:latin typeface="Arial" charset="0"/>
                        </a:rPr>
                        <a:t>FVC </a:t>
                      </a:r>
                    </a:p>
                  </a:txBody>
                  <a:tcPr marT="45749" marB="457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1" u="none" strike="noStrike" cap="none" normalizeH="0" baseline="0" smtClean="0">
                          <a:ln>
                            <a:noFill/>
                          </a:ln>
                          <a:solidFill>
                            <a:schemeClr val="tx1"/>
                          </a:solidFill>
                          <a:effectLst/>
                          <a:latin typeface="Arial" charset="0"/>
                        </a:rPr>
                        <a:t>s</a:t>
                      </a:r>
                    </a:p>
                  </a:txBody>
                  <a:tcPr marT="45749" marB="457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1" u="none" strike="noStrike" cap="none" normalizeH="0" baseline="0" smtClean="0">
                          <a:ln>
                            <a:noFill/>
                          </a:ln>
                          <a:solidFill>
                            <a:schemeClr val="tx1"/>
                          </a:solidFill>
                          <a:effectLst/>
                          <a:latin typeface="Arial" charset="0"/>
                        </a:rPr>
                        <a:t>n</a:t>
                      </a:r>
                    </a:p>
                  </a:txBody>
                  <a:tcPr marT="45749" marB="4574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5492">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smtClean="0">
                          <a:ln>
                            <a:noFill/>
                          </a:ln>
                          <a:solidFill>
                            <a:schemeClr val="tx1"/>
                          </a:solidFill>
                          <a:effectLst/>
                          <a:latin typeface="Arial" charset="0"/>
                        </a:rPr>
                        <a:t>Yes</a:t>
                      </a:r>
                    </a:p>
                  </a:txBody>
                  <a:tcPr marT="45749" marB="4574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smtClean="0">
                          <a:ln>
                            <a:noFill/>
                          </a:ln>
                          <a:solidFill>
                            <a:schemeClr val="tx1"/>
                          </a:solidFill>
                          <a:effectLst/>
                          <a:latin typeface="Arial" charset="0"/>
                        </a:rPr>
                        <a:t>75.5</a:t>
                      </a:r>
                    </a:p>
                  </a:txBody>
                  <a:tcPr marT="45749" marB="457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smtClean="0">
                          <a:ln>
                            <a:noFill/>
                          </a:ln>
                          <a:solidFill>
                            <a:schemeClr val="tx1"/>
                          </a:solidFill>
                          <a:effectLst/>
                          <a:latin typeface="Arial" charset="0"/>
                        </a:rPr>
                        <a:t>9.3</a:t>
                      </a:r>
                    </a:p>
                  </a:txBody>
                  <a:tcPr marT="45749" marB="457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smtClean="0">
                          <a:ln>
                            <a:noFill/>
                          </a:ln>
                          <a:solidFill>
                            <a:schemeClr val="tx1"/>
                          </a:solidFill>
                          <a:effectLst/>
                          <a:latin typeface="Arial" charset="0"/>
                        </a:rPr>
                        <a:t>30</a:t>
                      </a:r>
                    </a:p>
                  </a:txBody>
                  <a:tcPr marT="45749" marB="4574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5492">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smtClean="0">
                          <a:ln>
                            <a:noFill/>
                          </a:ln>
                          <a:solidFill>
                            <a:schemeClr val="tx1"/>
                          </a:solidFill>
                          <a:effectLst/>
                          <a:latin typeface="Arial" charset="0"/>
                        </a:rPr>
                        <a:t>No</a:t>
                      </a:r>
                    </a:p>
                  </a:txBody>
                  <a:tcPr marT="45749" marB="4574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smtClean="0">
                          <a:ln>
                            <a:noFill/>
                          </a:ln>
                          <a:solidFill>
                            <a:schemeClr val="tx1"/>
                          </a:solidFill>
                          <a:effectLst/>
                          <a:latin typeface="Arial" charset="0"/>
                        </a:rPr>
                        <a:t>88.2</a:t>
                      </a:r>
                    </a:p>
                  </a:txBody>
                  <a:tcPr marT="45749" marB="457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smtClean="0">
                          <a:ln>
                            <a:noFill/>
                          </a:ln>
                          <a:solidFill>
                            <a:schemeClr val="tx1"/>
                          </a:solidFill>
                          <a:effectLst/>
                          <a:latin typeface="Arial" charset="0"/>
                        </a:rPr>
                        <a:t>15.1</a:t>
                      </a:r>
                    </a:p>
                  </a:txBody>
                  <a:tcPr marT="45749" marB="4574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600" b="0" i="0" u="none" strike="noStrike" cap="none" normalizeH="0" baseline="0" dirty="0" smtClean="0">
                          <a:ln>
                            <a:noFill/>
                          </a:ln>
                          <a:solidFill>
                            <a:schemeClr val="tx1"/>
                          </a:solidFill>
                          <a:effectLst/>
                          <a:latin typeface="Arial" charset="0"/>
                        </a:rPr>
                        <a:t>30</a:t>
                      </a:r>
                    </a:p>
                  </a:txBody>
                  <a:tcPr marT="45749" marB="4574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18459" name="Picture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6125" y="0"/>
            <a:ext cx="2047875"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60" name="Picture 52" descr="Picture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14800" y="3059113"/>
            <a:ext cx="222250" cy="22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305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0521"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32580" name="Group 36"/>
          <p:cNvGraphicFramePr>
            <a:graphicFrameLocks noGrp="1"/>
          </p:cNvGraphicFramePr>
          <p:nvPr/>
        </p:nvGraphicFramePr>
        <p:xfrm>
          <a:off x="219075" y="228600"/>
          <a:ext cx="3962400" cy="973138"/>
        </p:xfrm>
        <a:graphic>
          <a:graphicData uri="http://schemas.openxmlformats.org/drawingml/2006/table">
            <a:tbl>
              <a:tblPr/>
              <a:tblGrid>
                <a:gridCol w="1577975"/>
                <a:gridCol w="944563"/>
                <a:gridCol w="719137"/>
                <a:gridCol w="720725"/>
              </a:tblGrid>
              <a:tr h="212725">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dirty="0" smtClean="0">
                          <a:ln>
                            <a:noFill/>
                          </a:ln>
                          <a:solidFill>
                            <a:schemeClr val="tx1"/>
                          </a:solidFill>
                          <a:effectLst/>
                          <a:latin typeface="Arial" charset="0"/>
                        </a:rPr>
                        <a:t>Parental smoking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smtClean="0">
                          <a:ln>
                            <a:noFill/>
                          </a:ln>
                          <a:solidFill>
                            <a:schemeClr val="tx1"/>
                          </a:solidFill>
                          <a:effectLst/>
                          <a:latin typeface="Arial" charset="0"/>
                        </a:rPr>
                        <a:t>FVC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smtClean="0">
                          <a:ln>
                            <a:noFill/>
                          </a:ln>
                          <a:solidFill>
                            <a:schemeClr val="tx1"/>
                          </a:solidFill>
                          <a:effectLst/>
                          <a:latin typeface="Arial" charset="0"/>
                        </a:rPr>
                        <a: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smtClean="0">
                          <a:ln>
                            <a:noFill/>
                          </a:ln>
                          <a:solidFill>
                            <a:schemeClr val="tx1"/>
                          </a:solidFill>
                          <a:effectLst/>
                          <a:latin typeface="Arial" charset="0"/>
                        </a:rPr>
                        <a:t>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4963">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dirty="0" smtClean="0">
                          <a:ln>
                            <a:noFill/>
                          </a:ln>
                          <a:solidFill>
                            <a:schemeClr val="tx1"/>
                          </a:solidFill>
                          <a:effectLst/>
                          <a:latin typeface="Arial" charset="0"/>
                        </a:rPr>
                        <a:t>Yes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dirty="0" smtClean="0">
                          <a:ln>
                            <a:noFill/>
                          </a:ln>
                          <a:solidFill>
                            <a:schemeClr val="tx1"/>
                          </a:solidFill>
                          <a:effectLst/>
                          <a:latin typeface="Arial" charset="0"/>
                        </a:rPr>
                        <a:t>75.5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smtClean="0">
                          <a:ln>
                            <a:noFill/>
                          </a:ln>
                          <a:solidFill>
                            <a:schemeClr val="tx1"/>
                          </a:solidFill>
                          <a:effectLst/>
                          <a:latin typeface="Arial" charset="0"/>
                        </a:rPr>
                        <a:t>9.3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smtClean="0">
                          <a:ln>
                            <a:noFill/>
                          </a:ln>
                          <a:solidFill>
                            <a:schemeClr val="tx1"/>
                          </a:solidFill>
                          <a:effectLst/>
                          <a:latin typeface="Arial"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3375">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smtClean="0">
                          <a:ln>
                            <a:noFill/>
                          </a:ln>
                          <a:solidFill>
                            <a:schemeClr val="tx1"/>
                          </a:solidFill>
                          <a:effectLst/>
                          <a:latin typeface="Arial" charset="0"/>
                        </a:rPr>
                        <a:t>No</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smtClean="0">
                          <a:ln>
                            <a:noFill/>
                          </a:ln>
                          <a:solidFill>
                            <a:schemeClr val="tx1"/>
                          </a:solidFill>
                          <a:effectLst/>
                          <a:latin typeface="Arial" charset="0"/>
                        </a:rPr>
                        <a:t>88.2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smtClean="0">
                          <a:ln>
                            <a:noFill/>
                          </a:ln>
                          <a:solidFill>
                            <a:schemeClr val="tx1"/>
                          </a:solidFill>
                          <a:effectLst/>
                          <a:latin typeface="Arial" charset="0"/>
                        </a:rPr>
                        <a:t>15.1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CC99"/>
                        </a:buClr>
                        <a:buSzPct val="65000"/>
                        <a:buFont typeface="Wingdings" pitchFamily="2" charset="2"/>
                        <a:buNone/>
                        <a:tabLst/>
                      </a:pPr>
                      <a:r>
                        <a:rPr kumimoji="0" lang="en-US" sz="1400" b="0" i="0" u="none" strike="noStrike" cap="none" normalizeH="0" baseline="0" dirty="0" smtClean="0">
                          <a:ln>
                            <a:noFill/>
                          </a:ln>
                          <a:solidFill>
                            <a:schemeClr val="tx1"/>
                          </a:solidFill>
                          <a:effectLst/>
                          <a:latin typeface="Arial" charset="0"/>
                        </a:rPr>
                        <a:t>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132581" name="Text Box 37"/>
          <p:cNvSpPr txBox="1">
            <a:spLocks noChangeArrowheads="1"/>
          </p:cNvSpPr>
          <p:nvPr/>
        </p:nvSpPr>
        <p:spPr bwMode="auto">
          <a:xfrm>
            <a:off x="41275" y="5338763"/>
            <a:ext cx="8001000" cy="830262"/>
          </a:xfrm>
          <a:prstGeom prst="rect">
            <a:avLst/>
          </a:prstGeom>
          <a:noFill/>
          <a:ln w="9525">
            <a:noFill/>
            <a:miter lim="800000"/>
            <a:headEnd/>
            <a:tailEnd/>
          </a:ln>
        </p:spPr>
        <p:txBody>
          <a:bodyPr>
            <a:spAutoFit/>
          </a:bodyPr>
          <a:lstStyle/>
          <a:p>
            <a:pPr eaLnBrk="0" hangingPunct="0">
              <a:defRPr/>
            </a:pPr>
            <a:r>
              <a:rPr lang="en-US" b="1" dirty="0">
                <a:effectLst>
                  <a:outerShdw blurRad="38100" dist="38100" dir="2700000" algn="tl">
                    <a:srgbClr val="000000">
                      <a:alpha val="43137"/>
                    </a:srgbClr>
                  </a:outerShdw>
                </a:effectLst>
                <a:cs typeface="+mn-cs"/>
              </a:rPr>
              <a:t>Conclusion: Reject H</a:t>
            </a:r>
            <a:r>
              <a:rPr lang="en-US" b="1" baseline="-25000" dirty="0">
                <a:effectLst>
                  <a:outerShdw blurRad="38100" dist="38100" dir="2700000" algn="tl">
                    <a:srgbClr val="000000">
                      <a:alpha val="43137"/>
                    </a:srgbClr>
                  </a:outerShdw>
                </a:effectLst>
                <a:cs typeface="+mn-cs"/>
              </a:rPr>
              <a:t>0</a:t>
            </a:r>
            <a:r>
              <a:rPr lang="en-US" b="1" dirty="0">
                <a:cs typeface="+mn-cs"/>
              </a:rPr>
              <a:t>. </a:t>
            </a:r>
            <a:r>
              <a:rPr lang="en-US" b="1" dirty="0">
                <a:effectLst>
                  <a:outerShdw blurRad="38100" dist="38100" dir="2700000" algn="tl">
                    <a:srgbClr val="000000">
                      <a:alpha val="43137"/>
                    </a:srgbClr>
                  </a:outerShdw>
                </a:effectLst>
                <a:cs typeface="+mn-cs"/>
              </a:rPr>
              <a:t>Lung capacity is</a:t>
            </a:r>
          </a:p>
          <a:p>
            <a:pPr eaLnBrk="0" hangingPunct="0">
              <a:defRPr/>
            </a:pPr>
            <a:r>
              <a:rPr lang="en-US" b="1" dirty="0">
                <a:effectLst>
                  <a:outerShdw blurRad="38100" dist="38100" dir="2700000" algn="tl">
                    <a:srgbClr val="000000">
                      <a:alpha val="43137"/>
                    </a:srgbClr>
                  </a:outerShdw>
                </a:effectLst>
                <a:cs typeface="+mn-cs"/>
              </a:rPr>
              <a:t>significantly impaired in children of smoking parents. </a:t>
            </a:r>
            <a:endParaRPr lang="en-US" dirty="0">
              <a:effectLst>
                <a:outerShdw blurRad="38100" dist="38100" dir="2700000" algn="tl">
                  <a:srgbClr val="000000">
                    <a:alpha val="43137"/>
                  </a:srgbClr>
                </a:outerShdw>
              </a:effectLst>
              <a:cs typeface="+mn-cs"/>
            </a:endParaRPr>
          </a:p>
        </p:txBody>
      </p:sp>
      <p:pic>
        <p:nvPicPr>
          <p:cNvPr id="21529" name="Picture 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4200" y="3965575"/>
            <a:ext cx="2047875"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30" name="Picture 39" descr="Picture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17775" y="231775"/>
            <a:ext cx="225425"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0" y="1676400"/>
            <a:ext cx="4724400" cy="1127125"/>
          </a:xfrm>
          <a:prstGeom prst="rect">
            <a:avLst/>
          </a:prstGeom>
        </p:spPr>
        <p:txBody>
          <a:bodyPr>
            <a:spAutoFit/>
          </a:bodyPr>
          <a:lstStyle/>
          <a:p>
            <a:pPr>
              <a:lnSpc>
                <a:spcPct val="140000"/>
              </a:lnSpc>
              <a:defRPr/>
            </a:pPr>
            <a:r>
              <a:rPr lang="en-US" i="1" dirty="0">
                <a:cs typeface="+mn-cs"/>
              </a:rPr>
              <a:t>H</a:t>
            </a:r>
            <a:r>
              <a:rPr lang="en-US" baseline="-25000" dirty="0">
                <a:cs typeface="+mn-cs"/>
              </a:rPr>
              <a:t>0</a:t>
            </a:r>
            <a:r>
              <a:rPr lang="en-US" dirty="0">
                <a:cs typeface="+mn-cs"/>
              </a:rPr>
              <a:t>: </a:t>
            </a:r>
            <a:r>
              <a:rPr lang="en-US" i="1" dirty="0">
                <a:latin typeface="Symbol" pitchFamily="18" charset="2"/>
                <a:cs typeface="+mn-cs"/>
              </a:rPr>
              <a:t>m</a:t>
            </a:r>
            <a:r>
              <a:rPr lang="en-US" baseline="-25000" dirty="0">
                <a:cs typeface="+mn-cs"/>
              </a:rPr>
              <a:t>1</a:t>
            </a:r>
            <a:r>
              <a:rPr lang="en-US" dirty="0">
                <a:cs typeface="+mn-cs"/>
              </a:rPr>
              <a:t> </a:t>
            </a:r>
            <a:r>
              <a:rPr lang="en-US" dirty="0"/>
              <a:t>−</a:t>
            </a:r>
            <a:r>
              <a:rPr lang="en-US" dirty="0">
                <a:cs typeface="+mn-cs"/>
              </a:rPr>
              <a:t> </a:t>
            </a:r>
            <a:r>
              <a:rPr lang="en-US" i="1" dirty="0">
                <a:latin typeface="Symbol" pitchFamily="18" charset="2"/>
                <a:cs typeface="+mn-cs"/>
              </a:rPr>
              <a:t>m</a:t>
            </a:r>
            <a:r>
              <a:rPr lang="en-US" baseline="-25000" dirty="0">
                <a:cs typeface="+mn-cs"/>
              </a:rPr>
              <a:t>2</a:t>
            </a:r>
            <a:r>
              <a:rPr lang="en-US" dirty="0">
                <a:cs typeface="+mn-cs"/>
              </a:rPr>
              <a:t> = 0     </a:t>
            </a:r>
            <a:r>
              <a:rPr lang="en-US" dirty="0" err="1">
                <a:cs typeface="+mn-cs"/>
              </a:rPr>
              <a:t>df</a:t>
            </a:r>
            <a:r>
              <a:rPr lang="en-US" dirty="0">
                <a:cs typeface="+mn-cs"/>
              </a:rPr>
              <a:t> = 48.23</a:t>
            </a:r>
          </a:p>
          <a:p>
            <a:pPr>
              <a:lnSpc>
                <a:spcPct val="140000"/>
              </a:lnSpc>
              <a:defRPr/>
            </a:pPr>
            <a:r>
              <a:rPr lang="en-US" i="1" dirty="0">
                <a:cs typeface="+mn-cs"/>
              </a:rPr>
              <a:t>H</a:t>
            </a:r>
            <a:r>
              <a:rPr lang="en-US" baseline="-25000" dirty="0">
                <a:cs typeface="+mn-cs"/>
              </a:rPr>
              <a:t>a</a:t>
            </a:r>
            <a:r>
              <a:rPr lang="en-US" dirty="0">
                <a:cs typeface="+mn-cs"/>
              </a:rPr>
              <a:t>: </a:t>
            </a:r>
            <a:r>
              <a:rPr lang="en-US" i="1" dirty="0">
                <a:latin typeface="Symbol" pitchFamily="18" charset="2"/>
                <a:cs typeface="+mn-cs"/>
              </a:rPr>
              <a:t>m</a:t>
            </a:r>
            <a:r>
              <a:rPr lang="en-US" baseline="-25000" dirty="0">
                <a:cs typeface="+mn-cs"/>
              </a:rPr>
              <a:t>1</a:t>
            </a:r>
            <a:r>
              <a:rPr lang="en-US" dirty="0">
                <a:cs typeface="+mn-cs"/>
              </a:rPr>
              <a:t> </a:t>
            </a:r>
            <a:r>
              <a:rPr lang="en-US" dirty="0"/>
              <a:t>−</a:t>
            </a:r>
            <a:r>
              <a:rPr lang="en-US" dirty="0">
                <a:cs typeface="+mn-cs"/>
              </a:rPr>
              <a:t> </a:t>
            </a:r>
            <a:r>
              <a:rPr lang="en-US" i="1" dirty="0">
                <a:latin typeface="Symbol" pitchFamily="18" charset="2"/>
                <a:cs typeface="+mn-cs"/>
              </a:rPr>
              <a:t>m</a:t>
            </a:r>
            <a:r>
              <a:rPr lang="en-US" baseline="-25000" dirty="0">
                <a:cs typeface="+mn-cs"/>
              </a:rPr>
              <a:t>2</a:t>
            </a:r>
            <a:r>
              <a:rPr lang="en-US" dirty="0">
                <a:cs typeface="+mn-cs"/>
              </a:rPr>
              <a:t> &lt; 0</a:t>
            </a:r>
            <a:endParaRPr lang="en-US" dirty="0">
              <a:effectLst>
                <a:outerShdw blurRad="38100" dist="38100" dir="2700000" algn="tl">
                  <a:srgbClr val="000000">
                    <a:alpha val="43137"/>
                  </a:srgbClr>
                </a:outerShdw>
              </a:effectLst>
              <a:cs typeface="+mn-cs"/>
            </a:endParaRPr>
          </a:p>
        </p:txBody>
      </p:sp>
      <p:sp>
        <p:nvSpPr>
          <p:cNvPr id="13" name="TextBox 12"/>
          <p:cNvSpPr txBox="1"/>
          <p:nvPr/>
        </p:nvSpPr>
        <p:spPr>
          <a:xfrm>
            <a:off x="5053013" y="1854200"/>
            <a:ext cx="3124200" cy="1200150"/>
          </a:xfrm>
          <a:prstGeom prst="rect">
            <a:avLst/>
          </a:prstGeom>
          <a:noFill/>
        </p:spPr>
        <p:txBody>
          <a:bodyPr>
            <a:spAutoFit/>
          </a:bodyPr>
          <a:lstStyle/>
          <a:p>
            <a:pPr eaLnBrk="0" hangingPunct="0">
              <a:buFont typeface="Symbol" pitchFamily="18" charset="2"/>
              <a:buChar char="m"/>
              <a:defRPr/>
            </a:pPr>
            <a:r>
              <a:rPr lang="en-US" sz="1800" baseline="-25000" dirty="0">
                <a:effectLst>
                  <a:outerShdw blurRad="38100" dist="38100" dir="2700000" algn="tl">
                    <a:srgbClr val="000000">
                      <a:alpha val="43137"/>
                    </a:srgbClr>
                  </a:outerShdw>
                </a:effectLst>
                <a:cs typeface="+mn-cs"/>
                <a:sym typeface="Symbol"/>
              </a:rPr>
              <a:t>1</a:t>
            </a:r>
            <a:r>
              <a:rPr lang="en-US" sz="1800" dirty="0">
                <a:effectLst>
                  <a:outerShdw blurRad="38100" dist="38100" dir="2700000" algn="tl">
                    <a:srgbClr val="000000">
                      <a:alpha val="43137"/>
                    </a:srgbClr>
                  </a:outerShdw>
                </a:effectLst>
                <a:cs typeface="+mn-cs"/>
                <a:sym typeface="Symbol"/>
              </a:rPr>
              <a:t> = mean FVC of children with a smoking parent;</a:t>
            </a:r>
          </a:p>
          <a:p>
            <a:pPr eaLnBrk="0" hangingPunct="0">
              <a:buFont typeface="Symbol" pitchFamily="18" charset="2"/>
              <a:buChar char="m"/>
              <a:defRPr/>
            </a:pPr>
            <a:r>
              <a:rPr lang="en-US" sz="1800" baseline="-25000" dirty="0">
                <a:effectLst>
                  <a:outerShdw blurRad="38100" dist="38100" dir="2700000" algn="tl">
                    <a:srgbClr val="000000">
                      <a:alpha val="43137"/>
                    </a:srgbClr>
                  </a:outerShdw>
                </a:effectLst>
                <a:cs typeface="+mn-cs"/>
              </a:rPr>
              <a:t>2</a:t>
            </a:r>
            <a:r>
              <a:rPr lang="en-US" sz="1800" dirty="0">
                <a:effectLst>
                  <a:outerShdw blurRad="38100" dist="38100" dir="2700000" algn="tl">
                    <a:srgbClr val="000000">
                      <a:alpha val="43137"/>
                    </a:srgbClr>
                  </a:outerShdw>
                </a:effectLst>
                <a:cs typeface="+mn-cs"/>
              </a:rPr>
              <a:t> = </a:t>
            </a:r>
            <a:r>
              <a:rPr lang="en-US" sz="1800" dirty="0">
                <a:effectLst>
                  <a:outerShdw blurRad="38100" dist="38100" dir="2700000" algn="tl">
                    <a:srgbClr val="000000">
                      <a:alpha val="43137"/>
                    </a:srgbClr>
                  </a:outerShdw>
                </a:effectLst>
                <a:cs typeface="+mn-cs"/>
                <a:sym typeface="Symbol"/>
              </a:rPr>
              <a:t>mean FVC of children without a smoking parent</a:t>
            </a:r>
            <a:endParaRPr lang="en-US" sz="1800" dirty="0">
              <a:effectLst>
                <a:outerShdw blurRad="38100" dist="38100" dir="2700000" algn="tl">
                  <a:srgbClr val="000000">
                    <a:alpha val="43137"/>
                  </a:srgbClr>
                </a:outerShdw>
              </a:effectLst>
              <a:cs typeface="+mn-cs"/>
            </a:endParaRPr>
          </a:p>
        </p:txBody>
      </p:sp>
      <p:graphicFrame>
        <p:nvGraphicFramePr>
          <p:cNvPr id="21533" name="Object 1"/>
          <p:cNvGraphicFramePr>
            <a:graphicFrameLocks noChangeAspect="1"/>
          </p:cNvGraphicFramePr>
          <p:nvPr/>
        </p:nvGraphicFramePr>
        <p:xfrm>
          <a:off x="4560888" y="23813"/>
          <a:ext cx="4289425" cy="1887537"/>
        </p:xfrm>
        <a:graphic>
          <a:graphicData uri="http://schemas.openxmlformats.org/presentationml/2006/ole">
            <mc:AlternateContent xmlns:mc="http://schemas.openxmlformats.org/markup-compatibility/2006">
              <mc:Choice xmlns:v="urn:schemas-microsoft-com:vml" Requires="v">
                <p:oleObj spid="_x0000_s51202" name="Equation" r:id="rId5" imgW="2413000" imgH="990600" progId="Equation.DSMT4">
                  <p:embed/>
                </p:oleObj>
              </mc:Choice>
              <mc:Fallback>
                <p:oleObj name="Equation" r:id="rId5" imgW="2413000" imgH="9906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60888" y="23813"/>
                        <a:ext cx="4289425" cy="188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p:cNvGraphicFramePr>
            <a:graphicFrameLocks noChangeAspect="1"/>
          </p:cNvGraphicFramePr>
          <p:nvPr/>
        </p:nvGraphicFramePr>
        <p:xfrm>
          <a:off x="539750" y="2876550"/>
          <a:ext cx="3613150" cy="2265363"/>
        </p:xfrm>
        <a:graphic>
          <a:graphicData uri="http://schemas.openxmlformats.org/presentationml/2006/ole">
            <mc:AlternateContent xmlns:mc="http://schemas.openxmlformats.org/markup-compatibility/2006">
              <mc:Choice xmlns:v="urn:schemas-microsoft-com:vml" Requires="v">
                <p:oleObj spid="_x0000_s51203" name="Equation" r:id="rId7" imgW="1854200" imgH="1117600" progId="Equation.DSMT4">
                  <p:embed/>
                </p:oleObj>
              </mc:Choice>
              <mc:Fallback>
                <p:oleObj name="Equation" r:id="rId7" imgW="1854200" imgH="11176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750" y="2876550"/>
                        <a:ext cx="3613150" cy="226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87" name="TextBox 3"/>
          <p:cNvSpPr txBox="1">
            <a:spLocks noChangeArrowheads="1"/>
          </p:cNvSpPr>
          <p:nvPr/>
        </p:nvSpPr>
        <p:spPr bwMode="auto">
          <a:xfrm>
            <a:off x="4724400" y="3054350"/>
            <a:ext cx="3733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spcBef>
                <a:spcPct val="0"/>
              </a:spcBef>
              <a:buFontTx/>
              <a:buNone/>
            </a:pPr>
            <a:r>
              <a:rPr lang="en-US" altLang="en-US" sz="2400">
                <a:solidFill>
                  <a:srgbClr val="FF0000"/>
                </a:solidFill>
                <a:latin typeface="Arial" charset="0"/>
              </a:rPr>
              <a:t>P-value=P(t&lt;-3.9) </a:t>
            </a:r>
            <a:r>
              <a:rPr lang="en-US" altLang="en-US" sz="2400">
                <a:solidFill>
                  <a:srgbClr val="FF0000"/>
                </a:solidFill>
                <a:latin typeface="Arial" charset="0"/>
                <a:sym typeface="Mathematica1" pitchFamily="2" charset="2"/>
              </a:rPr>
              <a:t> </a:t>
            </a:r>
            <a:r>
              <a:rPr lang="en-US" altLang="en-US" sz="2400">
                <a:solidFill>
                  <a:srgbClr val="FF0000"/>
                </a:solidFill>
                <a:latin typeface="Arial" charset="0"/>
              </a:rPr>
              <a:t>.0001</a:t>
            </a:r>
          </a:p>
        </p:txBody>
      </p:sp>
      <p:pic>
        <p:nvPicPr>
          <p:cNvPr id="21539" name="Picture 3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54475" y="3733800"/>
            <a:ext cx="2800350" cy="162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a:spLocks noChangeArrowheads="1"/>
          </p:cNvSpPr>
          <p:nvPr/>
        </p:nvSpPr>
        <p:spPr bwMode="auto">
          <a:xfrm>
            <a:off x="152400" y="6169025"/>
            <a:ext cx="8534400" cy="461963"/>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gn="ctr" eaLnBrk="1" hangingPunct="1">
              <a:spcBef>
                <a:spcPct val="0"/>
              </a:spcBef>
              <a:buFontTx/>
              <a:buNone/>
            </a:pPr>
            <a:r>
              <a:rPr lang="en-US" altLang="en-US" sz="2400">
                <a:latin typeface="Arial" charset="0"/>
              </a:rPr>
              <a:t>Recall the 95% CI for </a:t>
            </a:r>
            <a:r>
              <a:rPr lang="en-US" altLang="en-US" sz="2400" i="1">
                <a:latin typeface="Symbol" pitchFamily="18" charset="2"/>
              </a:rPr>
              <a:t>m</a:t>
            </a:r>
            <a:r>
              <a:rPr lang="en-US" altLang="en-US" sz="2400" baseline="-25000">
                <a:latin typeface="Arial" charset="0"/>
              </a:rPr>
              <a:t>1</a:t>
            </a:r>
            <a:r>
              <a:rPr lang="en-US" altLang="en-US" sz="2400">
                <a:latin typeface="Arial" charset="0"/>
              </a:rPr>
              <a:t> − </a:t>
            </a:r>
            <a:r>
              <a:rPr lang="en-US" altLang="en-US" sz="2400" i="1">
                <a:latin typeface="Symbol" pitchFamily="18" charset="2"/>
              </a:rPr>
              <a:t>m</a:t>
            </a:r>
            <a:r>
              <a:rPr lang="en-US" altLang="en-US" sz="2400" baseline="-25000">
                <a:latin typeface="Arial" charset="0"/>
              </a:rPr>
              <a:t>2</a:t>
            </a:r>
            <a:r>
              <a:rPr lang="en-US" altLang="en-US" sz="2400">
                <a:latin typeface="Arial" charset="0"/>
              </a:rPr>
              <a:t>: (</a:t>
            </a:r>
            <a:r>
              <a:rPr lang="en-US" altLang="en-US" sz="2400">
                <a:latin typeface="Arial" charset="0"/>
                <a:sym typeface="Symbol" pitchFamily="18" charset="2"/>
              </a:rPr>
              <a:t>19.21, 6.19)</a:t>
            </a:r>
            <a:endParaRPr lang="en-US" altLang="en-US" sz="2400">
              <a:latin typeface="Arial" charset="0"/>
            </a:endParaRPr>
          </a:p>
        </p:txBody>
      </p:sp>
    </p:spTree>
    <p:extLst>
      <p:ext uri="{BB962C8B-B14F-4D97-AF65-F5344CB8AC3E}">
        <p14:creationId xmlns:p14="http://schemas.microsoft.com/office/powerpoint/2010/main" val="17848190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1+#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par>
                          <p:cTn id="15" fill="hold" nodeType="afterGroup">
                            <p:stCondLst>
                              <p:cond delay="500"/>
                            </p:stCondLst>
                            <p:childTnLst>
                              <p:par>
                                <p:cTn id="16" presetID="1" presetClass="entr" presetSubtype="0"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2" fill="hold" grpId="0" nodeType="clickEffect">
                                  <p:stCondLst>
                                    <p:cond delay="0"/>
                                  </p:stCondLst>
                                  <p:childTnLst>
                                    <p:set>
                                      <p:cBhvr>
                                        <p:cTn id="21" dur="1" fill="hold">
                                          <p:stCondLst>
                                            <p:cond delay="0"/>
                                          </p:stCondLst>
                                        </p:cTn>
                                        <p:tgtEl>
                                          <p:spTgt spid="19487"/>
                                        </p:tgtEl>
                                        <p:attrNameLst>
                                          <p:attrName>style.visibility</p:attrName>
                                        </p:attrNameLst>
                                      </p:cBhvr>
                                      <p:to>
                                        <p:strVal val="visible"/>
                                      </p:to>
                                    </p:set>
                                    <p:anim calcmode="lin" valueType="num">
                                      <p:cBhvr additive="base">
                                        <p:cTn id="22" dur="500" fill="hold"/>
                                        <p:tgtEl>
                                          <p:spTgt spid="19487"/>
                                        </p:tgtEl>
                                        <p:attrNameLst>
                                          <p:attrName>ppt_x</p:attrName>
                                        </p:attrNameLst>
                                      </p:cBhvr>
                                      <p:tavLst>
                                        <p:tav tm="0">
                                          <p:val>
                                            <p:strVal val="1+#ppt_w/2"/>
                                          </p:val>
                                        </p:tav>
                                        <p:tav tm="100000">
                                          <p:val>
                                            <p:strVal val="#ppt_x"/>
                                          </p:val>
                                        </p:tav>
                                      </p:tavLst>
                                    </p:anim>
                                    <p:anim calcmode="lin" valueType="num">
                                      <p:cBhvr additive="base">
                                        <p:cTn id="23" dur="500" fill="hold"/>
                                        <p:tgtEl>
                                          <p:spTgt spid="19487"/>
                                        </p:tgtEl>
                                        <p:attrNameLst>
                                          <p:attrName>ppt_y</p:attrName>
                                        </p:attrNameLst>
                                      </p:cBhvr>
                                      <p:tavLst>
                                        <p:tav tm="0">
                                          <p:val>
                                            <p:strVal val="#ppt_y"/>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21539"/>
                                        </p:tgtEl>
                                        <p:attrNameLst>
                                          <p:attrName>style.visibility</p:attrName>
                                        </p:attrNameLst>
                                      </p:cBhvr>
                                      <p:to>
                                        <p:strVal val="visible"/>
                                      </p:to>
                                    </p:set>
                                    <p:anim calcmode="lin" valueType="num">
                                      <p:cBhvr additive="base">
                                        <p:cTn id="26" dur="500" fill="hold"/>
                                        <p:tgtEl>
                                          <p:spTgt spid="21539"/>
                                        </p:tgtEl>
                                        <p:attrNameLst>
                                          <p:attrName>ppt_x</p:attrName>
                                        </p:attrNameLst>
                                      </p:cBhvr>
                                      <p:tavLst>
                                        <p:tav tm="0">
                                          <p:val>
                                            <p:strVal val="#ppt_x"/>
                                          </p:val>
                                        </p:tav>
                                        <p:tav tm="100000">
                                          <p:val>
                                            <p:strVal val="#ppt_x"/>
                                          </p:val>
                                        </p:tav>
                                      </p:tavLst>
                                    </p:anim>
                                    <p:anim calcmode="lin" valueType="num">
                                      <p:cBhvr additive="base">
                                        <p:cTn id="27" dur="500" fill="hold"/>
                                        <p:tgtEl>
                                          <p:spTgt spid="21539"/>
                                        </p:tgtEl>
                                        <p:attrNameLst>
                                          <p:attrName>ppt_y</p:attrName>
                                        </p:attrNameLst>
                                      </p:cBhvr>
                                      <p:tavLst>
                                        <p:tav tm="0">
                                          <p:val>
                                            <p:strVal val="1+#ppt_h/2"/>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1132581"/>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additive="base">
                                        <p:cTn id="36" dur="500" fill="hold"/>
                                        <p:tgtEl>
                                          <p:spTgt spid="2"/>
                                        </p:tgtEl>
                                        <p:attrNameLst>
                                          <p:attrName>ppt_x</p:attrName>
                                        </p:attrNameLst>
                                      </p:cBhvr>
                                      <p:tavLst>
                                        <p:tav tm="0">
                                          <p:val>
                                            <p:strVal val="#ppt_x"/>
                                          </p:val>
                                        </p:tav>
                                        <p:tav tm="100000">
                                          <p:val>
                                            <p:strVal val="#ppt_x"/>
                                          </p:val>
                                        </p:tav>
                                      </p:tavLst>
                                    </p:anim>
                                    <p:anim calcmode="lin" valueType="num">
                                      <p:cBhvr additive="base">
                                        <p:cTn id="3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2581" grpId="0" autoUpdateAnimBg="0"/>
      <p:bldP spid="11" grpId="0"/>
      <p:bldP spid="13" grpId="0"/>
      <p:bldP spid="19487" grpId="0"/>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5"/>
          <p:cNvPicPr>
            <a:picLocks noChangeAspect="1" noChangeArrowheads="1"/>
          </p:cNvPicPr>
          <p:nvPr/>
        </p:nvPicPr>
        <p:blipFill>
          <a:blip r:embed="rId3">
            <a:extLst>
              <a:ext uri="{28A0092B-C50C-407E-A947-70E740481C1C}">
                <a14:useLocalDpi xmlns:a14="http://schemas.microsoft.com/office/drawing/2010/main" val="0"/>
              </a:ext>
            </a:extLst>
          </a:blip>
          <a:srcRect t="16341"/>
          <a:stretch>
            <a:fillRect/>
          </a:stretch>
        </p:blipFill>
        <p:spPr bwMode="auto">
          <a:xfrm>
            <a:off x="533400" y="1981200"/>
            <a:ext cx="5491163" cy="156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Text Box 6"/>
          <p:cNvSpPr txBox="1">
            <a:spLocks noChangeArrowheads="1"/>
          </p:cNvSpPr>
          <p:nvPr/>
        </p:nvSpPr>
        <p:spPr bwMode="auto">
          <a:xfrm>
            <a:off x="542925" y="307975"/>
            <a:ext cx="8016875"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lnSpc>
                <a:spcPct val="130000"/>
              </a:lnSpc>
            </a:pPr>
            <a:r>
              <a:rPr lang="en-US" sz="1800">
                <a:effectLst/>
              </a:rPr>
              <a:t>Can directed reading activities in the classroom help improve reading ability? A class of 21 third-graders participates in these activities for 8 weeks while a control classroom of 23 third-graders follows the same curriculum without the activities. After 8 weeks, all children take a reading test (scores in table).</a:t>
            </a:r>
          </a:p>
        </p:txBody>
      </p:sp>
      <p:pic>
        <p:nvPicPr>
          <p:cNvPr id="20484" name="Picture 7"/>
          <p:cNvPicPr>
            <a:picLocks noChangeAspect="1" noChangeArrowheads="1"/>
          </p:cNvPicPr>
          <p:nvPr/>
        </p:nvPicPr>
        <p:blipFill>
          <a:blip r:embed="rId4">
            <a:extLst>
              <a:ext uri="{28A0092B-C50C-407E-A947-70E740481C1C}">
                <a14:useLocalDpi xmlns:a14="http://schemas.microsoft.com/office/drawing/2010/main" val="0"/>
              </a:ext>
            </a:extLst>
          </a:blip>
          <a:srcRect b="3839"/>
          <a:stretch>
            <a:fillRect/>
          </a:stretch>
        </p:blipFill>
        <p:spPr bwMode="auto">
          <a:xfrm>
            <a:off x="6172200" y="1997075"/>
            <a:ext cx="2514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3272" name="Rectangle 8"/>
          <p:cNvSpPr>
            <a:spLocks noChangeArrowheads="1"/>
          </p:cNvSpPr>
          <p:nvPr/>
        </p:nvSpPr>
        <p:spPr bwMode="auto">
          <a:xfrm>
            <a:off x="609600" y="3581400"/>
            <a:ext cx="80772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50000"/>
              </a:lnSpc>
              <a:spcBef>
                <a:spcPct val="20000"/>
              </a:spcBef>
              <a:buClr>
                <a:srgbClr val="00CC99"/>
              </a:buClr>
              <a:buSzPct val="65000"/>
              <a:buFont typeface="Wingdings" pitchFamily="2" charset="2"/>
              <a:buNone/>
              <a:defRPr/>
            </a:pPr>
            <a:endParaRPr lang="en-US" dirty="0"/>
          </a:p>
          <a:p>
            <a:pPr>
              <a:lnSpc>
                <a:spcPct val="150000"/>
              </a:lnSpc>
              <a:spcBef>
                <a:spcPct val="20000"/>
              </a:spcBef>
              <a:buClr>
                <a:srgbClr val="00CC99"/>
              </a:buClr>
              <a:buSzPct val="65000"/>
              <a:buFont typeface="Wingdings" pitchFamily="2" charset="2"/>
              <a:buNone/>
              <a:defRPr/>
            </a:pPr>
            <a:endParaRPr lang="en-US" dirty="0"/>
          </a:p>
          <a:p>
            <a:pPr>
              <a:lnSpc>
                <a:spcPct val="150000"/>
              </a:lnSpc>
              <a:spcBef>
                <a:spcPct val="20000"/>
              </a:spcBef>
              <a:buClr>
                <a:srgbClr val="00CC99"/>
              </a:buClr>
              <a:buSzPct val="65000"/>
              <a:buFont typeface="Wingdings" pitchFamily="2" charset="2"/>
              <a:buNone/>
              <a:defRPr/>
            </a:pPr>
            <a:endParaRPr lang="en-US" dirty="0"/>
          </a:p>
          <a:p>
            <a:pPr>
              <a:lnSpc>
                <a:spcPct val="150000"/>
              </a:lnSpc>
              <a:spcBef>
                <a:spcPct val="20000"/>
              </a:spcBef>
              <a:buClr>
                <a:srgbClr val="00CC99"/>
              </a:buClr>
              <a:buSzPct val="65000"/>
              <a:buFont typeface="Wingdings" pitchFamily="2" charset="2"/>
              <a:buNone/>
              <a:defRPr/>
            </a:pPr>
            <a:endParaRPr lang="en-US" dirty="0"/>
          </a:p>
        </p:txBody>
      </p:sp>
      <p:graphicFrame>
        <p:nvGraphicFramePr>
          <p:cNvPr id="1163273" name="Object 9"/>
          <p:cNvGraphicFramePr>
            <a:graphicFrameLocks noChangeAspect="1"/>
          </p:cNvGraphicFramePr>
          <p:nvPr/>
        </p:nvGraphicFramePr>
        <p:xfrm>
          <a:off x="530225" y="3519488"/>
          <a:ext cx="3422650" cy="2487612"/>
        </p:xfrm>
        <a:graphic>
          <a:graphicData uri="http://schemas.openxmlformats.org/presentationml/2006/ole">
            <mc:AlternateContent xmlns:mc="http://schemas.openxmlformats.org/markup-compatibility/2006">
              <mc:Choice xmlns:v="urn:schemas-microsoft-com:vml" Requires="v">
                <p:oleObj spid="_x0000_s20513" name="Equation" r:id="rId5" imgW="1815840" imgH="1320480" progId="Equation.DSMT4">
                  <p:embed/>
                </p:oleObj>
              </mc:Choice>
              <mc:Fallback>
                <p:oleObj name="Equation" r:id="rId5" imgW="1815840" imgH="132048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0225" y="3519488"/>
                        <a:ext cx="3422650" cy="2487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7" name="TextBox 1"/>
          <p:cNvSpPr txBox="1">
            <a:spLocks noChangeArrowheads="1"/>
          </p:cNvSpPr>
          <p:nvPr/>
        </p:nvSpPr>
        <p:spPr bwMode="auto">
          <a:xfrm>
            <a:off x="4551363" y="3581400"/>
            <a:ext cx="4135437"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r>
              <a:rPr lang="en-US">
                <a:effectLst/>
                <a:sym typeface="Mathematica1" pitchFamily="2" charset="2"/>
              </a:rPr>
              <a:t></a:t>
            </a:r>
            <a:r>
              <a:rPr lang="en-US" baseline="-25000">
                <a:effectLst/>
                <a:sym typeface="Mathematica1" pitchFamily="2" charset="2"/>
              </a:rPr>
              <a:t>1 </a:t>
            </a:r>
            <a:r>
              <a:rPr lang="en-US">
                <a:effectLst/>
                <a:sym typeface="Mathematica1" pitchFamily="2" charset="2"/>
              </a:rPr>
              <a:t>= mean test score of activities participants</a:t>
            </a:r>
          </a:p>
          <a:p>
            <a:r>
              <a:rPr lang="en-US">
                <a:effectLst/>
                <a:sym typeface="Mathematica1" pitchFamily="2" charset="2"/>
              </a:rPr>
              <a:t></a:t>
            </a:r>
            <a:r>
              <a:rPr lang="en-US" baseline="-25000">
                <a:effectLst/>
                <a:sym typeface="Mathematica1" pitchFamily="2" charset="2"/>
              </a:rPr>
              <a:t>2 </a:t>
            </a:r>
            <a:r>
              <a:rPr lang="en-US">
                <a:effectLst/>
                <a:sym typeface="Mathematica1" pitchFamily="2" charset="2"/>
              </a:rPr>
              <a:t>= mean test score of controls</a:t>
            </a:r>
            <a:endParaRPr lang="en-US">
              <a:effectLst/>
            </a:endParaRPr>
          </a:p>
        </p:txBody>
      </p:sp>
      <p:sp>
        <p:nvSpPr>
          <p:cNvPr id="20488" name="TextBox 2"/>
          <p:cNvSpPr txBox="1">
            <a:spLocks noChangeArrowheads="1"/>
          </p:cNvSpPr>
          <p:nvPr/>
        </p:nvSpPr>
        <p:spPr bwMode="auto">
          <a:xfrm>
            <a:off x="4038600" y="5151438"/>
            <a:ext cx="4521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r>
              <a:rPr lang="en-US">
                <a:effectLst/>
              </a:rPr>
              <a:t>P-value=P(t</a:t>
            </a:r>
            <a:r>
              <a:rPr lang="en-US" baseline="-25000">
                <a:effectLst/>
              </a:rPr>
              <a:t>37.86</a:t>
            </a:r>
            <a:r>
              <a:rPr lang="en-US">
                <a:effectLst/>
              </a:rPr>
              <a:t> &gt; 2.31) = .013</a:t>
            </a:r>
          </a:p>
        </p:txBody>
      </p:sp>
      <p:sp>
        <p:nvSpPr>
          <p:cNvPr id="4" name="TextBox 3"/>
          <p:cNvSpPr txBox="1"/>
          <p:nvPr/>
        </p:nvSpPr>
        <p:spPr>
          <a:xfrm>
            <a:off x="2514600" y="5943600"/>
            <a:ext cx="6045200" cy="830263"/>
          </a:xfrm>
          <a:prstGeom prst="rect">
            <a:avLst/>
          </a:prstGeom>
          <a:noFill/>
        </p:spPr>
        <p:txBody>
          <a:bodyPr>
            <a:spAutoFit/>
          </a:bodyPr>
          <a:lstStyle/>
          <a:p>
            <a:pPr>
              <a:defRPr/>
            </a:pPr>
            <a:r>
              <a:rPr lang="en-US" b="1" dirty="0"/>
              <a:t>There is evidence that reading activities improve reading ability.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nodeType="withEffect">
                                  <p:stCondLst>
                                    <p:cond delay="0"/>
                                  </p:stCondLst>
                                  <p:childTnLst>
                                    <p:set>
                                      <p:cBhvr>
                                        <p:cTn id="6" dur="1" fill="hold">
                                          <p:stCondLst>
                                            <p:cond delay="0"/>
                                          </p:stCondLst>
                                        </p:cTn>
                                        <p:tgtEl>
                                          <p:spTgt spid="1163273"/>
                                        </p:tgtEl>
                                        <p:attrNameLst>
                                          <p:attrName>style.visibility</p:attrName>
                                        </p:attrNameLst>
                                      </p:cBhvr>
                                      <p:to>
                                        <p:strVal val="visible"/>
                                      </p:to>
                                    </p:set>
                                    <p:animEffect transition="in" filter="box(in)">
                                      <p:cBhvr>
                                        <p:cTn id="7" dur="500"/>
                                        <p:tgtEl>
                                          <p:spTgt spid="1163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noChangeArrowheads="1"/>
          </p:cNvSpPr>
          <p:nvPr>
            <p:ph type="title"/>
          </p:nvPr>
        </p:nvSpPr>
        <p:spPr>
          <a:xfrm>
            <a:off x="457200" y="152400"/>
            <a:ext cx="8229600" cy="1143000"/>
          </a:xfrm>
          <a:solidFill>
            <a:srgbClr val="FFFF00"/>
          </a:solidFill>
        </p:spPr>
        <p:txBody>
          <a:bodyPr/>
          <a:lstStyle/>
          <a:p>
            <a:pPr eaLnBrk="1" hangingPunct="1"/>
            <a:r>
              <a:rPr lang="en-US" altLang="en-US" b="1" smtClean="0">
                <a:solidFill>
                  <a:srgbClr val="FF0000"/>
                </a:solidFill>
              </a:rPr>
              <a:t>Robustness</a:t>
            </a:r>
          </a:p>
        </p:txBody>
      </p:sp>
      <p:sp>
        <p:nvSpPr>
          <p:cNvPr id="23555" name="Rectangle 4"/>
          <p:cNvSpPr>
            <a:spLocks noGrp="1" noChangeArrowheads="1"/>
          </p:cNvSpPr>
          <p:nvPr>
            <p:ph type="body" idx="1"/>
          </p:nvPr>
        </p:nvSpPr>
        <p:spPr>
          <a:xfrm>
            <a:off x="457200" y="1219200"/>
            <a:ext cx="8229600" cy="4876800"/>
          </a:xfrm>
        </p:spPr>
        <p:txBody>
          <a:bodyPr/>
          <a:lstStyle/>
          <a:p>
            <a:pPr marL="0" indent="0" eaLnBrk="1" hangingPunct="1">
              <a:lnSpc>
                <a:spcPct val="150000"/>
              </a:lnSpc>
              <a:buFont typeface="Wingdings" pitchFamily="2" charset="2"/>
              <a:buNone/>
            </a:pPr>
            <a:r>
              <a:rPr lang="en-US" altLang="en-US" sz="2400" smtClean="0"/>
              <a:t>The two-sample </a:t>
            </a:r>
            <a:r>
              <a:rPr lang="en-US" altLang="en-US" sz="2400" i="1" smtClean="0"/>
              <a:t>t</a:t>
            </a:r>
            <a:r>
              <a:rPr lang="en-US" altLang="en-US" sz="2400" smtClean="0"/>
              <a:t> procedures are more robust than the one-sample </a:t>
            </a:r>
            <a:r>
              <a:rPr lang="en-US" altLang="en-US" sz="2400" i="1" smtClean="0"/>
              <a:t>t</a:t>
            </a:r>
            <a:r>
              <a:rPr lang="en-US" altLang="en-US" sz="2400" smtClean="0"/>
              <a:t> procedures. They are the most robust when both sample sizes are equal and both sample distributions are similar. But even when we deviate from this, two-sample tests tend to remain quite robust.</a:t>
            </a:r>
            <a:br>
              <a:rPr lang="en-US" altLang="en-US" sz="2400" smtClean="0"/>
            </a:br>
            <a:r>
              <a:rPr lang="en-US" altLang="en-US" sz="2400" smtClean="0">
                <a:sym typeface="Wingdings" pitchFamily="2" charset="2"/>
              </a:rPr>
              <a:t> When planning a two-sample study, choose equal sample sizes if you can.</a:t>
            </a:r>
            <a:endParaRPr lang="en-US" altLang="en-US" sz="2400" smtClean="0"/>
          </a:p>
          <a:p>
            <a:pPr marL="0" indent="0" eaLnBrk="1" hangingPunct="1">
              <a:lnSpc>
                <a:spcPct val="150000"/>
              </a:lnSpc>
              <a:spcBef>
                <a:spcPct val="50000"/>
              </a:spcBef>
              <a:buFont typeface="Wingdings" pitchFamily="2" charset="2"/>
              <a:buNone/>
            </a:pPr>
            <a:r>
              <a:rPr lang="en-US" altLang="en-US" sz="2400" smtClean="0"/>
              <a:t>As a guideline, a combined sample size (</a:t>
            </a:r>
            <a:r>
              <a:rPr lang="en-US" altLang="en-US" sz="2400" i="1" smtClean="0"/>
              <a:t>n</a:t>
            </a:r>
            <a:r>
              <a:rPr lang="en-US" altLang="en-US" sz="2400" baseline="-25000" smtClean="0"/>
              <a:t>1</a:t>
            </a:r>
            <a:r>
              <a:rPr lang="en-US" altLang="en-US" sz="2400" smtClean="0"/>
              <a:t> + </a:t>
            </a:r>
            <a:r>
              <a:rPr lang="en-US" altLang="en-US" sz="2400" i="1" smtClean="0"/>
              <a:t>n</a:t>
            </a:r>
            <a:r>
              <a:rPr lang="en-US" altLang="en-US" sz="2400" baseline="-25000" smtClean="0"/>
              <a:t>2</a:t>
            </a:r>
            <a:r>
              <a:rPr lang="en-US" altLang="en-US" sz="2400" smtClean="0"/>
              <a:t>) of 40 or more will allow you to work even with the most skewed distributions.</a:t>
            </a:r>
          </a:p>
        </p:txBody>
      </p:sp>
    </p:spTree>
    <p:extLst>
      <p:ext uri="{BB962C8B-B14F-4D97-AF65-F5344CB8AC3E}">
        <p14:creationId xmlns:p14="http://schemas.microsoft.com/office/powerpoint/2010/main" val="46258835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type="title"/>
          </p:nvPr>
        </p:nvSpPr>
        <p:spPr>
          <a:xfrm>
            <a:off x="457200" y="152400"/>
            <a:ext cx="8229600" cy="685800"/>
          </a:xfrm>
          <a:solidFill>
            <a:srgbClr val="FFFF00"/>
          </a:solidFill>
        </p:spPr>
        <p:txBody>
          <a:bodyPr/>
          <a:lstStyle/>
          <a:p>
            <a:pPr eaLnBrk="1" hangingPunct="1">
              <a:lnSpc>
                <a:spcPct val="110000"/>
              </a:lnSpc>
            </a:pPr>
            <a:r>
              <a:rPr lang="en-US" altLang="en-US" sz="2800" b="1" smtClean="0">
                <a:solidFill>
                  <a:srgbClr val="333399"/>
                </a:solidFill>
              </a:rPr>
              <a:t>Pooled two-sample procedures</a:t>
            </a:r>
          </a:p>
        </p:txBody>
      </p:sp>
      <p:sp>
        <p:nvSpPr>
          <p:cNvPr id="24579" name="Rectangle 4"/>
          <p:cNvSpPr>
            <a:spLocks noGrp="1" noChangeArrowheads="1"/>
          </p:cNvSpPr>
          <p:nvPr>
            <p:ph type="body" idx="1"/>
          </p:nvPr>
        </p:nvSpPr>
        <p:spPr>
          <a:xfrm>
            <a:off x="457200" y="990600"/>
            <a:ext cx="8229600" cy="2819400"/>
          </a:xfrm>
        </p:spPr>
        <p:txBody>
          <a:bodyPr/>
          <a:lstStyle/>
          <a:p>
            <a:pPr marL="0" indent="0" eaLnBrk="1" hangingPunct="1">
              <a:lnSpc>
                <a:spcPct val="140000"/>
              </a:lnSpc>
              <a:buFont typeface="Wingdings" pitchFamily="2" charset="2"/>
              <a:buNone/>
            </a:pPr>
            <a:r>
              <a:rPr lang="en-US" altLang="en-US" sz="2400" smtClean="0"/>
              <a:t>There are two versions of the two-sample </a:t>
            </a:r>
            <a:r>
              <a:rPr lang="en-US" altLang="en-US" sz="2400" i="1" smtClean="0"/>
              <a:t>t</a:t>
            </a:r>
            <a:r>
              <a:rPr lang="en-US" altLang="en-US" sz="2400" smtClean="0"/>
              <a:t>-test: one </a:t>
            </a:r>
            <a:r>
              <a:rPr lang="en-US" altLang="en-US" sz="2400" b="1" smtClean="0">
                <a:solidFill>
                  <a:srgbClr val="333399"/>
                </a:solidFill>
              </a:rPr>
              <a:t>assuming equal variance (“pooled 2-sample test”)</a:t>
            </a:r>
            <a:r>
              <a:rPr lang="en-US" altLang="en-US" sz="2400" b="1" smtClean="0"/>
              <a:t> </a:t>
            </a:r>
            <a:r>
              <a:rPr lang="en-US" altLang="en-US" sz="2400" smtClean="0"/>
              <a:t>and one </a:t>
            </a:r>
            <a:r>
              <a:rPr lang="en-US" altLang="en-US" sz="2400" b="1" smtClean="0">
                <a:solidFill>
                  <a:srgbClr val="333399"/>
                </a:solidFill>
              </a:rPr>
              <a:t>not assuming equal variance </a:t>
            </a:r>
            <a:r>
              <a:rPr lang="en-US" altLang="en-US" sz="2400" smtClean="0"/>
              <a:t>(</a:t>
            </a:r>
            <a:r>
              <a:rPr lang="en-US" altLang="en-US" sz="2400" b="1" smtClean="0">
                <a:solidFill>
                  <a:srgbClr val="333399"/>
                </a:solidFill>
              </a:rPr>
              <a:t>“unequal” variance</a:t>
            </a:r>
            <a:r>
              <a:rPr lang="en-US" altLang="en-US" sz="2400" b="1" smtClean="0"/>
              <a:t>,</a:t>
            </a:r>
            <a:r>
              <a:rPr lang="en-US" altLang="en-US" sz="2400" smtClean="0"/>
              <a:t> as we have studied)</a:t>
            </a:r>
            <a:r>
              <a:rPr lang="en-US" altLang="en-US" sz="2400" b="1" smtClean="0"/>
              <a:t> </a:t>
            </a:r>
            <a:r>
              <a:rPr lang="en-US" altLang="en-US" sz="2400" smtClean="0"/>
              <a:t>for the two populations. They have slightly different formulas and degrees of freedom.</a:t>
            </a:r>
          </a:p>
        </p:txBody>
      </p:sp>
      <p:sp>
        <p:nvSpPr>
          <p:cNvPr id="19460" name="Rectangle 5"/>
          <p:cNvSpPr>
            <a:spLocks noChangeArrowheads="1"/>
          </p:cNvSpPr>
          <p:nvPr/>
        </p:nvSpPr>
        <p:spPr bwMode="auto">
          <a:xfrm>
            <a:off x="609600" y="5867400"/>
            <a:ext cx="35052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0" hangingPunct="0">
              <a:defRPr/>
            </a:pPr>
            <a:r>
              <a:rPr lang="en-US" sz="1600" i="1">
                <a:effectLst>
                  <a:outerShdw blurRad="38100" dist="38100" dir="2700000" algn="tl">
                    <a:srgbClr val="000000">
                      <a:alpha val="43137"/>
                    </a:srgbClr>
                  </a:outerShdw>
                </a:effectLst>
                <a:cs typeface="+mn-cs"/>
              </a:rPr>
              <a:t>Two normally distributed populations with unequal variances</a:t>
            </a:r>
          </a:p>
        </p:txBody>
      </p:sp>
      <p:pic>
        <p:nvPicPr>
          <p:cNvPr id="24581" name="Picture 6" descr="w0169-n"/>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81000" y="3657600"/>
            <a:ext cx="4038600" cy="213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8695" name="Rectangle 7"/>
          <p:cNvSpPr>
            <a:spLocks noChangeArrowheads="1"/>
          </p:cNvSpPr>
          <p:nvPr/>
        </p:nvSpPr>
        <p:spPr bwMode="auto">
          <a:xfrm>
            <a:off x="4572000" y="3124200"/>
            <a:ext cx="42672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a:lnSpc>
                <a:spcPct val="120000"/>
              </a:lnSpc>
              <a:buClr>
                <a:srgbClr val="00CC99"/>
              </a:buClr>
              <a:buSzPct val="65000"/>
              <a:buFont typeface="Wingdings" pitchFamily="2" charset="2"/>
              <a:buNone/>
            </a:pPr>
            <a:r>
              <a:rPr lang="en-US" altLang="en-US" sz="2000">
                <a:latin typeface="Arial" charset="0"/>
              </a:rPr>
              <a:t>The pooled (equal variance) two-sample </a:t>
            </a:r>
            <a:r>
              <a:rPr lang="en-US" altLang="en-US" sz="2000" i="1">
                <a:latin typeface="Arial" charset="0"/>
              </a:rPr>
              <a:t>t</a:t>
            </a:r>
            <a:r>
              <a:rPr lang="en-US" altLang="en-US" sz="2000">
                <a:latin typeface="Arial" charset="0"/>
              </a:rPr>
              <a:t>-test was often used before computers because it has exactly the </a:t>
            </a:r>
            <a:r>
              <a:rPr lang="en-US" altLang="en-US" sz="2000" i="1">
                <a:latin typeface="Arial" charset="0"/>
              </a:rPr>
              <a:t>t</a:t>
            </a:r>
            <a:r>
              <a:rPr lang="en-US" altLang="en-US" sz="2000">
                <a:latin typeface="Arial" charset="0"/>
              </a:rPr>
              <a:t> distribution for degrees of freedom </a:t>
            </a:r>
            <a:r>
              <a:rPr lang="en-US" altLang="en-US" sz="2000" i="1">
                <a:latin typeface="Arial" charset="0"/>
              </a:rPr>
              <a:t>n</a:t>
            </a:r>
            <a:r>
              <a:rPr lang="en-US" altLang="en-US" sz="2000" baseline="-25000">
                <a:latin typeface="Arial" charset="0"/>
              </a:rPr>
              <a:t>1</a:t>
            </a:r>
            <a:r>
              <a:rPr lang="en-US" altLang="en-US" sz="2000">
                <a:latin typeface="Arial" charset="0"/>
              </a:rPr>
              <a:t> + </a:t>
            </a:r>
            <a:r>
              <a:rPr lang="en-US" altLang="en-US" sz="2000" i="1">
                <a:latin typeface="Arial" charset="0"/>
              </a:rPr>
              <a:t>n</a:t>
            </a:r>
            <a:r>
              <a:rPr lang="en-US" altLang="en-US" sz="2000" baseline="-25000">
                <a:latin typeface="Arial" charset="0"/>
              </a:rPr>
              <a:t>2</a:t>
            </a:r>
            <a:r>
              <a:rPr lang="en-US" altLang="en-US" sz="2000">
                <a:latin typeface="Arial" charset="0"/>
              </a:rPr>
              <a:t> − 2. </a:t>
            </a:r>
          </a:p>
          <a:p>
            <a:pPr>
              <a:lnSpc>
                <a:spcPct val="120000"/>
              </a:lnSpc>
              <a:spcBef>
                <a:spcPct val="60000"/>
              </a:spcBef>
              <a:buClr>
                <a:srgbClr val="00CC99"/>
              </a:buClr>
              <a:buSzPct val="65000"/>
              <a:buFont typeface="Wingdings" pitchFamily="2" charset="2"/>
              <a:buNone/>
            </a:pPr>
            <a:r>
              <a:rPr lang="en-US" altLang="en-US" sz="2000">
                <a:latin typeface="Arial" charset="0"/>
              </a:rPr>
              <a:t>However, the assumption of equal variance is hard to check, and thus the unequal variance test is safer. </a:t>
            </a:r>
          </a:p>
        </p:txBody>
      </p:sp>
    </p:spTree>
    <p:extLst>
      <p:ext uri="{BB962C8B-B14F-4D97-AF65-F5344CB8AC3E}">
        <p14:creationId xmlns:p14="http://schemas.microsoft.com/office/powerpoint/2010/main" val="14188906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386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869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body" sz="half" idx="1"/>
          </p:nvPr>
        </p:nvSpPr>
        <p:spPr>
          <a:xfrm>
            <a:off x="457200" y="533400"/>
            <a:ext cx="8458200" cy="6324600"/>
          </a:xfrm>
        </p:spPr>
        <p:txBody>
          <a:bodyPr/>
          <a:lstStyle/>
          <a:p>
            <a:pPr marL="0" indent="0" eaLnBrk="1" hangingPunct="1">
              <a:lnSpc>
                <a:spcPct val="130000"/>
              </a:lnSpc>
              <a:buFont typeface="Wingdings" pitchFamily="2" charset="2"/>
              <a:buNone/>
            </a:pPr>
            <a:r>
              <a:rPr lang="en-US" altLang="en-US" sz="2400" smtClean="0"/>
              <a:t>When both population have the </a:t>
            </a:r>
            <a:br>
              <a:rPr lang="en-US" altLang="en-US" sz="2400" smtClean="0"/>
            </a:br>
            <a:r>
              <a:rPr lang="en-US" altLang="en-US" sz="2400" i="1" smtClean="0"/>
              <a:t>same </a:t>
            </a:r>
            <a:r>
              <a:rPr lang="en-US" altLang="en-US" sz="2400" smtClean="0"/>
              <a:t>standard deviation, the </a:t>
            </a:r>
            <a:br>
              <a:rPr lang="en-US" altLang="en-US" sz="2400" smtClean="0"/>
            </a:br>
            <a:r>
              <a:rPr lang="en-US" altLang="en-US" sz="2400" b="1" smtClean="0">
                <a:solidFill>
                  <a:srgbClr val="333399"/>
                </a:solidFill>
              </a:rPr>
              <a:t>pooled estimator of </a:t>
            </a:r>
            <a:r>
              <a:rPr lang="en-US" altLang="en-US" sz="2400" b="1" i="1" smtClean="0">
                <a:solidFill>
                  <a:srgbClr val="333399"/>
                </a:solidFill>
              </a:rPr>
              <a:t>σ</a:t>
            </a:r>
            <a:r>
              <a:rPr lang="en-US" altLang="en-US" sz="2400" b="1" baseline="30000" smtClean="0">
                <a:solidFill>
                  <a:srgbClr val="333399"/>
                </a:solidFill>
              </a:rPr>
              <a:t>2</a:t>
            </a:r>
            <a:r>
              <a:rPr lang="en-US" altLang="en-US" sz="2400" b="1" smtClean="0"/>
              <a:t> </a:t>
            </a:r>
            <a:r>
              <a:rPr lang="en-US" altLang="en-US" sz="2400" smtClean="0"/>
              <a:t> is:</a:t>
            </a:r>
          </a:p>
          <a:p>
            <a:pPr marL="0" indent="0" eaLnBrk="1" hangingPunct="1">
              <a:lnSpc>
                <a:spcPct val="130000"/>
              </a:lnSpc>
              <a:buFont typeface="Wingdings" pitchFamily="2" charset="2"/>
              <a:buNone/>
            </a:pPr>
            <a:endParaRPr lang="en-US" altLang="en-US" sz="1400" smtClean="0"/>
          </a:p>
          <a:p>
            <a:pPr marL="0" indent="0" eaLnBrk="1" hangingPunct="1">
              <a:lnSpc>
                <a:spcPct val="130000"/>
              </a:lnSpc>
              <a:buFont typeface="Wingdings" pitchFamily="2" charset="2"/>
              <a:buNone/>
            </a:pPr>
            <a:r>
              <a:rPr lang="en-US" altLang="en-US" sz="2400" smtClean="0"/>
              <a:t>The sampling distribution for             has exactly the </a:t>
            </a:r>
            <a:r>
              <a:rPr lang="en-US" altLang="en-US" sz="2400" i="1" smtClean="0"/>
              <a:t>t</a:t>
            </a:r>
            <a:r>
              <a:rPr lang="en-US" altLang="en-US" sz="2400" smtClean="0"/>
              <a:t> distribution with </a:t>
            </a:r>
            <a:r>
              <a:rPr lang="en-US" altLang="en-US" sz="2400" b="1" i="1" smtClean="0">
                <a:solidFill>
                  <a:srgbClr val="333399"/>
                </a:solidFill>
              </a:rPr>
              <a:t>(n</a:t>
            </a:r>
            <a:r>
              <a:rPr lang="en-US" altLang="en-US" sz="2400" b="1" baseline="-25000" smtClean="0">
                <a:solidFill>
                  <a:srgbClr val="333399"/>
                </a:solidFill>
              </a:rPr>
              <a:t>1</a:t>
            </a:r>
            <a:r>
              <a:rPr lang="en-US" altLang="en-US" sz="2400" b="1" smtClean="0">
                <a:solidFill>
                  <a:srgbClr val="333399"/>
                </a:solidFill>
              </a:rPr>
              <a:t> + </a:t>
            </a:r>
            <a:r>
              <a:rPr lang="en-US" altLang="en-US" sz="2400" b="1" i="1" smtClean="0">
                <a:solidFill>
                  <a:srgbClr val="333399"/>
                </a:solidFill>
              </a:rPr>
              <a:t>n</a:t>
            </a:r>
            <a:r>
              <a:rPr lang="en-US" altLang="en-US" sz="2400" b="1" baseline="-25000" smtClean="0">
                <a:solidFill>
                  <a:srgbClr val="333399"/>
                </a:solidFill>
              </a:rPr>
              <a:t>2</a:t>
            </a:r>
            <a:r>
              <a:rPr lang="en-US" altLang="en-US" sz="2400" b="1" smtClean="0">
                <a:solidFill>
                  <a:srgbClr val="333399"/>
                </a:solidFill>
              </a:rPr>
              <a:t> − 2</a:t>
            </a:r>
            <a:r>
              <a:rPr lang="en-US" altLang="en-US" sz="2400" b="1" i="1" smtClean="0">
                <a:solidFill>
                  <a:srgbClr val="333399"/>
                </a:solidFill>
              </a:rPr>
              <a:t>) </a:t>
            </a:r>
            <a:r>
              <a:rPr lang="en-US" altLang="en-US" sz="2400" b="1" smtClean="0">
                <a:solidFill>
                  <a:srgbClr val="333399"/>
                </a:solidFill>
              </a:rPr>
              <a:t>degrees of freedom</a:t>
            </a:r>
            <a:r>
              <a:rPr lang="en-US" altLang="en-US" sz="2400" smtClean="0"/>
              <a:t>.</a:t>
            </a:r>
          </a:p>
          <a:p>
            <a:pPr marL="0" indent="0" eaLnBrk="1" hangingPunct="1">
              <a:lnSpc>
                <a:spcPct val="130000"/>
              </a:lnSpc>
              <a:buFont typeface="Wingdings" pitchFamily="2" charset="2"/>
              <a:buNone/>
            </a:pPr>
            <a:endParaRPr lang="en-US" altLang="en-US" sz="1400" smtClean="0"/>
          </a:p>
          <a:p>
            <a:pPr marL="0" indent="0" eaLnBrk="1" hangingPunct="1">
              <a:lnSpc>
                <a:spcPct val="130000"/>
              </a:lnSpc>
              <a:buFont typeface="Wingdings" pitchFamily="2" charset="2"/>
              <a:buNone/>
            </a:pPr>
            <a:r>
              <a:rPr lang="en-US" altLang="en-US" sz="2400" smtClean="0"/>
              <a:t>A level </a:t>
            </a:r>
            <a:r>
              <a:rPr lang="en-US" altLang="en-US" sz="2400" i="1" smtClean="0"/>
              <a:t>C </a:t>
            </a:r>
            <a:r>
              <a:rPr lang="en-US" altLang="en-US" sz="2400" smtClean="0"/>
              <a:t>confidence interval for </a:t>
            </a:r>
            <a:r>
              <a:rPr lang="en-US" altLang="en-US" sz="2400" i="1" smtClean="0"/>
              <a:t>µ</a:t>
            </a:r>
            <a:r>
              <a:rPr lang="en-US" altLang="en-US" sz="2400" baseline="-25000" smtClean="0"/>
              <a:t>1</a:t>
            </a:r>
            <a:r>
              <a:rPr lang="en-US" altLang="en-US" sz="2400" smtClean="0"/>
              <a:t> − </a:t>
            </a:r>
            <a:r>
              <a:rPr lang="en-US" altLang="en-US" sz="2400" i="1" smtClean="0"/>
              <a:t>µ</a:t>
            </a:r>
            <a:r>
              <a:rPr lang="en-US" altLang="en-US" sz="2400" baseline="-25000" smtClean="0"/>
              <a:t>2</a:t>
            </a:r>
            <a:r>
              <a:rPr lang="en-US" altLang="en-US" sz="2400" smtClean="0"/>
              <a:t> is</a:t>
            </a:r>
          </a:p>
          <a:p>
            <a:pPr marL="0" indent="0" eaLnBrk="1" hangingPunct="1">
              <a:lnSpc>
                <a:spcPct val="130000"/>
              </a:lnSpc>
              <a:buFont typeface="Wingdings" pitchFamily="2" charset="2"/>
              <a:buNone/>
            </a:pPr>
            <a:r>
              <a:rPr lang="en-US" altLang="en-US" sz="2400" smtClean="0"/>
              <a:t>(with area C between </a:t>
            </a:r>
            <a:r>
              <a:rPr lang="en-US" altLang="en-US" sz="2400" smtClean="0">
                <a:cs typeface="Arial" charset="0"/>
              </a:rPr>
              <a:t>−</a:t>
            </a:r>
            <a:r>
              <a:rPr lang="en-US" altLang="en-US" sz="2400" i="1" smtClean="0"/>
              <a:t>t*</a:t>
            </a:r>
            <a:r>
              <a:rPr lang="en-US" altLang="en-US" sz="2400" smtClean="0"/>
              <a:t> and </a:t>
            </a:r>
            <a:r>
              <a:rPr lang="en-US" altLang="en-US" sz="2400" i="1" smtClean="0"/>
              <a:t>t</a:t>
            </a:r>
            <a:r>
              <a:rPr lang="en-US" altLang="en-US" sz="2400" smtClean="0"/>
              <a:t>*)</a:t>
            </a:r>
          </a:p>
          <a:p>
            <a:pPr marL="2743200" lvl="1" indent="-1588" eaLnBrk="1" hangingPunct="1">
              <a:lnSpc>
                <a:spcPct val="130000"/>
              </a:lnSpc>
              <a:buFont typeface="Wingdings" pitchFamily="2" charset="2"/>
              <a:buNone/>
            </a:pPr>
            <a:r>
              <a:rPr lang="en-US" altLang="en-US" sz="2400" smtClean="0"/>
              <a:t>To test the hypothesis </a:t>
            </a:r>
            <a:r>
              <a:rPr lang="en-US" altLang="en-US" sz="2400" i="1" smtClean="0"/>
              <a:t>H</a:t>
            </a:r>
            <a:r>
              <a:rPr lang="en-US" altLang="en-US" sz="2400" baseline="-25000" smtClean="0"/>
              <a:t>0</a:t>
            </a:r>
            <a:r>
              <a:rPr lang="en-US" altLang="en-US" sz="2400" smtClean="0"/>
              <a:t>: </a:t>
            </a:r>
            <a:r>
              <a:rPr lang="en-US" altLang="en-US" sz="2400" i="1" smtClean="0"/>
              <a:t>µ</a:t>
            </a:r>
            <a:r>
              <a:rPr lang="en-US" altLang="en-US" sz="2400" baseline="-25000" smtClean="0"/>
              <a:t>1</a:t>
            </a:r>
            <a:r>
              <a:rPr lang="en-US" altLang="en-US" sz="2400" smtClean="0"/>
              <a:t>- </a:t>
            </a:r>
            <a:r>
              <a:rPr lang="en-US" altLang="en-US" sz="2400" i="1" smtClean="0"/>
              <a:t>µ</a:t>
            </a:r>
            <a:r>
              <a:rPr lang="en-US" altLang="en-US" sz="2400" baseline="-25000" smtClean="0"/>
              <a:t>2 </a:t>
            </a:r>
            <a:r>
              <a:rPr lang="en-US" altLang="en-US" sz="2400" smtClean="0"/>
              <a:t>= 0 against a </a:t>
            </a:r>
            <a:br>
              <a:rPr lang="en-US" altLang="en-US" sz="2400" smtClean="0"/>
            </a:br>
            <a:r>
              <a:rPr lang="en-US" altLang="en-US" sz="2400" smtClean="0"/>
              <a:t>one-sided or a two-sided alternative, compute the pooled two-sample </a:t>
            </a:r>
            <a:r>
              <a:rPr lang="en-US" altLang="en-US" sz="2400" i="1" smtClean="0"/>
              <a:t>t </a:t>
            </a:r>
            <a:r>
              <a:rPr lang="en-US" altLang="en-US" sz="2400" smtClean="0"/>
              <a:t>statistic for the </a:t>
            </a:r>
            <a:r>
              <a:rPr lang="en-US" altLang="en-US" sz="2400" i="1" smtClean="0"/>
              <a:t>t(n</a:t>
            </a:r>
            <a:r>
              <a:rPr lang="en-US" altLang="en-US" sz="2400" baseline="-25000" smtClean="0"/>
              <a:t>1</a:t>
            </a:r>
            <a:r>
              <a:rPr lang="en-US" altLang="en-US" sz="2400" smtClean="0"/>
              <a:t> + </a:t>
            </a:r>
            <a:r>
              <a:rPr lang="en-US" altLang="en-US" sz="2400" i="1" smtClean="0"/>
              <a:t>n</a:t>
            </a:r>
            <a:r>
              <a:rPr lang="en-US" altLang="en-US" sz="2400" baseline="-25000" smtClean="0"/>
              <a:t>2</a:t>
            </a:r>
            <a:r>
              <a:rPr lang="en-US" altLang="en-US" sz="2400" smtClean="0"/>
              <a:t> − 2</a:t>
            </a:r>
            <a:r>
              <a:rPr lang="en-US" altLang="en-US" sz="2400" i="1" smtClean="0"/>
              <a:t>) </a:t>
            </a:r>
            <a:r>
              <a:rPr lang="en-US" altLang="en-US" sz="2400" smtClean="0"/>
              <a:t>distribution.</a:t>
            </a:r>
          </a:p>
        </p:txBody>
      </p:sp>
      <p:pic>
        <p:nvPicPr>
          <p:cNvPr id="25603" name="Picture 4"/>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l="2171" b="17500"/>
          <a:stretch>
            <a:fillRect/>
          </a:stretch>
        </p:blipFill>
        <p:spPr>
          <a:xfrm>
            <a:off x="4648200" y="1143000"/>
            <a:ext cx="3432175" cy="838200"/>
          </a:xfrm>
        </p:spPr>
      </p:pic>
      <p:pic>
        <p:nvPicPr>
          <p:cNvPr id="25604" name="Picture 7"/>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l="6937" t="13483" b="12360"/>
          <a:stretch>
            <a:fillRect/>
          </a:stretch>
        </p:blipFill>
        <p:spPr>
          <a:xfrm>
            <a:off x="5638800" y="3505200"/>
            <a:ext cx="3295650" cy="900113"/>
          </a:xfrm>
        </p:spPr>
      </p:pic>
      <p:pic>
        <p:nvPicPr>
          <p:cNvPr id="25605" name="Picture 11"/>
          <p:cNvPicPr>
            <a:picLocks noChangeAspect="1" noChangeArrowheads="1"/>
          </p:cNvPicPr>
          <p:nvPr/>
        </p:nvPicPr>
        <p:blipFill>
          <a:blip r:embed="rId5">
            <a:extLst>
              <a:ext uri="{28A0092B-C50C-407E-A947-70E740481C1C}">
                <a14:useLocalDpi xmlns:a14="http://schemas.microsoft.com/office/drawing/2010/main" val="0"/>
              </a:ext>
            </a:extLst>
          </a:blip>
          <a:srcRect l="8466" r="6879"/>
          <a:stretch>
            <a:fillRect/>
          </a:stretch>
        </p:blipFill>
        <p:spPr bwMode="auto">
          <a:xfrm>
            <a:off x="673100" y="5105400"/>
            <a:ext cx="2168525"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5606" name="Object 1"/>
          <p:cNvGraphicFramePr>
            <a:graphicFrameLocks noChangeAspect="1"/>
          </p:cNvGraphicFramePr>
          <p:nvPr/>
        </p:nvGraphicFramePr>
        <p:xfrm>
          <a:off x="4191000" y="2438400"/>
          <a:ext cx="762000" cy="415925"/>
        </p:xfrm>
        <a:graphic>
          <a:graphicData uri="http://schemas.openxmlformats.org/presentationml/2006/ole">
            <mc:AlternateContent xmlns:mc="http://schemas.openxmlformats.org/markup-compatibility/2006">
              <mc:Choice xmlns:v="urn:schemas-microsoft-com:vml" Requires="v">
                <p:oleObj spid="_x0000_s52226" name="Equation" r:id="rId6" imgW="419100" imgH="228600" progId="Equation.DSMT4">
                  <p:embed/>
                </p:oleObj>
              </mc:Choice>
              <mc:Fallback>
                <p:oleObj name="Equation" r:id="rId6" imgW="419100" imgH="2286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91000" y="2438400"/>
                        <a:ext cx="7620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607" name="Rectangle 3"/>
          <p:cNvSpPr>
            <a:spLocks noGrp="1" noChangeArrowheads="1"/>
          </p:cNvSpPr>
          <p:nvPr>
            <p:ph type="title"/>
          </p:nvPr>
        </p:nvSpPr>
        <p:spPr>
          <a:xfrm>
            <a:off x="838200" y="26988"/>
            <a:ext cx="7315200" cy="658812"/>
          </a:xfrm>
          <a:solidFill>
            <a:srgbClr val="FFFF00"/>
          </a:solidFill>
        </p:spPr>
        <p:txBody>
          <a:bodyPr/>
          <a:lstStyle/>
          <a:p>
            <a:pPr eaLnBrk="1" hangingPunct="1">
              <a:lnSpc>
                <a:spcPct val="110000"/>
              </a:lnSpc>
            </a:pPr>
            <a:r>
              <a:rPr lang="en-US" altLang="en-US" sz="2800" b="1" smtClean="0">
                <a:solidFill>
                  <a:srgbClr val="333399"/>
                </a:solidFill>
              </a:rPr>
              <a:t>Pooled two-sample procedures (cont.)</a:t>
            </a:r>
          </a:p>
        </p:txBody>
      </p:sp>
    </p:spTree>
    <p:extLst>
      <p:ext uri="{BB962C8B-B14F-4D97-AF65-F5344CB8AC3E}">
        <p14:creationId xmlns:p14="http://schemas.microsoft.com/office/powerpoint/2010/main" val="350339262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4070" name="Rectangle 6"/>
          <p:cNvSpPr>
            <a:spLocks noChangeArrowheads="1"/>
          </p:cNvSpPr>
          <p:nvPr/>
        </p:nvSpPr>
        <p:spPr bwMode="auto">
          <a:xfrm>
            <a:off x="762000" y="3352800"/>
            <a:ext cx="7924800" cy="2819400"/>
          </a:xfrm>
          <a:prstGeom prst="rect">
            <a:avLst/>
          </a:prstGeom>
          <a:solidFill>
            <a:srgbClr val="FFCC66"/>
          </a:solidFill>
          <a:ln w="9525">
            <a:noFill/>
            <a:miter lim="800000"/>
            <a:headEnd/>
            <a:tailEnd/>
          </a:ln>
          <a:effectLst/>
        </p:spPr>
        <p:txBody>
          <a:bodyPr wrap="none" anchor="ctr"/>
          <a:lstStyle/>
          <a:p>
            <a:pPr>
              <a:defRPr/>
            </a:pPr>
            <a:endParaRPr lang="en-US"/>
          </a:p>
        </p:txBody>
      </p:sp>
      <p:sp>
        <p:nvSpPr>
          <p:cNvPr id="23555" name="Rectangle 4"/>
          <p:cNvSpPr>
            <a:spLocks noGrp="1" noChangeArrowheads="1"/>
          </p:cNvSpPr>
          <p:nvPr>
            <p:ph type="title"/>
          </p:nvPr>
        </p:nvSpPr>
        <p:spPr>
          <a:xfrm>
            <a:off x="457200" y="274638"/>
            <a:ext cx="8229600" cy="792162"/>
          </a:xfrm>
        </p:spPr>
        <p:txBody>
          <a:bodyPr/>
          <a:lstStyle/>
          <a:p>
            <a:pPr eaLnBrk="1" hangingPunct="1"/>
            <a:r>
              <a:rPr lang="en-US" smtClean="0">
                <a:solidFill>
                  <a:srgbClr val="FF0000"/>
                </a:solidFill>
              </a:rPr>
              <a:t>Matched pairs </a:t>
            </a:r>
            <a:r>
              <a:rPr lang="en-US" i="1" smtClean="0">
                <a:solidFill>
                  <a:srgbClr val="FF0000"/>
                </a:solidFill>
              </a:rPr>
              <a:t>t</a:t>
            </a:r>
            <a:r>
              <a:rPr lang="en-US" smtClean="0">
                <a:solidFill>
                  <a:srgbClr val="FF0000"/>
                </a:solidFill>
              </a:rPr>
              <a:t> procedures</a:t>
            </a:r>
          </a:p>
        </p:txBody>
      </p:sp>
      <p:sp>
        <p:nvSpPr>
          <p:cNvPr id="23556" name="Rectangle 5"/>
          <p:cNvSpPr>
            <a:spLocks noGrp="1" noChangeArrowheads="1"/>
          </p:cNvSpPr>
          <p:nvPr>
            <p:ph type="body" idx="1"/>
          </p:nvPr>
        </p:nvSpPr>
        <p:spPr>
          <a:xfrm>
            <a:off x="457200" y="990600"/>
            <a:ext cx="8229600" cy="1981200"/>
          </a:xfrm>
          <a:solidFill>
            <a:schemeClr val="bg1"/>
          </a:solidFill>
        </p:spPr>
        <p:txBody>
          <a:bodyPr/>
          <a:lstStyle/>
          <a:p>
            <a:pPr marL="0" indent="0" eaLnBrk="1" hangingPunct="1">
              <a:lnSpc>
                <a:spcPct val="130000"/>
              </a:lnSpc>
              <a:spcAft>
                <a:spcPct val="25000"/>
              </a:spcAft>
              <a:buFont typeface="Wingdings" pitchFamily="-95" charset="2"/>
              <a:buNone/>
            </a:pPr>
            <a:r>
              <a:rPr lang="en-US" sz="2000" smtClean="0">
                <a:latin typeface="Arial" charset="0"/>
                <a:cs typeface="Arial" charset="0"/>
              </a:rPr>
              <a:t>Sometimes we want to compare treatments or conditions at the individual level. These situations produce two samples that are not independent — they are related to each other. The members of one sample are identical to, or matched (paired) with, the members of the other sample.</a:t>
            </a:r>
            <a:r>
              <a:rPr lang="en-US" smtClean="0"/>
              <a:t/>
            </a:r>
            <a:br>
              <a:rPr lang="en-US" smtClean="0"/>
            </a:br>
            <a:endParaRPr lang="en-US" sz="1400" smtClean="0"/>
          </a:p>
          <a:p>
            <a:pPr lvl="1" eaLnBrk="1" hangingPunct="1">
              <a:lnSpc>
                <a:spcPct val="130000"/>
              </a:lnSpc>
              <a:spcAft>
                <a:spcPct val="25000"/>
              </a:spcAft>
            </a:pPr>
            <a:r>
              <a:rPr lang="en-US" sz="1800" smtClean="0">
                <a:latin typeface="Arial" charset="0"/>
                <a:cs typeface="Arial" charset="0"/>
              </a:rPr>
              <a:t>Example: Pre-test and post-test studies look at data collected on the same sample elements before and after some experiment is performed.</a:t>
            </a:r>
          </a:p>
          <a:p>
            <a:pPr lvl="1" eaLnBrk="1" hangingPunct="1">
              <a:lnSpc>
                <a:spcPct val="130000"/>
              </a:lnSpc>
              <a:spcAft>
                <a:spcPct val="25000"/>
              </a:spcAft>
            </a:pPr>
            <a:r>
              <a:rPr lang="en-US" sz="1800" smtClean="0">
                <a:latin typeface="Arial" charset="0"/>
                <a:cs typeface="Arial" charset="0"/>
              </a:rPr>
              <a:t>Example: Twin studies often try to sort out the influence of genetic factors by comparing a variable between sets of twins.</a:t>
            </a:r>
          </a:p>
          <a:p>
            <a:pPr lvl="1" eaLnBrk="1" hangingPunct="1">
              <a:lnSpc>
                <a:spcPct val="130000"/>
              </a:lnSpc>
              <a:spcAft>
                <a:spcPct val="25000"/>
              </a:spcAft>
            </a:pPr>
            <a:r>
              <a:rPr lang="en-US" sz="1800" smtClean="0">
                <a:latin typeface="Arial" charset="0"/>
                <a:cs typeface="Arial" charset="0"/>
              </a:rPr>
              <a:t>Example: Using people matched for age, sex, and education in social studies allows canceling out the effect of these potential lurking variables.</a:t>
            </a:r>
          </a:p>
        </p:txBody>
      </p:sp>
    </p:spTree>
    <p:extLst>
      <p:ext uri="{BB962C8B-B14F-4D97-AF65-F5344CB8AC3E}">
        <p14:creationId xmlns:p14="http://schemas.microsoft.com/office/powerpoint/2010/main" val="20717190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9840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407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itle 1"/>
          <p:cNvSpPr>
            <a:spLocks noGrp="1"/>
          </p:cNvSpPr>
          <p:nvPr>
            <p:ph type="title"/>
          </p:nvPr>
        </p:nvSpPr>
        <p:spPr>
          <a:xfrm>
            <a:off x="457200" y="0"/>
            <a:ext cx="8229600" cy="715963"/>
          </a:xfrm>
        </p:spPr>
        <p:txBody>
          <a:bodyPr/>
          <a:lstStyle/>
          <a:p>
            <a:r>
              <a:rPr lang="en-US" smtClean="0">
                <a:solidFill>
                  <a:srgbClr val="FF0000"/>
                </a:solidFill>
              </a:rPr>
              <a:t>Matched pairs </a:t>
            </a:r>
            <a:r>
              <a:rPr lang="en-US" i="1" smtClean="0">
                <a:solidFill>
                  <a:srgbClr val="FF0000"/>
                </a:solidFill>
              </a:rPr>
              <a:t>t</a:t>
            </a:r>
            <a:r>
              <a:rPr lang="en-US" smtClean="0">
                <a:solidFill>
                  <a:srgbClr val="FF0000"/>
                </a:solidFill>
              </a:rPr>
              <a:t> procedures</a:t>
            </a:r>
            <a:endParaRPr lang="en-US" smtClean="0"/>
          </a:p>
        </p:txBody>
      </p:sp>
      <p:sp>
        <p:nvSpPr>
          <p:cNvPr id="11268" name="Content Placeholder 2"/>
          <p:cNvSpPr>
            <a:spLocks noGrp="1"/>
          </p:cNvSpPr>
          <p:nvPr>
            <p:ph idx="1"/>
          </p:nvPr>
        </p:nvSpPr>
        <p:spPr>
          <a:xfrm>
            <a:off x="457200" y="838200"/>
            <a:ext cx="8229600" cy="6019800"/>
          </a:xfrm>
        </p:spPr>
        <p:txBody>
          <a:bodyPr/>
          <a:lstStyle/>
          <a:p>
            <a:r>
              <a:rPr lang="en-US" sz="2800" smtClean="0"/>
              <a:t>The data:</a:t>
            </a:r>
          </a:p>
          <a:p>
            <a:pPr lvl="1"/>
            <a:r>
              <a:rPr lang="en-US" smtClean="0"/>
              <a:t>“before”: x</a:t>
            </a:r>
            <a:r>
              <a:rPr lang="en-US" baseline="-25000" smtClean="0"/>
              <a:t>11</a:t>
            </a:r>
            <a:r>
              <a:rPr lang="en-US" smtClean="0"/>
              <a:t>   x</a:t>
            </a:r>
            <a:r>
              <a:rPr lang="en-US" baseline="-25000" smtClean="0"/>
              <a:t>12</a:t>
            </a:r>
            <a:r>
              <a:rPr lang="en-US" smtClean="0"/>
              <a:t>   x</a:t>
            </a:r>
            <a:r>
              <a:rPr lang="en-US" baseline="-25000" smtClean="0"/>
              <a:t>13</a:t>
            </a:r>
            <a:r>
              <a:rPr lang="en-US" smtClean="0"/>
              <a:t> …   x</a:t>
            </a:r>
            <a:r>
              <a:rPr lang="en-US" baseline="-25000" smtClean="0"/>
              <a:t>1n</a:t>
            </a:r>
            <a:endParaRPr lang="en-US" smtClean="0"/>
          </a:p>
          <a:p>
            <a:pPr lvl="1"/>
            <a:r>
              <a:rPr lang="en-US" smtClean="0"/>
              <a:t>“after”:  x</a:t>
            </a:r>
            <a:r>
              <a:rPr lang="en-US" baseline="-25000" smtClean="0"/>
              <a:t>21</a:t>
            </a:r>
            <a:r>
              <a:rPr lang="en-US" smtClean="0"/>
              <a:t>   x</a:t>
            </a:r>
            <a:r>
              <a:rPr lang="en-US" baseline="-25000" smtClean="0"/>
              <a:t>22</a:t>
            </a:r>
            <a:r>
              <a:rPr lang="en-US" smtClean="0"/>
              <a:t>   x</a:t>
            </a:r>
            <a:r>
              <a:rPr lang="en-US" baseline="-25000" smtClean="0"/>
              <a:t>23</a:t>
            </a:r>
            <a:r>
              <a:rPr lang="en-US" smtClean="0"/>
              <a:t> …      x</a:t>
            </a:r>
            <a:r>
              <a:rPr lang="en-US" baseline="-25000" smtClean="0"/>
              <a:t>2n</a:t>
            </a:r>
            <a:endParaRPr lang="en-US" smtClean="0"/>
          </a:p>
          <a:p>
            <a:r>
              <a:rPr lang="en-US" sz="2800" smtClean="0"/>
              <a:t>The data we deal with are the differences d</a:t>
            </a:r>
            <a:r>
              <a:rPr lang="en-US" sz="2800" baseline="-25000" smtClean="0"/>
              <a:t>i</a:t>
            </a:r>
            <a:r>
              <a:rPr lang="en-US" sz="2800" smtClean="0"/>
              <a:t> of the paired values:</a:t>
            </a:r>
          </a:p>
          <a:p>
            <a:pPr>
              <a:buFont typeface="Arial" charset="0"/>
              <a:buNone/>
            </a:pPr>
            <a:r>
              <a:rPr lang="en-US" sz="2800" smtClean="0"/>
              <a:t>d</a:t>
            </a:r>
            <a:r>
              <a:rPr lang="en-US" sz="2800" baseline="-25000" smtClean="0"/>
              <a:t>1</a:t>
            </a:r>
            <a:r>
              <a:rPr lang="en-US" sz="2800" smtClean="0"/>
              <a:t> = x</a:t>
            </a:r>
            <a:r>
              <a:rPr lang="en-US" sz="2800" baseline="-25000" smtClean="0"/>
              <a:t>11</a:t>
            </a:r>
            <a:r>
              <a:rPr lang="en-US" sz="2800" smtClean="0"/>
              <a:t> – x</a:t>
            </a:r>
            <a:r>
              <a:rPr lang="en-US" sz="2800" baseline="-25000" smtClean="0"/>
              <a:t>21</a:t>
            </a:r>
            <a:r>
              <a:rPr lang="en-US" sz="2800" smtClean="0"/>
              <a:t> d</a:t>
            </a:r>
            <a:r>
              <a:rPr lang="en-US" sz="2800" baseline="-25000" smtClean="0"/>
              <a:t>2</a:t>
            </a:r>
            <a:r>
              <a:rPr lang="en-US" sz="2800" smtClean="0"/>
              <a:t> = x</a:t>
            </a:r>
            <a:r>
              <a:rPr lang="en-US" sz="2800" baseline="-25000" smtClean="0"/>
              <a:t>12</a:t>
            </a:r>
            <a:r>
              <a:rPr lang="en-US" sz="2800" smtClean="0"/>
              <a:t> – x</a:t>
            </a:r>
            <a:r>
              <a:rPr lang="en-US" sz="2800" baseline="-25000" smtClean="0"/>
              <a:t>22</a:t>
            </a:r>
            <a:r>
              <a:rPr lang="en-US" sz="2800" smtClean="0"/>
              <a:t> d</a:t>
            </a:r>
            <a:r>
              <a:rPr lang="en-US" sz="2800" baseline="-25000" smtClean="0"/>
              <a:t>3</a:t>
            </a:r>
            <a:r>
              <a:rPr lang="en-US" sz="2800" smtClean="0"/>
              <a:t> = x</a:t>
            </a:r>
            <a:r>
              <a:rPr lang="en-US" sz="2800" baseline="-25000" smtClean="0"/>
              <a:t>13</a:t>
            </a:r>
            <a:r>
              <a:rPr lang="en-US" sz="2800" smtClean="0"/>
              <a:t> – x</a:t>
            </a:r>
            <a:r>
              <a:rPr lang="en-US" sz="2800" baseline="-25000" smtClean="0"/>
              <a:t>23</a:t>
            </a:r>
            <a:r>
              <a:rPr lang="en-US" sz="2800" smtClean="0"/>
              <a:t> …  d</a:t>
            </a:r>
            <a:r>
              <a:rPr lang="en-US" sz="2800" baseline="-25000" smtClean="0"/>
              <a:t>n</a:t>
            </a:r>
            <a:r>
              <a:rPr lang="en-US" sz="2800" smtClean="0"/>
              <a:t> = x</a:t>
            </a:r>
            <a:r>
              <a:rPr lang="en-US" sz="2800" baseline="-25000" smtClean="0"/>
              <a:t>1n</a:t>
            </a:r>
            <a:r>
              <a:rPr lang="en-US" sz="2800" smtClean="0"/>
              <a:t> – x</a:t>
            </a:r>
            <a:r>
              <a:rPr lang="en-US" sz="2800" baseline="-25000" smtClean="0"/>
              <a:t>2n</a:t>
            </a:r>
            <a:endParaRPr lang="en-US" sz="2800" smtClean="0"/>
          </a:p>
          <a:p>
            <a:r>
              <a:rPr lang="en-US" sz="2800" smtClean="0"/>
              <a:t>A confidence interval for matched pairs data is calculated just like a confidence interval for 1 sample data:  </a:t>
            </a:r>
          </a:p>
          <a:p>
            <a:r>
              <a:rPr lang="en-US" sz="2800" smtClean="0"/>
              <a:t>A matched pairs hypothesis test is just like a one-sample test:</a:t>
            </a:r>
          </a:p>
          <a:p>
            <a:pPr>
              <a:buFont typeface="Arial" charset="0"/>
              <a:buNone/>
            </a:pPr>
            <a:r>
              <a:rPr lang="en-US" sz="2800" i="1" smtClean="0"/>
              <a:t>	H</a:t>
            </a:r>
            <a:r>
              <a:rPr lang="en-US" sz="2800" baseline="-25000" smtClean="0"/>
              <a:t>0</a:t>
            </a:r>
            <a:r>
              <a:rPr lang="en-US" sz="2800" smtClean="0"/>
              <a:t>: </a:t>
            </a:r>
            <a:r>
              <a:rPr lang="en-US" sz="2800" i="1" smtClean="0"/>
              <a:t>µ</a:t>
            </a:r>
            <a:r>
              <a:rPr lang="en-US" sz="2800" baseline="-25000" smtClean="0"/>
              <a:t>difference</a:t>
            </a:r>
            <a:r>
              <a:rPr lang="en-US" sz="2800" smtClean="0"/>
              <a:t>= 0 ;  </a:t>
            </a:r>
            <a:r>
              <a:rPr lang="en-US" sz="2800" i="1" smtClean="0"/>
              <a:t>H</a:t>
            </a:r>
            <a:r>
              <a:rPr lang="en-US" sz="2800" baseline="-25000" smtClean="0"/>
              <a:t>a</a:t>
            </a:r>
            <a:r>
              <a:rPr lang="en-US" sz="2800" smtClean="0"/>
              <a:t>: </a:t>
            </a:r>
            <a:r>
              <a:rPr lang="en-US" sz="2800" i="1" smtClean="0"/>
              <a:t>µ</a:t>
            </a:r>
            <a:r>
              <a:rPr lang="en-US" sz="2800" baseline="-25000" smtClean="0"/>
              <a:t>difference</a:t>
            </a:r>
            <a:r>
              <a:rPr lang="en-US" sz="2800" smtClean="0"/>
              <a:t>&gt;0 (or &lt;0, or ≠0)</a:t>
            </a:r>
          </a:p>
        </p:txBody>
      </p:sp>
      <p:sp>
        <p:nvSpPr>
          <p:cNvPr id="4" name="Slide Number Placeholder 3"/>
          <p:cNvSpPr>
            <a:spLocks noGrp="1"/>
          </p:cNvSpPr>
          <p:nvPr>
            <p:ph type="sldNum" sz="quarter" idx="12"/>
          </p:nvPr>
        </p:nvSpPr>
        <p:spPr/>
        <p:txBody>
          <a:bodyPr/>
          <a:lstStyle/>
          <a:p>
            <a:pPr>
              <a:defRPr/>
            </a:pPr>
            <a:fld id="{8D2A81E6-89DA-45F0-98DA-F8A4CCF3D4CC}" type="slidenum">
              <a:rPr lang="en-US" smtClean="0"/>
              <a:pPr>
                <a:defRPr/>
              </a:pPr>
              <a:t>27</a:t>
            </a:fld>
            <a:endParaRPr lang="en-US"/>
          </a:p>
        </p:txBody>
      </p:sp>
      <p:graphicFrame>
        <p:nvGraphicFramePr>
          <p:cNvPr id="11266" name="Object 2"/>
          <p:cNvGraphicFramePr>
            <a:graphicFrameLocks noChangeAspect="1"/>
          </p:cNvGraphicFramePr>
          <p:nvPr/>
        </p:nvGraphicFramePr>
        <p:xfrm>
          <a:off x="1828800" y="4724400"/>
          <a:ext cx="1219200" cy="628650"/>
        </p:xfrm>
        <a:graphic>
          <a:graphicData uri="http://schemas.openxmlformats.org/presentationml/2006/ole">
            <mc:AlternateContent xmlns:mc="http://schemas.openxmlformats.org/markup-compatibility/2006">
              <mc:Choice xmlns:v="urn:schemas-microsoft-com:vml" Requires="v">
                <p:oleObj spid="_x0000_s45071" name="Equation" r:id="rId3" imgW="711000" imgH="419040" progId="Equation.DSMT4">
                  <p:embed/>
                </p:oleObj>
              </mc:Choice>
              <mc:Fallback>
                <p:oleObj name="Equation" r:id="rId3" imgW="711000" imgH="419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4724400"/>
                        <a:ext cx="1219200" cy="628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17267489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2379" name="Rectangle 11"/>
          <p:cNvSpPr>
            <a:spLocks noChangeArrowheads="1"/>
          </p:cNvSpPr>
          <p:nvPr/>
        </p:nvSpPr>
        <p:spPr bwMode="auto">
          <a:xfrm>
            <a:off x="2895600" y="1905000"/>
            <a:ext cx="1981200" cy="304800"/>
          </a:xfrm>
          <a:prstGeom prst="rect">
            <a:avLst/>
          </a:prstGeom>
          <a:solidFill>
            <a:schemeClr val="bg1"/>
          </a:solidFill>
          <a:ln w="9525">
            <a:noFill/>
            <a:miter lim="800000"/>
            <a:headEnd/>
            <a:tailEnd/>
          </a:ln>
          <a:effectLst/>
        </p:spPr>
        <p:txBody>
          <a:bodyPr wrap="none" anchor="ctr"/>
          <a:lstStyle/>
          <a:p>
            <a:pPr>
              <a:defRPr/>
            </a:pPr>
            <a:endParaRPr lang="en-US"/>
          </a:p>
        </p:txBody>
      </p:sp>
      <p:sp>
        <p:nvSpPr>
          <p:cNvPr id="1082378" name="Rectangle 10"/>
          <p:cNvSpPr>
            <a:spLocks noChangeArrowheads="1"/>
          </p:cNvSpPr>
          <p:nvPr/>
        </p:nvSpPr>
        <p:spPr bwMode="auto">
          <a:xfrm>
            <a:off x="1358900" y="1244600"/>
            <a:ext cx="5257800" cy="304800"/>
          </a:xfrm>
          <a:prstGeom prst="rect">
            <a:avLst/>
          </a:prstGeom>
          <a:solidFill>
            <a:schemeClr val="bg1"/>
          </a:solidFill>
          <a:ln w="9525">
            <a:noFill/>
            <a:miter lim="800000"/>
            <a:headEnd/>
            <a:tailEnd/>
          </a:ln>
          <a:effectLst/>
        </p:spPr>
        <p:txBody>
          <a:bodyPr wrap="none" anchor="ctr"/>
          <a:lstStyle/>
          <a:p>
            <a:pPr>
              <a:defRPr/>
            </a:pPr>
            <a:endParaRPr lang="en-US"/>
          </a:p>
        </p:txBody>
      </p:sp>
      <p:sp>
        <p:nvSpPr>
          <p:cNvPr id="19460" name="Rectangle 2"/>
          <p:cNvSpPr>
            <a:spLocks noGrp="1" noChangeArrowheads="1"/>
          </p:cNvSpPr>
          <p:nvPr>
            <p:ph type="body" idx="1"/>
          </p:nvPr>
        </p:nvSpPr>
        <p:spPr>
          <a:xfrm>
            <a:off x="457200" y="304800"/>
            <a:ext cx="7772400" cy="4724400"/>
          </a:xfrm>
        </p:spPr>
        <p:txBody>
          <a:bodyPr/>
          <a:lstStyle/>
          <a:p>
            <a:pPr marL="0" indent="0" eaLnBrk="1" hangingPunct="1">
              <a:buFont typeface="Wingdings" pitchFamily="-95" charset="2"/>
              <a:buNone/>
              <a:defRPr/>
            </a:pPr>
            <a:r>
              <a:rPr lang="en-US" b="1" dirty="0" smtClean="0">
                <a:solidFill>
                  <a:srgbClr val="333399"/>
                </a:solidFill>
                <a:cs typeface="Times New Roman" pitchFamily="18" charset="0"/>
              </a:rPr>
              <a:t>Sweetening loss in colas</a:t>
            </a:r>
            <a:endParaRPr lang="en-US" b="1" i="1" dirty="0" smtClean="0">
              <a:solidFill>
                <a:srgbClr val="333399"/>
              </a:solidFill>
              <a:cs typeface="Times New Roman" pitchFamily="18" charset="0"/>
            </a:endParaRPr>
          </a:p>
          <a:p>
            <a:pPr marL="0" indent="0" eaLnBrk="1" hangingPunct="1">
              <a:lnSpc>
                <a:spcPct val="130000"/>
              </a:lnSpc>
              <a:buFont typeface="Wingdings" pitchFamily="-95" charset="2"/>
              <a:buNone/>
              <a:defRPr/>
            </a:pPr>
            <a:r>
              <a:rPr lang="en-US" sz="1800" dirty="0" smtClean="0">
                <a:latin typeface="Arial" charset="0"/>
                <a:cs typeface="Arial" charset="0"/>
              </a:rPr>
              <a:t>The sweetness loss due to storage was evaluated by 10 professional tasters (comparing the sweetness </a:t>
            </a:r>
            <a:r>
              <a:rPr lang="en-US" sz="1800" b="1" dirty="0" smtClean="0">
                <a:latin typeface="Arial" charset="0"/>
                <a:cs typeface="Arial" charset="0"/>
              </a:rPr>
              <a:t>before and after</a:t>
            </a:r>
            <a:r>
              <a:rPr lang="en-US" sz="1800" dirty="0" smtClean="0">
                <a:latin typeface="Arial" charset="0"/>
                <a:cs typeface="Arial" charset="0"/>
              </a:rPr>
              <a:t> storage):</a:t>
            </a:r>
            <a:r>
              <a:rPr lang="en-US" sz="1800" dirty="0" smtClean="0">
                <a:cs typeface="Times New Roman" pitchFamily="18" charset="0"/>
              </a:rPr>
              <a:t/>
            </a:r>
            <a:br>
              <a:rPr lang="en-US" sz="1800" dirty="0" smtClean="0">
                <a:cs typeface="Times New Roman" pitchFamily="18" charset="0"/>
              </a:rPr>
            </a:br>
            <a:r>
              <a:rPr lang="en-US" b="1" dirty="0" smtClean="0">
                <a:cs typeface="Times New Roman" pitchFamily="18" charset="0"/>
              </a:rPr>
              <a:t>     	</a:t>
            </a:r>
            <a:r>
              <a:rPr lang="en-US" sz="1400" b="1" dirty="0" smtClean="0">
                <a:cs typeface="Times New Roman" pitchFamily="18" charset="0"/>
              </a:rPr>
              <a:t>Taster	   </a:t>
            </a:r>
            <a:endParaRPr lang="en-US" sz="1400" dirty="0" smtClean="0">
              <a:cs typeface="Times New Roman" pitchFamily="18" charset="0"/>
            </a:endParaRPr>
          </a:p>
          <a:p>
            <a:pPr marL="0" indent="0" eaLnBrk="1" hangingPunct="1">
              <a:lnSpc>
                <a:spcPct val="90000"/>
              </a:lnSpc>
              <a:defRPr/>
            </a:pPr>
            <a:r>
              <a:rPr lang="en-US" sz="1400" dirty="0" smtClean="0">
                <a:cs typeface="Times New Roman" pitchFamily="18" charset="0"/>
              </a:rPr>
              <a:t>	 1		   2.0	</a:t>
            </a:r>
            <a:r>
              <a:rPr lang="en-US" sz="2000" dirty="0" smtClean="0">
                <a:effectLst>
                  <a:outerShdw blurRad="38100" dist="38100" dir="2700000" algn="tl">
                    <a:srgbClr val="000000">
                      <a:alpha val="43137"/>
                    </a:srgbClr>
                  </a:outerShdw>
                </a:effectLst>
                <a:latin typeface="Arial" pitchFamily="34" charset="0"/>
                <a:cs typeface="Arial" pitchFamily="34" charset="0"/>
              </a:rPr>
              <a:t>95% Confidence interval:</a:t>
            </a:r>
          </a:p>
          <a:p>
            <a:pPr marL="0" indent="0" eaLnBrk="1" hangingPunct="1">
              <a:lnSpc>
                <a:spcPct val="90000"/>
              </a:lnSpc>
              <a:defRPr/>
            </a:pPr>
            <a:r>
              <a:rPr lang="en-US" sz="1400" dirty="0" smtClean="0">
                <a:cs typeface="Times New Roman" pitchFamily="18" charset="0"/>
              </a:rPr>
              <a:t>	 2		   0.4	1.02  </a:t>
            </a:r>
            <a:r>
              <a:rPr lang="en-US" sz="1400" dirty="0" smtClean="0">
                <a:cs typeface="Times New Roman" pitchFamily="18" charset="0"/>
                <a:sym typeface="Symbol"/>
              </a:rPr>
              <a:t> 2.2622(1.196/</a:t>
            </a:r>
            <a:r>
              <a:rPr lang="en-US" sz="1400" dirty="0" err="1" smtClean="0">
                <a:cs typeface="Times New Roman" pitchFamily="18" charset="0"/>
                <a:sym typeface="Symbol"/>
              </a:rPr>
              <a:t>sqrt</a:t>
            </a:r>
            <a:r>
              <a:rPr lang="en-US" sz="1400" dirty="0" smtClean="0">
                <a:cs typeface="Times New Roman" pitchFamily="18" charset="0"/>
                <a:sym typeface="Symbol"/>
              </a:rPr>
              <a:t>(10)) = 1.02 2.2622(.3782)</a:t>
            </a:r>
            <a:endParaRPr lang="en-US" sz="1400" dirty="0" smtClean="0">
              <a:cs typeface="Times New Roman" pitchFamily="18" charset="0"/>
            </a:endParaRPr>
          </a:p>
          <a:p>
            <a:pPr marL="0" indent="0" eaLnBrk="1" hangingPunct="1">
              <a:lnSpc>
                <a:spcPct val="90000"/>
              </a:lnSpc>
              <a:defRPr/>
            </a:pPr>
            <a:r>
              <a:rPr lang="en-US" sz="1400" dirty="0" smtClean="0">
                <a:cs typeface="Times New Roman" pitchFamily="18" charset="0"/>
              </a:rPr>
              <a:t>	 3		   0.7	= 1.02 </a:t>
            </a:r>
            <a:r>
              <a:rPr lang="en-US" sz="1400" dirty="0" smtClean="0">
                <a:cs typeface="Times New Roman" pitchFamily="18" charset="0"/>
                <a:sym typeface="Symbol"/>
              </a:rPr>
              <a:t> .8556 =(.1644, 1.8756)</a:t>
            </a:r>
            <a:endParaRPr lang="en-US" sz="1400" dirty="0" smtClean="0">
              <a:cs typeface="Times New Roman" pitchFamily="18" charset="0"/>
            </a:endParaRPr>
          </a:p>
          <a:p>
            <a:pPr marL="0" indent="0" eaLnBrk="1" hangingPunct="1">
              <a:lnSpc>
                <a:spcPct val="90000"/>
              </a:lnSpc>
              <a:defRPr/>
            </a:pPr>
            <a:r>
              <a:rPr lang="en-US" sz="1400" dirty="0" smtClean="0">
                <a:cs typeface="Times New Roman" pitchFamily="18" charset="0"/>
              </a:rPr>
              <a:t>	 4		   2.0	</a:t>
            </a:r>
          </a:p>
          <a:p>
            <a:pPr marL="0" indent="0" eaLnBrk="1" hangingPunct="1">
              <a:lnSpc>
                <a:spcPct val="90000"/>
              </a:lnSpc>
              <a:defRPr/>
            </a:pPr>
            <a:r>
              <a:rPr lang="en-US" sz="1400" dirty="0" smtClean="0">
                <a:cs typeface="Times New Roman" pitchFamily="18" charset="0"/>
              </a:rPr>
              <a:t>	 5		 </a:t>
            </a:r>
            <a:r>
              <a:rPr lang="en-US" sz="1400" dirty="0" smtClean="0">
                <a:cs typeface="Arial" charset="0"/>
              </a:rPr>
              <a:t>−</a:t>
            </a:r>
            <a:r>
              <a:rPr lang="en-US" sz="1400" dirty="0" smtClean="0">
                <a:cs typeface="Times New Roman" pitchFamily="18" charset="0"/>
              </a:rPr>
              <a:t>0.4	</a:t>
            </a:r>
          </a:p>
          <a:p>
            <a:pPr marL="0" indent="0" eaLnBrk="1" hangingPunct="1">
              <a:lnSpc>
                <a:spcPct val="90000"/>
              </a:lnSpc>
              <a:defRPr/>
            </a:pPr>
            <a:r>
              <a:rPr lang="en-US" sz="1400" dirty="0" smtClean="0">
                <a:cs typeface="Times New Roman" pitchFamily="18" charset="0"/>
              </a:rPr>
              <a:t>	 6		   2.2	</a:t>
            </a:r>
          </a:p>
          <a:p>
            <a:pPr marL="0" indent="0" eaLnBrk="1" hangingPunct="1">
              <a:lnSpc>
                <a:spcPct val="90000"/>
              </a:lnSpc>
              <a:defRPr/>
            </a:pPr>
            <a:r>
              <a:rPr lang="en-US" sz="1400" dirty="0" smtClean="0">
                <a:cs typeface="Times New Roman" pitchFamily="18" charset="0"/>
              </a:rPr>
              <a:t>	 7		 </a:t>
            </a:r>
            <a:r>
              <a:rPr lang="en-US" sz="1400" dirty="0" smtClean="0">
                <a:cs typeface="Arial" charset="0"/>
              </a:rPr>
              <a:t>−</a:t>
            </a:r>
            <a:r>
              <a:rPr lang="en-US" sz="1400" dirty="0" smtClean="0">
                <a:cs typeface="Times New Roman" pitchFamily="18" charset="0"/>
              </a:rPr>
              <a:t>1.3	</a:t>
            </a:r>
          </a:p>
          <a:p>
            <a:pPr marL="0" indent="0" eaLnBrk="1" hangingPunct="1">
              <a:lnSpc>
                <a:spcPct val="90000"/>
              </a:lnSpc>
              <a:defRPr/>
            </a:pPr>
            <a:r>
              <a:rPr lang="en-US" sz="1400" dirty="0" smtClean="0">
                <a:cs typeface="Times New Roman" pitchFamily="18" charset="0"/>
              </a:rPr>
              <a:t>	 8		   1.2	</a:t>
            </a:r>
          </a:p>
          <a:p>
            <a:pPr marL="0" indent="0" eaLnBrk="1" hangingPunct="1">
              <a:lnSpc>
                <a:spcPct val="90000"/>
              </a:lnSpc>
              <a:defRPr/>
            </a:pPr>
            <a:r>
              <a:rPr lang="en-US" sz="1400" dirty="0" smtClean="0">
                <a:cs typeface="Times New Roman" pitchFamily="18" charset="0"/>
              </a:rPr>
              <a:t>	 9 		   1.1</a:t>
            </a:r>
          </a:p>
          <a:p>
            <a:pPr marL="0" indent="0" eaLnBrk="1" hangingPunct="1">
              <a:lnSpc>
                <a:spcPct val="90000"/>
              </a:lnSpc>
              <a:defRPr/>
            </a:pPr>
            <a:r>
              <a:rPr lang="en-US" sz="1400" dirty="0" smtClean="0">
                <a:cs typeface="Times New Roman" pitchFamily="18" charset="0"/>
              </a:rPr>
              <a:t>	10 		   2.3</a:t>
            </a:r>
          </a:p>
          <a:p>
            <a:pPr marL="0" indent="0" eaLnBrk="1" hangingPunct="1">
              <a:lnSpc>
                <a:spcPct val="90000"/>
              </a:lnSpc>
              <a:buFont typeface="Arial" charset="0"/>
              <a:buNone/>
              <a:defRPr/>
            </a:pPr>
            <a:r>
              <a:rPr lang="en-US" sz="1600" dirty="0" smtClean="0">
                <a:cs typeface="Times New Roman" pitchFamily="18" charset="0"/>
              </a:rPr>
              <a:t>Summary stats:      = 1.02, s = 1.196</a:t>
            </a:r>
          </a:p>
        </p:txBody>
      </p:sp>
      <p:sp>
        <p:nvSpPr>
          <p:cNvPr id="1082371" name="Text Box 3"/>
          <p:cNvSpPr txBox="1">
            <a:spLocks noChangeArrowheads="1"/>
          </p:cNvSpPr>
          <p:nvPr/>
        </p:nvSpPr>
        <p:spPr bwMode="auto">
          <a:xfrm>
            <a:off x="4038600" y="2286000"/>
            <a:ext cx="4648200" cy="2308225"/>
          </a:xfrm>
          <a:prstGeom prst="rect">
            <a:avLst/>
          </a:prstGeom>
          <a:noFill/>
          <a:ln w="9525">
            <a:noFill/>
            <a:miter lim="800000"/>
            <a:headEnd/>
            <a:tailEnd/>
          </a:ln>
          <a:effectLst/>
        </p:spPr>
        <p:txBody>
          <a:bodyPr>
            <a:spAutoFit/>
          </a:bodyPr>
          <a:lstStyle/>
          <a:p>
            <a:pPr>
              <a:lnSpc>
                <a:spcPct val="120000"/>
              </a:lnSpc>
              <a:defRPr/>
            </a:pPr>
            <a:endParaRPr lang="en-US" sz="2000" dirty="0"/>
          </a:p>
          <a:p>
            <a:pPr>
              <a:lnSpc>
                <a:spcPct val="120000"/>
              </a:lnSpc>
              <a:defRPr/>
            </a:pPr>
            <a:endParaRPr lang="en-US" sz="2000" dirty="0"/>
          </a:p>
          <a:p>
            <a:pPr>
              <a:lnSpc>
                <a:spcPct val="120000"/>
              </a:lnSpc>
              <a:defRPr/>
            </a:pPr>
            <a:r>
              <a:rPr lang="en-US" sz="2000" dirty="0"/>
              <a:t>We want to test if storage results in a loss of sweetness, thus:</a:t>
            </a:r>
          </a:p>
          <a:p>
            <a:pPr>
              <a:lnSpc>
                <a:spcPct val="120000"/>
              </a:lnSpc>
              <a:defRPr/>
            </a:pPr>
            <a:r>
              <a:rPr lang="en-US" sz="2000" i="1" dirty="0"/>
              <a:t>H</a:t>
            </a:r>
            <a:r>
              <a:rPr lang="en-US" sz="2000" baseline="-25000" dirty="0"/>
              <a:t>0</a:t>
            </a:r>
            <a:r>
              <a:rPr lang="en-US" sz="2000" dirty="0"/>
              <a:t>: </a:t>
            </a:r>
            <a:r>
              <a:rPr lang="en-US" sz="2000" i="1" dirty="0" err="1">
                <a:latin typeface="Symbol" pitchFamily="18" charset="2"/>
              </a:rPr>
              <a:t>m</a:t>
            </a:r>
            <a:r>
              <a:rPr lang="en-US" sz="2000" baseline="-25000" dirty="0" err="1">
                <a:effectLst/>
                <a:latin typeface="+mn-lt"/>
              </a:rPr>
              <a:t>difference</a:t>
            </a:r>
            <a:r>
              <a:rPr lang="en-US" sz="2000" dirty="0"/>
              <a:t> = 0</a:t>
            </a:r>
          </a:p>
          <a:p>
            <a:pPr>
              <a:lnSpc>
                <a:spcPct val="120000"/>
              </a:lnSpc>
              <a:defRPr/>
            </a:pPr>
            <a:r>
              <a:rPr lang="en-US" sz="2000" dirty="0"/>
              <a:t>versus  </a:t>
            </a:r>
            <a:r>
              <a:rPr lang="en-US" sz="2000" i="1" dirty="0"/>
              <a:t>H</a:t>
            </a:r>
            <a:r>
              <a:rPr lang="en-US" sz="2000" baseline="-25000" dirty="0"/>
              <a:t>a</a:t>
            </a:r>
            <a:r>
              <a:rPr lang="en-US" sz="2000" dirty="0"/>
              <a:t>: </a:t>
            </a:r>
            <a:r>
              <a:rPr lang="en-US" sz="2000" i="1" dirty="0" err="1">
                <a:latin typeface="Symbol" pitchFamily="18" charset="2"/>
              </a:rPr>
              <a:t>m</a:t>
            </a:r>
            <a:r>
              <a:rPr lang="en-US" sz="2000" baseline="-25000" dirty="0" err="1">
                <a:effectLst/>
                <a:latin typeface="+mn-lt"/>
              </a:rPr>
              <a:t>difference</a:t>
            </a:r>
            <a:r>
              <a:rPr lang="en-US" sz="2000" dirty="0"/>
              <a:t> &gt; 0</a:t>
            </a:r>
          </a:p>
        </p:txBody>
      </p:sp>
      <p:pic>
        <p:nvPicPr>
          <p:cNvPr id="12295" name="Picture 5" descr="drink-cola"/>
          <p:cNvPicPr>
            <a:picLocks noChangeAspect="1" noChangeArrowheads="1"/>
          </p:cNvPicPr>
          <p:nvPr/>
        </p:nvPicPr>
        <p:blipFill>
          <a:blip r:embed="rId3">
            <a:clrChange>
              <a:clrFrom>
                <a:srgbClr val="FCFFFF"/>
              </a:clrFrom>
              <a:clrTo>
                <a:srgbClr val="FCFFFF">
                  <a:alpha val="0"/>
                </a:srgbClr>
              </a:clrTo>
            </a:clrChange>
            <a:extLst>
              <a:ext uri="{28A0092B-C50C-407E-A947-70E740481C1C}">
                <a14:useLocalDpi xmlns:a14="http://schemas.microsoft.com/office/drawing/2010/main" val="0"/>
              </a:ext>
            </a:extLst>
          </a:blip>
          <a:srcRect l="26250" t="5000" r="25000"/>
          <a:stretch>
            <a:fillRect/>
          </a:stretch>
        </p:blipFill>
        <p:spPr bwMode="auto">
          <a:xfrm>
            <a:off x="8153400" y="0"/>
            <a:ext cx="9906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2375" name="Rectangle 7"/>
          <p:cNvSpPr>
            <a:spLocks noChangeArrowheads="1"/>
          </p:cNvSpPr>
          <p:nvPr/>
        </p:nvSpPr>
        <p:spPr bwMode="auto">
          <a:xfrm>
            <a:off x="2895600" y="1905000"/>
            <a:ext cx="2971800" cy="228600"/>
          </a:xfrm>
          <a:prstGeom prst="rect">
            <a:avLst/>
          </a:prstGeom>
          <a:solidFill>
            <a:schemeClr val="bg1">
              <a:lumMod val="75000"/>
            </a:schemeClr>
          </a:solidFill>
          <a:ln w="9525">
            <a:noFill/>
            <a:miter lim="800000"/>
            <a:headEnd/>
            <a:tailEnd/>
          </a:ln>
          <a:effectLst/>
        </p:spPr>
        <p:txBody>
          <a:bodyPr wrap="none" anchor="ctr"/>
          <a:lstStyle/>
          <a:p>
            <a:pPr>
              <a:defRPr/>
            </a:pPr>
            <a:r>
              <a:rPr lang="en-US" sz="1400" dirty="0"/>
              <a:t>Before sweetness – after sweetness</a:t>
            </a:r>
          </a:p>
        </p:txBody>
      </p:sp>
      <p:sp>
        <p:nvSpPr>
          <p:cNvPr id="1082377" name="Text Box 9"/>
          <p:cNvSpPr txBox="1">
            <a:spLocks noChangeArrowheads="1"/>
          </p:cNvSpPr>
          <p:nvPr/>
        </p:nvSpPr>
        <p:spPr bwMode="auto">
          <a:xfrm>
            <a:off x="381000" y="5029200"/>
            <a:ext cx="8153400" cy="1708150"/>
          </a:xfrm>
          <a:prstGeom prst="rect">
            <a:avLst/>
          </a:prstGeom>
          <a:noFill/>
          <a:ln w="9525">
            <a:noFill/>
            <a:miter lim="800000"/>
            <a:headEnd/>
            <a:tailEnd/>
          </a:ln>
          <a:effectLst/>
        </p:spPr>
        <p:txBody>
          <a:bodyPr>
            <a:spAutoFit/>
          </a:bodyPr>
          <a:lstStyle/>
          <a:p>
            <a:pPr>
              <a:lnSpc>
                <a:spcPct val="120000"/>
              </a:lnSpc>
              <a:defRPr/>
            </a:pPr>
            <a:r>
              <a:rPr lang="en-US" sz="2000" dirty="0">
                <a:solidFill>
                  <a:srgbClr val="FF0000"/>
                </a:solidFill>
              </a:rPr>
              <a:t>This is a pre-/post-test design and the variable is the cola sweetness before storage minus cola sweetness after storage.</a:t>
            </a:r>
          </a:p>
          <a:p>
            <a:pPr>
              <a:lnSpc>
                <a:spcPct val="120000"/>
              </a:lnSpc>
              <a:spcBef>
                <a:spcPct val="45000"/>
              </a:spcBef>
              <a:defRPr/>
            </a:pPr>
            <a:r>
              <a:rPr lang="en-US" sz="2000" dirty="0">
                <a:solidFill>
                  <a:srgbClr val="FF0000"/>
                </a:solidFill>
              </a:rPr>
              <a:t>A matched pairs test of significance is indeed just like a one-sample test.</a:t>
            </a:r>
          </a:p>
        </p:txBody>
      </p:sp>
      <p:graphicFrame>
        <p:nvGraphicFramePr>
          <p:cNvPr id="12290" name="Object 9"/>
          <p:cNvGraphicFramePr>
            <a:graphicFrameLocks noChangeAspect="1"/>
          </p:cNvGraphicFramePr>
          <p:nvPr/>
        </p:nvGraphicFramePr>
        <p:xfrm>
          <a:off x="1828800" y="4648200"/>
          <a:ext cx="228600" cy="304800"/>
        </p:xfrm>
        <a:graphic>
          <a:graphicData uri="http://schemas.openxmlformats.org/presentationml/2006/ole">
            <mc:AlternateContent xmlns:mc="http://schemas.openxmlformats.org/markup-compatibility/2006">
              <mc:Choice xmlns:v="urn:schemas-microsoft-com:vml" Requires="v">
                <p:oleObj spid="_x0000_s46095" name="Equation" r:id="rId4" imgW="152280" imgH="203040" progId="Equation.DSMT4">
                  <p:embed/>
                </p:oleObj>
              </mc:Choice>
              <mc:Fallback>
                <p:oleObj name="Equation" r:id="rId4" imgW="152280" imgH="20304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4648200"/>
                        <a:ext cx="2286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84780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823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237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itle 1"/>
          <p:cNvSpPr>
            <a:spLocks noGrp="1"/>
          </p:cNvSpPr>
          <p:nvPr>
            <p:ph type="title"/>
          </p:nvPr>
        </p:nvSpPr>
        <p:spPr>
          <a:xfrm>
            <a:off x="457200" y="274638"/>
            <a:ext cx="8229600" cy="792162"/>
          </a:xfrm>
        </p:spPr>
        <p:txBody>
          <a:bodyPr/>
          <a:lstStyle/>
          <a:p>
            <a:pPr algn="l"/>
            <a:r>
              <a:rPr lang="en-US" sz="3200" b="1" smtClean="0">
                <a:solidFill>
                  <a:srgbClr val="333399"/>
                </a:solidFill>
                <a:cs typeface="Times New Roman" pitchFamily="18" charset="0"/>
              </a:rPr>
              <a:t>Sweetening loss in colas hypothesis test</a:t>
            </a:r>
            <a:r>
              <a:rPr lang="en-US" sz="3200" b="1" i="1" smtClean="0">
                <a:solidFill>
                  <a:srgbClr val="333399"/>
                </a:solidFill>
                <a:cs typeface="Times New Roman" pitchFamily="18" charset="0"/>
              </a:rPr>
              <a:t/>
            </a:r>
            <a:br>
              <a:rPr lang="en-US" sz="3200" b="1" i="1" smtClean="0">
                <a:solidFill>
                  <a:srgbClr val="333399"/>
                </a:solidFill>
                <a:cs typeface="Times New Roman" pitchFamily="18" charset="0"/>
              </a:rPr>
            </a:br>
            <a:endParaRPr lang="en-US" sz="3200" smtClean="0"/>
          </a:p>
        </p:txBody>
      </p:sp>
      <p:sp>
        <p:nvSpPr>
          <p:cNvPr id="13316" name="Content Placeholder 2"/>
          <p:cNvSpPr>
            <a:spLocks noGrp="1"/>
          </p:cNvSpPr>
          <p:nvPr>
            <p:ph idx="1"/>
          </p:nvPr>
        </p:nvSpPr>
        <p:spPr>
          <a:xfrm>
            <a:off x="457200" y="1066800"/>
            <a:ext cx="8229600" cy="5334000"/>
          </a:xfrm>
        </p:spPr>
        <p:txBody>
          <a:bodyPr/>
          <a:lstStyle/>
          <a:p>
            <a:pPr>
              <a:lnSpc>
                <a:spcPct val="120000"/>
              </a:lnSpc>
            </a:pPr>
            <a:r>
              <a:rPr lang="en-US" sz="2800" i="1" smtClean="0"/>
              <a:t>H</a:t>
            </a:r>
            <a:r>
              <a:rPr lang="en-US" sz="2800" baseline="-25000" smtClean="0"/>
              <a:t>0</a:t>
            </a:r>
            <a:r>
              <a:rPr lang="en-US" sz="2800" smtClean="0"/>
              <a:t>: </a:t>
            </a:r>
            <a:r>
              <a:rPr lang="en-US" sz="2800" i="1" smtClean="0">
                <a:latin typeface="Symbol" pitchFamily="18" charset="2"/>
              </a:rPr>
              <a:t>m</a:t>
            </a:r>
            <a:r>
              <a:rPr lang="en-US" sz="2800" baseline="-25000" smtClean="0"/>
              <a:t>difference</a:t>
            </a:r>
            <a:r>
              <a:rPr lang="en-US" sz="2800" smtClean="0"/>
              <a:t> = 0	vs  </a:t>
            </a:r>
            <a:r>
              <a:rPr lang="en-US" sz="2800" i="1" smtClean="0"/>
              <a:t>H</a:t>
            </a:r>
            <a:r>
              <a:rPr lang="en-US" sz="2800" baseline="-25000" smtClean="0"/>
              <a:t>a</a:t>
            </a:r>
            <a:r>
              <a:rPr lang="en-US" sz="2800" smtClean="0"/>
              <a:t>: </a:t>
            </a:r>
            <a:r>
              <a:rPr lang="en-US" sz="2800" i="1" smtClean="0">
                <a:latin typeface="Symbol" pitchFamily="18" charset="2"/>
              </a:rPr>
              <a:t>m</a:t>
            </a:r>
            <a:r>
              <a:rPr lang="en-US" sz="2800" baseline="-25000" smtClean="0"/>
              <a:t>difference</a:t>
            </a:r>
            <a:r>
              <a:rPr lang="en-US" sz="2800" smtClean="0"/>
              <a:t> &gt; 0</a:t>
            </a:r>
          </a:p>
          <a:p>
            <a:r>
              <a:rPr lang="en-US" smtClean="0"/>
              <a:t>Test statistic  </a:t>
            </a:r>
          </a:p>
          <a:p>
            <a:endParaRPr lang="en-US" smtClean="0"/>
          </a:p>
          <a:p>
            <a:r>
              <a:rPr lang="en-US" sz="2800" smtClean="0"/>
              <a:t>From t-table: for df=9,</a:t>
            </a:r>
          </a:p>
          <a:p>
            <a:pPr>
              <a:buFont typeface="Arial" charset="0"/>
              <a:buNone/>
            </a:pPr>
            <a:r>
              <a:rPr lang="en-US" sz="2800" smtClean="0"/>
              <a:t>	2.2622 &lt;t=2.6970&lt;2.8214</a:t>
            </a:r>
          </a:p>
          <a:p>
            <a:pPr>
              <a:buFont typeface="Arial" charset="0"/>
              <a:buNone/>
            </a:pPr>
            <a:r>
              <a:rPr lang="en-US" sz="2800" smtClean="0"/>
              <a:t>	</a:t>
            </a:r>
            <a:r>
              <a:rPr lang="en-US" sz="2800" smtClean="0">
                <a:sym typeface="Symbol" pitchFamily="18" charset="2"/>
              </a:rPr>
              <a:t> .01 &lt; P-value &lt; .025</a:t>
            </a:r>
          </a:p>
          <a:p>
            <a:r>
              <a:rPr lang="en-US" sz="2800" smtClean="0">
                <a:sym typeface="Symbol" pitchFamily="18" charset="2"/>
              </a:rPr>
              <a:t>ti83 gives P-value = .012263…</a:t>
            </a:r>
          </a:p>
          <a:p>
            <a:r>
              <a:rPr lang="en-US" smtClean="0">
                <a:solidFill>
                  <a:srgbClr val="FF0000"/>
                </a:solidFill>
                <a:sym typeface="Symbol" pitchFamily="18" charset="2"/>
              </a:rPr>
              <a:t>Conclusion: reject H</a:t>
            </a:r>
            <a:r>
              <a:rPr lang="en-US" baseline="-25000" smtClean="0">
                <a:solidFill>
                  <a:srgbClr val="FF0000"/>
                </a:solidFill>
                <a:sym typeface="Symbol" pitchFamily="18" charset="2"/>
              </a:rPr>
              <a:t>0</a:t>
            </a:r>
            <a:r>
              <a:rPr lang="en-US" smtClean="0">
                <a:solidFill>
                  <a:srgbClr val="FF0000"/>
                </a:solidFill>
                <a:sym typeface="Symbol" pitchFamily="18" charset="2"/>
              </a:rPr>
              <a:t> and conclude colas do lose sweetness in storage </a:t>
            </a:r>
            <a:r>
              <a:rPr lang="en-US" smtClean="0">
                <a:sym typeface="Symbol" pitchFamily="18" charset="2"/>
              </a:rPr>
              <a:t>(note that CI was entirely positive.</a:t>
            </a:r>
            <a:endParaRPr lang="en-US" smtClean="0">
              <a:solidFill>
                <a:srgbClr val="FF0000"/>
              </a:solidFill>
            </a:endParaRPr>
          </a:p>
        </p:txBody>
      </p:sp>
      <p:sp>
        <p:nvSpPr>
          <p:cNvPr id="4" name="Slide Number Placeholder 3"/>
          <p:cNvSpPr>
            <a:spLocks noGrp="1"/>
          </p:cNvSpPr>
          <p:nvPr>
            <p:ph type="sldNum" sz="quarter" idx="12"/>
          </p:nvPr>
        </p:nvSpPr>
        <p:spPr/>
        <p:txBody>
          <a:bodyPr/>
          <a:lstStyle/>
          <a:p>
            <a:pPr>
              <a:defRPr/>
            </a:pPr>
            <a:fld id="{38ECA3A2-3352-48C8-B828-DAA625C9E9E5}" type="slidenum">
              <a:rPr lang="en-US" smtClean="0"/>
              <a:pPr>
                <a:defRPr/>
              </a:pPr>
              <a:t>29</a:t>
            </a:fld>
            <a:endParaRPr lang="en-US"/>
          </a:p>
        </p:txBody>
      </p:sp>
      <p:graphicFrame>
        <p:nvGraphicFramePr>
          <p:cNvPr id="13314" name="Object 2"/>
          <p:cNvGraphicFramePr>
            <a:graphicFrameLocks noChangeAspect="1"/>
          </p:cNvGraphicFramePr>
          <p:nvPr/>
        </p:nvGraphicFramePr>
        <p:xfrm>
          <a:off x="3124200" y="2133600"/>
          <a:ext cx="3352800" cy="920750"/>
        </p:xfrm>
        <a:graphic>
          <a:graphicData uri="http://schemas.openxmlformats.org/presentationml/2006/ole">
            <mc:AlternateContent xmlns:mc="http://schemas.openxmlformats.org/markup-compatibility/2006">
              <mc:Choice xmlns:v="urn:schemas-microsoft-com:vml" Requires="v">
                <p:oleObj spid="_x0000_s47119" name="Equation" r:id="rId3" imgW="1942920" imgH="533160" progId="Equation.DSMT4">
                  <p:embed/>
                </p:oleObj>
              </mc:Choice>
              <mc:Fallback>
                <p:oleObj name="Equation" r:id="rId3" imgW="1942920" imgH="5331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2133600"/>
                        <a:ext cx="3352800" cy="920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88906798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30"/>
          <p:cNvSpPr>
            <a:spLocks noGrp="1" noChangeArrowheads="1"/>
          </p:cNvSpPr>
          <p:nvPr>
            <p:ph type="title"/>
          </p:nvPr>
        </p:nvSpPr>
        <p:spPr>
          <a:xfrm>
            <a:off x="0" y="152400"/>
            <a:ext cx="8229600" cy="609600"/>
          </a:xfrm>
        </p:spPr>
        <p:txBody>
          <a:bodyPr/>
          <a:lstStyle/>
          <a:p>
            <a:pPr algn="l" eaLnBrk="1" hangingPunct="1"/>
            <a:r>
              <a:rPr lang="en-US" sz="2400" b="1" smtClean="0">
                <a:solidFill>
                  <a:srgbClr val="333399"/>
                </a:solidFill>
              </a:rPr>
              <a:t>Does lack of caffeine increase depression?</a:t>
            </a:r>
          </a:p>
        </p:txBody>
      </p:sp>
      <p:sp>
        <p:nvSpPr>
          <p:cNvPr id="986119" name="Rectangle 1031"/>
          <p:cNvSpPr>
            <a:spLocks noGrp="1" noChangeArrowheads="1"/>
          </p:cNvSpPr>
          <p:nvPr>
            <p:ph type="body" sz="half" idx="1"/>
          </p:nvPr>
        </p:nvSpPr>
        <p:spPr>
          <a:xfrm>
            <a:off x="381000" y="838200"/>
            <a:ext cx="8382000" cy="2895600"/>
          </a:xfrm>
        </p:spPr>
        <p:txBody>
          <a:bodyPr/>
          <a:lstStyle/>
          <a:p>
            <a:pPr marL="0" indent="0" eaLnBrk="1" hangingPunct="1">
              <a:lnSpc>
                <a:spcPct val="140000"/>
              </a:lnSpc>
              <a:buFont typeface="Arial" charset="0"/>
              <a:buNone/>
              <a:defRPr/>
            </a:pPr>
            <a:r>
              <a:rPr lang="en-US" sz="1800" dirty="0" smtClean="0"/>
              <a:t>Individuals diagnosed as caffeine-dependent are </a:t>
            </a:r>
            <a:br>
              <a:rPr lang="en-US" sz="1800" dirty="0" smtClean="0"/>
            </a:br>
            <a:r>
              <a:rPr lang="en-US" sz="1800" dirty="0" smtClean="0"/>
              <a:t>deprived of caffeine-rich foods and assigned </a:t>
            </a:r>
            <a:br>
              <a:rPr lang="en-US" sz="1800" dirty="0" smtClean="0"/>
            </a:br>
            <a:r>
              <a:rPr lang="en-US" sz="1800" dirty="0" smtClean="0"/>
              <a:t>to receive daily pills. Sometimes, the pills </a:t>
            </a:r>
            <a:br>
              <a:rPr lang="en-US" sz="1800" dirty="0" smtClean="0"/>
            </a:br>
            <a:r>
              <a:rPr lang="en-US" sz="1800" dirty="0" smtClean="0"/>
              <a:t>contain caffeine and other times they contain </a:t>
            </a:r>
            <a:br>
              <a:rPr lang="en-US" sz="1800" dirty="0" smtClean="0"/>
            </a:br>
            <a:r>
              <a:rPr lang="en-US" sz="1800" dirty="0" smtClean="0"/>
              <a:t>a placebo. Depression was assessed (larger number means more depression).</a:t>
            </a:r>
          </a:p>
          <a:p>
            <a:pPr marL="400050" lvl="1" indent="0" eaLnBrk="1" hangingPunct="1">
              <a:lnSpc>
                <a:spcPct val="140000"/>
              </a:lnSpc>
              <a:defRPr/>
            </a:pPr>
            <a:r>
              <a:rPr lang="en-US" sz="1800" dirty="0" smtClean="0"/>
              <a:t> There are 2 data points for each subject, but we’ll only look at the difference.</a:t>
            </a:r>
          </a:p>
          <a:p>
            <a:pPr marL="406400" lvl="1" indent="-165100" eaLnBrk="1" hangingPunct="1">
              <a:lnSpc>
                <a:spcPct val="140000"/>
              </a:lnSpc>
              <a:defRPr/>
            </a:pPr>
            <a:r>
              <a:rPr lang="en-US" sz="1800" dirty="0" smtClean="0"/>
              <a:t>The sample distribution appears appropriate for a </a:t>
            </a:r>
            <a:r>
              <a:rPr lang="en-US" sz="1800" i="1" dirty="0" smtClean="0"/>
              <a:t>t</a:t>
            </a:r>
            <a:r>
              <a:rPr lang="en-US" sz="1800" dirty="0" smtClean="0"/>
              <a:t>-test.</a:t>
            </a:r>
          </a:p>
        </p:txBody>
      </p:sp>
      <p:grpSp>
        <p:nvGrpSpPr>
          <p:cNvPr id="2" name="Group 1182"/>
          <p:cNvGrpSpPr>
            <a:grpSpLocks/>
          </p:cNvGrpSpPr>
          <p:nvPr/>
        </p:nvGrpSpPr>
        <p:grpSpPr bwMode="auto">
          <a:xfrm>
            <a:off x="5745163" y="0"/>
            <a:ext cx="3398837" cy="2590800"/>
            <a:chOff x="3379" y="1064"/>
            <a:chExt cx="2237" cy="1632"/>
          </a:xfrm>
        </p:grpSpPr>
        <p:pic>
          <p:nvPicPr>
            <p:cNvPr id="24586" name="Picture 117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9" y="1070"/>
              <a:ext cx="2237" cy="161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986269" name="Rectangle 1181"/>
            <p:cNvSpPr>
              <a:spLocks noChangeArrowheads="1"/>
            </p:cNvSpPr>
            <p:nvPr/>
          </p:nvSpPr>
          <p:spPr bwMode="auto">
            <a:xfrm>
              <a:off x="5080" y="1064"/>
              <a:ext cx="528" cy="1632"/>
            </a:xfrm>
            <a:prstGeom prst="rect">
              <a:avLst/>
            </a:prstGeom>
            <a:solidFill>
              <a:srgbClr val="660033">
                <a:alpha val="20000"/>
              </a:srgbClr>
            </a:solidFill>
            <a:ln w="9525">
              <a:noFill/>
              <a:miter lim="800000"/>
              <a:headEnd/>
              <a:tailEnd/>
            </a:ln>
            <a:effectLst/>
          </p:spPr>
          <p:txBody>
            <a:bodyPr wrap="none"/>
            <a:lstStyle/>
            <a:p>
              <a:pPr algn="ctr">
                <a:defRPr/>
              </a:pPr>
              <a:endParaRPr lang="en-US"/>
            </a:p>
          </p:txBody>
        </p:sp>
      </p:grpSp>
      <p:grpSp>
        <p:nvGrpSpPr>
          <p:cNvPr id="3" name="Group 1197"/>
          <p:cNvGrpSpPr>
            <a:grpSpLocks/>
          </p:cNvGrpSpPr>
          <p:nvPr/>
        </p:nvGrpSpPr>
        <p:grpSpPr bwMode="auto">
          <a:xfrm>
            <a:off x="762000" y="3878263"/>
            <a:ext cx="7315200" cy="2827337"/>
            <a:chOff x="480" y="2443"/>
            <a:chExt cx="4608" cy="1781"/>
          </a:xfrm>
        </p:grpSpPr>
        <p:sp>
          <p:nvSpPr>
            <p:cNvPr id="986276" name="Rectangle 1188"/>
            <p:cNvSpPr>
              <a:spLocks noChangeArrowheads="1"/>
            </p:cNvSpPr>
            <p:nvPr/>
          </p:nvSpPr>
          <p:spPr bwMode="auto">
            <a:xfrm>
              <a:off x="720" y="2784"/>
              <a:ext cx="1488" cy="1008"/>
            </a:xfrm>
            <a:prstGeom prst="rect">
              <a:avLst/>
            </a:prstGeom>
            <a:solidFill>
              <a:srgbClr val="CC99FF"/>
            </a:solidFill>
            <a:ln w="9525">
              <a:noFill/>
              <a:miter lim="800000"/>
              <a:headEnd/>
              <a:tailEnd/>
            </a:ln>
            <a:effectLst/>
          </p:spPr>
          <p:txBody>
            <a:bodyPr wrap="none" anchor="ctr"/>
            <a:lstStyle/>
            <a:p>
              <a:pPr>
                <a:defRPr/>
              </a:pPr>
              <a:endParaRPr lang="en-US"/>
            </a:p>
          </p:txBody>
        </p:sp>
        <p:sp>
          <p:nvSpPr>
            <p:cNvPr id="986278" name="Text Box 1190"/>
            <p:cNvSpPr txBox="1">
              <a:spLocks noChangeArrowheads="1"/>
            </p:cNvSpPr>
            <p:nvPr/>
          </p:nvSpPr>
          <p:spPr bwMode="auto">
            <a:xfrm>
              <a:off x="2277" y="2598"/>
              <a:ext cx="1467" cy="366"/>
            </a:xfrm>
            <a:prstGeom prst="rect">
              <a:avLst/>
            </a:prstGeom>
            <a:noFill/>
            <a:ln w="9525">
              <a:noFill/>
              <a:miter lim="800000"/>
              <a:headEnd/>
              <a:tailEnd/>
            </a:ln>
            <a:effectLst/>
          </p:spPr>
          <p:txBody>
            <a:bodyPr>
              <a:spAutoFit/>
            </a:bodyPr>
            <a:lstStyle/>
            <a:p>
              <a:pPr>
                <a:spcBef>
                  <a:spcPct val="20000"/>
                </a:spcBef>
                <a:buClr>
                  <a:schemeClr val="accent1"/>
                </a:buClr>
                <a:buSzPct val="65000"/>
                <a:buFont typeface="Wingdings" pitchFamily="2" charset="2"/>
                <a:buNone/>
                <a:defRPr/>
              </a:pPr>
              <a:r>
                <a:rPr lang="en-US" sz="1600"/>
                <a:t>11 “difference” </a:t>
              </a:r>
              <a:br>
                <a:rPr lang="en-US" sz="1600"/>
              </a:br>
              <a:r>
                <a:rPr lang="en-US" sz="1600"/>
                <a:t>data points.</a:t>
              </a:r>
              <a:endParaRPr lang="en-US" sz="1600">
                <a:cs typeface="Times New Roman" pitchFamily="18" charset="0"/>
              </a:endParaRPr>
            </a:p>
          </p:txBody>
        </p:sp>
        <p:pic>
          <p:nvPicPr>
            <p:cNvPr id="24584" name="Picture 1191"/>
            <p:cNvPicPr>
              <a:picLocks noChangeAspect="1" noChangeArrowheads="1"/>
            </p:cNvPicPr>
            <p:nvPr/>
          </p:nvPicPr>
          <p:blipFill>
            <a:blip r:embed="rId3">
              <a:clrChange>
                <a:clrFrom>
                  <a:srgbClr val="007414"/>
                </a:clrFrom>
                <a:clrTo>
                  <a:srgbClr val="007414">
                    <a:alpha val="0"/>
                  </a:srgbClr>
                </a:clrTo>
              </a:clrChange>
              <a:extLst>
                <a:ext uri="{28A0092B-C50C-407E-A947-70E740481C1C}">
                  <a14:useLocalDpi xmlns:a14="http://schemas.microsoft.com/office/drawing/2010/main" val="0"/>
                </a:ext>
              </a:extLst>
            </a:blip>
            <a:srcRect t="2856"/>
            <a:stretch>
              <a:fillRect/>
            </a:stretch>
          </p:blipFill>
          <p:spPr bwMode="auto">
            <a:xfrm>
              <a:off x="480" y="2469"/>
              <a:ext cx="1776" cy="1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5" name="Picture 1196"/>
            <p:cNvPicPr>
              <a:picLocks noChangeAspect="1" noChangeArrowheads="1"/>
            </p:cNvPicPr>
            <p:nvPr/>
          </p:nvPicPr>
          <p:blipFill>
            <a:blip r:embed="rId4" cstate="print">
              <a:extLst>
                <a:ext uri="{28A0092B-C50C-407E-A947-70E740481C1C}">
                  <a14:useLocalDpi xmlns:a14="http://schemas.microsoft.com/office/drawing/2010/main" val="0"/>
                </a:ext>
              </a:extLst>
            </a:blip>
            <a:srcRect l="9167" t="7578" r="21666" b="4219"/>
            <a:stretch>
              <a:fillRect/>
            </a:stretch>
          </p:blipFill>
          <p:spPr bwMode="auto">
            <a:xfrm>
              <a:off x="3312" y="2443"/>
              <a:ext cx="1776" cy="173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0473015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98611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pPr eaLnBrk="1" hangingPunct="1"/>
            <a:r>
              <a:rPr lang="en-US" sz="2400" b="1" smtClean="0">
                <a:solidFill>
                  <a:srgbClr val="333399"/>
                </a:solidFill>
              </a:rPr>
              <a:t>Hypothesis Test: Does lack of caffeine increase depression?</a:t>
            </a:r>
          </a:p>
        </p:txBody>
      </p:sp>
      <p:sp>
        <p:nvSpPr>
          <p:cNvPr id="14340" name="Rectangle 3"/>
          <p:cNvSpPr>
            <a:spLocks noGrp="1" noChangeArrowheads="1"/>
          </p:cNvSpPr>
          <p:nvPr>
            <p:ph type="body" sz="half" idx="1"/>
          </p:nvPr>
        </p:nvSpPr>
        <p:spPr>
          <a:xfrm>
            <a:off x="457200" y="838200"/>
            <a:ext cx="8382000" cy="2057400"/>
          </a:xfrm>
        </p:spPr>
        <p:txBody>
          <a:bodyPr/>
          <a:lstStyle/>
          <a:p>
            <a:pPr marL="0" indent="0" eaLnBrk="1" hangingPunct="1">
              <a:lnSpc>
                <a:spcPct val="130000"/>
              </a:lnSpc>
              <a:buFont typeface="Wingdings" pitchFamily="-95" charset="2"/>
              <a:buNone/>
            </a:pPr>
            <a:r>
              <a:rPr lang="en-US" sz="1800" smtClean="0"/>
              <a:t>For each individual in the sample, we have calculated a difference in depression score (placebo minus caffeine).</a:t>
            </a:r>
          </a:p>
          <a:p>
            <a:pPr marL="0" indent="0" eaLnBrk="1" hangingPunct="1">
              <a:lnSpc>
                <a:spcPct val="130000"/>
              </a:lnSpc>
              <a:buClr>
                <a:schemeClr val="accent1"/>
              </a:buClr>
              <a:buFont typeface="Wingdings" pitchFamily="-95" charset="2"/>
              <a:buNone/>
            </a:pPr>
            <a:endParaRPr lang="en-US" sz="800" smtClean="0"/>
          </a:p>
          <a:p>
            <a:pPr marL="0" indent="0" eaLnBrk="1" hangingPunct="1">
              <a:lnSpc>
                <a:spcPct val="130000"/>
              </a:lnSpc>
              <a:buClr>
                <a:schemeClr val="accent1"/>
              </a:buClr>
              <a:buFont typeface="Wingdings" pitchFamily="-95" charset="2"/>
              <a:buNone/>
            </a:pPr>
            <a:r>
              <a:rPr lang="en-US" sz="1800" smtClean="0"/>
              <a:t>There were 11 “difference” points, thus df = </a:t>
            </a:r>
            <a:r>
              <a:rPr lang="en-US" sz="1800" i="1" smtClean="0"/>
              <a:t>n </a:t>
            </a:r>
            <a:r>
              <a:rPr lang="en-US" sz="1800" smtClean="0">
                <a:cs typeface="Arial" charset="0"/>
              </a:rPr>
              <a:t>− </a:t>
            </a:r>
            <a:r>
              <a:rPr lang="en-US" sz="1800" smtClean="0"/>
              <a:t>1 = 10. </a:t>
            </a:r>
            <a:br>
              <a:rPr lang="en-US" sz="1800" smtClean="0"/>
            </a:br>
            <a:r>
              <a:rPr lang="en-US" sz="1800" smtClean="0"/>
              <a:t>We calculate that       =  7.36; </a:t>
            </a:r>
            <a:r>
              <a:rPr lang="en-US" sz="1800" i="1" smtClean="0"/>
              <a:t>s</a:t>
            </a:r>
            <a:r>
              <a:rPr lang="en-US" sz="1800" smtClean="0"/>
              <a:t> = 6.92</a:t>
            </a:r>
            <a:endParaRPr lang="en-US" sz="1000" smtClean="0"/>
          </a:p>
        </p:txBody>
      </p:sp>
      <p:grpSp>
        <p:nvGrpSpPr>
          <p:cNvPr id="2" name="Group 4"/>
          <p:cNvGrpSpPr>
            <a:grpSpLocks/>
          </p:cNvGrpSpPr>
          <p:nvPr/>
        </p:nvGrpSpPr>
        <p:grpSpPr bwMode="auto">
          <a:xfrm>
            <a:off x="609600" y="3200400"/>
            <a:ext cx="4343400" cy="1401763"/>
            <a:chOff x="2186" y="2768"/>
            <a:chExt cx="2640" cy="703"/>
          </a:xfrm>
        </p:grpSpPr>
        <p:sp>
          <p:nvSpPr>
            <p:cNvPr id="1108997" name="Text Box 5"/>
            <p:cNvSpPr txBox="1">
              <a:spLocks noChangeArrowheads="1"/>
            </p:cNvSpPr>
            <p:nvPr/>
          </p:nvSpPr>
          <p:spPr bwMode="auto">
            <a:xfrm>
              <a:off x="2186" y="2768"/>
              <a:ext cx="2640" cy="185"/>
            </a:xfrm>
            <a:prstGeom prst="rect">
              <a:avLst/>
            </a:prstGeom>
            <a:noFill/>
            <a:ln w="9525">
              <a:noFill/>
              <a:miter lim="800000"/>
              <a:headEnd/>
              <a:tailEnd/>
            </a:ln>
            <a:effectLst/>
          </p:spPr>
          <p:txBody>
            <a:bodyPr>
              <a:spAutoFit/>
            </a:bodyPr>
            <a:lstStyle/>
            <a:p>
              <a:pPr>
                <a:lnSpc>
                  <a:spcPct val="90000"/>
                </a:lnSpc>
                <a:spcBef>
                  <a:spcPct val="20000"/>
                </a:spcBef>
                <a:buClr>
                  <a:schemeClr val="accent1"/>
                </a:buClr>
                <a:buSzPct val="65000"/>
                <a:buFont typeface="Wingdings" pitchFamily="2" charset="2"/>
                <a:buNone/>
                <a:defRPr/>
              </a:pPr>
              <a:r>
                <a:rPr lang="en-US" sz="2000" i="1" dirty="0"/>
                <a:t>H</a:t>
              </a:r>
              <a:r>
                <a:rPr lang="en-US" sz="2000" baseline="-25000" dirty="0"/>
                <a:t>0</a:t>
              </a:r>
              <a:r>
                <a:rPr lang="en-US" sz="2000" dirty="0">
                  <a:cs typeface="Times New Roman" pitchFamily="18" charset="0"/>
                </a:rPr>
                <a:t> :</a:t>
              </a:r>
              <a:r>
                <a:rPr lang="en-US" sz="2000" i="1" dirty="0" err="1">
                  <a:latin typeface="Symbol" pitchFamily="18" charset="2"/>
                  <a:cs typeface="Times New Roman" pitchFamily="18" charset="0"/>
                </a:rPr>
                <a:t>m</a:t>
              </a:r>
              <a:r>
                <a:rPr lang="en-US" sz="2000" baseline="-25000" dirty="0" err="1">
                  <a:cs typeface="Times New Roman" pitchFamily="18" charset="0"/>
                </a:rPr>
                <a:t>difference</a:t>
              </a:r>
              <a:r>
                <a:rPr lang="en-US" sz="2000" baseline="-25000" dirty="0">
                  <a:cs typeface="Times New Roman" pitchFamily="18" charset="0"/>
                </a:rPr>
                <a:t> </a:t>
              </a:r>
              <a:r>
                <a:rPr lang="en-US" sz="2000" dirty="0">
                  <a:cs typeface="Times New Roman" pitchFamily="18" charset="0"/>
                </a:rPr>
                <a:t>= 0 ; </a:t>
              </a:r>
              <a:r>
                <a:rPr lang="en-US" sz="2000" i="1" dirty="0"/>
                <a:t>H</a:t>
              </a:r>
              <a:r>
                <a:rPr lang="en-US" sz="2000" baseline="-25000" dirty="0"/>
                <a:t>a</a:t>
              </a:r>
              <a:r>
                <a:rPr lang="en-US" sz="2000" dirty="0"/>
                <a:t>: </a:t>
              </a:r>
              <a:r>
                <a:rPr lang="en-US" sz="2000" dirty="0">
                  <a:cs typeface="Times New Roman" pitchFamily="18" charset="0"/>
                </a:rPr>
                <a:t> </a:t>
              </a:r>
              <a:r>
                <a:rPr lang="en-US" sz="2000" i="1" dirty="0" err="1">
                  <a:latin typeface="Symbol" pitchFamily="18" charset="2"/>
                  <a:cs typeface="Times New Roman" pitchFamily="18" charset="0"/>
                </a:rPr>
                <a:t>m</a:t>
              </a:r>
              <a:r>
                <a:rPr lang="en-US" sz="2000" baseline="-25000" dirty="0" err="1">
                  <a:cs typeface="Times New Roman" pitchFamily="18" charset="0"/>
                </a:rPr>
                <a:t>difference</a:t>
              </a:r>
              <a:r>
                <a:rPr lang="en-US" sz="2000" baseline="-25000" dirty="0">
                  <a:cs typeface="Times New Roman" pitchFamily="18" charset="0"/>
                </a:rPr>
                <a:t> </a:t>
              </a:r>
              <a:r>
                <a:rPr lang="en-US" sz="2000" dirty="0">
                  <a:cs typeface="Times New Roman" pitchFamily="18" charset="0"/>
                </a:rPr>
                <a:t>&gt; 0 </a:t>
              </a:r>
            </a:p>
          </p:txBody>
        </p:sp>
        <p:graphicFrame>
          <p:nvGraphicFramePr>
            <p:cNvPr id="14338" name="Object 2"/>
            <p:cNvGraphicFramePr>
              <a:graphicFrameLocks noChangeAspect="1"/>
            </p:cNvGraphicFramePr>
            <p:nvPr/>
          </p:nvGraphicFramePr>
          <p:xfrm>
            <a:off x="2278" y="3074"/>
            <a:ext cx="1632" cy="397"/>
          </p:xfrm>
          <a:graphic>
            <a:graphicData uri="http://schemas.openxmlformats.org/presentationml/2006/ole">
              <mc:AlternateContent xmlns:mc="http://schemas.openxmlformats.org/markup-compatibility/2006">
                <mc:Choice xmlns:v="urn:schemas-microsoft-com:vml" Requires="v">
                  <p:oleObj spid="_x0000_s48143" name="Equation" r:id="rId3" imgW="1777680" imgH="431640" progId="Equation.3">
                    <p:embed/>
                  </p:oleObj>
                </mc:Choice>
                <mc:Fallback>
                  <p:oleObj name="Equation" r:id="rId3" imgW="177768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8" y="3074"/>
                          <a:ext cx="1632" cy="3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12"/>
          <p:cNvGrpSpPr>
            <a:grpSpLocks/>
          </p:cNvGrpSpPr>
          <p:nvPr/>
        </p:nvGrpSpPr>
        <p:grpSpPr bwMode="auto">
          <a:xfrm>
            <a:off x="5364163" y="2438400"/>
            <a:ext cx="3551237" cy="2590800"/>
            <a:chOff x="3379" y="1064"/>
            <a:chExt cx="2237" cy="1632"/>
          </a:xfrm>
        </p:grpSpPr>
        <p:pic>
          <p:nvPicPr>
            <p:cNvPr id="14346"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79" y="1070"/>
              <a:ext cx="2237" cy="161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109006" name="Rectangle 14"/>
            <p:cNvSpPr>
              <a:spLocks noChangeArrowheads="1"/>
            </p:cNvSpPr>
            <p:nvPr/>
          </p:nvSpPr>
          <p:spPr bwMode="auto">
            <a:xfrm>
              <a:off x="5080" y="1064"/>
              <a:ext cx="528" cy="1632"/>
            </a:xfrm>
            <a:prstGeom prst="rect">
              <a:avLst/>
            </a:prstGeom>
            <a:solidFill>
              <a:srgbClr val="660033">
                <a:alpha val="20000"/>
              </a:srgbClr>
            </a:solidFill>
            <a:ln w="9525">
              <a:noFill/>
              <a:miter lim="800000"/>
              <a:headEnd/>
              <a:tailEnd/>
            </a:ln>
            <a:effectLst/>
          </p:spPr>
          <p:txBody>
            <a:bodyPr wrap="none" anchor="ctr"/>
            <a:lstStyle/>
            <a:p>
              <a:pPr algn="ctr">
                <a:defRPr/>
              </a:pPr>
              <a:endParaRPr lang="en-US"/>
            </a:p>
            <a:p>
              <a:pPr algn="ctr">
                <a:defRPr/>
              </a:pPr>
              <a:endParaRPr lang="en-US"/>
            </a:p>
            <a:p>
              <a:pPr algn="ctr">
                <a:defRPr/>
              </a:pPr>
              <a:endParaRPr lang="en-US"/>
            </a:p>
            <a:p>
              <a:pPr algn="ctr">
                <a:defRPr/>
              </a:pPr>
              <a:endParaRPr lang="en-US"/>
            </a:p>
            <a:p>
              <a:pPr algn="ctr">
                <a:defRPr/>
              </a:pPr>
              <a:endParaRPr lang="en-US"/>
            </a:p>
            <a:p>
              <a:pPr algn="ctr">
                <a:defRPr/>
              </a:pPr>
              <a:endParaRPr lang="en-US"/>
            </a:p>
            <a:p>
              <a:pPr algn="ctr">
                <a:defRPr/>
              </a:pPr>
              <a:endParaRPr lang="en-US"/>
            </a:p>
            <a:p>
              <a:pPr algn="ctr">
                <a:defRPr/>
              </a:pPr>
              <a:endParaRPr lang="en-US"/>
            </a:p>
            <a:p>
              <a:pPr algn="ctr">
                <a:defRPr/>
              </a:pPr>
              <a:endParaRPr lang="en-US"/>
            </a:p>
            <a:p>
              <a:pPr algn="ctr">
                <a:defRPr/>
              </a:pPr>
              <a:endParaRPr lang="en-US"/>
            </a:p>
            <a:p>
              <a:pPr algn="ctr">
                <a:defRPr/>
              </a:pPr>
              <a:endParaRPr lang="en-US"/>
            </a:p>
            <a:p>
              <a:pPr algn="ctr">
                <a:defRPr/>
              </a:pPr>
              <a:endParaRPr lang="en-US"/>
            </a:p>
            <a:p>
              <a:pPr algn="ctr">
                <a:defRPr/>
              </a:pPr>
              <a:endParaRPr lang="en-US"/>
            </a:p>
          </p:txBody>
        </p:sp>
      </p:grpSp>
      <p:sp>
        <p:nvSpPr>
          <p:cNvPr id="1109007" name="Text Box 15"/>
          <p:cNvSpPr txBox="1">
            <a:spLocks noChangeArrowheads="1"/>
          </p:cNvSpPr>
          <p:nvPr/>
        </p:nvSpPr>
        <p:spPr bwMode="auto">
          <a:xfrm>
            <a:off x="228600" y="5105400"/>
            <a:ext cx="8086725" cy="1077913"/>
          </a:xfrm>
          <a:prstGeom prst="rect">
            <a:avLst/>
          </a:prstGeom>
          <a:noFill/>
          <a:ln w="9525">
            <a:noFill/>
            <a:miter lim="800000"/>
            <a:headEnd/>
            <a:tailEnd/>
          </a:ln>
          <a:effectLst/>
        </p:spPr>
        <p:txBody>
          <a:bodyPr wrap="none">
            <a:spAutoFit/>
          </a:bodyPr>
          <a:lstStyle/>
          <a:p>
            <a:pPr>
              <a:defRPr/>
            </a:pPr>
            <a:r>
              <a:rPr lang="en-US" sz="2000" dirty="0"/>
              <a:t>For </a:t>
            </a:r>
            <a:r>
              <a:rPr lang="en-US" sz="2000" dirty="0" err="1"/>
              <a:t>df</a:t>
            </a:r>
            <a:r>
              <a:rPr lang="en-US" sz="2000" dirty="0"/>
              <a:t> = 10,   3.169 &lt; </a:t>
            </a:r>
            <a:r>
              <a:rPr lang="en-US" sz="2000" i="1" dirty="0"/>
              <a:t>t</a:t>
            </a:r>
            <a:r>
              <a:rPr lang="en-US" sz="2000" dirty="0"/>
              <a:t> = 3.53 &lt; 3.581   </a:t>
            </a:r>
            <a:r>
              <a:rPr lang="en-US" sz="2000" dirty="0">
                <a:sym typeface="Wingdings" pitchFamily="2" charset="2"/>
              </a:rPr>
              <a:t>   </a:t>
            </a:r>
            <a:r>
              <a:rPr lang="en-US" sz="2000" dirty="0"/>
              <a:t> 0.005 &gt; </a:t>
            </a:r>
            <a:r>
              <a:rPr lang="en-US" sz="2000" i="1" dirty="0"/>
              <a:t>p</a:t>
            </a:r>
            <a:r>
              <a:rPr lang="en-US" sz="2000" dirty="0"/>
              <a:t> &gt; 0.0025</a:t>
            </a:r>
          </a:p>
          <a:p>
            <a:pPr>
              <a:defRPr/>
            </a:pPr>
            <a:r>
              <a:rPr lang="en-US" sz="2000" dirty="0"/>
              <a:t>ti83 gives P-value = .0027</a:t>
            </a:r>
          </a:p>
          <a:p>
            <a:pPr>
              <a:defRPr/>
            </a:pPr>
            <a:r>
              <a:rPr lang="en-US" sz="2000" b="1" dirty="0"/>
              <a:t>Caffeine deprivation causes a significant increase in depression</a:t>
            </a:r>
            <a:r>
              <a:rPr lang="en-US" b="1" dirty="0"/>
              <a:t>.</a:t>
            </a:r>
          </a:p>
        </p:txBody>
      </p:sp>
      <p:sp>
        <p:nvSpPr>
          <p:cNvPr id="14344" name="Content Placeholder 11"/>
          <p:cNvSpPr>
            <a:spLocks noGrp="1"/>
          </p:cNvSpPr>
          <p:nvPr>
            <p:ph sz="quarter" idx="3"/>
          </p:nvPr>
        </p:nvSpPr>
        <p:spPr/>
        <p:txBody>
          <a:bodyPr/>
          <a:lstStyle/>
          <a:p>
            <a:endParaRPr lang="en-US" smtClean="0"/>
          </a:p>
        </p:txBody>
      </p:sp>
      <p:pic>
        <p:nvPicPr>
          <p:cNvPr id="14345" name="Picture 16" descr="Picture1"/>
          <p:cNvPicPr>
            <a:picLocks noGrp="1" noChangeAspect="1" noChangeArrowheads="1"/>
          </p:cNvPicPr>
          <p:nvPr>
            <p:ph sz="quarter" idx="3"/>
          </p:nvPr>
        </p:nvPicPr>
        <p:blipFill>
          <a:blip r:embed="rId6" cstate="print">
            <a:extLst>
              <a:ext uri="{28A0092B-C50C-407E-A947-70E740481C1C}">
                <a14:useLocalDpi xmlns:a14="http://schemas.microsoft.com/office/drawing/2010/main" val="0"/>
              </a:ext>
            </a:extLst>
          </a:blip>
          <a:srcRect/>
          <a:stretch>
            <a:fillRect/>
          </a:stretch>
        </p:blipFill>
        <p:spPr>
          <a:xfrm>
            <a:off x="2286000" y="2286000"/>
            <a:ext cx="223838" cy="225425"/>
          </a:xfrm>
          <a:noFill/>
        </p:spPr>
      </p:pic>
    </p:spTree>
    <p:extLst>
      <p:ext uri="{BB962C8B-B14F-4D97-AF65-F5344CB8AC3E}">
        <p14:creationId xmlns:p14="http://schemas.microsoft.com/office/powerpoint/2010/main" val="4269141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090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9007" grpId="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0" y="92075"/>
            <a:ext cx="6400800" cy="669925"/>
          </a:xfrm>
          <a:solidFill>
            <a:srgbClr val="FFFF00"/>
          </a:solidFill>
        </p:spPr>
        <p:txBody>
          <a:bodyPr/>
          <a:lstStyle/>
          <a:p>
            <a:pPr eaLnBrk="1" hangingPunct="1"/>
            <a:r>
              <a:rPr lang="en-US" altLang="en-US" sz="2400" b="1" smtClean="0">
                <a:solidFill>
                  <a:srgbClr val="333399"/>
                </a:solidFill>
              </a:rPr>
              <a:t>Which type of test? One sample,</a:t>
            </a:r>
            <a:br>
              <a:rPr lang="en-US" altLang="en-US" sz="2400" b="1" smtClean="0">
                <a:solidFill>
                  <a:srgbClr val="333399"/>
                </a:solidFill>
              </a:rPr>
            </a:br>
            <a:r>
              <a:rPr lang="en-US" altLang="en-US" sz="2400" b="1" smtClean="0">
                <a:solidFill>
                  <a:srgbClr val="333399"/>
                </a:solidFill>
              </a:rPr>
              <a:t>paired samples, two samples?</a:t>
            </a:r>
          </a:p>
        </p:txBody>
      </p:sp>
      <p:sp>
        <p:nvSpPr>
          <p:cNvPr id="1143811" name="Rectangle 3"/>
          <p:cNvSpPr>
            <a:spLocks noGrp="1" noChangeArrowheads="1"/>
          </p:cNvSpPr>
          <p:nvPr>
            <p:ph type="body" sz="half" idx="1"/>
          </p:nvPr>
        </p:nvSpPr>
        <p:spPr>
          <a:xfrm>
            <a:off x="457200" y="685800"/>
            <a:ext cx="4038600" cy="6096000"/>
          </a:xfrm>
        </p:spPr>
        <p:txBody>
          <a:bodyPr/>
          <a:lstStyle/>
          <a:p>
            <a:pPr marL="228600" indent="-228600" eaLnBrk="1" hangingPunct="1">
              <a:lnSpc>
                <a:spcPct val="140000"/>
              </a:lnSpc>
              <a:buClr>
                <a:srgbClr val="00B050"/>
              </a:buClr>
              <a:buSzPct val="110000"/>
            </a:pPr>
            <a:r>
              <a:rPr lang="en-US" altLang="en-US" sz="1800" smtClean="0"/>
              <a:t>Comparing vitamin content of bread immediately after baking vs. 3 days later (the same loaves are used on day one and 3 days later).</a:t>
            </a:r>
          </a:p>
          <a:p>
            <a:pPr marL="685800" lvl="1" eaLnBrk="1" hangingPunct="1">
              <a:lnSpc>
                <a:spcPct val="140000"/>
              </a:lnSpc>
              <a:buClr>
                <a:srgbClr val="00B050"/>
              </a:buClr>
              <a:buSzPct val="110000"/>
              <a:buFont typeface="Wingdings" pitchFamily="2" charset="2"/>
              <a:buChar char="v"/>
            </a:pPr>
            <a:r>
              <a:rPr lang="en-US" altLang="en-US" sz="1800" smtClean="0"/>
              <a:t>Paired</a:t>
            </a:r>
          </a:p>
          <a:p>
            <a:pPr marL="228600" indent="-228600" eaLnBrk="1" hangingPunct="1">
              <a:lnSpc>
                <a:spcPct val="140000"/>
              </a:lnSpc>
              <a:buClr>
                <a:srgbClr val="00B050"/>
              </a:buClr>
              <a:buSzPct val="110000"/>
            </a:pPr>
            <a:r>
              <a:rPr lang="en-US" altLang="en-US" sz="1800" smtClean="0"/>
              <a:t>Comparing vitamin content of bread immediately after baking vs. 3 days later (tests made on independent loaves).</a:t>
            </a:r>
          </a:p>
          <a:p>
            <a:pPr marL="685800" lvl="1" eaLnBrk="1" hangingPunct="1">
              <a:lnSpc>
                <a:spcPct val="140000"/>
              </a:lnSpc>
              <a:buClr>
                <a:srgbClr val="00B050"/>
              </a:buClr>
              <a:buSzPct val="110000"/>
              <a:buFont typeface="Wingdings" pitchFamily="2" charset="2"/>
              <a:buChar char="v"/>
            </a:pPr>
            <a:r>
              <a:rPr lang="en-US" altLang="en-US" sz="1800" smtClean="0"/>
              <a:t>Two samples</a:t>
            </a:r>
          </a:p>
          <a:p>
            <a:pPr marL="228600" indent="-228600" eaLnBrk="1" hangingPunct="1">
              <a:lnSpc>
                <a:spcPct val="140000"/>
              </a:lnSpc>
              <a:buClr>
                <a:srgbClr val="00B050"/>
              </a:buClr>
              <a:buSzPct val="110000"/>
            </a:pPr>
            <a:r>
              <a:rPr lang="en-US" altLang="en-US" sz="1800" smtClean="0"/>
              <a:t>Average fuel efficiency for 2005 vehicles is 21 miles per gallon. Is average fuel efficiency higher in the new generation “green vehicles”? </a:t>
            </a:r>
          </a:p>
          <a:p>
            <a:pPr marL="685800" lvl="1" eaLnBrk="1" hangingPunct="1">
              <a:lnSpc>
                <a:spcPct val="140000"/>
              </a:lnSpc>
              <a:buClr>
                <a:srgbClr val="00B050"/>
              </a:buClr>
              <a:buSzPct val="110000"/>
              <a:buFont typeface="Wingdings" pitchFamily="2" charset="2"/>
              <a:buChar char="v"/>
            </a:pPr>
            <a:r>
              <a:rPr lang="en-US" altLang="en-US" sz="1800" smtClean="0"/>
              <a:t>One sample</a:t>
            </a:r>
          </a:p>
        </p:txBody>
      </p:sp>
      <p:sp>
        <p:nvSpPr>
          <p:cNvPr id="1143812" name="Rectangle 4"/>
          <p:cNvSpPr>
            <a:spLocks noGrp="1" noChangeArrowheads="1"/>
          </p:cNvSpPr>
          <p:nvPr>
            <p:ph type="body" sz="half" idx="2"/>
          </p:nvPr>
        </p:nvSpPr>
        <p:spPr>
          <a:xfrm>
            <a:off x="4648200" y="1752600"/>
            <a:ext cx="3962400" cy="4953000"/>
          </a:xfrm>
        </p:spPr>
        <p:txBody>
          <a:bodyPr/>
          <a:lstStyle/>
          <a:p>
            <a:pPr eaLnBrk="1" hangingPunct="1">
              <a:lnSpc>
                <a:spcPct val="140000"/>
              </a:lnSpc>
              <a:buClr>
                <a:srgbClr val="00B050"/>
              </a:buClr>
            </a:pPr>
            <a:r>
              <a:rPr lang="en-US" altLang="en-US" sz="1800" smtClean="0"/>
              <a:t>Is blood pressure altered by use of an oral contraceptive? Comparing a group of women not using an oral contraceptive with a group taking it.</a:t>
            </a:r>
          </a:p>
          <a:p>
            <a:pPr lvl="1" eaLnBrk="1" hangingPunct="1">
              <a:lnSpc>
                <a:spcPct val="140000"/>
              </a:lnSpc>
              <a:buClr>
                <a:srgbClr val="00B050"/>
              </a:buClr>
              <a:buFont typeface="Wingdings" pitchFamily="2" charset="2"/>
              <a:buChar char="v"/>
            </a:pPr>
            <a:r>
              <a:rPr lang="en-US" altLang="en-US" sz="1800" smtClean="0"/>
              <a:t>Two samples</a:t>
            </a:r>
          </a:p>
          <a:p>
            <a:pPr eaLnBrk="1" hangingPunct="1">
              <a:lnSpc>
                <a:spcPct val="140000"/>
              </a:lnSpc>
              <a:buClr>
                <a:srgbClr val="00B050"/>
              </a:buClr>
            </a:pPr>
            <a:r>
              <a:rPr lang="en-US" altLang="en-US" sz="1800" smtClean="0"/>
              <a:t>Review insurance records for dollar amount paid after fire damage in houses equipped with a fire extinguisher vs. houses without one. Was there a difference in the average dollar amount paid?</a:t>
            </a:r>
          </a:p>
          <a:p>
            <a:pPr lvl="1" eaLnBrk="1" hangingPunct="1">
              <a:lnSpc>
                <a:spcPct val="140000"/>
              </a:lnSpc>
              <a:buClr>
                <a:srgbClr val="00B050"/>
              </a:buClr>
              <a:buFont typeface="Wingdings" pitchFamily="2" charset="2"/>
              <a:buChar char="v"/>
            </a:pPr>
            <a:r>
              <a:rPr lang="en-US" altLang="en-US" sz="1800" smtClean="0"/>
              <a:t>Two samples</a:t>
            </a:r>
          </a:p>
        </p:txBody>
      </p:sp>
      <p:pic>
        <p:nvPicPr>
          <p:cNvPr id="26629" name="Picture 6" descr="C:\Users\reiland\AppData\Local\Microsoft\Windows\Temporary Internet Files\Content.IE5\P30NF82M\MC900434403[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0" y="0"/>
            <a:ext cx="1362075" cy="190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946477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43811">
                                            <p:txEl>
                                              <p:pRg st="0" end="0"/>
                                            </p:txEl>
                                          </p:spTgt>
                                        </p:tgtEl>
                                        <p:attrNameLst>
                                          <p:attrName>style.visibility</p:attrName>
                                        </p:attrNameLst>
                                      </p:cBhvr>
                                      <p:to>
                                        <p:strVal val="visible"/>
                                      </p:to>
                                    </p:set>
                                    <p:anim calcmode="lin" valueType="num">
                                      <p:cBhvr additive="base">
                                        <p:cTn id="7" dur="500" fill="hold"/>
                                        <p:tgtEl>
                                          <p:spTgt spid="11438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438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43811">
                                            <p:txEl>
                                              <p:pRg st="1" end="1"/>
                                            </p:txEl>
                                          </p:spTgt>
                                        </p:tgtEl>
                                        <p:attrNameLst>
                                          <p:attrName>style.visibility</p:attrName>
                                        </p:attrNameLst>
                                      </p:cBhvr>
                                      <p:to>
                                        <p:strVal val="visible"/>
                                      </p:to>
                                    </p:set>
                                    <p:anim calcmode="lin" valueType="num">
                                      <p:cBhvr additive="base">
                                        <p:cTn id="13" dur="500" fill="hold"/>
                                        <p:tgtEl>
                                          <p:spTgt spid="11438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438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43811">
                                            <p:txEl>
                                              <p:pRg st="2" end="2"/>
                                            </p:txEl>
                                          </p:spTgt>
                                        </p:tgtEl>
                                        <p:attrNameLst>
                                          <p:attrName>style.visibility</p:attrName>
                                        </p:attrNameLst>
                                      </p:cBhvr>
                                      <p:to>
                                        <p:strVal val="visible"/>
                                      </p:to>
                                    </p:set>
                                    <p:anim calcmode="lin" valueType="num">
                                      <p:cBhvr additive="base">
                                        <p:cTn id="19" dur="500" fill="hold"/>
                                        <p:tgtEl>
                                          <p:spTgt spid="11438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438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43811">
                                            <p:txEl>
                                              <p:pRg st="3" end="3"/>
                                            </p:txEl>
                                          </p:spTgt>
                                        </p:tgtEl>
                                        <p:attrNameLst>
                                          <p:attrName>style.visibility</p:attrName>
                                        </p:attrNameLst>
                                      </p:cBhvr>
                                      <p:to>
                                        <p:strVal val="visible"/>
                                      </p:to>
                                    </p:set>
                                    <p:anim calcmode="lin" valueType="num">
                                      <p:cBhvr additive="base">
                                        <p:cTn id="25" dur="500" fill="hold"/>
                                        <p:tgtEl>
                                          <p:spTgt spid="114381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438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43811">
                                            <p:txEl>
                                              <p:pRg st="4" end="4"/>
                                            </p:txEl>
                                          </p:spTgt>
                                        </p:tgtEl>
                                        <p:attrNameLst>
                                          <p:attrName>style.visibility</p:attrName>
                                        </p:attrNameLst>
                                      </p:cBhvr>
                                      <p:to>
                                        <p:strVal val="visible"/>
                                      </p:to>
                                    </p:set>
                                    <p:anim calcmode="lin" valueType="num">
                                      <p:cBhvr additive="base">
                                        <p:cTn id="31" dur="500" fill="hold"/>
                                        <p:tgtEl>
                                          <p:spTgt spid="114381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4381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43811">
                                            <p:txEl>
                                              <p:pRg st="5" end="5"/>
                                            </p:txEl>
                                          </p:spTgt>
                                        </p:tgtEl>
                                        <p:attrNameLst>
                                          <p:attrName>style.visibility</p:attrName>
                                        </p:attrNameLst>
                                      </p:cBhvr>
                                      <p:to>
                                        <p:strVal val="visible"/>
                                      </p:to>
                                    </p:set>
                                    <p:anim calcmode="lin" valueType="num">
                                      <p:cBhvr additive="base">
                                        <p:cTn id="37" dur="500" fill="hold"/>
                                        <p:tgtEl>
                                          <p:spTgt spid="114381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4381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143812">
                                            <p:txEl>
                                              <p:pRg st="0" end="0"/>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143812">
                                            <p:txEl>
                                              <p:pRg st="1" end="1"/>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143812">
                                            <p:txEl>
                                              <p:pRg st="2" end="2"/>
                                            </p:txEl>
                                          </p:spTgt>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11438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3811" grpId="0" build="p"/>
      <p:bldP spid="1143812" grpId="0" build="p" autoUpdateAnimBg="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6469</TotalTime>
  <Words>2010</Words>
  <Application>Microsoft Office PowerPoint</Application>
  <PresentationFormat>On-screen Show (4:3)</PresentationFormat>
  <Paragraphs>323</Paragraphs>
  <Slides>32</Slides>
  <Notes>3</Notes>
  <HiddenSlides>0</HiddenSlides>
  <MMClips>0</MMClips>
  <ScaleCrop>false</ScaleCrop>
  <HeadingPairs>
    <vt:vector size="6" baseType="variant">
      <vt:variant>
        <vt:lpstr>Theme</vt:lpstr>
      </vt:variant>
      <vt:variant>
        <vt:i4>1</vt:i4>
      </vt:variant>
      <vt:variant>
        <vt:lpstr>Embedded OLE Servers</vt:lpstr>
      </vt:variant>
      <vt:variant>
        <vt:i4>4</vt:i4>
      </vt:variant>
      <vt:variant>
        <vt:lpstr>Slide Titles</vt:lpstr>
      </vt:variant>
      <vt:variant>
        <vt:i4>32</vt:i4>
      </vt:variant>
    </vt:vector>
  </HeadingPairs>
  <TitlesOfParts>
    <vt:vector size="37" baseType="lpstr">
      <vt:lpstr>Office Theme</vt:lpstr>
      <vt:lpstr>Equation</vt:lpstr>
      <vt:lpstr>Worksheet</vt:lpstr>
      <vt:lpstr>MathType 6.0 Equation</vt:lpstr>
      <vt:lpstr>Microsoft Equation 3.0</vt:lpstr>
      <vt:lpstr>Comparing Means: Confidence Intervals and Hypotheses Tests for the Difference between Two Population Means µ1 - µ2</vt:lpstr>
      <vt:lpstr>Confidence Intervals for the Difference between Two Population Means µ1 - µ2: Independent Samples</vt:lpstr>
      <vt:lpstr>PowerPoint Presentation</vt:lpstr>
      <vt:lpstr>PowerPoint Presentation</vt:lpstr>
      <vt:lpstr>Two sample t-confidence interval with confidence level C</vt:lpstr>
      <vt:lpstr>Confidence Interval for m1 – m2</vt:lpstr>
      <vt:lpstr>Example: 95% confidence interval for m1 – m2</vt:lpstr>
      <vt:lpstr>Example: 95% confidence interval for m1 – m2</vt:lpstr>
      <vt:lpstr>Example: 95% confidence interval for m1 – m2</vt:lpstr>
      <vt:lpstr>Interpretation</vt:lpstr>
      <vt:lpstr>PowerPoint Presentation</vt:lpstr>
      <vt:lpstr>Beware!! Common Mistake !!!</vt:lpstr>
      <vt:lpstr>PowerPoint Presentation</vt:lpstr>
      <vt:lpstr>Reason for Contradictory Result</vt:lpstr>
      <vt:lpstr>PowerPoint Presentation</vt:lpstr>
      <vt:lpstr>PowerPoint Presentation</vt:lpstr>
      <vt:lpstr>PowerPoint Presentation</vt:lpstr>
      <vt:lpstr>PowerPoint Presentation</vt:lpstr>
      <vt:lpstr>Two-sample t-test </vt:lpstr>
      <vt:lpstr>PowerPoint Presentation</vt:lpstr>
      <vt:lpstr>PowerPoint Presentation</vt:lpstr>
      <vt:lpstr>PowerPoint Presentation</vt:lpstr>
      <vt:lpstr>Robustness</vt:lpstr>
      <vt:lpstr>Pooled two-sample procedures</vt:lpstr>
      <vt:lpstr>Pooled two-sample procedures (cont.)</vt:lpstr>
      <vt:lpstr>Matched pairs t procedures</vt:lpstr>
      <vt:lpstr>Matched pairs t procedures</vt:lpstr>
      <vt:lpstr>PowerPoint Presentation</vt:lpstr>
      <vt:lpstr>Sweetening loss in colas hypothesis test </vt:lpstr>
      <vt:lpstr>Does lack of caffeine increase depression?</vt:lpstr>
      <vt:lpstr>Hypothesis Test: Does lack of caffeine increase depression?</vt:lpstr>
      <vt:lpstr>Which type of test? One sample, paired samples, two samples?</vt:lpstr>
    </vt:vector>
  </TitlesOfParts>
  <Company>csuf</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sbae</dc:creator>
  <cp:lastModifiedBy>Tom Reiland</cp:lastModifiedBy>
  <cp:revision>220</cp:revision>
  <cp:lastPrinted>2014-04-07T12:00:42Z</cp:lastPrinted>
  <dcterms:created xsi:type="dcterms:W3CDTF">1999-03-14T18:56:04Z</dcterms:created>
  <dcterms:modified xsi:type="dcterms:W3CDTF">2015-04-06T10:13:44Z</dcterms:modified>
</cp:coreProperties>
</file>