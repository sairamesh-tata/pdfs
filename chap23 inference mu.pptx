
<file path=[Content_Types].xml><?xml version="1.0" encoding="utf-8"?>
<Types xmlns="http://schemas.openxmlformats.org/package/2006/content-types">
  <Default Extension="bin" ContentType="application/vnd.openxmlformats-officedocument.oleObject"/>
  <Default Extension="png" ContentType="image/png"/>
  <Default Extension="wmf" ContentType="image/x-wmf"/>
  <Default Extension="jpeg" ContentType="image/jpeg"/>
  <Default Extension="emf" ContentType="image/x-emf"/>
  <Default Extension="rels" ContentType="application/vnd.openxmlformats-package.relationships+xml"/>
  <Default Extension="xml" ContentType="application/xml"/>
  <Default Extension="WAV" ContentType="audio/x-wav"/>
  <Default Extension="vml" ContentType="application/vnd.openxmlformats-officedocument.vmlDrawing"/>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notesSlides/notesSlide4.xml" ContentType="application/vnd.openxmlformats-officedocument.presentationml.notesSlide+xml"/>
  <Override PartName="/ppt/tags/tag9.xml" ContentType="application/vnd.openxmlformats-officedocument.presentationml.tags+xml"/>
  <Override PartName="/ppt/notesSlides/notesSlide5.xml" ContentType="application/vnd.openxmlformats-officedocument.presentationml.notesSlide+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notesSlides/notesSlide6.xml" ContentType="application/vnd.openxmlformats-officedocument.presentationml.notesSlide+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notesSlides/notesSlide7.xml" ContentType="application/vnd.openxmlformats-officedocument.presentationml.notesSlide+xml"/>
  <Override PartName="/ppt/tags/tag18.xml" ContentType="application/vnd.openxmlformats-officedocument.presentationml.tags+xml"/>
  <Override PartName="/ppt/notesSlides/notesSlide8.xml" ContentType="application/vnd.openxmlformats-officedocument.presentationml.notesSlide+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62" r:id="rId1"/>
    <p:sldMasterId id="2147483677" r:id="rId2"/>
    <p:sldMasterId id="2147483693" r:id="rId3"/>
  </p:sldMasterIdLst>
  <p:notesMasterIdLst>
    <p:notesMasterId r:id="rId47"/>
  </p:notesMasterIdLst>
  <p:handoutMasterIdLst>
    <p:handoutMasterId r:id="rId48"/>
  </p:handoutMasterIdLst>
  <p:sldIdLst>
    <p:sldId id="256" r:id="rId4"/>
    <p:sldId id="308" r:id="rId5"/>
    <p:sldId id="288" r:id="rId6"/>
    <p:sldId id="309" r:id="rId7"/>
    <p:sldId id="289" r:id="rId8"/>
    <p:sldId id="290" r:id="rId9"/>
    <p:sldId id="282" r:id="rId10"/>
    <p:sldId id="291" r:id="rId11"/>
    <p:sldId id="285" r:id="rId12"/>
    <p:sldId id="260" r:id="rId13"/>
    <p:sldId id="268" r:id="rId14"/>
    <p:sldId id="269" r:id="rId15"/>
    <p:sldId id="270" r:id="rId16"/>
    <p:sldId id="271" r:id="rId17"/>
    <p:sldId id="276" r:id="rId18"/>
    <p:sldId id="274" r:id="rId19"/>
    <p:sldId id="264" r:id="rId20"/>
    <p:sldId id="310" r:id="rId21"/>
    <p:sldId id="311" r:id="rId22"/>
    <p:sldId id="312" r:id="rId23"/>
    <p:sldId id="313" r:id="rId24"/>
    <p:sldId id="314" r:id="rId25"/>
    <p:sldId id="315" r:id="rId26"/>
    <p:sldId id="316" r:id="rId27"/>
    <p:sldId id="317" r:id="rId28"/>
    <p:sldId id="318" r:id="rId29"/>
    <p:sldId id="320" r:id="rId30"/>
    <p:sldId id="321" r:id="rId31"/>
    <p:sldId id="322" r:id="rId32"/>
    <p:sldId id="326" r:id="rId33"/>
    <p:sldId id="324" r:id="rId34"/>
    <p:sldId id="307" r:id="rId35"/>
    <p:sldId id="294" r:id="rId36"/>
    <p:sldId id="295" r:id="rId37"/>
    <p:sldId id="296" r:id="rId38"/>
    <p:sldId id="297" r:id="rId39"/>
    <p:sldId id="298" r:id="rId40"/>
    <p:sldId id="299" r:id="rId41"/>
    <p:sldId id="300" r:id="rId42"/>
    <p:sldId id="303" r:id="rId43"/>
    <p:sldId id="304" r:id="rId44"/>
    <p:sldId id="305" r:id="rId45"/>
    <p:sldId id="306" r:id="rId46"/>
  </p:sldIdLst>
  <p:sldSz cx="9144000" cy="6858000" type="screen4x3"/>
  <p:notesSz cx="6858000" cy="9144000"/>
  <p:kinsoku lang="ja-JP" invalStChars="、。，．・：；？！゛゜ヽヾゝゞ々ー’”）〕］｝〉》」』】°‰′″℃￠％ぁぃぅぇぉっゃゅょゎァィゥェォッャュョヮヵヶ!%),.:;?]}｡｣､･ｧｨｩｪｫｬｭｮｯｰﾞﾟ" invalEndChars="‘“（〔［｛〈《「『【￥＄$([\{｢￡"/>
  <p:defaultTextStyle>
    <a:defPPr>
      <a:defRPr lang="en-US"/>
    </a:defPPr>
    <a:lvl1pPr algn="l" rtl="0" eaLnBrk="0" fontAlgn="base" hangingPunct="0">
      <a:spcBef>
        <a:spcPct val="0"/>
      </a:spcBef>
      <a:spcAft>
        <a:spcPct val="0"/>
      </a:spcAft>
      <a:defRPr sz="2400" i="1" kern="1200">
        <a:solidFill>
          <a:schemeClr val="tx1"/>
        </a:solidFill>
        <a:latin typeface="Arial" charset="0"/>
        <a:ea typeface="+mn-ea"/>
        <a:cs typeface="+mn-cs"/>
      </a:defRPr>
    </a:lvl1pPr>
    <a:lvl2pPr marL="457200" algn="l" rtl="0" eaLnBrk="0" fontAlgn="base" hangingPunct="0">
      <a:spcBef>
        <a:spcPct val="0"/>
      </a:spcBef>
      <a:spcAft>
        <a:spcPct val="0"/>
      </a:spcAft>
      <a:defRPr sz="2400" i="1" kern="1200">
        <a:solidFill>
          <a:schemeClr val="tx1"/>
        </a:solidFill>
        <a:latin typeface="Arial" charset="0"/>
        <a:ea typeface="+mn-ea"/>
        <a:cs typeface="+mn-cs"/>
      </a:defRPr>
    </a:lvl2pPr>
    <a:lvl3pPr marL="914400" algn="l" rtl="0" eaLnBrk="0" fontAlgn="base" hangingPunct="0">
      <a:spcBef>
        <a:spcPct val="0"/>
      </a:spcBef>
      <a:spcAft>
        <a:spcPct val="0"/>
      </a:spcAft>
      <a:defRPr sz="2400" i="1" kern="1200">
        <a:solidFill>
          <a:schemeClr val="tx1"/>
        </a:solidFill>
        <a:latin typeface="Arial" charset="0"/>
        <a:ea typeface="+mn-ea"/>
        <a:cs typeface="+mn-cs"/>
      </a:defRPr>
    </a:lvl3pPr>
    <a:lvl4pPr marL="1371600" algn="l" rtl="0" eaLnBrk="0" fontAlgn="base" hangingPunct="0">
      <a:spcBef>
        <a:spcPct val="0"/>
      </a:spcBef>
      <a:spcAft>
        <a:spcPct val="0"/>
      </a:spcAft>
      <a:defRPr sz="2400" i="1" kern="1200">
        <a:solidFill>
          <a:schemeClr val="tx1"/>
        </a:solidFill>
        <a:latin typeface="Arial" charset="0"/>
        <a:ea typeface="+mn-ea"/>
        <a:cs typeface="+mn-cs"/>
      </a:defRPr>
    </a:lvl4pPr>
    <a:lvl5pPr marL="1828800" algn="l" rtl="0" eaLnBrk="0" fontAlgn="base" hangingPunct="0">
      <a:spcBef>
        <a:spcPct val="0"/>
      </a:spcBef>
      <a:spcAft>
        <a:spcPct val="0"/>
      </a:spcAft>
      <a:defRPr sz="2400" i="1" kern="1200">
        <a:solidFill>
          <a:schemeClr val="tx1"/>
        </a:solidFill>
        <a:latin typeface="Arial" charset="0"/>
        <a:ea typeface="+mn-ea"/>
        <a:cs typeface="+mn-cs"/>
      </a:defRPr>
    </a:lvl5pPr>
    <a:lvl6pPr marL="2286000" algn="l" defTabSz="914400" rtl="0" eaLnBrk="1" latinLnBrk="0" hangingPunct="1">
      <a:defRPr sz="2400" i="1" kern="1200">
        <a:solidFill>
          <a:schemeClr val="tx1"/>
        </a:solidFill>
        <a:latin typeface="Arial" charset="0"/>
        <a:ea typeface="+mn-ea"/>
        <a:cs typeface="+mn-cs"/>
      </a:defRPr>
    </a:lvl6pPr>
    <a:lvl7pPr marL="2743200" algn="l" defTabSz="914400" rtl="0" eaLnBrk="1" latinLnBrk="0" hangingPunct="1">
      <a:defRPr sz="2400" i="1" kern="1200">
        <a:solidFill>
          <a:schemeClr val="tx1"/>
        </a:solidFill>
        <a:latin typeface="Arial" charset="0"/>
        <a:ea typeface="+mn-ea"/>
        <a:cs typeface="+mn-cs"/>
      </a:defRPr>
    </a:lvl7pPr>
    <a:lvl8pPr marL="3200400" algn="l" defTabSz="914400" rtl="0" eaLnBrk="1" latinLnBrk="0" hangingPunct="1">
      <a:defRPr sz="2400" i="1" kern="1200">
        <a:solidFill>
          <a:schemeClr val="tx1"/>
        </a:solidFill>
        <a:latin typeface="Arial" charset="0"/>
        <a:ea typeface="+mn-ea"/>
        <a:cs typeface="+mn-cs"/>
      </a:defRPr>
    </a:lvl8pPr>
    <a:lvl9pPr marL="3657600" algn="l" defTabSz="914400" rtl="0" eaLnBrk="1" latinLnBrk="0" hangingPunct="1">
      <a:defRPr sz="2400" i="1"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CCFF99"/>
    <a:srgbClr val="99FF66"/>
    <a:srgbClr val="CCFF66"/>
    <a:srgbClr val="66FF33"/>
    <a:srgbClr val="66FF66"/>
    <a:srgbClr val="FED58A"/>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vertBarState="minimized" horzBarState="maximized">
    <p:restoredLeft sz="32787"/>
    <p:restoredTop sz="90929"/>
  </p:normalViewPr>
  <p:slideViewPr>
    <p:cSldViewPr>
      <p:cViewPr varScale="1">
        <p:scale>
          <a:sx n="84" d="100"/>
          <a:sy n="84" d="100"/>
        </p:scale>
        <p:origin x="96" y="71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4848"/>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presProps" Target="presProp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handoutMaster" Target="handoutMasters/handoutMaster1.xml"/><Relationship Id="rId8" Type="http://schemas.openxmlformats.org/officeDocument/2006/relationships/slide" Target="slides/slide5.xml"/><Relationship Id="rId51" Type="http://schemas.openxmlformats.org/officeDocument/2006/relationships/theme" Target="theme/theme1.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20" Type="http://schemas.openxmlformats.org/officeDocument/2006/relationships/slide" Target="slides/slide17.xml"/><Relationship Id="rId41" Type="http://schemas.openxmlformats.org/officeDocument/2006/relationships/slide" Target="slides/slide38.xml"/><Relationship Id="rId1" Type="http://schemas.openxmlformats.org/officeDocument/2006/relationships/slideMaster" Target="slideMasters/slideMaster1.xml"/><Relationship Id="rId6" Type="http://schemas.openxmlformats.org/officeDocument/2006/relationships/slide" Target="slides/slide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3.v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image" Target="../media/image5.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image" Target="../media/image8.wmf"/><Relationship Id="rId1" Type="http://schemas.openxmlformats.org/officeDocument/2006/relationships/image" Target="../media/image7.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11.wmf"/><Relationship Id="rId1" Type="http://schemas.openxmlformats.org/officeDocument/2006/relationships/image" Target="../media/image10.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image" Target="../media/image13.wmf"/><Relationship Id="rId1" Type="http://schemas.openxmlformats.org/officeDocument/2006/relationships/image" Target="../media/image12.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image" Target="../media/image15.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7.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20.wmf"/><Relationship Id="rId1" Type="http://schemas.openxmlformats.org/officeDocument/2006/relationships/image" Target="../media/image19.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image" Target="../media/image22.wmf"/><Relationship Id="rId1" Type="http://schemas.openxmlformats.org/officeDocument/2006/relationships/image" Target="../media/image21.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image" Target="../media/image22.wmf"/><Relationship Id="rId1" Type="http://schemas.openxmlformats.org/officeDocument/2006/relationships/image" Target="../media/image21.w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25.wmf"/><Relationship Id="rId1" Type="http://schemas.openxmlformats.org/officeDocument/2006/relationships/image" Target="../media/image24.w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27.wmf"/><Relationship Id="rId1" Type="http://schemas.openxmlformats.org/officeDocument/2006/relationships/image" Target="../media/image26.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30.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31.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32.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33.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34.w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35.wmf"/></Relationships>
</file>

<file path=ppt/drawings/_rels/vmlDrawing21.vml.rels><?xml version="1.0" encoding="UTF-8" standalone="yes"?>
<Relationships xmlns="http://schemas.openxmlformats.org/package/2006/relationships"><Relationship Id="rId2" Type="http://schemas.openxmlformats.org/officeDocument/2006/relationships/image" Target="../media/image51.wmf"/><Relationship Id="rId1" Type="http://schemas.openxmlformats.org/officeDocument/2006/relationships/image" Target="../media/image50.w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57.wmf"/><Relationship Id="rId2" Type="http://schemas.openxmlformats.org/officeDocument/2006/relationships/image" Target="../media/image56.wmf"/><Relationship Id="rId1" Type="http://schemas.openxmlformats.org/officeDocument/2006/relationships/image" Target="../media/image55.wmf"/></Relationships>
</file>

<file path=ppt/drawings/_rels/vmlDrawing23.vml.rels><?xml version="1.0" encoding="UTF-8" standalone="yes"?>
<Relationships xmlns="http://schemas.openxmlformats.org/package/2006/relationships"><Relationship Id="rId3" Type="http://schemas.openxmlformats.org/officeDocument/2006/relationships/image" Target="../media/image62.wmf"/><Relationship Id="rId2" Type="http://schemas.openxmlformats.org/officeDocument/2006/relationships/image" Target="../media/image61.wmf"/><Relationship Id="rId1" Type="http://schemas.openxmlformats.org/officeDocument/2006/relationships/image" Target="NULL"/></Relationships>
</file>

<file path=ppt/drawings/_rels/vmlDrawing24.vml.rels><?xml version="1.0" encoding="UTF-8" standalone="yes"?>
<Relationships xmlns="http://schemas.openxmlformats.org/package/2006/relationships"><Relationship Id="rId3" Type="http://schemas.openxmlformats.org/officeDocument/2006/relationships/image" Target="../media/image66.wmf"/><Relationship Id="rId2" Type="http://schemas.openxmlformats.org/officeDocument/2006/relationships/image" Target="../media/image65.wmf"/><Relationship Id="rId1" Type="http://schemas.openxmlformats.org/officeDocument/2006/relationships/image" Target="../media/image64.emf"/></Relationships>
</file>

<file path=ppt/drawings/_rels/vmlDrawing25.vml.rels><?xml version="1.0" encoding="UTF-8" standalone="yes"?>
<Relationships xmlns="http://schemas.openxmlformats.org/package/2006/relationships"><Relationship Id="rId3" Type="http://schemas.openxmlformats.org/officeDocument/2006/relationships/image" Target="../media/image72.wmf"/><Relationship Id="rId2" Type="http://schemas.openxmlformats.org/officeDocument/2006/relationships/image" Target="../media/image71.wmf"/><Relationship Id="rId1" Type="http://schemas.openxmlformats.org/officeDocument/2006/relationships/image" Target="../media/image70.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8822189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7890" name="Rectangle 2"/>
          <p:cNvSpPr>
            <a:spLocks noGrp="1" noRot="1" noChangeAspect="1" noChangeArrowheads="1" noTextEdit="1"/>
          </p:cNvSpPr>
          <p:nvPr>
            <p:ph type="sldImg" idx="2"/>
          </p:nvPr>
        </p:nvSpPr>
        <p:spPr bwMode="auto">
          <a:xfrm>
            <a:off x="1149350" y="692150"/>
            <a:ext cx="4559300" cy="34163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sp>
      <p:sp>
        <p:nvSpPr>
          <p:cNvPr id="2051" name="Rectangle 3"/>
          <p:cNvSpPr>
            <a:spLocks noGrp="1" noChangeArrowheads="1"/>
          </p:cNvSpPr>
          <p:nvPr>
            <p:ph type="body" sz="quarter" idx="3"/>
          </p:nvPr>
        </p:nvSpPr>
        <p:spPr bwMode="auto">
          <a:xfrm>
            <a:off x="914400" y="4343400"/>
            <a:ext cx="5029200" cy="4114800"/>
          </a:xfrm>
          <a:prstGeom prst="rect">
            <a:avLst/>
          </a:prstGeom>
          <a:noFill/>
          <a:ln w="12700">
            <a:noFill/>
            <a:miter lim="800000"/>
            <a:headEnd/>
            <a:tailEnd/>
          </a:ln>
          <a:effectLst/>
        </p:spPr>
        <p:txBody>
          <a:bodyPr vert="horz" wrap="square" lIns="90488" tIns="44450" rIns="90488" bIns="44450" numCol="1" anchor="t" anchorCtr="0" compatLnSpc="1">
            <a:prstTxWarp prst="textNoShape">
              <a:avLst/>
            </a:prstTxWarp>
          </a:bodyPr>
          <a:lstStyle/>
          <a:p>
            <a:pPr lvl="0"/>
            <a:r>
              <a:rPr lang="en-US" noProof="0" smtClean="0"/>
              <a:t>Click to edit Master notes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Tree>
    <p:extLst>
      <p:ext uri="{BB962C8B-B14F-4D97-AF65-F5344CB8AC3E}">
        <p14:creationId xmlns:p14="http://schemas.microsoft.com/office/powerpoint/2010/main" val="290002635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Rot="1" noChangeAspect="1" noChangeArrowheads="1" noTextEdit="1"/>
          </p:cNvSpPr>
          <p:nvPr>
            <p:ph type="sldImg"/>
          </p:nvPr>
        </p:nvSpPr>
        <p:spPr>
          <a:xfrm>
            <a:off x="1150938" y="692150"/>
            <a:ext cx="4556125" cy="3416300"/>
          </a:xfrm>
          <a:ln cap="flat"/>
        </p:spPr>
      </p:sp>
      <p:sp>
        <p:nvSpPr>
          <p:cNvPr id="15363"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19617153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Rot="1" noChangeAspect="1" noChangeArrowheads="1" noTextEdit="1"/>
          </p:cNvSpPr>
          <p:nvPr>
            <p:ph type="sldImg"/>
          </p:nvPr>
        </p:nvSpPr>
        <p:spPr>
          <a:xfrm>
            <a:off x="1150938" y="692150"/>
            <a:ext cx="4556125" cy="3416300"/>
          </a:xfrm>
          <a:ln cap="flat"/>
        </p:spPr>
      </p:sp>
      <p:sp>
        <p:nvSpPr>
          <p:cNvPr id="16387"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25069804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Rot="1" noChangeAspect="1" noChangeArrowheads="1" noTextEdit="1"/>
          </p:cNvSpPr>
          <p:nvPr>
            <p:ph type="sldImg"/>
          </p:nvPr>
        </p:nvSpPr>
        <p:spPr>
          <a:xfrm>
            <a:off x="1150938" y="692150"/>
            <a:ext cx="4556125" cy="3416300"/>
          </a:xfrm>
          <a:ln cap="flat"/>
        </p:spPr>
      </p:sp>
      <p:sp>
        <p:nvSpPr>
          <p:cNvPr id="17411"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25734500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Rot="1" noChangeAspect="1" noChangeArrowheads="1" noTextEdit="1"/>
          </p:cNvSpPr>
          <p:nvPr>
            <p:ph type="sldImg"/>
          </p:nvPr>
        </p:nvSpPr>
        <p:spPr>
          <a:xfrm>
            <a:off x="1150938" y="692150"/>
            <a:ext cx="4556125" cy="3416300"/>
          </a:xfrm>
          <a:ln cap="flat"/>
        </p:spPr>
      </p:sp>
      <p:sp>
        <p:nvSpPr>
          <p:cNvPr id="18435"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1730983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spect="1" noChangeArrowheads="1" noTextEdit="1"/>
          </p:cNvSpPr>
          <p:nvPr>
            <p:ph type="sldImg"/>
          </p:nvPr>
        </p:nvSpPr>
        <p:spPr>
          <a:xfrm>
            <a:off x="1150938" y="692150"/>
            <a:ext cx="4556125" cy="3416300"/>
          </a:xfrm>
          <a:ln cap="flat"/>
        </p:spPr>
      </p:sp>
      <p:sp>
        <p:nvSpPr>
          <p:cNvPr id="19459"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34545393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hdr" sz="quarter" idx="4294967295"/>
          </p:nvPr>
        </p:nvSpPr>
        <p:spPr bwMode="auto">
          <a:xfrm>
            <a:off x="0" y="0"/>
            <a:ext cx="29718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730" tIns="44865" rIns="89730" bIns="44865"/>
          <a:lstStyle>
            <a:lvl1pPr>
              <a:defRPr sz="2400" i="1">
                <a:solidFill>
                  <a:schemeClr val="tx1"/>
                </a:solidFill>
                <a:latin typeface="Arial" charset="0"/>
              </a:defRPr>
            </a:lvl1pPr>
            <a:lvl2pPr marL="742950" indent="-285750">
              <a:defRPr sz="2400" i="1">
                <a:solidFill>
                  <a:schemeClr val="tx1"/>
                </a:solidFill>
                <a:latin typeface="Arial" charset="0"/>
              </a:defRPr>
            </a:lvl2pPr>
            <a:lvl3pPr marL="1143000" indent="-228600">
              <a:defRPr sz="2400" i="1">
                <a:solidFill>
                  <a:schemeClr val="tx1"/>
                </a:solidFill>
                <a:latin typeface="Arial" charset="0"/>
              </a:defRPr>
            </a:lvl3pPr>
            <a:lvl4pPr marL="1600200" indent="-228600">
              <a:defRPr sz="2400" i="1">
                <a:solidFill>
                  <a:schemeClr val="tx1"/>
                </a:solidFill>
                <a:latin typeface="Arial" charset="0"/>
              </a:defRPr>
            </a:lvl4pPr>
            <a:lvl5pPr marL="2057400" indent="-228600">
              <a:defRPr sz="2400" i="1">
                <a:solidFill>
                  <a:schemeClr val="tx1"/>
                </a:solidFill>
                <a:latin typeface="Arial" charset="0"/>
              </a:defRPr>
            </a:lvl5pPr>
            <a:lvl6pPr marL="2514600" indent="-228600" eaLnBrk="0" fontAlgn="base" hangingPunct="0">
              <a:spcBef>
                <a:spcPct val="0"/>
              </a:spcBef>
              <a:spcAft>
                <a:spcPct val="0"/>
              </a:spcAft>
              <a:defRPr sz="2400" i="1">
                <a:solidFill>
                  <a:schemeClr val="tx1"/>
                </a:solidFill>
                <a:latin typeface="Arial" charset="0"/>
              </a:defRPr>
            </a:lvl6pPr>
            <a:lvl7pPr marL="2971800" indent="-228600" eaLnBrk="0" fontAlgn="base" hangingPunct="0">
              <a:spcBef>
                <a:spcPct val="0"/>
              </a:spcBef>
              <a:spcAft>
                <a:spcPct val="0"/>
              </a:spcAft>
              <a:defRPr sz="2400" i="1">
                <a:solidFill>
                  <a:schemeClr val="tx1"/>
                </a:solidFill>
                <a:latin typeface="Arial" charset="0"/>
              </a:defRPr>
            </a:lvl7pPr>
            <a:lvl8pPr marL="3429000" indent="-228600" eaLnBrk="0" fontAlgn="base" hangingPunct="0">
              <a:spcBef>
                <a:spcPct val="0"/>
              </a:spcBef>
              <a:spcAft>
                <a:spcPct val="0"/>
              </a:spcAft>
              <a:defRPr sz="2400" i="1">
                <a:solidFill>
                  <a:schemeClr val="tx1"/>
                </a:solidFill>
                <a:latin typeface="Arial" charset="0"/>
              </a:defRPr>
            </a:lvl8pPr>
            <a:lvl9pPr marL="3886200" indent="-228600" eaLnBrk="0" fontAlgn="base" hangingPunct="0">
              <a:spcBef>
                <a:spcPct val="0"/>
              </a:spcBef>
              <a:spcAft>
                <a:spcPct val="0"/>
              </a:spcAft>
              <a:defRPr sz="2400" i="1">
                <a:solidFill>
                  <a:schemeClr val="tx1"/>
                </a:solidFill>
                <a:latin typeface="Arial" charset="0"/>
              </a:defRPr>
            </a:lvl9pPr>
          </a:lstStyle>
          <a:p>
            <a:pPr eaLnBrk="1" hangingPunct="1"/>
            <a:r>
              <a:rPr lang="en-US" altLang="en-US" sz="1200" dirty="0">
                <a:cs typeface="Arial" charset="0"/>
              </a:rPr>
              <a:t>QTM1310/ Sharpe</a:t>
            </a:r>
          </a:p>
        </p:txBody>
      </p:sp>
      <p:sp>
        <p:nvSpPr>
          <p:cNvPr id="38915" name="Rectangle 7"/>
          <p:cNvSpPr>
            <a:spLocks noGrp="1" noChangeArrowheads="1"/>
          </p:cNvSpPr>
          <p:nvPr>
            <p:ph type="sldNum" sz="quarter" idx="4294967295"/>
          </p:nvPr>
        </p:nvSpPr>
        <p:spPr bwMode="auto">
          <a:xfrm>
            <a:off x="3884613" y="8685213"/>
            <a:ext cx="29718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730" tIns="44865" rIns="89730" bIns="44865"/>
          <a:lstStyle>
            <a:lvl1pPr>
              <a:defRPr sz="2400" i="1">
                <a:solidFill>
                  <a:schemeClr val="tx1"/>
                </a:solidFill>
                <a:latin typeface="Arial" charset="0"/>
              </a:defRPr>
            </a:lvl1pPr>
            <a:lvl2pPr marL="742950" indent="-285750">
              <a:defRPr sz="2400" i="1">
                <a:solidFill>
                  <a:schemeClr val="tx1"/>
                </a:solidFill>
                <a:latin typeface="Arial" charset="0"/>
              </a:defRPr>
            </a:lvl2pPr>
            <a:lvl3pPr marL="1143000" indent="-228600">
              <a:defRPr sz="2400" i="1">
                <a:solidFill>
                  <a:schemeClr val="tx1"/>
                </a:solidFill>
                <a:latin typeface="Arial" charset="0"/>
              </a:defRPr>
            </a:lvl3pPr>
            <a:lvl4pPr marL="1600200" indent="-228600">
              <a:defRPr sz="2400" i="1">
                <a:solidFill>
                  <a:schemeClr val="tx1"/>
                </a:solidFill>
                <a:latin typeface="Arial" charset="0"/>
              </a:defRPr>
            </a:lvl4pPr>
            <a:lvl5pPr marL="2057400" indent="-228600">
              <a:defRPr sz="2400" i="1">
                <a:solidFill>
                  <a:schemeClr val="tx1"/>
                </a:solidFill>
                <a:latin typeface="Arial" charset="0"/>
              </a:defRPr>
            </a:lvl5pPr>
            <a:lvl6pPr marL="2514600" indent="-228600" eaLnBrk="0" fontAlgn="base" hangingPunct="0">
              <a:spcBef>
                <a:spcPct val="0"/>
              </a:spcBef>
              <a:spcAft>
                <a:spcPct val="0"/>
              </a:spcAft>
              <a:defRPr sz="2400" i="1">
                <a:solidFill>
                  <a:schemeClr val="tx1"/>
                </a:solidFill>
                <a:latin typeface="Arial" charset="0"/>
              </a:defRPr>
            </a:lvl6pPr>
            <a:lvl7pPr marL="2971800" indent="-228600" eaLnBrk="0" fontAlgn="base" hangingPunct="0">
              <a:spcBef>
                <a:spcPct val="0"/>
              </a:spcBef>
              <a:spcAft>
                <a:spcPct val="0"/>
              </a:spcAft>
              <a:defRPr sz="2400" i="1">
                <a:solidFill>
                  <a:schemeClr val="tx1"/>
                </a:solidFill>
                <a:latin typeface="Arial" charset="0"/>
              </a:defRPr>
            </a:lvl7pPr>
            <a:lvl8pPr marL="3429000" indent="-228600" eaLnBrk="0" fontAlgn="base" hangingPunct="0">
              <a:spcBef>
                <a:spcPct val="0"/>
              </a:spcBef>
              <a:spcAft>
                <a:spcPct val="0"/>
              </a:spcAft>
              <a:defRPr sz="2400" i="1">
                <a:solidFill>
                  <a:schemeClr val="tx1"/>
                </a:solidFill>
                <a:latin typeface="Arial" charset="0"/>
              </a:defRPr>
            </a:lvl8pPr>
            <a:lvl9pPr marL="3886200" indent="-228600" eaLnBrk="0" fontAlgn="base" hangingPunct="0">
              <a:spcBef>
                <a:spcPct val="0"/>
              </a:spcBef>
              <a:spcAft>
                <a:spcPct val="0"/>
              </a:spcAft>
              <a:defRPr sz="2400" i="1">
                <a:solidFill>
                  <a:schemeClr val="tx1"/>
                </a:solidFill>
                <a:latin typeface="Arial" charset="0"/>
              </a:defRPr>
            </a:lvl9pPr>
          </a:lstStyle>
          <a:p>
            <a:pPr eaLnBrk="1" hangingPunct="1"/>
            <a:fld id="{EE9153AF-DBB1-4DC4-8799-4D45E96BE2F4}" type="slidenum">
              <a:rPr lang="en-US" altLang="en-US" sz="1200">
                <a:cs typeface="Arial" charset="0"/>
              </a:rPr>
              <a:pPr eaLnBrk="1" hangingPunct="1"/>
              <a:t>32</a:t>
            </a:fld>
            <a:endParaRPr lang="en-US" altLang="en-US" sz="1200" dirty="0">
              <a:cs typeface="Arial" charset="0"/>
            </a:endParaRPr>
          </a:p>
        </p:txBody>
      </p:sp>
      <p:sp>
        <p:nvSpPr>
          <p:cNvPr id="38916" name="Rectangle 2"/>
          <p:cNvSpPr>
            <a:spLocks noGrp="1" noRot="1" noChangeAspect="1" noChangeArrowheads="1" noTextEdit="1"/>
          </p:cNvSpPr>
          <p:nvPr>
            <p:ph type="sldImg"/>
          </p:nvPr>
        </p:nvSpPr>
        <p:spPr>
          <a:xfrm>
            <a:off x="1150938" y="692150"/>
            <a:ext cx="4556125" cy="3416300"/>
          </a:xfrm>
          <a:ln/>
        </p:spPr>
      </p:sp>
      <p:sp>
        <p:nvSpPr>
          <p:cNvPr id="38917"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smtClean="0"/>
          </a:p>
        </p:txBody>
      </p:sp>
    </p:spTree>
    <p:extLst>
      <p:ext uri="{BB962C8B-B14F-4D97-AF65-F5344CB8AC3E}">
        <p14:creationId xmlns:p14="http://schemas.microsoft.com/office/powerpoint/2010/main" val="27326699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txBox="1">
            <a:spLocks noGrp="1" noChangeArrowheads="1"/>
          </p:cNvSpP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5" tIns="45718" rIns="91435" bIns="45718"/>
          <a:lstStyle>
            <a:lvl1pPr defTabSz="931863">
              <a:defRPr sz="2400" i="1">
                <a:solidFill>
                  <a:schemeClr val="tx1"/>
                </a:solidFill>
                <a:latin typeface="Arial" charset="0"/>
              </a:defRPr>
            </a:lvl1pPr>
            <a:lvl2pPr marL="742950" indent="-285750" defTabSz="931863">
              <a:defRPr sz="2400" i="1">
                <a:solidFill>
                  <a:schemeClr val="tx1"/>
                </a:solidFill>
                <a:latin typeface="Arial" charset="0"/>
              </a:defRPr>
            </a:lvl2pPr>
            <a:lvl3pPr marL="1143000" indent="-228600" defTabSz="931863">
              <a:defRPr sz="2400" i="1">
                <a:solidFill>
                  <a:schemeClr val="tx1"/>
                </a:solidFill>
                <a:latin typeface="Arial" charset="0"/>
              </a:defRPr>
            </a:lvl3pPr>
            <a:lvl4pPr marL="1600200" indent="-228600" defTabSz="931863">
              <a:defRPr sz="2400" i="1">
                <a:solidFill>
                  <a:schemeClr val="tx1"/>
                </a:solidFill>
                <a:latin typeface="Arial" charset="0"/>
              </a:defRPr>
            </a:lvl4pPr>
            <a:lvl5pPr marL="2057400" indent="-228600" defTabSz="931863">
              <a:defRPr sz="2400" i="1">
                <a:solidFill>
                  <a:schemeClr val="tx1"/>
                </a:solidFill>
                <a:latin typeface="Arial" charset="0"/>
              </a:defRPr>
            </a:lvl5pPr>
            <a:lvl6pPr marL="2514600" indent="-228600" defTabSz="931863" eaLnBrk="0" fontAlgn="base" hangingPunct="0">
              <a:spcBef>
                <a:spcPct val="0"/>
              </a:spcBef>
              <a:spcAft>
                <a:spcPct val="0"/>
              </a:spcAft>
              <a:defRPr sz="2400" i="1">
                <a:solidFill>
                  <a:schemeClr val="tx1"/>
                </a:solidFill>
                <a:latin typeface="Arial" charset="0"/>
              </a:defRPr>
            </a:lvl6pPr>
            <a:lvl7pPr marL="2971800" indent="-228600" defTabSz="931863" eaLnBrk="0" fontAlgn="base" hangingPunct="0">
              <a:spcBef>
                <a:spcPct val="0"/>
              </a:spcBef>
              <a:spcAft>
                <a:spcPct val="0"/>
              </a:spcAft>
              <a:defRPr sz="2400" i="1">
                <a:solidFill>
                  <a:schemeClr val="tx1"/>
                </a:solidFill>
                <a:latin typeface="Arial" charset="0"/>
              </a:defRPr>
            </a:lvl7pPr>
            <a:lvl8pPr marL="3429000" indent="-228600" defTabSz="931863" eaLnBrk="0" fontAlgn="base" hangingPunct="0">
              <a:spcBef>
                <a:spcPct val="0"/>
              </a:spcBef>
              <a:spcAft>
                <a:spcPct val="0"/>
              </a:spcAft>
              <a:defRPr sz="2400" i="1">
                <a:solidFill>
                  <a:schemeClr val="tx1"/>
                </a:solidFill>
                <a:latin typeface="Arial" charset="0"/>
              </a:defRPr>
            </a:lvl8pPr>
            <a:lvl9pPr marL="3886200" indent="-228600" defTabSz="931863" eaLnBrk="0" fontAlgn="base" hangingPunct="0">
              <a:spcBef>
                <a:spcPct val="0"/>
              </a:spcBef>
              <a:spcAft>
                <a:spcPct val="0"/>
              </a:spcAft>
              <a:defRPr sz="2400" i="1">
                <a:solidFill>
                  <a:schemeClr val="tx1"/>
                </a:solidFill>
                <a:latin typeface="Arial" charset="0"/>
              </a:defRPr>
            </a:lvl9pPr>
          </a:lstStyle>
          <a:p>
            <a:pPr eaLnBrk="1" hangingPunct="1"/>
            <a:r>
              <a:rPr lang="en-US" altLang="en-US" sz="1200" dirty="0">
                <a:cs typeface="Arial" charset="0"/>
              </a:rPr>
              <a:t>QTM1310/ Sharpe</a:t>
            </a:r>
          </a:p>
        </p:txBody>
      </p:sp>
      <p:sp>
        <p:nvSpPr>
          <p:cNvPr id="39939"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5" tIns="45718" rIns="91435" bIns="45718" anchor="b"/>
          <a:lstStyle>
            <a:lvl1pPr defTabSz="931863">
              <a:defRPr sz="2400" i="1">
                <a:solidFill>
                  <a:schemeClr val="tx1"/>
                </a:solidFill>
                <a:latin typeface="Arial" charset="0"/>
              </a:defRPr>
            </a:lvl1pPr>
            <a:lvl2pPr marL="742950" indent="-285750" defTabSz="931863">
              <a:defRPr sz="2400" i="1">
                <a:solidFill>
                  <a:schemeClr val="tx1"/>
                </a:solidFill>
                <a:latin typeface="Arial" charset="0"/>
              </a:defRPr>
            </a:lvl2pPr>
            <a:lvl3pPr marL="1143000" indent="-228600" defTabSz="931863">
              <a:defRPr sz="2400" i="1">
                <a:solidFill>
                  <a:schemeClr val="tx1"/>
                </a:solidFill>
                <a:latin typeface="Arial" charset="0"/>
              </a:defRPr>
            </a:lvl3pPr>
            <a:lvl4pPr marL="1600200" indent="-228600" defTabSz="931863">
              <a:defRPr sz="2400" i="1">
                <a:solidFill>
                  <a:schemeClr val="tx1"/>
                </a:solidFill>
                <a:latin typeface="Arial" charset="0"/>
              </a:defRPr>
            </a:lvl4pPr>
            <a:lvl5pPr marL="2057400" indent="-228600" defTabSz="931863">
              <a:defRPr sz="2400" i="1">
                <a:solidFill>
                  <a:schemeClr val="tx1"/>
                </a:solidFill>
                <a:latin typeface="Arial" charset="0"/>
              </a:defRPr>
            </a:lvl5pPr>
            <a:lvl6pPr marL="2514600" indent="-228600" defTabSz="931863" eaLnBrk="0" fontAlgn="base" hangingPunct="0">
              <a:spcBef>
                <a:spcPct val="0"/>
              </a:spcBef>
              <a:spcAft>
                <a:spcPct val="0"/>
              </a:spcAft>
              <a:defRPr sz="2400" i="1">
                <a:solidFill>
                  <a:schemeClr val="tx1"/>
                </a:solidFill>
                <a:latin typeface="Arial" charset="0"/>
              </a:defRPr>
            </a:lvl6pPr>
            <a:lvl7pPr marL="2971800" indent="-228600" defTabSz="931863" eaLnBrk="0" fontAlgn="base" hangingPunct="0">
              <a:spcBef>
                <a:spcPct val="0"/>
              </a:spcBef>
              <a:spcAft>
                <a:spcPct val="0"/>
              </a:spcAft>
              <a:defRPr sz="2400" i="1">
                <a:solidFill>
                  <a:schemeClr val="tx1"/>
                </a:solidFill>
                <a:latin typeface="Arial" charset="0"/>
              </a:defRPr>
            </a:lvl7pPr>
            <a:lvl8pPr marL="3429000" indent="-228600" defTabSz="931863" eaLnBrk="0" fontAlgn="base" hangingPunct="0">
              <a:spcBef>
                <a:spcPct val="0"/>
              </a:spcBef>
              <a:spcAft>
                <a:spcPct val="0"/>
              </a:spcAft>
              <a:defRPr sz="2400" i="1">
                <a:solidFill>
                  <a:schemeClr val="tx1"/>
                </a:solidFill>
                <a:latin typeface="Arial" charset="0"/>
              </a:defRPr>
            </a:lvl8pPr>
            <a:lvl9pPr marL="3886200" indent="-228600" defTabSz="931863" eaLnBrk="0" fontAlgn="base" hangingPunct="0">
              <a:spcBef>
                <a:spcPct val="0"/>
              </a:spcBef>
              <a:spcAft>
                <a:spcPct val="0"/>
              </a:spcAft>
              <a:defRPr sz="2400" i="1">
                <a:solidFill>
                  <a:schemeClr val="tx1"/>
                </a:solidFill>
                <a:latin typeface="Arial" charset="0"/>
              </a:defRPr>
            </a:lvl9pPr>
          </a:lstStyle>
          <a:p>
            <a:pPr algn="r" eaLnBrk="1" hangingPunct="1"/>
            <a:fld id="{BFE37FC8-3CD8-48F9-910B-92A91A1E08D7}" type="slidenum">
              <a:rPr lang="en-US" altLang="en-US" sz="1200">
                <a:cs typeface="Arial" charset="0"/>
              </a:rPr>
              <a:pPr algn="r" eaLnBrk="1" hangingPunct="1"/>
              <a:t>37</a:t>
            </a:fld>
            <a:endParaRPr lang="en-US" altLang="en-US" sz="1200" dirty="0">
              <a:cs typeface="Arial" charset="0"/>
            </a:endParaRPr>
          </a:p>
        </p:txBody>
      </p:sp>
      <p:sp>
        <p:nvSpPr>
          <p:cNvPr id="39940" name="Rectangle 2"/>
          <p:cNvSpPr>
            <a:spLocks noGrp="1" noRot="1" noChangeAspect="1" noChangeArrowheads="1" noTextEdit="1"/>
          </p:cNvSpPr>
          <p:nvPr>
            <p:ph type="sldImg"/>
          </p:nvPr>
        </p:nvSpPr>
        <p:spPr>
          <a:xfrm>
            <a:off x="1150938" y="692150"/>
            <a:ext cx="4556125" cy="3416300"/>
          </a:xfrm>
          <a:ln/>
        </p:spPr>
      </p:sp>
      <p:sp>
        <p:nvSpPr>
          <p:cNvPr id="39941"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smtClean="0"/>
          </a:p>
        </p:txBody>
      </p:sp>
    </p:spTree>
    <p:extLst>
      <p:ext uri="{BB962C8B-B14F-4D97-AF65-F5344CB8AC3E}">
        <p14:creationId xmlns:p14="http://schemas.microsoft.com/office/powerpoint/2010/main" val="30306847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txBox="1">
            <a:spLocks noGrp="1" noChangeArrowheads="1"/>
          </p:cNvSpP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5" tIns="45718" rIns="91435" bIns="45718"/>
          <a:lstStyle>
            <a:lvl1pPr defTabSz="931863">
              <a:defRPr sz="2400" i="1">
                <a:solidFill>
                  <a:schemeClr val="tx1"/>
                </a:solidFill>
                <a:latin typeface="Arial" charset="0"/>
              </a:defRPr>
            </a:lvl1pPr>
            <a:lvl2pPr marL="742950" indent="-285750" defTabSz="931863">
              <a:defRPr sz="2400" i="1">
                <a:solidFill>
                  <a:schemeClr val="tx1"/>
                </a:solidFill>
                <a:latin typeface="Arial" charset="0"/>
              </a:defRPr>
            </a:lvl2pPr>
            <a:lvl3pPr marL="1143000" indent="-228600" defTabSz="931863">
              <a:defRPr sz="2400" i="1">
                <a:solidFill>
                  <a:schemeClr val="tx1"/>
                </a:solidFill>
                <a:latin typeface="Arial" charset="0"/>
              </a:defRPr>
            </a:lvl3pPr>
            <a:lvl4pPr marL="1600200" indent="-228600" defTabSz="931863">
              <a:defRPr sz="2400" i="1">
                <a:solidFill>
                  <a:schemeClr val="tx1"/>
                </a:solidFill>
                <a:latin typeface="Arial" charset="0"/>
              </a:defRPr>
            </a:lvl4pPr>
            <a:lvl5pPr marL="2057400" indent="-228600" defTabSz="931863">
              <a:defRPr sz="2400" i="1">
                <a:solidFill>
                  <a:schemeClr val="tx1"/>
                </a:solidFill>
                <a:latin typeface="Arial" charset="0"/>
              </a:defRPr>
            </a:lvl5pPr>
            <a:lvl6pPr marL="2514600" indent="-228600" defTabSz="931863" eaLnBrk="0" fontAlgn="base" hangingPunct="0">
              <a:spcBef>
                <a:spcPct val="0"/>
              </a:spcBef>
              <a:spcAft>
                <a:spcPct val="0"/>
              </a:spcAft>
              <a:defRPr sz="2400" i="1">
                <a:solidFill>
                  <a:schemeClr val="tx1"/>
                </a:solidFill>
                <a:latin typeface="Arial" charset="0"/>
              </a:defRPr>
            </a:lvl6pPr>
            <a:lvl7pPr marL="2971800" indent="-228600" defTabSz="931863" eaLnBrk="0" fontAlgn="base" hangingPunct="0">
              <a:spcBef>
                <a:spcPct val="0"/>
              </a:spcBef>
              <a:spcAft>
                <a:spcPct val="0"/>
              </a:spcAft>
              <a:defRPr sz="2400" i="1">
                <a:solidFill>
                  <a:schemeClr val="tx1"/>
                </a:solidFill>
                <a:latin typeface="Arial" charset="0"/>
              </a:defRPr>
            </a:lvl7pPr>
            <a:lvl8pPr marL="3429000" indent="-228600" defTabSz="931863" eaLnBrk="0" fontAlgn="base" hangingPunct="0">
              <a:spcBef>
                <a:spcPct val="0"/>
              </a:spcBef>
              <a:spcAft>
                <a:spcPct val="0"/>
              </a:spcAft>
              <a:defRPr sz="2400" i="1">
                <a:solidFill>
                  <a:schemeClr val="tx1"/>
                </a:solidFill>
                <a:latin typeface="Arial" charset="0"/>
              </a:defRPr>
            </a:lvl8pPr>
            <a:lvl9pPr marL="3886200" indent="-228600" defTabSz="931863" eaLnBrk="0" fontAlgn="base" hangingPunct="0">
              <a:spcBef>
                <a:spcPct val="0"/>
              </a:spcBef>
              <a:spcAft>
                <a:spcPct val="0"/>
              </a:spcAft>
              <a:defRPr sz="2400" i="1">
                <a:solidFill>
                  <a:schemeClr val="tx1"/>
                </a:solidFill>
                <a:latin typeface="Arial" charset="0"/>
              </a:defRPr>
            </a:lvl9pPr>
          </a:lstStyle>
          <a:p>
            <a:pPr eaLnBrk="1" hangingPunct="1"/>
            <a:r>
              <a:rPr lang="en-US" altLang="en-US" sz="1200" dirty="0">
                <a:cs typeface="Arial" charset="0"/>
              </a:rPr>
              <a:t>QTM1310/ Sharpe</a:t>
            </a:r>
          </a:p>
        </p:txBody>
      </p:sp>
      <p:sp>
        <p:nvSpPr>
          <p:cNvPr id="40963"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5" tIns="45718" rIns="91435" bIns="45718" anchor="b"/>
          <a:lstStyle>
            <a:lvl1pPr defTabSz="931863">
              <a:defRPr sz="2400" i="1">
                <a:solidFill>
                  <a:schemeClr val="tx1"/>
                </a:solidFill>
                <a:latin typeface="Arial" charset="0"/>
              </a:defRPr>
            </a:lvl1pPr>
            <a:lvl2pPr marL="742950" indent="-285750" defTabSz="931863">
              <a:defRPr sz="2400" i="1">
                <a:solidFill>
                  <a:schemeClr val="tx1"/>
                </a:solidFill>
                <a:latin typeface="Arial" charset="0"/>
              </a:defRPr>
            </a:lvl2pPr>
            <a:lvl3pPr marL="1143000" indent="-228600" defTabSz="931863">
              <a:defRPr sz="2400" i="1">
                <a:solidFill>
                  <a:schemeClr val="tx1"/>
                </a:solidFill>
                <a:latin typeface="Arial" charset="0"/>
              </a:defRPr>
            </a:lvl3pPr>
            <a:lvl4pPr marL="1600200" indent="-228600" defTabSz="931863">
              <a:defRPr sz="2400" i="1">
                <a:solidFill>
                  <a:schemeClr val="tx1"/>
                </a:solidFill>
                <a:latin typeface="Arial" charset="0"/>
              </a:defRPr>
            </a:lvl4pPr>
            <a:lvl5pPr marL="2057400" indent="-228600" defTabSz="931863">
              <a:defRPr sz="2400" i="1">
                <a:solidFill>
                  <a:schemeClr val="tx1"/>
                </a:solidFill>
                <a:latin typeface="Arial" charset="0"/>
              </a:defRPr>
            </a:lvl5pPr>
            <a:lvl6pPr marL="2514600" indent="-228600" defTabSz="931863" eaLnBrk="0" fontAlgn="base" hangingPunct="0">
              <a:spcBef>
                <a:spcPct val="0"/>
              </a:spcBef>
              <a:spcAft>
                <a:spcPct val="0"/>
              </a:spcAft>
              <a:defRPr sz="2400" i="1">
                <a:solidFill>
                  <a:schemeClr val="tx1"/>
                </a:solidFill>
                <a:latin typeface="Arial" charset="0"/>
              </a:defRPr>
            </a:lvl6pPr>
            <a:lvl7pPr marL="2971800" indent="-228600" defTabSz="931863" eaLnBrk="0" fontAlgn="base" hangingPunct="0">
              <a:spcBef>
                <a:spcPct val="0"/>
              </a:spcBef>
              <a:spcAft>
                <a:spcPct val="0"/>
              </a:spcAft>
              <a:defRPr sz="2400" i="1">
                <a:solidFill>
                  <a:schemeClr val="tx1"/>
                </a:solidFill>
                <a:latin typeface="Arial" charset="0"/>
              </a:defRPr>
            </a:lvl7pPr>
            <a:lvl8pPr marL="3429000" indent="-228600" defTabSz="931863" eaLnBrk="0" fontAlgn="base" hangingPunct="0">
              <a:spcBef>
                <a:spcPct val="0"/>
              </a:spcBef>
              <a:spcAft>
                <a:spcPct val="0"/>
              </a:spcAft>
              <a:defRPr sz="2400" i="1">
                <a:solidFill>
                  <a:schemeClr val="tx1"/>
                </a:solidFill>
                <a:latin typeface="Arial" charset="0"/>
              </a:defRPr>
            </a:lvl8pPr>
            <a:lvl9pPr marL="3886200" indent="-228600" defTabSz="931863" eaLnBrk="0" fontAlgn="base" hangingPunct="0">
              <a:spcBef>
                <a:spcPct val="0"/>
              </a:spcBef>
              <a:spcAft>
                <a:spcPct val="0"/>
              </a:spcAft>
              <a:defRPr sz="2400" i="1">
                <a:solidFill>
                  <a:schemeClr val="tx1"/>
                </a:solidFill>
                <a:latin typeface="Arial" charset="0"/>
              </a:defRPr>
            </a:lvl9pPr>
          </a:lstStyle>
          <a:p>
            <a:pPr algn="r" eaLnBrk="1" hangingPunct="1"/>
            <a:fld id="{B370BC74-FD74-4DCA-A8A2-355B5398AF0E}" type="slidenum">
              <a:rPr lang="en-US" altLang="en-US" sz="1200">
                <a:cs typeface="Arial" charset="0"/>
              </a:rPr>
              <a:pPr algn="r" eaLnBrk="1" hangingPunct="1"/>
              <a:t>38</a:t>
            </a:fld>
            <a:endParaRPr lang="en-US" altLang="en-US" sz="1200" dirty="0">
              <a:cs typeface="Arial" charset="0"/>
            </a:endParaRPr>
          </a:p>
        </p:txBody>
      </p:sp>
      <p:sp>
        <p:nvSpPr>
          <p:cNvPr id="40964" name="Rectangle 2"/>
          <p:cNvSpPr>
            <a:spLocks noGrp="1" noRot="1" noChangeAspect="1" noChangeArrowheads="1" noTextEdit="1"/>
          </p:cNvSpPr>
          <p:nvPr>
            <p:ph type="sldImg"/>
          </p:nvPr>
        </p:nvSpPr>
        <p:spPr>
          <a:xfrm>
            <a:off x="1150938" y="692150"/>
            <a:ext cx="4556125" cy="3416300"/>
          </a:xfrm>
          <a:ln/>
        </p:spPr>
      </p:sp>
      <p:sp>
        <p:nvSpPr>
          <p:cNvPr id="40965"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smtClean="0"/>
          </a:p>
        </p:txBody>
      </p:sp>
    </p:spTree>
    <p:extLst>
      <p:ext uri="{BB962C8B-B14F-4D97-AF65-F5344CB8AC3E}">
        <p14:creationId xmlns:p14="http://schemas.microsoft.com/office/powerpoint/2010/main" val="11080597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7F21FD31-B483-4D99-962E-CCBCB26F3C36}"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1051642298"/>
      </p:ext>
    </p:extLst>
  </p:cSld>
  <p:clrMapOvr>
    <a:masterClrMapping/>
  </p:clrMapOvr>
  <p:transition spd="slow">
    <p:pull dir="l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3A388006-8DF5-481F-A848-BA0F2BDCDF89}"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3171415324"/>
      </p:ext>
    </p:extLst>
  </p:cSld>
  <p:clrMapOvr>
    <a:masterClrMapping/>
  </p:clrMapOvr>
  <p:transition spd="slow">
    <p:pull dir="l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5CA22006-DB74-4386-8575-D8FA168DC2B4}"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2253748662"/>
      </p:ext>
    </p:extLst>
  </p:cSld>
  <p:clrMapOvr>
    <a:masterClrMapping/>
  </p:clrMapOvr>
  <p:transition spd="slow">
    <p:pull dir="l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A9128093-9029-4CA5-8B4D-1404ACF6B367}"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967712718"/>
      </p:ext>
    </p:extLst>
  </p:cSld>
  <p:clrMapOvr>
    <a:masterClrMapping/>
  </p:clrMapOvr>
  <p:transition spd="slow">
    <p:pull dir="l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8"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9" name="Rectangle 6"/>
          <p:cNvSpPr>
            <a:spLocks noGrp="1" noChangeArrowheads="1"/>
          </p:cNvSpPr>
          <p:nvPr>
            <p:ph type="sldNum" sz="quarter" idx="12"/>
          </p:nvPr>
        </p:nvSpPr>
        <p:spPr>
          <a:ln/>
        </p:spPr>
        <p:txBody>
          <a:bodyPr/>
          <a:lstStyle>
            <a:lvl1pPr>
              <a:defRPr/>
            </a:lvl1pPr>
          </a:lstStyle>
          <a:p>
            <a:pPr>
              <a:defRPr/>
            </a:pPr>
            <a:fld id="{1192BED7-0B39-4409-B4E6-945270009015}"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1595898714"/>
      </p:ext>
    </p:extLst>
  </p:cSld>
  <p:clrMapOvr>
    <a:masterClrMapping/>
  </p:clrMapOvr>
  <p:transition spd="slow">
    <p:pull dir="l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5" name="Rectangle 6"/>
          <p:cNvSpPr>
            <a:spLocks noGrp="1" noChangeArrowheads="1"/>
          </p:cNvSpPr>
          <p:nvPr>
            <p:ph type="sldNum" sz="quarter" idx="12"/>
          </p:nvPr>
        </p:nvSpPr>
        <p:spPr>
          <a:ln/>
        </p:spPr>
        <p:txBody>
          <a:bodyPr/>
          <a:lstStyle>
            <a:lvl1pPr>
              <a:defRPr/>
            </a:lvl1pPr>
          </a:lstStyle>
          <a:p>
            <a:pPr>
              <a:defRPr/>
            </a:pPr>
            <a:fld id="{ADCA48D3-6C72-432F-AA22-95E4F0AE7D7E}"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2097058922"/>
      </p:ext>
    </p:extLst>
  </p:cSld>
  <p:clrMapOvr>
    <a:masterClrMapping/>
  </p:clrMapOvr>
  <p:transition spd="slow">
    <p:pull dir="l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3"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4" name="Rectangle 6"/>
          <p:cNvSpPr>
            <a:spLocks noGrp="1" noChangeArrowheads="1"/>
          </p:cNvSpPr>
          <p:nvPr>
            <p:ph type="sldNum" sz="quarter" idx="12"/>
          </p:nvPr>
        </p:nvSpPr>
        <p:spPr>
          <a:ln/>
        </p:spPr>
        <p:txBody>
          <a:bodyPr/>
          <a:lstStyle>
            <a:lvl1pPr>
              <a:defRPr/>
            </a:lvl1pPr>
          </a:lstStyle>
          <a:p>
            <a:pPr>
              <a:defRPr/>
            </a:pPr>
            <a:fld id="{A2DB7805-3D60-49F3-949C-2ADF6FF63FDE}"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4105026313"/>
      </p:ext>
    </p:extLst>
  </p:cSld>
  <p:clrMapOvr>
    <a:masterClrMapping/>
  </p:clrMapOvr>
  <p:transition spd="slow">
    <p:pull dir="l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CFE93B1A-F5D0-4127-8C85-4AAF3D5F8B3B}"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2994436400"/>
      </p:ext>
    </p:extLst>
  </p:cSld>
  <p:clrMapOvr>
    <a:masterClrMapping/>
  </p:clrMapOvr>
  <p:transition spd="slow">
    <p:pull dir="l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A574A659-A7BF-4804-A05D-A4DD10458E9D}"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390921532"/>
      </p:ext>
    </p:extLst>
  </p:cSld>
  <p:clrMapOvr>
    <a:masterClrMapping/>
  </p:clrMapOvr>
  <p:transition spd="slow">
    <p:pull dir="lu"/>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01871745-014F-46DF-AFCD-E8428ABD3228}"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2979185412"/>
      </p:ext>
    </p:extLst>
  </p:cSld>
  <p:clrMapOvr>
    <a:masterClrMapping/>
  </p:clrMapOvr>
  <p:transition spd="slow">
    <p:pull dir="lu"/>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29699AFF-D5B3-41F7-8E88-643E8A019F5D}"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561984537"/>
      </p:ext>
    </p:extLst>
  </p:cSld>
  <p:clrMapOvr>
    <a:masterClrMapping/>
  </p:clrMapOvr>
  <p:transition spd="slow">
    <p:pull dir="lu"/>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685800"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19369BC0-6B1E-4187-A810-BF4E9D63156B}"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2178608759"/>
      </p:ext>
    </p:extLst>
  </p:cSld>
  <p:clrMapOvr>
    <a:masterClrMapping/>
  </p:clrMapOvr>
  <p:transition spd="slow">
    <p:pull dir="lu"/>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685800" y="1981200"/>
            <a:ext cx="7772400" cy="4114800"/>
          </a:xfrm>
        </p:spPr>
        <p:txBody>
          <a:bodyPr/>
          <a:lstStyle/>
          <a:p>
            <a:pPr lvl="0"/>
            <a:endParaRPr lang="en-US" noProof="0"/>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60EA47CF-7AD8-425C-95F1-070E21FB7F0A}"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3550138006"/>
      </p:ext>
    </p:extLst>
  </p:cSld>
  <p:clrMapOvr>
    <a:masterClrMapping/>
  </p:clrMapOvr>
  <p:transition spd="slow">
    <p:pull dir="lu"/>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685800"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648200" y="1981200"/>
            <a:ext cx="3810000" cy="1981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4648200" y="4114800"/>
            <a:ext cx="3810000" cy="1981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7"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8" name="Rectangle 6"/>
          <p:cNvSpPr>
            <a:spLocks noGrp="1" noChangeArrowheads="1"/>
          </p:cNvSpPr>
          <p:nvPr>
            <p:ph type="sldNum" sz="quarter" idx="12"/>
          </p:nvPr>
        </p:nvSpPr>
        <p:spPr>
          <a:ln/>
        </p:spPr>
        <p:txBody>
          <a:bodyPr/>
          <a:lstStyle>
            <a:lvl1pPr>
              <a:defRPr/>
            </a:lvl1pPr>
          </a:lstStyle>
          <a:p>
            <a:pPr>
              <a:defRPr/>
            </a:pPr>
            <a:fld id="{B2204B0E-C54B-4CF7-9FCD-8082EA581469}"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16440078"/>
      </p:ext>
    </p:extLst>
  </p:cSld>
  <p:clrMapOvr>
    <a:masterClrMapping/>
  </p:clrMapOvr>
  <p:transition spd="slow">
    <p:pull dir="lu"/>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chart">
  <p:cSld name="Title and Char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smtClean="0"/>
              <a:t>Click to edit Master title style</a:t>
            </a:r>
            <a:endParaRPr lang="en-US"/>
          </a:p>
        </p:txBody>
      </p:sp>
      <p:sp>
        <p:nvSpPr>
          <p:cNvPr id="3" name="Chart Placeholder 2"/>
          <p:cNvSpPr>
            <a:spLocks noGrp="1"/>
          </p:cNvSpPr>
          <p:nvPr>
            <p:ph type="chart" idx="1"/>
          </p:nvPr>
        </p:nvSpPr>
        <p:spPr>
          <a:xfrm>
            <a:off x="685800" y="1981200"/>
            <a:ext cx="7772400" cy="4114800"/>
          </a:xfrm>
        </p:spPr>
        <p:txBody>
          <a:bodyPr/>
          <a:lstStyle/>
          <a:p>
            <a:pPr lvl="0"/>
            <a:endParaRPr lang="en-US" noProof="0" smtClean="0"/>
          </a:p>
        </p:txBody>
      </p:sp>
    </p:spTree>
    <p:extLst>
      <p:ext uri="{BB962C8B-B14F-4D97-AF65-F5344CB8AC3E}">
        <p14:creationId xmlns:p14="http://schemas.microsoft.com/office/powerpoint/2010/main" val="44577090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7F21FD31-B483-4D99-962E-CCBCB26F3C36}"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3205686265"/>
      </p:ext>
    </p:extLst>
  </p:cSld>
  <p:clrMapOvr>
    <a:masterClrMapping/>
  </p:clrMapOvr>
  <p:transition spd="slow">
    <p:pull dir="lu"/>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3A388006-8DF5-481F-A848-BA0F2BDCDF89}"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2881714250"/>
      </p:ext>
    </p:extLst>
  </p:cSld>
  <p:clrMapOvr>
    <a:masterClrMapping/>
  </p:clrMapOvr>
  <p:transition spd="slow">
    <p:pull dir="lu"/>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5CA22006-DB74-4386-8575-D8FA168DC2B4}"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2136749864"/>
      </p:ext>
    </p:extLst>
  </p:cSld>
  <p:clrMapOvr>
    <a:masterClrMapping/>
  </p:clrMapOvr>
  <p:transition spd="slow">
    <p:pull dir="lu"/>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A9128093-9029-4CA5-8B4D-1404ACF6B367}"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982360753"/>
      </p:ext>
    </p:extLst>
  </p:cSld>
  <p:clrMapOvr>
    <a:masterClrMapping/>
  </p:clrMapOvr>
  <p:transition spd="slow">
    <p:pull dir="lu"/>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8"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9" name="Rectangle 6"/>
          <p:cNvSpPr>
            <a:spLocks noGrp="1" noChangeArrowheads="1"/>
          </p:cNvSpPr>
          <p:nvPr>
            <p:ph type="sldNum" sz="quarter" idx="12"/>
          </p:nvPr>
        </p:nvSpPr>
        <p:spPr>
          <a:ln/>
        </p:spPr>
        <p:txBody>
          <a:bodyPr/>
          <a:lstStyle>
            <a:lvl1pPr>
              <a:defRPr/>
            </a:lvl1pPr>
          </a:lstStyle>
          <a:p>
            <a:pPr>
              <a:defRPr/>
            </a:pPr>
            <a:fld id="{1192BED7-0B39-4409-B4E6-945270009015}"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111734809"/>
      </p:ext>
    </p:extLst>
  </p:cSld>
  <p:clrMapOvr>
    <a:masterClrMapping/>
  </p:clrMapOvr>
  <p:transition spd="slow">
    <p:pull dir="lu"/>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5" name="Rectangle 6"/>
          <p:cNvSpPr>
            <a:spLocks noGrp="1" noChangeArrowheads="1"/>
          </p:cNvSpPr>
          <p:nvPr>
            <p:ph type="sldNum" sz="quarter" idx="12"/>
          </p:nvPr>
        </p:nvSpPr>
        <p:spPr>
          <a:ln/>
        </p:spPr>
        <p:txBody>
          <a:bodyPr/>
          <a:lstStyle>
            <a:lvl1pPr>
              <a:defRPr/>
            </a:lvl1pPr>
          </a:lstStyle>
          <a:p>
            <a:pPr>
              <a:defRPr/>
            </a:pPr>
            <a:fld id="{ADCA48D3-6C72-432F-AA22-95E4F0AE7D7E}"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769266182"/>
      </p:ext>
    </p:extLst>
  </p:cSld>
  <p:clrMapOvr>
    <a:masterClrMapping/>
  </p:clrMapOvr>
  <p:transition spd="slow">
    <p:pull dir="lu"/>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3"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4" name="Rectangle 6"/>
          <p:cNvSpPr>
            <a:spLocks noGrp="1" noChangeArrowheads="1"/>
          </p:cNvSpPr>
          <p:nvPr>
            <p:ph type="sldNum" sz="quarter" idx="12"/>
          </p:nvPr>
        </p:nvSpPr>
        <p:spPr>
          <a:ln/>
        </p:spPr>
        <p:txBody>
          <a:bodyPr/>
          <a:lstStyle>
            <a:lvl1pPr>
              <a:defRPr/>
            </a:lvl1pPr>
          </a:lstStyle>
          <a:p>
            <a:pPr>
              <a:defRPr/>
            </a:pPr>
            <a:fld id="{A2DB7805-3D60-49F3-949C-2ADF6FF63FDE}"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463783735"/>
      </p:ext>
    </p:extLst>
  </p:cSld>
  <p:clrMapOvr>
    <a:masterClrMapping/>
  </p:clrMapOvr>
  <p:transition spd="slow">
    <p:pull dir="lu"/>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CFE93B1A-F5D0-4127-8C85-4AAF3D5F8B3B}"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15315712"/>
      </p:ext>
    </p:extLst>
  </p:cSld>
  <p:clrMapOvr>
    <a:masterClrMapping/>
  </p:clrMapOvr>
  <p:transition spd="slow">
    <p:pull dir="lu"/>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A574A659-A7BF-4804-A05D-A4DD10458E9D}"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204215839"/>
      </p:ext>
    </p:extLst>
  </p:cSld>
  <p:clrMapOvr>
    <a:masterClrMapping/>
  </p:clrMapOvr>
  <p:transition spd="slow">
    <p:pull dir="lu"/>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01871745-014F-46DF-AFCD-E8428ABD3228}"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2211941716"/>
      </p:ext>
    </p:extLst>
  </p:cSld>
  <p:clrMapOvr>
    <a:masterClrMapping/>
  </p:clrMapOvr>
  <p:transition spd="slow">
    <p:pull dir="lu"/>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29699AFF-D5B3-41F7-8E88-643E8A019F5D}"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2615016709"/>
      </p:ext>
    </p:extLst>
  </p:cSld>
  <p:clrMapOvr>
    <a:masterClrMapping/>
  </p:clrMapOvr>
  <p:transition spd="slow">
    <p:pull dir="lu"/>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685800"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19369BC0-6B1E-4187-A810-BF4E9D63156B}"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1563983783"/>
      </p:ext>
    </p:extLst>
  </p:cSld>
  <p:clrMapOvr>
    <a:masterClrMapping/>
  </p:clrMapOvr>
  <p:transition spd="slow">
    <p:pull dir="lu"/>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685800" y="1981200"/>
            <a:ext cx="7772400" cy="4114800"/>
          </a:xfrm>
        </p:spPr>
        <p:txBody>
          <a:bodyPr/>
          <a:lstStyle/>
          <a:p>
            <a:pPr lvl="0"/>
            <a:endParaRPr lang="en-US" noProof="0"/>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60EA47CF-7AD8-425C-95F1-070E21FB7F0A}"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1507998579"/>
      </p:ext>
    </p:extLst>
  </p:cSld>
  <p:clrMapOvr>
    <a:masterClrMapping/>
  </p:clrMapOvr>
  <p:transition spd="slow">
    <p:pull dir="lu"/>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685800"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648200" y="1981200"/>
            <a:ext cx="3810000" cy="1981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4648200" y="4114800"/>
            <a:ext cx="3810000" cy="1981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7"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8" name="Rectangle 6"/>
          <p:cNvSpPr>
            <a:spLocks noGrp="1" noChangeArrowheads="1"/>
          </p:cNvSpPr>
          <p:nvPr>
            <p:ph type="sldNum" sz="quarter" idx="12"/>
          </p:nvPr>
        </p:nvSpPr>
        <p:spPr>
          <a:ln/>
        </p:spPr>
        <p:txBody>
          <a:bodyPr/>
          <a:lstStyle>
            <a:lvl1pPr>
              <a:defRPr/>
            </a:lvl1pPr>
          </a:lstStyle>
          <a:p>
            <a:pPr>
              <a:defRPr/>
            </a:pPr>
            <a:fld id="{B2204B0E-C54B-4CF7-9FCD-8082EA581469}"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1013354757"/>
      </p:ext>
    </p:extLst>
  </p:cSld>
  <p:clrMapOvr>
    <a:masterClrMapping/>
  </p:clrMapOvr>
  <p:transition spd="slow">
    <p:pull dir="lu"/>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7F21FD31-B483-4D99-962E-CCBCB26F3C36}"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2176579421"/>
      </p:ext>
    </p:extLst>
  </p:cSld>
  <p:clrMapOvr>
    <a:masterClrMapping/>
  </p:clrMapOvr>
  <p:transition spd="slow">
    <p:pull dir="lu"/>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3A388006-8DF5-481F-A848-BA0F2BDCDF89}"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1340815102"/>
      </p:ext>
    </p:extLst>
  </p:cSld>
  <p:clrMapOvr>
    <a:masterClrMapping/>
  </p:clrMapOvr>
  <p:transition spd="slow">
    <p:pull dir="lu"/>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5CA22006-DB74-4386-8575-D8FA168DC2B4}"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2704096842"/>
      </p:ext>
    </p:extLst>
  </p:cSld>
  <p:clrMapOvr>
    <a:masterClrMapping/>
  </p:clrMapOvr>
  <p:transition spd="slow">
    <p:pull dir="lu"/>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A9128093-9029-4CA5-8B4D-1404ACF6B367}"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1868013751"/>
      </p:ext>
    </p:extLst>
  </p:cSld>
  <p:clrMapOvr>
    <a:masterClrMapping/>
  </p:clrMapOvr>
  <p:transition spd="slow">
    <p:pull dir="lu"/>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8"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9" name="Rectangle 6"/>
          <p:cNvSpPr>
            <a:spLocks noGrp="1" noChangeArrowheads="1"/>
          </p:cNvSpPr>
          <p:nvPr>
            <p:ph type="sldNum" sz="quarter" idx="12"/>
          </p:nvPr>
        </p:nvSpPr>
        <p:spPr>
          <a:ln/>
        </p:spPr>
        <p:txBody>
          <a:bodyPr/>
          <a:lstStyle>
            <a:lvl1pPr>
              <a:defRPr/>
            </a:lvl1pPr>
          </a:lstStyle>
          <a:p>
            <a:pPr>
              <a:defRPr/>
            </a:pPr>
            <a:fld id="{1192BED7-0B39-4409-B4E6-945270009015}"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2199475832"/>
      </p:ext>
    </p:extLst>
  </p:cSld>
  <p:clrMapOvr>
    <a:masterClrMapping/>
  </p:clrMapOvr>
  <p:transition spd="slow">
    <p:pull dir="lu"/>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5" name="Rectangle 6"/>
          <p:cNvSpPr>
            <a:spLocks noGrp="1" noChangeArrowheads="1"/>
          </p:cNvSpPr>
          <p:nvPr>
            <p:ph type="sldNum" sz="quarter" idx="12"/>
          </p:nvPr>
        </p:nvSpPr>
        <p:spPr>
          <a:ln/>
        </p:spPr>
        <p:txBody>
          <a:bodyPr/>
          <a:lstStyle>
            <a:lvl1pPr>
              <a:defRPr/>
            </a:lvl1pPr>
          </a:lstStyle>
          <a:p>
            <a:pPr>
              <a:defRPr/>
            </a:pPr>
            <a:fld id="{ADCA48D3-6C72-432F-AA22-95E4F0AE7D7E}"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320329249"/>
      </p:ext>
    </p:extLst>
  </p:cSld>
  <p:clrMapOvr>
    <a:masterClrMapping/>
  </p:clrMapOvr>
  <p:transition spd="slow">
    <p:pull dir="lu"/>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3"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4" name="Rectangle 6"/>
          <p:cNvSpPr>
            <a:spLocks noGrp="1" noChangeArrowheads="1"/>
          </p:cNvSpPr>
          <p:nvPr>
            <p:ph type="sldNum" sz="quarter" idx="12"/>
          </p:nvPr>
        </p:nvSpPr>
        <p:spPr>
          <a:ln/>
        </p:spPr>
        <p:txBody>
          <a:bodyPr/>
          <a:lstStyle>
            <a:lvl1pPr>
              <a:defRPr/>
            </a:lvl1pPr>
          </a:lstStyle>
          <a:p>
            <a:pPr>
              <a:defRPr/>
            </a:pPr>
            <a:fld id="{A2DB7805-3D60-49F3-949C-2ADF6FF63FDE}"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2899779375"/>
      </p:ext>
    </p:extLst>
  </p:cSld>
  <p:clrMapOvr>
    <a:masterClrMapping/>
  </p:clrMapOvr>
  <p:transition spd="slow">
    <p:pull dir="lu"/>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CFE93B1A-F5D0-4127-8C85-4AAF3D5F8B3B}"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1509847792"/>
      </p:ext>
    </p:extLst>
  </p:cSld>
  <p:clrMapOvr>
    <a:masterClrMapping/>
  </p:clrMapOvr>
  <p:transition spd="slow">
    <p:pull dir="lu"/>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A574A659-A7BF-4804-A05D-A4DD10458E9D}"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1691550730"/>
      </p:ext>
    </p:extLst>
  </p:cSld>
  <p:clrMapOvr>
    <a:masterClrMapping/>
  </p:clrMapOvr>
  <p:transition spd="slow">
    <p:pull dir="lu"/>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01871745-014F-46DF-AFCD-E8428ABD3228}"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1567426016"/>
      </p:ext>
    </p:extLst>
  </p:cSld>
  <p:clrMapOvr>
    <a:masterClrMapping/>
  </p:clrMapOvr>
  <p:transition spd="slow">
    <p:pull dir="lu"/>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29699AFF-D5B3-41F7-8E88-643E8A019F5D}"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303497250"/>
      </p:ext>
    </p:extLst>
  </p:cSld>
  <p:clrMapOvr>
    <a:masterClrMapping/>
  </p:clrMapOvr>
  <p:transition spd="slow">
    <p:pull dir="lu"/>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685800"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19369BC0-6B1E-4187-A810-BF4E9D63156B}"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2730997230"/>
      </p:ext>
    </p:extLst>
  </p:cSld>
  <p:clrMapOvr>
    <a:masterClrMapping/>
  </p:clrMapOvr>
  <p:transition spd="slow">
    <p:pull dir="lu"/>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685800" y="1981200"/>
            <a:ext cx="7772400" cy="4114800"/>
          </a:xfrm>
        </p:spPr>
        <p:txBody>
          <a:bodyPr/>
          <a:lstStyle/>
          <a:p>
            <a:pPr lvl="0"/>
            <a:endParaRPr lang="en-US" noProof="0"/>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60EA47CF-7AD8-425C-95F1-070E21FB7F0A}"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3936820958"/>
      </p:ext>
    </p:extLst>
  </p:cSld>
  <p:clrMapOvr>
    <a:masterClrMapping/>
  </p:clrMapOvr>
  <p:transition spd="slow">
    <p:pull dir="lu"/>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685800"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648200" y="1981200"/>
            <a:ext cx="3810000" cy="1981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4648200" y="4114800"/>
            <a:ext cx="3810000" cy="1981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7"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8" name="Rectangle 6"/>
          <p:cNvSpPr>
            <a:spLocks noGrp="1" noChangeArrowheads="1"/>
          </p:cNvSpPr>
          <p:nvPr>
            <p:ph type="sldNum" sz="quarter" idx="12"/>
          </p:nvPr>
        </p:nvSpPr>
        <p:spPr>
          <a:ln/>
        </p:spPr>
        <p:txBody>
          <a:bodyPr/>
          <a:lstStyle>
            <a:lvl1pPr>
              <a:defRPr/>
            </a:lvl1pPr>
          </a:lstStyle>
          <a:p>
            <a:pPr>
              <a:defRPr/>
            </a:pPr>
            <a:fld id="{B2204B0E-C54B-4CF7-9FCD-8082EA581469}"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563301501"/>
      </p:ext>
    </p:extLst>
  </p:cSld>
  <p:clrMapOvr>
    <a:masterClrMapping/>
  </p:clrMapOvr>
  <p:transition spd="slow">
    <p:pull dir="l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slideLayout" Target="../slideLayouts/slideLayout28.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slideLayout" Target="../slideLayouts/slideLayout27.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5" Type="http://schemas.openxmlformats.org/officeDocument/2006/relationships/theme" Target="../theme/theme2.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slideLayout" Target="../slideLayouts/slideLayout2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7.xml"/><Relationship Id="rId13" Type="http://schemas.openxmlformats.org/officeDocument/2006/relationships/slideLayout" Target="../slideLayouts/slideLayout42.xml"/><Relationship Id="rId3" Type="http://schemas.openxmlformats.org/officeDocument/2006/relationships/slideLayout" Target="../slideLayouts/slideLayout32.xml"/><Relationship Id="rId7" Type="http://schemas.openxmlformats.org/officeDocument/2006/relationships/slideLayout" Target="../slideLayouts/slideLayout36.xml"/><Relationship Id="rId12" Type="http://schemas.openxmlformats.org/officeDocument/2006/relationships/slideLayout" Target="../slideLayouts/slideLayout41.xml"/><Relationship Id="rId2" Type="http://schemas.openxmlformats.org/officeDocument/2006/relationships/slideLayout" Target="../slideLayouts/slideLayout31.xml"/><Relationship Id="rId1" Type="http://schemas.openxmlformats.org/officeDocument/2006/relationships/slideLayout" Target="../slideLayouts/slideLayout30.xml"/><Relationship Id="rId6" Type="http://schemas.openxmlformats.org/officeDocument/2006/relationships/slideLayout" Target="../slideLayouts/slideLayout35.xml"/><Relationship Id="rId11" Type="http://schemas.openxmlformats.org/officeDocument/2006/relationships/slideLayout" Target="../slideLayouts/slideLayout40.xml"/><Relationship Id="rId5" Type="http://schemas.openxmlformats.org/officeDocument/2006/relationships/slideLayout" Target="../slideLayouts/slideLayout34.xml"/><Relationship Id="rId15" Type="http://schemas.openxmlformats.org/officeDocument/2006/relationships/theme" Target="../theme/theme3.xml"/><Relationship Id="rId10" Type="http://schemas.openxmlformats.org/officeDocument/2006/relationships/slideLayout" Target="../slideLayouts/slideLayout39.xml"/><Relationship Id="rId4" Type="http://schemas.openxmlformats.org/officeDocument/2006/relationships/slideLayout" Target="../slideLayouts/slideLayout33.xml"/><Relationship Id="rId9" Type="http://schemas.openxmlformats.org/officeDocument/2006/relationships/slideLayout" Target="../slideLayouts/slideLayout38.xml"/><Relationship Id="rId14" Type="http://schemas.openxmlformats.org/officeDocument/2006/relationships/slideLayout" Target="../slideLayouts/slideLayout4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CCFF99"/>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eaLnBrk="0" hangingPunct="0">
              <a:defRPr sz="1400"/>
            </a:lvl1pPr>
          </a:lstStyle>
          <a:p>
            <a:pPr>
              <a:defRPr/>
            </a:pPr>
            <a:endParaRPr lang="en-US" i="0">
              <a:solidFill>
                <a:srgbClr val="000000"/>
              </a:solidFill>
              <a:latin typeface="Times New Roman" pitchFamily="18" charset="0"/>
            </a:endParaRPr>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lgn="ctr" eaLnBrk="0" hangingPunct="0">
              <a:defRPr sz="1400"/>
            </a:lvl1pPr>
          </a:lstStyle>
          <a:p>
            <a:pPr>
              <a:defRPr/>
            </a:pPr>
            <a:endParaRPr lang="en-US" i="0">
              <a:solidFill>
                <a:srgbClr val="000000"/>
              </a:solidFill>
              <a:latin typeface="Times New Roman" pitchFamily="18" charset="0"/>
            </a:endParaRPr>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lgn="r" eaLnBrk="0" hangingPunct="0">
              <a:defRPr sz="1400"/>
            </a:lvl1pPr>
          </a:lstStyle>
          <a:p>
            <a:pPr>
              <a:defRPr/>
            </a:pPr>
            <a:fld id="{DA2D3A02-DCBE-4BED-969D-B5A1FE8D99B7}" type="slidenum">
              <a:rPr lang="en-US" i="0">
                <a:solidFill>
                  <a:srgbClr val="000000"/>
                </a:solidFill>
                <a:latin typeface="Times New Roman" pitchFamily="18" charset="0"/>
              </a:rPr>
              <a:pPr>
                <a:defRPr/>
              </a:pPr>
              <a:t>‹#›</a:t>
            </a:fld>
            <a:endParaRPr lang="en-US" i="0">
              <a:solidFill>
                <a:srgbClr val="000000"/>
              </a:solidFill>
              <a:latin typeface="Times New Roman" pitchFamily="18" charset="0"/>
            </a:endParaRPr>
          </a:p>
        </p:txBody>
      </p:sp>
    </p:spTree>
    <p:extLst>
      <p:ext uri="{BB962C8B-B14F-4D97-AF65-F5344CB8AC3E}">
        <p14:creationId xmlns:p14="http://schemas.microsoft.com/office/powerpoint/2010/main" val="3733138921"/>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 id="2147483676" r:id="rId14"/>
    <p:sldLayoutId id="2147483692" r:id="rId15"/>
  </p:sldLayoutIdLst>
  <p:transition spd="slow">
    <p:pull dir="lu"/>
  </p:transition>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Comic Sans MS" pitchFamily="66" charset="0"/>
        </a:defRPr>
      </a:lvl2pPr>
      <a:lvl3pPr algn="ctr" rtl="0" eaLnBrk="0" fontAlgn="base" hangingPunct="0">
        <a:spcBef>
          <a:spcPct val="0"/>
        </a:spcBef>
        <a:spcAft>
          <a:spcPct val="0"/>
        </a:spcAft>
        <a:defRPr sz="4400">
          <a:solidFill>
            <a:schemeClr val="tx2"/>
          </a:solidFill>
          <a:latin typeface="Comic Sans MS" pitchFamily="66" charset="0"/>
        </a:defRPr>
      </a:lvl3pPr>
      <a:lvl4pPr algn="ctr" rtl="0" eaLnBrk="0" fontAlgn="base" hangingPunct="0">
        <a:spcBef>
          <a:spcPct val="0"/>
        </a:spcBef>
        <a:spcAft>
          <a:spcPct val="0"/>
        </a:spcAft>
        <a:defRPr sz="4400">
          <a:solidFill>
            <a:schemeClr val="tx2"/>
          </a:solidFill>
          <a:latin typeface="Comic Sans MS" pitchFamily="66" charset="0"/>
        </a:defRPr>
      </a:lvl4pPr>
      <a:lvl5pPr algn="ctr" rtl="0" eaLnBrk="0" fontAlgn="base" hangingPunct="0">
        <a:spcBef>
          <a:spcPct val="0"/>
        </a:spcBef>
        <a:spcAft>
          <a:spcPct val="0"/>
        </a:spcAft>
        <a:defRPr sz="4400">
          <a:solidFill>
            <a:schemeClr val="tx2"/>
          </a:solidFill>
          <a:latin typeface="Comic Sans MS" pitchFamily="66"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CCFF99"/>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eaLnBrk="0" hangingPunct="0">
              <a:defRPr sz="1400"/>
            </a:lvl1pPr>
          </a:lstStyle>
          <a:p>
            <a:pPr>
              <a:defRPr/>
            </a:pPr>
            <a:endParaRPr lang="en-US" i="0">
              <a:solidFill>
                <a:srgbClr val="000000"/>
              </a:solidFill>
              <a:latin typeface="Times New Roman" pitchFamily="18" charset="0"/>
            </a:endParaRPr>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lgn="ctr" eaLnBrk="0" hangingPunct="0">
              <a:defRPr sz="1400"/>
            </a:lvl1pPr>
          </a:lstStyle>
          <a:p>
            <a:pPr>
              <a:defRPr/>
            </a:pPr>
            <a:endParaRPr lang="en-US" i="0">
              <a:solidFill>
                <a:srgbClr val="000000"/>
              </a:solidFill>
              <a:latin typeface="Times New Roman" pitchFamily="18" charset="0"/>
            </a:endParaRPr>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lgn="r" eaLnBrk="0" hangingPunct="0">
              <a:defRPr sz="1400"/>
            </a:lvl1pPr>
          </a:lstStyle>
          <a:p>
            <a:pPr>
              <a:defRPr/>
            </a:pPr>
            <a:fld id="{DA2D3A02-DCBE-4BED-969D-B5A1FE8D99B7}" type="slidenum">
              <a:rPr lang="en-US" i="0">
                <a:solidFill>
                  <a:srgbClr val="000000"/>
                </a:solidFill>
                <a:latin typeface="Times New Roman" pitchFamily="18" charset="0"/>
              </a:rPr>
              <a:pPr>
                <a:defRPr/>
              </a:pPr>
              <a:t>‹#›</a:t>
            </a:fld>
            <a:endParaRPr lang="en-US" i="0">
              <a:solidFill>
                <a:srgbClr val="000000"/>
              </a:solidFill>
              <a:latin typeface="Times New Roman" pitchFamily="18" charset="0"/>
            </a:endParaRPr>
          </a:p>
        </p:txBody>
      </p:sp>
    </p:spTree>
    <p:extLst>
      <p:ext uri="{BB962C8B-B14F-4D97-AF65-F5344CB8AC3E}">
        <p14:creationId xmlns:p14="http://schemas.microsoft.com/office/powerpoint/2010/main" val="2115746393"/>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Lst>
  <p:transition spd="slow">
    <p:pull dir="lu"/>
  </p:transition>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Comic Sans MS" pitchFamily="66" charset="0"/>
        </a:defRPr>
      </a:lvl2pPr>
      <a:lvl3pPr algn="ctr" rtl="0" eaLnBrk="0" fontAlgn="base" hangingPunct="0">
        <a:spcBef>
          <a:spcPct val="0"/>
        </a:spcBef>
        <a:spcAft>
          <a:spcPct val="0"/>
        </a:spcAft>
        <a:defRPr sz="4400">
          <a:solidFill>
            <a:schemeClr val="tx2"/>
          </a:solidFill>
          <a:latin typeface="Comic Sans MS" pitchFamily="66" charset="0"/>
        </a:defRPr>
      </a:lvl3pPr>
      <a:lvl4pPr algn="ctr" rtl="0" eaLnBrk="0" fontAlgn="base" hangingPunct="0">
        <a:spcBef>
          <a:spcPct val="0"/>
        </a:spcBef>
        <a:spcAft>
          <a:spcPct val="0"/>
        </a:spcAft>
        <a:defRPr sz="4400">
          <a:solidFill>
            <a:schemeClr val="tx2"/>
          </a:solidFill>
          <a:latin typeface="Comic Sans MS" pitchFamily="66" charset="0"/>
        </a:defRPr>
      </a:lvl4pPr>
      <a:lvl5pPr algn="ctr" rtl="0" eaLnBrk="0" fontAlgn="base" hangingPunct="0">
        <a:spcBef>
          <a:spcPct val="0"/>
        </a:spcBef>
        <a:spcAft>
          <a:spcPct val="0"/>
        </a:spcAft>
        <a:defRPr sz="4400">
          <a:solidFill>
            <a:schemeClr val="tx2"/>
          </a:solidFill>
          <a:latin typeface="Comic Sans MS" pitchFamily="66"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D0FF71">
            <a:alpha val="61176"/>
          </a:srgbClr>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eaLnBrk="0" hangingPunct="0">
              <a:defRPr sz="1400"/>
            </a:lvl1pPr>
          </a:lstStyle>
          <a:p>
            <a:pPr>
              <a:defRPr/>
            </a:pPr>
            <a:endParaRPr lang="en-US" i="0">
              <a:solidFill>
                <a:srgbClr val="000000"/>
              </a:solidFill>
              <a:latin typeface="Times New Roman" pitchFamily="18" charset="0"/>
            </a:endParaRPr>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lgn="ctr" eaLnBrk="0" hangingPunct="0">
              <a:defRPr sz="1400"/>
            </a:lvl1pPr>
          </a:lstStyle>
          <a:p>
            <a:pPr>
              <a:defRPr/>
            </a:pPr>
            <a:endParaRPr lang="en-US" i="0">
              <a:solidFill>
                <a:srgbClr val="000000"/>
              </a:solidFill>
              <a:latin typeface="Times New Roman" pitchFamily="18" charset="0"/>
            </a:endParaRPr>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lgn="r" eaLnBrk="0" hangingPunct="0">
              <a:defRPr sz="1400"/>
            </a:lvl1pPr>
          </a:lstStyle>
          <a:p>
            <a:pPr>
              <a:defRPr/>
            </a:pPr>
            <a:fld id="{DA2D3A02-DCBE-4BED-969D-B5A1FE8D99B7}" type="slidenum">
              <a:rPr lang="en-US" i="0">
                <a:solidFill>
                  <a:srgbClr val="000000"/>
                </a:solidFill>
                <a:latin typeface="Times New Roman" pitchFamily="18" charset="0"/>
              </a:rPr>
              <a:pPr>
                <a:defRPr/>
              </a:pPr>
              <a:t>‹#›</a:t>
            </a:fld>
            <a:endParaRPr lang="en-US" i="0">
              <a:solidFill>
                <a:srgbClr val="000000"/>
              </a:solidFill>
              <a:latin typeface="Times New Roman" pitchFamily="18" charset="0"/>
            </a:endParaRPr>
          </a:p>
        </p:txBody>
      </p:sp>
    </p:spTree>
    <p:extLst>
      <p:ext uri="{BB962C8B-B14F-4D97-AF65-F5344CB8AC3E}">
        <p14:creationId xmlns:p14="http://schemas.microsoft.com/office/powerpoint/2010/main" val="4090223432"/>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9" r:id="rId6"/>
    <p:sldLayoutId id="2147483700" r:id="rId7"/>
    <p:sldLayoutId id="2147483701" r:id="rId8"/>
    <p:sldLayoutId id="2147483702" r:id="rId9"/>
    <p:sldLayoutId id="2147483703" r:id="rId10"/>
    <p:sldLayoutId id="2147483704" r:id="rId11"/>
    <p:sldLayoutId id="2147483705" r:id="rId12"/>
    <p:sldLayoutId id="2147483706" r:id="rId13"/>
    <p:sldLayoutId id="2147483707" r:id="rId14"/>
  </p:sldLayoutIdLst>
  <p:transition spd="slow">
    <p:pull dir="lu"/>
  </p:transition>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Comic Sans MS" pitchFamily="66" charset="0"/>
        </a:defRPr>
      </a:lvl2pPr>
      <a:lvl3pPr algn="ctr" rtl="0" eaLnBrk="0" fontAlgn="base" hangingPunct="0">
        <a:spcBef>
          <a:spcPct val="0"/>
        </a:spcBef>
        <a:spcAft>
          <a:spcPct val="0"/>
        </a:spcAft>
        <a:defRPr sz="4400">
          <a:solidFill>
            <a:schemeClr val="tx2"/>
          </a:solidFill>
          <a:latin typeface="Comic Sans MS" pitchFamily="66" charset="0"/>
        </a:defRPr>
      </a:lvl3pPr>
      <a:lvl4pPr algn="ctr" rtl="0" eaLnBrk="0" fontAlgn="base" hangingPunct="0">
        <a:spcBef>
          <a:spcPct val="0"/>
        </a:spcBef>
        <a:spcAft>
          <a:spcPct val="0"/>
        </a:spcAft>
        <a:defRPr sz="4400">
          <a:solidFill>
            <a:schemeClr val="tx2"/>
          </a:solidFill>
          <a:latin typeface="Comic Sans MS" pitchFamily="66" charset="0"/>
        </a:defRPr>
      </a:lvl4pPr>
      <a:lvl5pPr algn="ctr" rtl="0" eaLnBrk="0" fontAlgn="base" hangingPunct="0">
        <a:spcBef>
          <a:spcPct val="0"/>
        </a:spcBef>
        <a:spcAft>
          <a:spcPct val="0"/>
        </a:spcAft>
        <a:defRPr sz="4400">
          <a:solidFill>
            <a:schemeClr val="tx2"/>
          </a:solidFill>
          <a:latin typeface="Comic Sans MS" pitchFamily="66"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wm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2.wmf"/></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2.xml"/><Relationship Id="rId1" Type="http://schemas.openxmlformats.org/officeDocument/2006/relationships/vmlDrawing" Target="../drawings/vmlDrawing2.v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6.xml"/><Relationship Id="rId1" Type="http://schemas.openxmlformats.org/officeDocument/2006/relationships/vmlDrawing" Target="../drawings/vmlDrawing3.vml"/><Relationship Id="rId6" Type="http://schemas.openxmlformats.org/officeDocument/2006/relationships/image" Target="../media/image6.wmf"/><Relationship Id="rId5" Type="http://schemas.openxmlformats.org/officeDocument/2006/relationships/oleObject" Target="../embeddings/oleObject4.bin"/><Relationship Id="rId4" Type="http://schemas.openxmlformats.org/officeDocument/2006/relationships/image" Target="../media/image5.wmf"/></Relationships>
</file>

<file path=ppt/slides/_rels/slide6.xml.rels><?xml version="1.0" encoding="UTF-8" standalone="yes"?>
<Relationships xmlns="http://schemas.openxmlformats.org/package/2006/relationships"><Relationship Id="rId8" Type="http://schemas.openxmlformats.org/officeDocument/2006/relationships/image" Target="../media/image9.wmf"/><Relationship Id="rId3" Type="http://schemas.openxmlformats.org/officeDocument/2006/relationships/oleObject" Target="../embeddings/oleObject5.bin"/><Relationship Id="rId7"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media/image8.wmf"/><Relationship Id="rId5" Type="http://schemas.openxmlformats.org/officeDocument/2006/relationships/oleObject" Target="../embeddings/oleObject6.bin"/><Relationship Id="rId4" Type="http://schemas.openxmlformats.org/officeDocument/2006/relationships/image" Target="../media/image7.wmf"/></Relationships>
</file>

<file path=ppt/slides/_rels/slide7.xml.rels><?xml version="1.0" encoding="UTF-8" standalone="yes"?>
<Relationships xmlns="http://schemas.openxmlformats.org/package/2006/relationships"><Relationship Id="rId8" Type="http://schemas.openxmlformats.org/officeDocument/2006/relationships/oleObject" Target="../embeddings/oleObject11.bin"/><Relationship Id="rId13" Type="http://schemas.openxmlformats.org/officeDocument/2006/relationships/oleObject" Target="../embeddings/oleObject16.bin"/><Relationship Id="rId3" Type="http://schemas.openxmlformats.org/officeDocument/2006/relationships/oleObject" Target="../embeddings/oleObject8.bin"/><Relationship Id="rId7" Type="http://schemas.openxmlformats.org/officeDocument/2006/relationships/oleObject" Target="../embeddings/oleObject10.bin"/><Relationship Id="rId12" Type="http://schemas.openxmlformats.org/officeDocument/2006/relationships/oleObject" Target="../embeddings/oleObject15.bin"/><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image" Target="../media/image11.wmf"/><Relationship Id="rId11" Type="http://schemas.openxmlformats.org/officeDocument/2006/relationships/oleObject" Target="../embeddings/oleObject14.bin"/><Relationship Id="rId5" Type="http://schemas.openxmlformats.org/officeDocument/2006/relationships/oleObject" Target="../embeddings/oleObject9.bin"/><Relationship Id="rId15" Type="http://schemas.openxmlformats.org/officeDocument/2006/relationships/image" Target="../media/image5.wmf"/><Relationship Id="rId10" Type="http://schemas.openxmlformats.org/officeDocument/2006/relationships/oleObject" Target="../embeddings/oleObject13.bin"/><Relationship Id="rId4" Type="http://schemas.openxmlformats.org/officeDocument/2006/relationships/image" Target="../media/image10.wmf"/><Relationship Id="rId9" Type="http://schemas.openxmlformats.org/officeDocument/2006/relationships/oleObject" Target="../embeddings/oleObject12.bin"/><Relationship Id="rId14" Type="http://schemas.openxmlformats.org/officeDocument/2006/relationships/oleObject" Target="../embeddings/oleObject17.bin"/></Relationships>
</file>

<file path=ppt/slides/_rels/slide8.xml.rels><?xml version="1.0" encoding="UTF-8" standalone="yes"?>
<Relationships xmlns="http://schemas.openxmlformats.org/package/2006/relationships"><Relationship Id="rId8" Type="http://schemas.openxmlformats.org/officeDocument/2006/relationships/image" Target="../media/image14.wmf"/><Relationship Id="rId3" Type="http://schemas.openxmlformats.org/officeDocument/2006/relationships/oleObject" Target="../embeddings/oleObject18.bin"/><Relationship Id="rId7" Type="http://schemas.openxmlformats.org/officeDocument/2006/relationships/oleObject" Target="../embeddings/oleObject20.bin"/><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image" Target="../media/image13.wmf"/><Relationship Id="rId5" Type="http://schemas.openxmlformats.org/officeDocument/2006/relationships/oleObject" Target="../embeddings/oleObject19.bin"/><Relationship Id="rId4" Type="http://schemas.openxmlformats.org/officeDocument/2006/relationships/image" Target="../media/image12.wmf"/></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Layout" Target="../slideLayouts/slideLayout4.xml"/><Relationship Id="rId1" Type="http://schemas.openxmlformats.org/officeDocument/2006/relationships/vmlDrawing" Target="../drawings/vmlDrawing7.vml"/><Relationship Id="rId6" Type="http://schemas.openxmlformats.org/officeDocument/2006/relationships/image" Target="../media/image16.wmf"/><Relationship Id="rId5" Type="http://schemas.openxmlformats.org/officeDocument/2006/relationships/oleObject" Target="../embeddings/oleObject22.bin"/><Relationship Id="rId4" Type="http://schemas.openxmlformats.org/officeDocument/2006/relationships/image" Target="../media/image15.wmf"/></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Layout" Target="../slideLayouts/slideLayout2.xml"/><Relationship Id="rId1" Type="http://schemas.openxmlformats.org/officeDocument/2006/relationships/vmlDrawing" Target="../drawings/vmlDrawing8.vml"/><Relationship Id="rId4" Type="http://schemas.openxmlformats.org/officeDocument/2006/relationships/image" Target="../media/image17.wmf"/></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Layout" Target="../slideLayouts/slideLayout2.xml"/><Relationship Id="rId1" Type="http://schemas.openxmlformats.org/officeDocument/2006/relationships/vmlDrawing" Target="../drawings/vmlDrawing9.vml"/><Relationship Id="rId4" Type="http://schemas.openxmlformats.org/officeDocument/2006/relationships/image" Target="../media/image18.wmf"/></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Layout" Target="../slideLayouts/slideLayout2.xml"/><Relationship Id="rId1" Type="http://schemas.openxmlformats.org/officeDocument/2006/relationships/vmlDrawing" Target="../drawings/vmlDrawing10.vml"/><Relationship Id="rId6" Type="http://schemas.openxmlformats.org/officeDocument/2006/relationships/image" Target="../media/image20.wmf"/><Relationship Id="rId5" Type="http://schemas.openxmlformats.org/officeDocument/2006/relationships/oleObject" Target="../embeddings/oleObject26.bin"/><Relationship Id="rId4" Type="http://schemas.openxmlformats.org/officeDocument/2006/relationships/image" Target="../media/image19.wmf"/></Relationships>
</file>

<file path=ppt/slides/_rels/slide13.xml.rels><?xml version="1.0" encoding="UTF-8" standalone="yes"?>
<Relationships xmlns="http://schemas.openxmlformats.org/package/2006/relationships"><Relationship Id="rId8" Type="http://schemas.openxmlformats.org/officeDocument/2006/relationships/image" Target="../media/image23.wmf"/><Relationship Id="rId3" Type="http://schemas.openxmlformats.org/officeDocument/2006/relationships/oleObject" Target="../embeddings/oleObject27.bin"/><Relationship Id="rId7" Type="http://schemas.openxmlformats.org/officeDocument/2006/relationships/oleObject" Target="../embeddings/oleObject29.bin"/><Relationship Id="rId2" Type="http://schemas.openxmlformats.org/officeDocument/2006/relationships/slideLayout" Target="../slideLayouts/slideLayout2.xml"/><Relationship Id="rId1" Type="http://schemas.openxmlformats.org/officeDocument/2006/relationships/vmlDrawing" Target="../drawings/vmlDrawing11.vml"/><Relationship Id="rId6" Type="http://schemas.openxmlformats.org/officeDocument/2006/relationships/image" Target="../media/image22.wmf"/><Relationship Id="rId5" Type="http://schemas.openxmlformats.org/officeDocument/2006/relationships/oleObject" Target="../embeddings/oleObject28.bin"/><Relationship Id="rId4" Type="http://schemas.openxmlformats.org/officeDocument/2006/relationships/image" Target="../media/image21.wmf"/></Relationships>
</file>

<file path=ppt/slides/_rels/slide14.xml.rels><?xml version="1.0" encoding="UTF-8" standalone="yes"?>
<Relationships xmlns="http://schemas.openxmlformats.org/package/2006/relationships"><Relationship Id="rId8" Type="http://schemas.openxmlformats.org/officeDocument/2006/relationships/image" Target="../media/image23.wmf"/><Relationship Id="rId3" Type="http://schemas.openxmlformats.org/officeDocument/2006/relationships/oleObject" Target="../embeddings/oleObject30.bin"/><Relationship Id="rId7" Type="http://schemas.openxmlformats.org/officeDocument/2006/relationships/oleObject" Target="../embeddings/oleObject32.bin"/><Relationship Id="rId2" Type="http://schemas.openxmlformats.org/officeDocument/2006/relationships/slideLayout" Target="../slideLayouts/slideLayout2.xml"/><Relationship Id="rId1" Type="http://schemas.openxmlformats.org/officeDocument/2006/relationships/vmlDrawing" Target="../drawings/vmlDrawing12.vml"/><Relationship Id="rId6" Type="http://schemas.openxmlformats.org/officeDocument/2006/relationships/image" Target="../media/image22.wmf"/><Relationship Id="rId5" Type="http://schemas.openxmlformats.org/officeDocument/2006/relationships/oleObject" Target="../embeddings/oleObject31.bin"/><Relationship Id="rId10" Type="http://schemas.openxmlformats.org/officeDocument/2006/relationships/oleObject" Target="../embeddings/oleObject34.bin"/><Relationship Id="rId4" Type="http://schemas.openxmlformats.org/officeDocument/2006/relationships/image" Target="../media/image21.wmf"/><Relationship Id="rId9" Type="http://schemas.openxmlformats.org/officeDocument/2006/relationships/oleObject" Target="../embeddings/oleObject33.bin"/></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35.bin"/><Relationship Id="rId2" Type="http://schemas.openxmlformats.org/officeDocument/2006/relationships/slideLayout" Target="../slideLayouts/slideLayout2.xml"/><Relationship Id="rId1" Type="http://schemas.openxmlformats.org/officeDocument/2006/relationships/vmlDrawing" Target="../drawings/vmlDrawing13.vml"/><Relationship Id="rId6" Type="http://schemas.openxmlformats.org/officeDocument/2006/relationships/image" Target="../media/image25.wmf"/><Relationship Id="rId5" Type="http://schemas.openxmlformats.org/officeDocument/2006/relationships/oleObject" Target="../embeddings/oleObject36.bin"/><Relationship Id="rId4" Type="http://schemas.openxmlformats.org/officeDocument/2006/relationships/image" Target="../media/image24.wm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image" Target="../media/image27.wmf"/><Relationship Id="rId3" Type="http://schemas.openxmlformats.org/officeDocument/2006/relationships/image" Target="../media/image28.wmf"/><Relationship Id="rId7" Type="http://schemas.openxmlformats.org/officeDocument/2006/relationships/oleObject" Target="../embeddings/oleObject38.bin"/><Relationship Id="rId2" Type="http://schemas.openxmlformats.org/officeDocument/2006/relationships/slideLayout" Target="../slideLayouts/slideLayout7.xml"/><Relationship Id="rId1" Type="http://schemas.openxmlformats.org/officeDocument/2006/relationships/vmlDrawing" Target="../drawings/vmlDrawing14.vml"/><Relationship Id="rId6" Type="http://schemas.openxmlformats.org/officeDocument/2006/relationships/image" Target="../media/image26.wmf"/><Relationship Id="rId5" Type="http://schemas.openxmlformats.org/officeDocument/2006/relationships/oleObject" Target="../embeddings/oleObject37.bin"/><Relationship Id="rId4" Type="http://schemas.openxmlformats.org/officeDocument/2006/relationships/image" Target="../media/image30.png"/></Relationships>
</file>

<file path=ppt/slides/_rels/slide1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slideLayout" Target="../slideLayouts/slideLayout31.xml"/><Relationship Id="rId1" Type="http://schemas.openxmlformats.org/officeDocument/2006/relationships/vmlDrawing" Target="../drawings/vmlDrawing15.vml"/><Relationship Id="rId6" Type="http://schemas.openxmlformats.org/officeDocument/2006/relationships/image" Target="../media/image30.wmf"/><Relationship Id="rId5" Type="http://schemas.openxmlformats.org/officeDocument/2006/relationships/oleObject" Target="../embeddings/oleObject39.bin"/><Relationship Id="rId4" Type="http://schemas.openxmlformats.org/officeDocument/2006/relationships/image" Target="../media/image34.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6.xml"/><Relationship Id="rId1" Type="http://schemas.openxmlformats.org/officeDocument/2006/relationships/tags" Target="../tags/tag1.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7.xml"/><Relationship Id="rId1" Type="http://schemas.openxmlformats.org/officeDocument/2006/relationships/tags" Target="../tags/tag2.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7.xml"/><Relationship Id="rId1" Type="http://schemas.openxmlformats.org/officeDocument/2006/relationships/tags" Target="../tags/tag3.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1.xml"/><Relationship Id="rId2" Type="http://schemas.openxmlformats.org/officeDocument/2006/relationships/tags" Target="../tags/tag4.xml"/><Relationship Id="rId1" Type="http://schemas.openxmlformats.org/officeDocument/2006/relationships/vmlDrawing" Target="../drawings/vmlDrawing16.vml"/><Relationship Id="rId5" Type="http://schemas.openxmlformats.org/officeDocument/2006/relationships/image" Target="../media/image31.wmf"/><Relationship Id="rId4" Type="http://schemas.openxmlformats.org/officeDocument/2006/relationships/oleObject" Target="../embeddings/oleObject40.bin"/></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tags" Target="../tags/tag5.xml"/><Relationship Id="rId1" Type="http://schemas.openxmlformats.org/officeDocument/2006/relationships/vmlDrawing" Target="../drawings/vmlDrawing17.vml"/><Relationship Id="rId5" Type="http://schemas.openxmlformats.org/officeDocument/2006/relationships/image" Target="../media/image32.wmf"/><Relationship Id="rId4" Type="http://schemas.openxmlformats.org/officeDocument/2006/relationships/oleObject" Target="../embeddings/oleObject41.bin"/></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21.xml"/><Relationship Id="rId2" Type="http://schemas.openxmlformats.org/officeDocument/2006/relationships/tags" Target="../tags/tag6.xml"/><Relationship Id="rId1" Type="http://schemas.openxmlformats.org/officeDocument/2006/relationships/vmlDrawing" Target="../drawings/vmlDrawing18.vml"/><Relationship Id="rId5" Type="http://schemas.openxmlformats.org/officeDocument/2006/relationships/image" Target="../media/image33.wmf"/><Relationship Id="rId4" Type="http://schemas.openxmlformats.org/officeDocument/2006/relationships/oleObject" Target="../embeddings/oleObject42.bin"/></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tags" Target="../tags/tag7.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tags" Target="../tags/tag8.xml"/><Relationship Id="rId1" Type="http://schemas.openxmlformats.org/officeDocument/2006/relationships/vmlDrawing" Target="../drawings/vmlDrawing19.vml"/><Relationship Id="rId6" Type="http://schemas.openxmlformats.org/officeDocument/2006/relationships/image" Target="../media/image34.wmf"/><Relationship Id="rId5" Type="http://schemas.openxmlformats.org/officeDocument/2006/relationships/oleObject" Target="../embeddings/oleObject43.bin"/><Relationship Id="rId4" Type="http://schemas.openxmlformats.org/officeDocument/2006/relationships/notesSlide" Target="../notesSlides/notesSlide4.xml"/></Relationships>
</file>

<file path=ppt/slides/_rels/slide29.xml.rels><?xml version="1.0" encoding="UTF-8" standalone="yes"?>
<Relationships xmlns="http://schemas.openxmlformats.org/package/2006/relationships"><Relationship Id="rId8" Type="http://schemas.openxmlformats.org/officeDocument/2006/relationships/image" Target="../media/image35.wmf"/><Relationship Id="rId3" Type="http://schemas.microsoft.com/office/2007/relationships/media" Target="../media/media1.WAV"/><Relationship Id="rId7" Type="http://schemas.openxmlformats.org/officeDocument/2006/relationships/oleObject" Target="../embeddings/oleObject44.bin"/><Relationship Id="rId2" Type="http://schemas.openxmlformats.org/officeDocument/2006/relationships/tags" Target="../tags/tag9.xml"/><Relationship Id="rId1" Type="http://schemas.openxmlformats.org/officeDocument/2006/relationships/vmlDrawing" Target="../drawings/vmlDrawing20.vml"/><Relationship Id="rId6" Type="http://schemas.openxmlformats.org/officeDocument/2006/relationships/notesSlide" Target="../notesSlides/notesSlide5.xml"/><Relationship Id="rId5" Type="http://schemas.openxmlformats.org/officeDocument/2006/relationships/slideLayout" Target="../slideLayouts/slideLayout17.xml"/><Relationship Id="rId10" Type="http://schemas.openxmlformats.org/officeDocument/2006/relationships/image" Target="../media/image37.gif"/><Relationship Id="rId4" Type="http://schemas.openxmlformats.org/officeDocument/2006/relationships/audio" Target="../media/media1.WAV"/><Relationship Id="rId9" Type="http://schemas.openxmlformats.org/officeDocument/2006/relationships/image" Target="../media/image36.png"/></Relationships>
</file>

<file path=ppt/slides/_rels/slide30.xml.rels><?xml version="1.0" encoding="UTF-8" standalone="yes"?>
<Relationships xmlns="http://schemas.openxmlformats.org/package/2006/relationships"><Relationship Id="rId8" Type="http://schemas.openxmlformats.org/officeDocument/2006/relationships/image" Target="../media/image41.jpeg"/><Relationship Id="rId13" Type="http://schemas.openxmlformats.org/officeDocument/2006/relationships/image" Target="../media/image46.jpeg"/><Relationship Id="rId3" Type="http://schemas.openxmlformats.org/officeDocument/2006/relationships/audio" Target="file:///C:\Users\reiland\Documents\LAPTOP\My%20Documents\www\statdept_homepage\mnf.wav" TargetMode="External"/><Relationship Id="rId7" Type="http://schemas.openxmlformats.org/officeDocument/2006/relationships/image" Target="../media/image40.gif"/><Relationship Id="rId12" Type="http://schemas.openxmlformats.org/officeDocument/2006/relationships/image" Target="../media/image45.png"/><Relationship Id="rId2" Type="http://schemas.microsoft.com/office/2007/relationships/media" Target="file:///C:\Users\reiland\Documents\LAPTOP\My%20Documents\www\statdept_homepage\mnf.wav" TargetMode="External"/><Relationship Id="rId16" Type="http://schemas.openxmlformats.org/officeDocument/2006/relationships/image" Target="../media/image49.png"/><Relationship Id="rId1" Type="http://schemas.openxmlformats.org/officeDocument/2006/relationships/tags" Target="../tags/tag10.xml"/><Relationship Id="rId6" Type="http://schemas.openxmlformats.org/officeDocument/2006/relationships/image" Target="../media/image39.gif"/><Relationship Id="rId11" Type="http://schemas.openxmlformats.org/officeDocument/2006/relationships/image" Target="../media/image44.jpeg"/><Relationship Id="rId5" Type="http://schemas.openxmlformats.org/officeDocument/2006/relationships/image" Target="../media/image38.png"/><Relationship Id="rId15" Type="http://schemas.openxmlformats.org/officeDocument/2006/relationships/image" Target="../media/image48.jpeg"/><Relationship Id="rId10" Type="http://schemas.openxmlformats.org/officeDocument/2006/relationships/image" Target="../media/image43.png"/><Relationship Id="rId4" Type="http://schemas.openxmlformats.org/officeDocument/2006/relationships/slideLayout" Target="../slideLayouts/slideLayout17.xml"/><Relationship Id="rId9" Type="http://schemas.openxmlformats.org/officeDocument/2006/relationships/image" Target="../media/image42.png"/><Relationship Id="rId14" Type="http://schemas.openxmlformats.org/officeDocument/2006/relationships/image" Target="../media/image47.jpeg"/></Relationships>
</file>

<file path=ppt/slides/_rels/slide31.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slideLayout" Target="../slideLayouts/slideLayout27.xml"/><Relationship Id="rId7" Type="http://schemas.openxmlformats.org/officeDocument/2006/relationships/image" Target="../media/image51.wmf"/><Relationship Id="rId2" Type="http://schemas.openxmlformats.org/officeDocument/2006/relationships/tags" Target="../tags/tag11.xml"/><Relationship Id="rId1" Type="http://schemas.openxmlformats.org/officeDocument/2006/relationships/vmlDrawing" Target="../drawings/vmlDrawing21.vml"/><Relationship Id="rId6" Type="http://schemas.openxmlformats.org/officeDocument/2006/relationships/oleObject" Target="../embeddings/oleObject46.bin"/><Relationship Id="rId5" Type="http://schemas.openxmlformats.org/officeDocument/2006/relationships/image" Target="../media/image50.wmf"/><Relationship Id="rId10" Type="http://schemas.openxmlformats.org/officeDocument/2006/relationships/image" Target="../media/image53.jpeg"/><Relationship Id="rId4" Type="http://schemas.openxmlformats.org/officeDocument/2006/relationships/oleObject" Target="../embeddings/oleObject45.bin"/><Relationship Id="rId9" Type="http://schemas.openxmlformats.org/officeDocument/2006/relationships/image" Target="../media/image40.gif"/></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tags" Target="../tags/tag12.xml"/></Relationships>
</file>

<file path=ppt/slides/_rels/slide33.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slideLayout" Target="../slideLayouts/slideLayout2.xml"/><Relationship Id="rId1" Type="http://schemas.openxmlformats.org/officeDocument/2006/relationships/tags" Target="../tags/tag13.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5.xml"/></Relationships>
</file>

<file path=ppt/slides/_rels/slide36.xml.rels><?xml version="1.0" encoding="UTF-8" standalone="yes"?>
<Relationships xmlns="http://schemas.openxmlformats.org/package/2006/relationships"><Relationship Id="rId8" Type="http://schemas.openxmlformats.org/officeDocument/2006/relationships/oleObject" Target="../embeddings/oleObject49.bin"/><Relationship Id="rId3" Type="http://schemas.openxmlformats.org/officeDocument/2006/relationships/slideLayout" Target="../slideLayouts/slideLayout2.xml"/><Relationship Id="rId7" Type="http://schemas.openxmlformats.org/officeDocument/2006/relationships/image" Target="../media/image56.wmf"/><Relationship Id="rId2" Type="http://schemas.openxmlformats.org/officeDocument/2006/relationships/tags" Target="../tags/tag16.xml"/><Relationship Id="rId1" Type="http://schemas.openxmlformats.org/officeDocument/2006/relationships/vmlDrawing" Target="../drawings/vmlDrawing22.vml"/><Relationship Id="rId6" Type="http://schemas.openxmlformats.org/officeDocument/2006/relationships/oleObject" Target="../embeddings/oleObject48.bin"/><Relationship Id="rId5" Type="http://schemas.openxmlformats.org/officeDocument/2006/relationships/image" Target="../media/image55.wmf"/><Relationship Id="rId4" Type="http://schemas.openxmlformats.org/officeDocument/2006/relationships/oleObject" Target="../embeddings/oleObject47.bin"/><Relationship Id="rId9" Type="http://schemas.openxmlformats.org/officeDocument/2006/relationships/image" Target="../media/image57.wmf"/></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7.xml"/><Relationship Id="rId1" Type="http://schemas.openxmlformats.org/officeDocument/2006/relationships/tags" Target="../tags/tag17.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7.xml"/><Relationship Id="rId1" Type="http://schemas.openxmlformats.org/officeDocument/2006/relationships/tags" Target="../tags/tag18.xml"/><Relationship Id="rId6" Type="http://schemas.openxmlformats.org/officeDocument/2006/relationships/image" Target="../media/image60.emf"/><Relationship Id="rId5" Type="http://schemas.openxmlformats.org/officeDocument/2006/relationships/image" Target="../media/image59.emf"/><Relationship Id="rId4" Type="http://schemas.openxmlformats.org/officeDocument/2006/relationships/image" Target="../media/image58.emf"/></Relationships>
</file>

<file path=ppt/slides/_rels/slide39.xml.rels><?xml version="1.0" encoding="UTF-8" standalone="yes"?>
<Relationships xmlns="http://schemas.openxmlformats.org/package/2006/relationships"><Relationship Id="rId8" Type="http://schemas.openxmlformats.org/officeDocument/2006/relationships/oleObject" Target="../embeddings/oleObject52.bin"/><Relationship Id="rId3" Type="http://schemas.openxmlformats.org/officeDocument/2006/relationships/slideLayout" Target="../slideLayouts/slideLayout7.xml"/><Relationship Id="rId7" Type="http://schemas.openxmlformats.org/officeDocument/2006/relationships/image" Target="../media/image61.wmf"/><Relationship Id="rId2" Type="http://schemas.openxmlformats.org/officeDocument/2006/relationships/tags" Target="../tags/tag19.xml"/><Relationship Id="rId1" Type="http://schemas.openxmlformats.org/officeDocument/2006/relationships/vmlDrawing" Target="../drawings/vmlDrawing23.vml"/><Relationship Id="rId6" Type="http://schemas.openxmlformats.org/officeDocument/2006/relationships/oleObject" Target="../embeddings/oleObject51.bin"/><Relationship Id="rId5" Type="http://schemas.openxmlformats.org/officeDocument/2006/relationships/image" Target="../media/image54.jpeg"/><Relationship Id="rId4" Type="http://schemas.openxmlformats.org/officeDocument/2006/relationships/oleObject" Target="../embeddings/oleObject50.bin"/><Relationship Id="rId9" Type="http://schemas.openxmlformats.org/officeDocument/2006/relationships/image" Target="../media/image62.wmf"/></Relationships>
</file>

<file path=ppt/slides/_rels/slide40.xml.rels><?xml version="1.0" encoding="UTF-8" standalone="yes"?>
<Relationships xmlns="http://schemas.openxmlformats.org/package/2006/relationships"><Relationship Id="rId3" Type="http://schemas.openxmlformats.org/officeDocument/2006/relationships/image" Target="../media/image63.wmf"/><Relationship Id="rId2" Type="http://schemas.openxmlformats.org/officeDocument/2006/relationships/slideLayout" Target="../slideLayouts/slideLayout2.xml"/><Relationship Id="rId1" Type="http://schemas.openxmlformats.org/officeDocument/2006/relationships/tags" Target="../tags/tag20.xml"/></Relationships>
</file>

<file path=ppt/slides/_rels/slide41.xml.rels><?xml version="1.0" encoding="UTF-8" standalone="yes"?>
<Relationships xmlns="http://schemas.openxmlformats.org/package/2006/relationships"><Relationship Id="rId8" Type="http://schemas.openxmlformats.org/officeDocument/2006/relationships/oleObject" Target="../embeddings/oleObject55.bin"/><Relationship Id="rId3" Type="http://schemas.openxmlformats.org/officeDocument/2006/relationships/slideLayout" Target="../slideLayouts/slideLayout2.xml"/><Relationship Id="rId7" Type="http://schemas.openxmlformats.org/officeDocument/2006/relationships/image" Target="../media/image65.wmf"/><Relationship Id="rId2" Type="http://schemas.openxmlformats.org/officeDocument/2006/relationships/tags" Target="../tags/tag21.xml"/><Relationship Id="rId1" Type="http://schemas.openxmlformats.org/officeDocument/2006/relationships/vmlDrawing" Target="../drawings/vmlDrawing24.vml"/><Relationship Id="rId6" Type="http://schemas.openxmlformats.org/officeDocument/2006/relationships/oleObject" Target="../embeddings/oleObject54.bin"/><Relationship Id="rId5" Type="http://schemas.openxmlformats.org/officeDocument/2006/relationships/image" Target="../media/image64.emf"/><Relationship Id="rId4" Type="http://schemas.openxmlformats.org/officeDocument/2006/relationships/oleObject" Target="../embeddings/oleObject53.bin"/><Relationship Id="rId9" Type="http://schemas.openxmlformats.org/officeDocument/2006/relationships/image" Target="../media/image66.wmf"/></Relationships>
</file>

<file path=ppt/slides/_rels/slide42.xml.rels><?xml version="1.0" encoding="UTF-8" standalone="yes"?>
<Relationships xmlns="http://schemas.openxmlformats.org/package/2006/relationships"><Relationship Id="rId3" Type="http://schemas.openxmlformats.org/officeDocument/2006/relationships/audio" Target="file:///C:\Users\reiland\Documents\LAPTOP\My%20Documents\350\350ppt\lecunit5_f09\PopCorn%20Popping-17601-Free-Loops.com.wav" TargetMode="External"/><Relationship Id="rId7" Type="http://schemas.openxmlformats.org/officeDocument/2006/relationships/image" Target="../media/image69.png"/><Relationship Id="rId2" Type="http://schemas.microsoft.com/office/2007/relationships/media" Target="file:///C:\Users\reiland\Documents\LAPTOP\My%20Documents\350\350ppt\lecunit5_f09\PopCorn%20Popping-17601-Free-Loops.com.wav" TargetMode="External"/><Relationship Id="rId1" Type="http://schemas.openxmlformats.org/officeDocument/2006/relationships/tags" Target="../tags/tag22.xml"/><Relationship Id="rId6" Type="http://schemas.openxmlformats.org/officeDocument/2006/relationships/image" Target="../media/image68.jpeg"/><Relationship Id="rId5" Type="http://schemas.openxmlformats.org/officeDocument/2006/relationships/image" Target="../media/image67.jpeg"/><Relationship Id="rId4"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8" Type="http://schemas.openxmlformats.org/officeDocument/2006/relationships/oleObject" Target="../embeddings/oleObject58.bin"/><Relationship Id="rId3" Type="http://schemas.openxmlformats.org/officeDocument/2006/relationships/slideLayout" Target="../slideLayouts/slideLayout2.xml"/><Relationship Id="rId7" Type="http://schemas.openxmlformats.org/officeDocument/2006/relationships/image" Target="../media/image71.wmf"/><Relationship Id="rId2" Type="http://schemas.openxmlformats.org/officeDocument/2006/relationships/tags" Target="../tags/tag23.xml"/><Relationship Id="rId1" Type="http://schemas.openxmlformats.org/officeDocument/2006/relationships/vmlDrawing" Target="../drawings/vmlDrawing25.vml"/><Relationship Id="rId6" Type="http://schemas.openxmlformats.org/officeDocument/2006/relationships/oleObject" Target="../embeddings/oleObject57.bin"/><Relationship Id="rId5" Type="http://schemas.openxmlformats.org/officeDocument/2006/relationships/image" Target="../media/image70.emf"/><Relationship Id="rId4" Type="http://schemas.openxmlformats.org/officeDocument/2006/relationships/oleObject" Target="../embeddings/oleObject56.bin"/><Relationship Id="rId9" Type="http://schemas.openxmlformats.org/officeDocument/2006/relationships/image" Target="../media/image72.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a:xfrm>
            <a:off x="685800" y="152400"/>
            <a:ext cx="7772400" cy="3124200"/>
          </a:xfrm>
          <a:solidFill>
            <a:schemeClr val="accent1"/>
          </a:solidFill>
        </p:spPr>
        <p:txBody>
          <a:bodyPr/>
          <a:lstStyle/>
          <a:p>
            <a:r>
              <a:rPr lang="en-US" altLang="en-US" dirty="0" smtClean="0"/>
              <a:t>Chapter 23</a:t>
            </a:r>
            <a:br>
              <a:rPr lang="en-US" altLang="en-US" dirty="0" smtClean="0"/>
            </a:br>
            <a:r>
              <a:rPr lang="en-US" altLang="en-US" dirty="0" smtClean="0"/>
              <a:t>Confidence Intervals and Hypothesis Tests for a Population Mean </a:t>
            </a:r>
            <a:r>
              <a:rPr lang="en-US" altLang="en-US" dirty="0" smtClean="0">
                <a:sym typeface="Symbol" charset="2"/>
              </a:rPr>
              <a:t>; t</a:t>
            </a:r>
            <a:r>
              <a:rPr lang="en-US" altLang="en-US" i="0" dirty="0" smtClean="0">
                <a:sym typeface="Symbol" charset="2"/>
              </a:rPr>
              <a:t> </a:t>
            </a:r>
            <a:r>
              <a:rPr lang="en-US" altLang="en-US" dirty="0" smtClean="0">
                <a:sym typeface="Symbol" charset="2"/>
              </a:rPr>
              <a:t>distributions</a:t>
            </a:r>
            <a:endParaRPr lang="en-US" altLang="en-US" dirty="0" smtClean="0"/>
          </a:p>
        </p:txBody>
      </p:sp>
      <p:sp>
        <p:nvSpPr>
          <p:cNvPr id="2051" name="Rectangle 3"/>
          <p:cNvSpPr>
            <a:spLocks noGrp="1" noChangeArrowheads="1"/>
          </p:cNvSpPr>
          <p:nvPr>
            <p:ph sz="half" idx="1"/>
          </p:nvPr>
        </p:nvSpPr>
        <p:spPr>
          <a:xfrm>
            <a:off x="685800" y="3352800"/>
            <a:ext cx="3657600" cy="2819400"/>
          </a:xfrm>
          <a:solidFill>
            <a:srgbClr val="FFC000"/>
          </a:solidFill>
        </p:spPr>
        <p:txBody>
          <a:bodyPr/>
          <a:lstStyle/>
          <a:p>
            <a:pPr algn="l">
              <a:buSzPct val="175000"/>
              <a:buFont typeface="Wingdings" panose="05000000000000000000" pitchFamily="2" charset="2"/>
              <a:buChar char="§"/>
            </a:pPr>
            <a:r>
              <a:rPr lang="en-US" altLang="en-US" dirty="0" smtClean="0">
                <a:solidFill>
                  <a:srgbClr val="FF0000"/>
                </a:solidFill>
                <a:latin typeface="Comic Sans MS" panose="030F0702030302020204" pitchFamily="66" charset="0"/>
              </a:rPr>
              <a:t>t </a:t>
            </a:r>
            <a:r>
              <a:rPr lang="en-US" altLang="en-US" i="0" dirty="0" smtClean="0">
                <a:solidFill>
                  <a:srgbClr val="FF0000"/>
                </a:solidFill>
                <a:latin typeface="Comic Sans MS" panose="030F0702030302020204" pitchFamily="66" charset="0"/>
              </a:rPr>
              <a:t>distributions</a:t>
            </a:r>
          </a:p>
          <a:p>
            <a:pPr marL="0" indent="0" algn="l">
              <a:buSzPct val="175000"/>
              <a:buNone/>
            </a:pPr>
            <a:endParaRPr lang="en-US" altLang="en-US" i="0" dirty="0" smtClean="0">
              <a:solidFill>
                <a:srgbClr val="FF0000"/>
              </a:solidFill>
              <a:latin typeface="Comic Sans MS" panose="030F0702030302020204" pitchFamily="66" charset="0"/>
            </a:endParaRPr>
          </a:p>
          <a:p>
            <a:pPr algn="l">
              <a:buSzPct val="175000"/>
              <a:buFont typeface="Wingdings" panose="05000000000000000000" pitchFamily="2" charset="2"/>
              <a:buChar char="§"/>
            </a:pPr>
            <a:r>
              <a:rPr lang="en-US" altLang="en-US" i="0" dirty="0" smtClean="0">
                <a:solidFill>
                  <a:srgbClr val="FF0000"/>
                </a:solidFill>
                <a:latin typeface="Comic Sans MS" panose="030F0702030302020204" pitchFamily="66" charset="0"/>
              </a:rPr>
              <a:t>Confidence intervals for a population mean </a:t>
            </a:r>
            <a:r>
              <a:rPr lang="en-US" altLang="en-US" i="0" dirty="0" smtClean="0">
                <a:solidFill>
                  <a:srgbClr val="FF0000"/>
                </a:solidFill>
                <a:latin typeface="Comic Sans MS" panose="030F0702030302020204" pitchFamily="66" charset="0"/>
                <a:sym typeface="Symbol" charset="2"/>
              </a:rPr>
              <a:t></a:t>
            </a:r>
          </a:p>
        </p:txBody>
      </p:sp>
      <p:sp>
        <p:nvSpPr>
          <p:cNvPr id="5" name="Content Placeholder 4"/>
          <p:cNvSpPr>
            <a:spLocks noGrp="1"/>
          </p:cNvSpPr>
          <p:nvPr>
            <p:ph sz="half" idx="2"/>
          </p:nvPr>
        </p:nvSpPr>
        <p:spPr>
          <a:xfrm>
            <a:off x="4648200" y="3352800"/>
            <a:ext cx="4038600" cy="2743200"/>
          </a:xfrm>
          <a:solidFill>
            <a:srgbClr val="FFC000"/>
          </a:solidFill>
        </p:spPr>
        <p:txBody>
          <a:bodyPr/>
          <a:lstStyle/>
          <a:p>
            <a:r>
              <a:rPr lang="en-US" altLang="en-US" i="0" dirty="0">
                <a:solidFill>
                  <a:srgbClr val="FF0000"/>
                </a:solidFill>
                <a:latin typeface="Comic Sans MS" panose="030F0702030302020204" pitchFamily="66" charset="0"/>
              </a:rPr>
              <a:t>Sample size required to estimate </a:t>
            </a:r>
            <a:r>
              <a:rPr lang="en-US" altLang="en-US" i="0" dirty="0" smtClean="0">
                <a:solidFill>
                  <a:srgbClr val="FF0000"/>
                </a:solidFill>
                <a:latin typeface="Comic Sans MS" panose="030F0702030302020204" pitchFamily="66" charset="0"/>
                <a:sym typeface="Symbol" charset="2"/>
              </a:rPr>
              <a:t></a:t>
            </a:r>
          </a:p>
          <a:p>
            <a:pPr marL="0" indent="0">
              <a:buNone/>
            </a:pPr>
            <a:endParaRPr lang="en-US" altLang="en-US" dirty="0">
              <a:solidFill>
                <a:srgbClr val="FF0000"/>
              </a:solidFill>
              <a:latin typeface="Comic Sans MS" panose="030F0702030302020204" pitchFamily="66" charset="0"/>
            </a:endParaRPr>
          </a:p>
          <a:p>
            <a:r>
              <a:rPr lang="en-US" i="0" dirty="0" smtClean="0">
                <a:solidFill>
                  <a:srgbClr val="FF0000"/>
                </a:solidFill>
                <a:latin typeface="Comic Sans MS" panose="030F0702030302020204" pitchFamily="66" charset="0"/>
              </a:rPr>
              <a:t>Hypothesis tests for </a:t>
            </a:r>
            <a:r>
              <a:rPr lang="en-US" altLang="en-US" i="0" dirty="0">
                <a:solidFill>
                  <a:srgbClr val="FF0000"/>
                </a:solidFill>
                <a:latin typeface="Comic Sans MS" panose="030F0702030302020204" pitchFamily="66" charset="0"/>
              </a:rPr>
              <a:t>a population mean </a:t>
            </a:r>
            <a:r>
              <a:rPr lang="en-US" altLang="en-US" i="0" dirty="0" smtClean="0">
                <a:solidFill>
                  <a:srgbClr val="FF0000"/>
                </a:solidFill>
                <a:latin typeface="Comic Sans MS" panose="030F0702030302020204" pitchFamily="66" charset="0"/>
                <a:sym typeface="Symbol" charset="2"/>
              </a:rPr>
              <a:t></a:t>
            </a:r>
            <a:r>
              <a:rPr lang="en-US" dirty="0" smtClean="0">
                <a:solidFill>
                  <a:srgbClr val="FF0000"/>
                </a:solidFill>
                <a:latin typeface="Comic Sans MS" panose="030F0702030302020204" pitchFamily="66" charset="0"/>
              </a:rPr>
              <a:t> </a:t>
            </a:r>
            <a:endParaRPr lang="en-US" dirty="0">
              <a:solidFill>
                <a:srgbClr val="FF0000"/>
              </a:solidFill>
              <a:latin typeface="Comic Sans MS" panose="030F0702030302020204" pitchFamily="66" charset="0"/>
            </a:endParaRPr>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04800"/>
            <a:ext cx="8458200" cy="838200"/>
          </a:xfrm>
        </p:spPr>
        <p:txBody>
          <a:bodyPr/>
          <a:lstStyle/>
          <a:p>
            <a:r>
              <a:rPr lang="en-US" sz="3600" dirty="0" smtClean="0">
                <a:solidFill>
                  <a:srgbClr val="669900"/>
                </a:solidFill>
              </a:rPr>
              <a:t>Review of statistical notation.</a:t>
            </a:r>
            <a:endParaRPr lang="en-US" sz="3600" dirty="0">
              <a:solidFill>
                <a:srgbClr val="669900"/>
              </a:solidFill>
            </a:endParaRPr>
          </a:p>
        </p:txBody>
      </p:sp>
      <p:sp>
        <p:nvSpPr>
          <p:cNvPr id="3" name="Content Placeholder 2"/>
          <p:cNvSpPr>
            <a:spLocks noGrp="1"/>
          </p:cNvSpPr>
          <p:nvPr>
            <p:ph idx="1"/>
          </p:nvPr>
        </p:nvSpPr>
        <p:spPr>
          <a:xfrm>
            <a:off x="457200" y="1293227"/>
            <a:ext cx="6748142" cy="609600"/>
          </a:xfrm>
        </p:spPr>
        <p:txBody>
          <a:bodyPr/>
          <a:lstStyle/>
          <a:p>
            <a:pPr marL="0" indent="0">
              <a:buNone/>
            </a:pPr>
            <a:r>
              <a:rPr lang="en-US" b="1" i="1" dirty="0" smtClean="0">
                <a:solidFill>
                  <a:srgbClr val="C00000"/>
                </a:solidFill>
              </a:rPr>
              <a:t>n</a:t>
            </a:r>
            <a:r>
              <a:rPr lang="en-US" b="1" dirty="0" smtClean="0">
                <a:solidFill>
                  <a:srgbClr val="C00000"/>
                </a:solidFill>
              </a:rPr>
              <a:t> </a:t>
            </a:r>
            <a:r>
              <a:rPr lang="en-US" dirty="0" smtClean="0"/>
              <a:t>	the sample size</a:t>
            </a:r>
          </a:p>
          <a:p>
            <a:pPr marL="0" indent="0">
              <a:buNone/>
            </a:pPr>
            <a:endParaRPr lang="en-US" dirty="0"/>
          </a:p>
        </p:txBody>
      </p:sp>
      <p:pic>
        <p:nvPicPr>
          <p:cNvPr id="98307" name="Picture 3" descr="C:\Users\Owner\AppData\Local\Microsoft\Windows\Temporary Internet Files\Content.IE5\P8LNCK69\MC900156979[1].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205341" y="833387"/>
            <a:ext cx="1840687" cy="1766621"/>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4" name="TextBox 3"/>
              <p:cNvSpPr txBox="1"/>
              <p:nvPr/>
            </p:nvSpPr>
            <p:spPr>
              <a:xfrm>
                <a:off x="457200" y="1944666"/>
                <a:ext cx="8077200" cy="633571"/>
              </a:xfrm>
              <a:prstGeom prst="rect">
                <a:avLst/>
              </a:prstGeom>
              <a:noFill/>
            </p:spPr>
            <p:txBody>
              <a:bodyPr wrap="square" rtlCol="0">
                <a:spAutoFit/>
              </a:bodyPr>
              <a:lstStyle/>
              <a:p>
                <a:pPr eaLnBrk="1" hangingPunct="1"/>
                <a14:m>
                  <m:oMath xmlns:m="http://schemas.openxmlformats.org/officeDocument/2006/math">
                    <m:acc>
                      <m:accPr>
                        <m:chr m:val="̅"/>
                        <m:ctrlPr>
                          <a:rPr lang="en-US" sz="3600" b="1" i="1">
                            <a:solidFill>
                              <a:srgbClr val="C00000"/>
                            </a:solidFill>
                            <a:latin typeface="Cambria Math" panose="02040503050406030204" pitchFamily="18" charset="0"/>
                          </a:rPr>
                        </m:ctrlPr>
                      </m:accPr>
                      <m:e>
                        <m:r>
                          <a:rPr lang="en-US" sz="3600" b="1">
                            <a:solidFill>
                              <a:srgbClr val="C00000"/>
                            </a:solidFill>
                            <a:latin typeface="Cambria Math"/>
                          </a:rPr>
                          <m:t>𝒙</m:t>
                        </m:r>
                      </m:e>
                    </m:acc>
                  </m:oMath>
                </a14:m>
                <a:r>
                  <a:rPr lang="en-US" sz="3200" i="0" dirty="0">
                    <a:solidFill>
                      <a:srgbClr val="000000"/>
                    </a:solidFill>
                    <a:latin typeface="Times New Roman" pitchFamily="18" charset="0"/>
                  </a:rPr>
                  <a:t>	</a:t>
                </a:r>
                <a:r>
                  <a:rPr lang="en-US" sz="3200" i="0" dirty="0">
                    <a:solidFill>
                      <a:srgbClr val="000000"/>
                    </a:solidFill>
                    <a:latin typeface="Comic Sans MS"/>
                  </a:rPr>
                  <a:t>the mean of a sample</a:t>
                </a:r>
              </a:p>
            </p:txBody>
          </p:sp>
        </mc:Choice>
        <mc:Fallback xmlns="">
          <p:sp>
            <p:nvSpPr>
              <p:cNvPr id="4" name="TextBox 3"/>
              <p:cNvSpPr txBox="1">
                <a:spLocks noRot="1" noChangeAspect="1" noMove="1" noResize="1" noEditPoints="1" noAdjustHandles="1" noChangeArrowheads="1" noChangeShapeType="1" noTextEdit="1"/>
              </p:cNvSpPr>
              <p:nvPr/>
            </p:nvSpPr>
            <p:spPr>
              <a:xfrm>
                <a:off x="457200" y="1944666"/>
                <a:ext cx="8077200" cy="633571"/>
              </a:xfrm>
              <a:prstGeom prst="rect">
                <a:avLst/>
              </a:prstGeom>
              <a:blipFill rotWithShape="1">
                <a:blip r:embed="rId3"/>
                <a:stretch>
                  <a:fillRect t="-4808" b="-30769"/>
                </a:stretch>
              </a:blipFill>
            </p:spPr>
            <p:txBody>
              <a:bodyPr/>
              <a:lstStyle/>
              <a:p>
                <a:r>
                  <a:rPr lang="en-US">
                    <a:noFill/>
                  </a:rPr>
                  <a:t> </a:t>
                </a:r>
              </a:p>
            </p:txBody>
          </p:sp>
        </mc:Fallback>
      </mc:AlternateContent>
      <p:sp>
        <p:nvSpPr>
          <p:cNvPr id="5" name="TextBox 4"/>
          <p:cNvSpPr txBox="1"/>
          <p:nvPr/>
        </p:nvSpPr>
        <p:spPr>
          <a:xfrm>
            <a:off x="446314" y="2578237"/>
            <a:ext cx="7679371" cy="584775"/>
          </a:xfrm>
          <a:prstGeom prst="rect">
            <a:avLst/>
          </a:prstGeom>
          <a:noFill/>
        </p:spPr>
        <p:txBody>
          <a:bodyPr wrap="square" rtlCol="0">
            <a:spAutoFit/>
          </a:bodyPr>
          <a:lstStyle/>
          <a:p>
            <a:pPr eaLnBrk="1" hangingPunct="1"/>
            <a:r>
              <a:rPr lang="en-US" sz="3200" b="1" dirty="0">
                <a:solidFill>
                  <a:srgbClr val="C00000"/>
                </a:solidFill>
                <a:latin typeface="Comic Sans MS"/>
              </a:rPr>
              <a:t>s</a:t>
            </a:r>
            <a:r>
              <a:rPr lang="en-US" sz="3200" i="0" dirty="0">
                <a:solidFill>
                  <a:srgbClr val="000000"/>
                </a:solidFill>
                <a:latin typeface="Comic Sans MS"/>
              </a:rPr>
              <a:t>	the standard deviation of a sample</a:t>
            </a:r>
          </a:p>
        </p:txBody>
      </p:sp>
      <p:sp>
        <p:nvSpPr>
          <p:cNvPr id="6" name="TextBox 5"/>
          <p:cNvSpPr txBox="1"/>
          <p:nvPr/>
        </p:nvSpPr>
        <p:spPr>
          <a:xfrm>
            <a:off x="457200" y="3273626"/>
            <a:ext cx="8229600" cy="1077218"/>
          </a:xfrm>
          <a:prstGeom prst="rect">
            <a:avLst/>
          </a:prstGeom>
          <a:noFill/>
        </p:spPr>
        <p:txBody>
          <a:bodyPr wrap="square" rtlCol="0">
            <a:spAutoFit/>
          </a:bodyPr>
          <a:lstStyle/>
          <a:p>
            <a:pPr marL="914400" indent="-914400" eaLnBrk="1" hangingPunct="1"/>
            <a:r>
              <a:rPr lang="en-US" sz="3200" b="1" dirty="0">
                <a:solidFill>
                  <a:srgbClr val="C00000"/>
                </a:solidFill>
                <a:latin typeface="Symbol" pitchFamily="18" charset="2"/>
              </a:rPr>
              <a:t>m</a:t>
            </a:r>
            <a:r>
              <a:rPr lang="en-US" sz="3200" i="0" dirty="0">
                <a:solidFill>
                  <a:srgbClr val="000000"/>
                </a:solidFill>
                <a:latin typeface="Times New Roman" pitchFamily="18" charset="0"/>
              </a:rPr>
              <a:t>	</a:t>
            </a:r>
            <a:r>
              <a:rPr lang="en-US" sz="3200" i="0" dirty="0">
                <a:solidFill>
                  <a:srgbClr val="000000"/>
                </a:solidFill>
                <a:latin typeface="Comic Sans MS"/>
              </a:rPr>
              <a:t>the mean of the </a:t>
            </a:r>
            <a:r>
              <a:rPr lang="en-US" sz="3200" i="0" dirty="0" smtClean="0">
                <a:solidFill>
                  <a:srgbClr val="000000"/>
                </a:solidFill>
                <a:latin typeface="Comic Sans MS"/>
              </a:rPr>
              <a:t>population from which the sample is selected</a:t>
            </a:r>
            <a:endParaRPr lang="en-US" sz="3200" i="0" dirty="0">
              <a:solidFill>
                <a:srgbClr val="000000"/>
              </a:solidFill>
              <a:latin typeface="Comic Sans MS"/>
            </a:endParaRPr>
          </a:p>
        </p:txBody>
      </p:sp>
      <p:sp>
        <p:nvSpPr>
          <p:cNvPr id="7" name="TextBox 6"/>
          <p:cNvSpPr txBox="1"/>
          <p:nvPr/>
        </p:nvSpPr>
        <p:spPr>
          <a:xfrm>
            <a:off x="511629" y="4350844"/>
            <a:ext cx="8229600" cy="1569660"/>
          </a:xfrm>
          <a:prstGeom prst="rect">
            <a:avLst/>
          </a:prstGeom>
          <a:noFill/>
        </p:spPr>
        <p:txBody>
          <a:bodyPr wrap="square" rtlCol="0">
            <a:spAutoFit/>
          </a:bodyPr>
          <a:lstStyle/>
          <a:p>
            <a:pPr marL="914400" indent="-914400" eaLnBrk="1" hangingPunct="1"/>
            <a:r>
              <a:rPr lang="en-US" sz="3200" b="1" dirty="0">
                <a:solidFill>
                  <a:srgbClr val="C00000"/>
                </a:solidFill>
                <a:latin typeface="Symbol" pitchFamily="18" charset="2"/>
              </a:rPr>
              <a:t>s</a:t>
            </a:r>
            <a:r>
              <a:rPr lang="en-US" sz="3200" i="0" dirty="0">
                <a:solidFill>
                  <a:srgbClr val="000000"/>
                </a:solidFill>
                <a:latin typeface="Times New Roman" pitchFamily="18" charset="0"/>
              </a:rPr>
              <a:t>	</a:t>
            </a:r>
            <a:r>
              <a:rPr lang="en-US" sz="3200" i="0" dirty="0">
                <a:solidFill>
                  <a:srgbClr val="000000"/>
                </a:solidFill>
                <a:latin typeface="Comic Sans MS"/>
              </a:rPr>
              <a:t>the standard deviation of the </a:t>
            </a:r>
            <a:r>
              <a:rPr lang="en-US" sz="3200" i="0" dirty="0" smtClean="0">
                <a:solidFill>
                  <a:srgbClr val="000000"/>
                </a:solidFill>
                <a:latin typeface="Comic Sans MS"/>
              </a:rPr>
              <a:t>population </a:t>
            </a:r>
            <a:r>
              <a:rPr lang="en-US" sz="3200" i="0" dirty="0">
                <a:solidFill>
                  <a:srgbClr val="000000"/>
                </a:solidFill>
                <a:latin typeface="Comic Sans MS"/>
              </a:rPr>
              <a:t>from which the sample is selected</a:t>
            </a:r>
          </a:p>
        </p:txBody>
      </p:sp>
    </p:spTree>
    <p:extLst>
      <p:ext uri="{BB962C8B-B14F-4D97-AF65-F5344CB8AC3E}">
        <p14:creationId xmlns:p14="http://schemas.microsoft.com/office/powerpoint/2010/main" val="232963464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a:xfrm>
            <a:off x="685800" y="152400"/>
            <a:ext cx="7772400" cy="1371600"/>
          </a:xfrm>
        </p:spPr>
        <p:txBody>
          <a:bodyPr/>
          <a:lstStyle/>
          <a:p>
            <a:r>
              <a:rPr lang="en-US" altLang="en-US" dirty="0" smtClean="0"/>
              <a:t>The Importance of the Central Limit Theorem</a:t>
            </a:r>
          </a:p>
        </p:txBody>
      </p:sp>
      <p:sp>
        <p:nvSpPr>
          <p:cNvPr id="3075" name="Content Placeholder 2"/>
          <p:cNvSpPr>
            <a:spLocks noGrp="1"/>
          </p:cNvSpPr>
          <p:nvPr>
            <p:ph idx="1"/>
          </p:nvPr>
        </p:nvSpPr>
        <p:spPr>
          <a:xfrm>
            <a:off x="685800" y="1600200"/>
            <a:ext cx="7772400" cy="2971800"/>
          </a:xfrm>
          <a:solidFill>
            <a:srgbClr val="FFC000"/>
          </a:solidFill>
        </p:spPr>
        <p:txBody>
          <a:bodyPr/>
          <a:lstStyle/>
          <a:p>
            <a:r>
              <a:rPr lang="en-US" altLang="en-US" dirty="0" smtClean="0">
                <a:solidFill>
                  <a:srgbClr val="FF0000"/>
                </a:solidFill>
              </a:rPr>
              <a:t>When we select simple random samples of size n, the sample means we find will vary from sample to sample.  We can model the distribution of these sample means with a probability model that is</a:t>
            </a:r>
          </a:p>
          <a:p>
            <a:endParaRPr lang="en-US" altLang="en-US" dirty="0" smtClean="0"/>
          </a:p>
        </p:txBody>
      </p:sp>
      <p:graphicFrame>
        <p:nvGraphicFramePr>
          <p:cNvPr id="3076" name="Object 2"/>
          <p:cNvGraphicFramePr>
            <a:graphicFrameLocks noChangeAspect="1"/>
          </p:cNvGraphicFramePr>
          <p:nvPr>
            <p:extLst>
              <p:ext uri="{D42A27DB-BD31-4B8C-83A1-F6EECF244321}">
                <p14:modId xmlns:p14="http://schemas.microsoft.com/office/powerpoint/2010/main" val="1974142678"/>
              </p:ext>
            </p:extLst>
          </p:nvPr>
        </p:nvGraphicFramePr>
        <p:xfrm>
          <a:off x="3352800" y="4648200"/>
          <a:ext cx="2438400" cy="1362075"/>
        </p:xfrm>
        <a:graphic>
          <a:graphicData uri="http://schemas.openxmlformats.org/presentationml/2006/ole">
            <mc:AlternateContent xmlns:mc="http://schemas.openxmlformats.org/markup-compatibility/2006">
              <mc:Choice xmlns:v="urn:schemas-microsoft-com:vml" Requires="v">
                <p:oleObj spid="_x0000_s3098" name="Equation" r:id="rId3" imgW="723586" imgH="431613" progId="Equation.DSMT4">
                  <p:embed/>
                </p:oleObj>
              </mc:Choice>
              <mc:Fallback>
                <p:oleObj name="Equation" r:id="rId3" imgW="723586" imgH="431613" progId="Equation.DSMT4">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52800" y="4648200"/>
                        <a:ext cx="2438400" cy="1362075"/>
                      </a:xfrm>
                      <a:prstGeom prst="rect">
                        <a:avLst/>
                      </a:prstGeom>
                      <a:solidFill>
                        <a:schemeClr val="bg1"/>
                      </a:solidFill>
                      <a:ln>
                        <a:solidFill>
                          <a:srgbClr val="FF0000"/>
                        </a:solidFill>
                      </a:ln>
                      <a:effectLst/>
                    </p:spPr>
                  </p:pic>
                </p:oleObj>
              </mc:Fallback>
            </mc:AlternateContent>
          </a:graphicData>
        </a:graphic>
      </p:graphicFrame>
    </p:spTree>
  </p:cSld>
  <p:clrMapOvr>
    <a:masterClrMapping/>
  </p:clrMapOvr>
  <p:transition spd="slow">
    <p:pull dir="lu"/>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7060" name="Text Box 4"/>
          <p:cNvSpPr txBox="1">
            <a:spLocks noChangeArrowheads="1"/>
          </p:cNvSpPr>
          <p:nvPr/>
        </p:nvSpPr>
        <p:spPr bwMode="auto">
          <a:xfrm>
            <a:off x="370114" y="152400"/>
            <a:ext cx="8305800"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7150">
              <a:spcBef>
                <a:spcPct val="0"/>
              </a:spcBef>
              <a:defRPr>
                <a:solidFill>
                  <a:schemeClr val="tx1"/>
                </a:solidFill>
                <a:latin typeface="Arial" charset="0"/>
              </a:defRPr>
            </a:lvl1pPr>
            <a:lvl2pPr>
              <a:spcBef>
                <a:spcPct val="0"/>
              </a:spcBef>
              <a:defRPr>
                <a:solidFill>
                  <a:schemeClr val="tx1"/>
                </a:solidFill>
                <a:latin typeface="Arial" charset="0"/>
              </a:defRPr>
            </a:lvl2pPr>
            <a:lvl3pPr>
              <a:spcBef>
                <a:spcPct val="0"/>
              </a:spcBef>
              <a:defRPr>
                <a:solidFill>
                  <a:schemeClr val="tx1"/>
                </a:solidFill>
                <a:latin typeface="Arial" charset="0"/>
              </a:defRPr>
            </a:lvl3pPr>
            <a:lvl4pPr>
              <a:spcBef>
                <a:spcPct val="0"/>
              </a:spcBef>
              <a:defRPr>
                <a:solidFill>
                  <a:schemeClr val="tx1"/>
                </a:solidFill>
                <a:latin typeface="Arial" charset="0"/>
              </a:defRPr>
            </a:lvl4pPr>
            <a:lvl5pPr>
              <a:spcBef>
                <a:spcPct val="0"/>
              </a:spcBef>
              <a:defRPr>
                <a:solidFill>
                  <a:schemeClr val="tx1"/>
                </a:solidFill>
                <a:latin typeface="Arial" charset="0"/>
              </a:defRPr>
            </a:lvl5pPr>
            <a:lvl6pPr fontAlgn="base">
              <a:spcBef>
                <a:spcPct val="0"/>
              </a:spcBef>
              <a:spcAft>
                <a:spcPct val="0"/>
              </a:spcAft>
              <a:defRPr>
                <a:solidFill>
                  <a:schemeClr val="tx1"/>
                </a:solidFill>
                <a:latin typeface="Arial" charset="0"/>
              </a:defRPr>
            </a:lvl6pPr>
            <a:lvl7pPr fontAlgn="base">
              <a:spcBef>
                <a:spcPct val="0"/>
              </a:spcBef>
              <a:spcAft>
                <a:spcPct val="0"/>
              </a:spcAft>
              <a:defRPr>
                <a:solidFill>
                  <a:schemeClr val="tx1"/>
                </a:solidFill>
                <a:latin typeface="Arial" charset="0"/>
              </a:defRPr>
            </a:lvl7pPr>
            <a:lvl8pPr fontAlgn="base">
              <a:spcBef>
                <a:spcPct val="0"/>
              </a:spcBef>
              <a:spcAft>
                <a:spcPct val="0"/>
              </a:spcAft>
              <a:defRPr>
                <a:solidFill>
                  <a:schemeClr val="tx1"/>
                </a:solidFill>
                <a:latin typeface="Arial" charset="0"/>
              </a:defRPr>
            </a:lvl8pPr>
            <a:lvl9pPr fontAlgn="base">
              <a:spcBef>
                <a:spcPct val="0"/>
              </a:spcBef>
              <a:spcAft>
                <a:spcPct val="0"/>
              </a:spcAft>
              <a:defRPr>
                <a:solidFill>
                  <a:schemeClr val="tx1"/>
                </a:solidFill>
                <a:latin typeface="Arial" charset="0"/>
              </a:defRPr>
            </a:lvl9pPr>
          </a:lstStyle>
          <a:p>
            <a:pPr eaLnBrk="1" hangingPunct="1">
              <a:spcBef>
                <a:spcPct val="50000"/>
              </a:spcBef>
            </a:pPr>
            <a:r>
              <a:rPr lang="en-US" sz="2200" i="0" dirty="0" smtClean="0">
                <a:solidFill>
                  <a:srgbClr val="C00000"/>
                </a:solidFill>
                <a:latin typeface="Comic Sans MS" pitchFamily="66" charset="0"/>
              </a:rPr>
              <a:t>Time </a:t>
            </a:r>
            <a:r>
              <a:rPr lang="en-US" sz="2200" i="0" dirty="0">
                <a:solidFill>
                  <a:srgbClr val="C00000"/>
                </a:solidFill>
                <a:latin typeface="Comic Sans MS" pitchFamily="66" charset="0"/>
              </a:rPr>
              <a:t>(in minutes) from the start of the game to the first goal scored</a:t>
            </a:r>
            <a:r>
              <a:rPr lang="en-US" sz="2200" i="0" dirty="0">
                <a:solidFill>
                  <a:srgbClr val="000000"/>
                </a:solidFill>
                <a:latin typeface="Comic Sans MS" pitchFamily="66" charset="0"/>
              </a:rPr>
              <a:t> </a:t>
            </a:r>
            <a:r>
              <a:rPr lang="en-US" sz="2200" i="0" dirty="0" smtClean="0">
                <a:solidFill>
                  <a:srgbClr val="000000"/>
                </a:solidFill>
                <a:latin typeface="Comic Sans MS" pitchFamily="66" charset="0"/>
              </a:rPr>
              <a:t>for </a:t>
            </a:r>
            <a:r>
              <a:rPr lang="en-US" sz="2200" i="0" dirty="0">
                <a:solidFill>
                  <a:srgbClr val="000000"/>
                </a:solidFill>
                <a:latin typeface="Comic Sans MS" pitchFamily="66" charset="0"/>
              </a:rPr>
              <a:t>281 regular season </a:t>
            </a:r>
            <a:r>
              <a:rPr lang="en-US" sz="2200" i="0" dirty="0" smtClean="0">
                <a:solidFill>
                  <a:srgbClr val="000000"/>
                </a:solidFill>
                <a:latin typeface="Comic Sans MS" pitchFamily="66" charset="0"/>
              </a:rPr>
              <a:t>NHL hockey games </a:t>
            </a:r>
            <a:r>
              <a:rPr lang="en-US" sz="2200" i="0" dirty="0">
                <a:solidFill>
                  <a:srgbClr val="000000"/>
                </a:solidFill>
                <a:latin typeface="Comic Sans MS" pitchFamily="66" charset="0"/>
              </a:rPr>
              <a:t>from </a:t>
            </a:r>
            <a:r>
              <a:rPr lang="en-US" sz="2200" i="0" dirty="0" smtClean="0">
                <a:solidFill>
                  <a:srgbClr val="000000"/>
                </a:solidFill>
                <a:latin typeface="Comic Sans MS" pitchFamily="66" charset="0"/>
              </a:rPr>
              <a:t>a recent season.</a:t>
            </a:r>
            <a:endParaRPr lang="en-US" sz="2200" i="0" dirty="0">
              <a:solidFill>
                <a:srgbClr val="000000"/>
              </a:solidFill>
              <a:latin typeface="Comic Sans MS" pitchFamily="66" charset="0"/>
            </a:endParaRPr>
          </a:p>
        </p:txBody>
      </p:sp>
      <p:graphicFrame>
        <p:nvGraphicFramePr>
          <p:cNvPr id="557061" name="Object 5"/>
          <p:cNvGraphicFramePr>
            <a:graphicFrameLocks noChangeAspect="1"/>
          </p:cNvGraphicFramePr>
          <p:nvPr>
            <p:extLst>
              <p:ext uri="{D42A27DB-BD31-4B8C-83A1-F6EECF244321}">
                <p14:modId xmlns:p14="http://schemas.microsoft.com/office/powerpoint/2010/main" val="1692300447"/>
              </p:ext>
            </p:extLst>
          </p:nvPr>
        </p:nvGraphicFramePr>
        <p:xfrm>
          <a:off x="38100" y="1981200"/>
          <a:ext cx="5791200" cy="4449762"/>
        </p:xfrm>
        <a:graphic>
          <a:graphicData uri="http://schemas.openxmlformats.org/presentationml/2006/ole">
            <mc:AlternateContent xmlns:mc="http://schemas.openxmlformats.org/markup-compatibility/2006">
              <mc:Choice xmlns:v="urn:schemas-microsoft-com:vml" Requires="v">
                <p:oleObj spid="_x0000_s43027" name="Bitmap Image" r:id="rId3" imgW="3619048" imgH="2781688" progId="Paint.Picture">
                  <p:embed/>
                </p:oleObj>
              </mc:Choice>
              <mc:Fallback>
                <p:oleObj name="Bitmap Image" r:id="rId3" imgW="3619048" imgH="2781688" progId="Paint.Picture">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 y="1981200"/>
                        <a:ext cx="5791200" cy="444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57062" name="Text Box 6"/>
          <p:cNvSpPr txBox="1">
            <a:spLocks noChangeArrowheads="1"/>
          </p:cNvSpPr>
          <p:nvPr/>
        </p:nvSpPr>
        <p:spPr bwMode="auto">
          <a:xfrm>
            <a:off x="228600" y="1260396"/>
            <a:ext cx="5410200" cy="430887"/>
          </a:xfrm>
          <a:prstGeom prst="rect">
            <a:avLst/>
          </a:prstGeom>
          <a:solidFill>
            <a:srgbClr val="FFC000"/>
          </a:solidFill>
          <a:ln>
            <a:noFill/>
          </a:ln>
          <a:effectLst/>
          <a:extLst/>
        </p:spPr>
        <p:txBody>
          <a:bodyPr wrap="square">
            <a:spAutoFit/>
          </a:bodyPr>
          <a:lstStyle>
            <a:lvl1pPr>
              <a:spcBef>
                <a:spcPct val="0"/>
              </a:spcBef>
              <a:defRPr>
                <a:solidFill>
                  <a:schemeClr val="tx1"/>
                </a:solidFill>
                <a:latin typeface="Arial" charset="0"/>
              </a:defRPr>
            </a:lvl1pPr>
            <a:lvl2pPr marL="514350">
              <a:spcBef>
                <a:spcPct val="0"/>
              </a:spcBef>
              <a:defRPr>
                <a:solidFill>
                  <a:schemeClr val="tx1"/>
                </a:solidFill>
                <a:latin typeface="Arial" charset="0"/>
              </a:defRPr>
            </a:lvl2pPr>
            <a:lvl3pPr>
              <a:spcBef>
                <a:spcPct val="0"/>
              </a:spcBef>
              <a:defRPr>
                <a:solidFill>
                  <a:schemeClr val="tx1"/>
                </a:solidFill>
                <a:latin typeface="Arial" charset="0"/>
              </a:defRPr>
            </a:lvl3pPr>
            <a:lvl4pPr>
              <a:spcBef>
                <a:spcPct val="0"/>
              </a:spcBef>
              <a:defRPr>
                <a:solidFill>
                  <a:schemeClr val="tx1"/>
                </a:solidFill>
                <a:latin typeface="Arial" charset="0"/>
              </a:defRPr>
            </a:lvl4pPr>
            <a:lvl5pPr>
              <a:spcBef>
                <a:spcPct val="0"/>
              </a:spcBef>
              <a:defRPr>
                <a:solidFill>
                  <a:schemeClr val="tx1"/>
                </a:solidFill>
                <a:latin typeface="Arial" charset="0"/>
              </a:defRPr>
            </a:lvl5pPr>
            <a:lvl6pPr fontAlgn="base">
              <a:spcBef>
                <a:spcPct val="0"/>
              </a:spcBef>
              <a:spcAft>
                <a:spcPct val="0"/>
              </a:spcAft>
              <a:defRPr>
                <a:solidFill>
                  <a:schemeClr val="tx1"/>
                </a:solidFill>
                <a:latin typeface="Arial" charset="0"/>
              </a:defRPr>
            </a:lvl6pPr>
            <a:lvl7pPr fontAlgn="base">
              <a:spcBef>
                <a:spcPct val="0"/>
              </a:spcBef>
              <a:spcAft>
                <a:spcPct val="0"/>
              </a:spcAft>
              <a:defRPr>
                <a:solidFill>
                  <a:schemeClr val="tx1"/>
                </a:solidFill>
                <a:latin typeface="Arial" charset="0"/>
              </a:defRPr>
            </a:lvl7pPr>
            <a:lvl8pPr fontAlgn="base">
              <a:spcBef>
                <a:spcPct val="0"/>
              </a:spcBef>
              <a:spcAft>
                <a:spcPct val="0"/>
              </a:spcAft>
              <a:defRPr>
                <a:solidFill>
                  <a:schemeClr val="tx1"/>
                </a:solidFill>
                <a:latin typeface="Arial" charset="0"/>
              </a:defRPr>
            </a:lvl8pPr>
            <a:lvl9pPr fontAlgn="base">
              <a:spcBef>
                <a:spcPct val="0"/>
              </a:spcBef>
              <a:spcAft>
                <a:spcPct val="0"/>
              </a:spcAft>
              <a:defRPr>
                <a:solidFill>
                  <a:schemeClr val="tx1"/>
                </a:solidFill>
                <a:latin typeface="Arial" charset="0"/>
              </a:defRPr>
            </a:lvl9pPr>
          </a:lstStyle>
          <a:p>
            <a:pPr eaLnBrk="1" hangingPunct="1">
              <a:spcBef>
                <a:spcPct val="50000"/>
              </a:spcBef>
            </a:pPr>
            <a:r>
              <a:rPr lang="en-US" sz="2200" i="0" dirty="0" smtClean="0">
                <a:solidFill>
                  <a:srgbClr val="000000"/>
                </a:solidFill>
                <a:latin typeface="Comic Sans MS" pitchFamily="66" charset="0"/>
              </a:rPr>
              <a:t>mean </a:t>
            </a:r>
            <a:r>
              <a:rPr lang="en-US" sz="2200" dirty="0">
                <a:solidFill>
                  <a:srgbClr val="000000"/>
                </a:solidFill>
                <a:latin typeface="Symbol" pitchFamily="18" charset="2"/>
              </a:rPr>
              <a:t>m</a:t>
            </a:r>
            <a:r>
              <a:rPr lang="en-US" sz="2200" i="0" dirty="0">
                <a:solidFill>
                  <a:srgbClr val="000000"/>
                </a:solidFill>
                <a:latin typeface="Comic Sans MS" pitchFamily="66" charset="0"/>
              </a:rPr>
              <a:t> = </a:t>
            </a:r>
            <a:r>
              <a:rPr lang="en-US" sz="2200" i="0" dirty="0" smtClean="0">
                <a:solidFill>
                  <a:srgbClr val="000000"/>
                </a:solidFill>
                <a:latin typeface="Comic Sans MS" pitchFamily="66" charset="0"/>
              </a:rPr>
              <a:t>13 minutes, median 10 </a:t>
            </a:r>
            <a:r>
              <a:rPr lang="en-US" sz="2200" i="0" dirty="0">
                <a:solidFill>
                  <a:srgbClr val="000000"/>
                </a:solidFill>
                <a:latin typeface="Comic Sans MS" pitchFamily="66" charset="0"/>
              </a:rPr>
              <a:t>minutes.</a:t>
            </a:r>
          </a:p>
        </p:txBody>
      </p:sp>
      <p:pic>
        <p:nvPicPr>
          <p:cNvPr id="43012"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50429" y="1066800"/>
            <a:ext cx="2913626" cy="3200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a:tailEnd/>
              </a14:hiddenLine>
            </a:ext>
          </a:extLst>
        </p:spPr>
      </p:pic>
      <p:sp>
        <p:nvSpPr>
          <p:cNvPr id="2" name="TextBox 1"/>
          <p:cNvSpPr txBox="1"/>
          <p:nvPr/>
        </p:nvSpPr>
        <p:spPr>
          <a:xfrm>
            <a:off x="6172200" y="4419600"/>
            <a:ext cx="2913626" cy="1938992"/>
          </a:xfrm>
          <a:prstGeom prst="rect">
            <a:avLst/>
          </a:prstGeom>
          <a:solidFill>
            <a:srgbClr val="FFC000"/>
          </a:solidFill>
        </p:spPr>
        <p:txBody>
          <a:bodyPr wrap="square" rtlCol="0">
            <a:spAutoFit/>
          </a:bodyPr>
          <a:lstStyle/>
          <a:p>
            <a:r>
              <a:rPr lang="en-US" sz="2000" i="0" dirty="0" smtClean="0">
                <a:solidFill>
                  <a:srgbClr val="FF0000"/>
                </a:solidFill>
                <a:latin typeface="+mn-lt"/>
              </a:rPr>
              <a:t>Histogram of means of 500 samples, each sample with n=30 randomly selected from the population at the left.</a:t>
            </a:r>
            <a:endParaRPr lang="en-US" sz="2000" i="0" dirty="0">
              <a:solidFill>
                <a:srgbClr val="FF0000"/>
              </a:solidFill>
              <a:latin typeface="+mn-lt"/>
            </a:endParaRPr>
          </a:p>
        </p:txBody>
      </p:sp>
    </p:spTree>
    <p:extLst>
      <p:ext uri="{BB962C8B-B14F-4D97-AF65-F5344CB8AC3E}">
        <p14:creationId xmlns:p14="http://schemas.microsoft.com/office/powerpoint/2010/main" val="186214885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5706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5706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43012"/>
                                        </p:tgtEl>
                                        <p:attrNameLst>
                                          <p:attrName>style.visibility</p:attrName>
                                        </p:attrNameLst>
                                      </p:cBhvr>
                                      <p:to>
                                        <p:strVal val="visible"/>
                                      </p:to>
                                    </p:set>
                                    <p:anim calcmode="lin" valueType="num">
                                      <p:cBhvr additive="base">
                                        <p:cTn id="13" dur="500" fill="hold"/>
                                        <p:tgtEl>
                                          <p:spTgt spid="43012"/>
                                        </p:tgtEl>
                                        <p:attrNameLst>
                                          <p:attrName>ppt_x</p:attrName>
                                        </p:attrNameLst>
                                      </p:cBhvr>
                                      <p:tavLst>
                                        <p:tav tm="0">
                                          <p:val>
                                            <p:strVal val="1+#ppt_w/2"/>
                                          </p:val>
                                        </p:tav>
                                        <p:tav tm="100000">
                                          <p:val>
                                            <p:strVal val="#ppt_x"/>
                                          </p:val>
                                        </p:tav>
                                      </p:tavLst>
                                    </p:anim>
                                    <p:anim calcmode="lin" valueType="num">
                                      <p:cBhvr additive="base">
                                        <p:cTn id="14" dur="500" fill="hold"/>
                                        <p:tgtEl>
                                          <p:spTgt spid="43012"/>
                                        </p:tgtEl>
                                        <p:attrNameLst>
                                          <p:attrName>ppt_y</p:attrName>
                                        </p:attrNameLst>
                                      </p:cBhvr>
                                      <p:tavLst>
                                        <p:tav tm="0">
                                          <p:val>
                                            <p:strVal val="#ppt_y"/>
                                          </p:val>
                                        </p:tav>
                                        <p:tav tm="100000">
                                          <p:val>
                                            <p:strVal val="#ppt_y"/>
                                          </p:val>
                                        </p:tav>
                                      </p:tavLst>
                                    </p:anim>
                                  </p:childTnLst>
                                </p:cTn>
                              </p:par>
                              <p:par>
                                <p:cTn id="15" presetID="2" presetClass="entr" presetSubtype="2" fill="hold" grpId="0" nodeType="with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500" fill="hold"/>
                                        <p:tgtEl>
                                          <p:spTgt spid="2"/>
                                        </p:tgtEl>
                                        <p:attrNameLst>
                                          <p:attrName>ppt_x</p:attrName>
                                        </p:attrNameLst>
                                      </p:cBhvr>
                                      <p:tavLst>
                                        <p:tav tm="0">
                                          <p:val>
                                            <p:strVal val="1+#ppt_w/2"/>
                                          </p:val>
                                        </p:tav>
                                        <p:tav tm="100000">
                                          <p:val>
                                            <p:strVal val="#ppt_x"/>
                                          </p:val>
                                        </p:tav>
                                      </p:tavLst>
                                    </p:anim>
                                    <p:anim calcmode="lin" valueType="num">
                                      <p:cBhvr additive="base">
                                        <p:cTn id="1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7062" grpId="0" animBg="1"/>
      <p:bldP spid="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a:xfrm>
            <a:off x="685800" y="381000"/>
            <a:ext cx="7772400" cy="2743200"/>
          </a:xfrm>
          <a:solidFill>
            <a:srgbClr val="FFC000"/>
          </a:solidFill>
        </p:spPr>
        <p:txBody>
          <a:bodyPr/>
          <a:lstStyle/>
          <a:p>
            <a:r>
              <a:rPr lang="en-US" altLang="en-US" dirty="0" smtClean="0">
                <a:solidFill>
                  <a:srgbClr val="FF0000"/>
                </a:solidFill>
              </a:rPr>
              <a:t>Since the sampling model for x is the normal model, when we standardize x we get the standard normal z</a:t>
            </a:r>
          </a:p>
        </p:txBody>
      </p:sp>
      <p:graphicFrame>
        <p:nvGraphicFramePr>
          <p:cNvPr id="4099" name="Object 2"/>
          <p:cNvGraphicFramePr>
            <a:graphicFrameLocks noChangeAspect="1"/>
          </p:cNvGraphicFramePr>
          <p:nvPr>
            <p:extLst>
              <p:ext uri="{D42A27DB-BD31-4B8C-83A1-F6EECF244321}">
                <p14:modId xmlns:p14="http://schemas.microsoft.com/office/powerpoint/2010/main" val="88431839"/>
              </p:ext>
            </p:extLst>
          </p:nvPr>
        </p:nvGraphicFramePr>
        <p:xfrm>
          <a:off x="3352800" y="3200400"/>
          <a:ext cx="2089150" cy="2133600"/>
        </p:xfrm>
        <a:graphic>
          <a:graphicData uri="http://schemas.openxmlformats.org/presentationml/2006/ole">
            <mc:AlternateContent xmlns:mc="http://schemas.openxmlformats.org/markup-compatibility/2006">
              <mc:Choice xmlns:v="urn:schemas-microsoft-com:vml" Requires="v">
                <p:oleObj spid="_x0000_s4141" name="Equation" r:id="rId3" imgW="596900" imgH="609600" progId="Equation.3">
                  <p:embed/>
                </p:oleObj>
              </mc:Choice>
              <mc:Fallback>
                <p:oleObj name="Equation" r:id="rId3" imgW="596900" imgH="6096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52800" y="3200400"/>
                        <a:ext cx="2089150" cy="2133600"/>
                      </a:xfrm>
                      <a:prstGeom prst="rect">
                        <a:avLst/>
                      </a:prstGeom>
                      <a:solidFill>
                        <a:schemeClr val="bg1"/>
                      </a:solidFill>
                      <a:ln w="15875">
                        <a:solidFill>
                          <a:srgbClr val="FF0000"/>
                        </a:solidFill>
                      </a:ln>
                      <a:effectLst/>
                    </p:spPr>
                  </p:pic>
                </p:oleObj>
              </mc:Fallback>
            </mc:AlternateContent>
          </a:graphicData>
        </a:graphic>
      </p:graphicFrame>
      <p:cxnSp>
        <p:nvCxnSpPr>
          <p:cNvPr id="5" name="Straight Connector 4"/>
          <p:cNvCxnSpPr/>
          <p:nvPr/>
        </p:nvCxnSpPr>
        <p:spPr bwMode="auto">
          <a:xfrm>
            <a:off x="1066800" y="1219200"/>
            <a:ext cx="304800" cy="1588"/>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6" name="Straight Connector 5"/>
          <p:cNvCxnSpPr/>
          <p:nvPr/>
        </p:nvCxnSpPr>
        <p:spPr bwMode="auto">
          <a:xfrm>
            <a:off x="5029200" y="1905000"/>
            <a:ext cx="304800" cy="1588"/>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graphicFrame>
        <p:nvGraphicFramePr>
          <p:cNvPr id="4102" name="Object 3"/>
          <p:cNvGraphicFramePr>
            <a:graphicFrameLocks noChangeAspect="1"/>
          </p:cNvGraphicFramePr>
          <p:nvPr>
            <p:extLst>
              <p:ext uri="{D42A27DB-BD31-4B8C-83A1-F6EECF244321}">
                <p14:modId xmlns:p14="http://schemas.microsoft.com/office/powerpoint/2010/main" val="1716191133"/>
              </p:ext>
            </p:extLst>
          </p:nvPr>
        </p:nvGraphicFramePr>
        <p:xfrm>
          <a:off x="2819400" y="5486400"/>
          <a:ext cx="3844925" cy="1143000"/>
        </p:xfrm>
        <a:graphic>
          <a:graphicData uri="http://schemas.openxmlformats.org/presentationml/2006/ole">
            <mc:AlternateContent xmlns:mc="http://schemas.openxmlformats.org/markup-compatibility/2006">
              <mc:Choice xmlns:v="urn:schemas-microsoft-com:vml" Requires="v">
                <p:oleObj spid="_x0000_s4142" name="Equation" r:id="rId5" imgW="1409700" imgH="419100" progId="Equation.3">
                  <p:embed/>
                </p:oleObj>
              </mc:Choice>
              <mc:Fallback>
                <p:oleObj name="Equation" r:id="rId5" imgW="1409700" imgH="4191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19400" y="5486400"/>
                        <a:ext cx="3844925" cy="1143000"/>
                      </a:xfrm>
                      <a:prstGeom prst="rect">
                        <a:avLst/>
                      </a:prstGeom>
                      <a:solidFill>
                        <a:srgbClr val="FFC000"/>
                      </a:solidFill>
                      <a:ln>
                        <a:noFill/>
                      </a:ln>
                      <a:effectLst/>
                    </p:spPr>
                  </p:pic>
                </p:oleObj>
              </mc:Fallback>
            </mc:AlternateContent>
          </a:graphicData>
        </a:graphic>
      </p:graphicFrame>
    </p:spTree>
  </p:cSld>
  <p:clrMapOvr>
    <a:masterClrMapping/>
  </p:clrMapOvr>
  <p:transition spd="slow">
    <p:pull dir="lu"/>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a:xfrm>
            <a:off x="2438400" y="381000"/>
            <a:ext cx="6324600" cy="1371600"/>
          </a:xfrm>
          <a:solidFill>
            <a:srgbClr val="FFC000"/>
          </a:solidFill>
        </p:spPr>
        <p:txBody>
          <a:bodyPr/>
          <a:lstStyle/>
          <a:p>
            <a:pPr algn="l"/>
            <a:r>
              <a:rPr lang="en-US" altLang="en-US" sz="3600" dirty="0" smtClean="0">
                <a:solidFill>
                  <a:srgbClr val="FF0000"/>
                </a:solidFill>
              </a:rPr>
              <a:t>If </a:t>
            </a:r>
            <a:r>
              <a:rPr lang="en-US" altLang="en-US" sz="3600" dirty="0" smtClean="0">
                <a:solidFill>
                  <a:srgbClr val="FF0000"/>
                </a:solidFill>
                <a:sym typeface="Symbol" charset="2"/>
              </a:rPr>
              <a:t> is unknown, we probably don’t know  either.</a:t>
            </a:r>
            <a:endParaRPr lang="en-US" altLang="en-US" sz="3600" dirty="0" smtClean="0">
              <a:solidFill>
                <a:srgbClr val="FF0000"/>
              </a:solidFill>
            </a:endParaRPr>
          </a:p>
        </p:txBody>
      </p:sp>
      <p:sp>
        <p:nvSpPr>
          <p:cNvPr id="5123" name="Content Placeholder 2"/>
          <p:cNvSpPr>
            <a:spLocks noGrp="1"/>
          </p:cNvSpPr>
          <p:nvPr>
            <p:ph idx="1"/>
          </p:nvPr>
        </p:nvSpPr>
        <p:spPr>
          <a:xfrm>
            <a:off x="685800" y="1981200"/>
            <a:ext cx="8229600" cy="4114800"/>
          </a:xfrm>
          <a:solidFill>
            <a:srgbClr val="FFC000"/>
          </a:solidFill>
        </p:spPr>
        <p:txBody>
          <a:bodyPr/>
          <a:lstStyle/>
          <a:p>
            <a:pPr marL="0" indent="0" defTabSz="463550" eaLnBrk="1" hangingPunct="1">
              <a:lnSpc>
                <a:spcPct val="140000"/>
              </a:lnSpc>
              <a:buFont typeface="Wingdings" charset="2"/>
              <a:buNone/>
            </a:pPr>
            <a:r>
              <a:rPr lang="en-US" altLang="en-US" sz="2400" dirty="0" smtClean="0"/>
              <a:t>The </a:t>
            </a:r>
            <a:r>
              <a:rPr lang="en-US" altLang="en-US" sz="2400" u="sng" dirty="0" smtClean="0"/>
              <a:t>sample standard deviation s </a:t>
            </a:r>
            <a:r>
              <a:rPr lang="en-US" altLang="en-US" sz="2400" dirty="0" smtClean="0"/>
              <a:t>provides an estimate of the population standard deviation </a:t>
            </a:r>
            <a:r>
              <a:rPr lang="en-US" altLang="en-US" sz="2400" dirty="0" smtClean="0">
                <a:latin typeface="Symbol" charset="2"/>
              </a:rPr>
              <a:t>s</a:t>
            </a:r>
            <a:endParaRPr lang="en-US" altLang="en-US" sz="2400" dirty="0" smtClean="0"/>
          </a:p>
          <a:p>
            <a:pPr marL="0" indent="0" defTabSz="463550" eaLnBrk="1" hangingPunct="1">
              <a:lnSpc>
                <a:spcPct val="140000"/>
              </a:lnSpc>
              <a:buFont typeface="Wingdings" charset="2"/>
              <a:buNone/>
            </a:pPr>
            <a:r>
              <a:rPr lang="en-US" altLang="en-US" sz="2400" dirty="0" smtClean="0"/>
              <a:t>For a sample of size n,</a:t>
            </a:r>
            <a:br>
              <a:rPr lang="en-US" altLang="en-US" sz="2400" dirty="0" smtClean="0"/>
            </a:br>
            <a:r>
              <a:rPr lang="en-US" altLang="en-US" sz="2400" dirty="0" smtClean="0"/>
              <a:t>the sample standard deviation s is:</a:t>
            </a:r>
          </a:p>
          <a:p>
            <a:pPr marL="0" indent="0" defTabSz="463550" eaLnBrk="1" hangingPunct="1">
              <a:lnSpc>
                <a:spcPct val="140000"/>
              </a:lnSpc>
              <a:buFont typeface="Wingdings" charset="2"/>
              <a:buNone/>
            </a:pPr>
            <a:r>
              <a:rPr lang="en-US" altLang="en-US" sz="2400" dirty="0" smtClean="0"/>
              <a:t>	n </a:t>
            </a:r>
            <a:r>
              <a:rPr lang="en-US" altLang="en-US" sz="2400" dirty="0" smtClean="0">
                <a:cs typeface="Arial" charset="0"/>
              </a:rPr>
              <a:t>−</a:t>
            </a:r>
            <a:r>
              <a:rPr lang="en-US" altLang="en-US" sz="2400" dirty="0" smtClean="0"/>
              <a:t> 1 is the “degrees of freedom.”</a:t>
            </a:r>
          </a:p>
          <a:p>
            <a:pPr marL="0" indent="0" defTabSz="463550" eaLnBrk="1" hangingPunct="1">
              <a:lnSpc>
                <a:spcPct val="140000"/>
              </a:lnSpc>
              <a:buFont typeface="Wingdings" charset="2"/>
              <a:buNone/>
            </a:pPr>
            <a:r>
              <a:rPr lang="en-US" altLang="en-US" sz="2400" dirty="0" smtClean="0"/>
              <a:t>The value </a:t>
            </a:r>
            <a:r>
              <a:rPr lang="en-US" altLang="en-US" sz="2400" b="1" dirty="0" smtClean="0">
                <a:solidFill>
                  <a:srgbClr val="333399"/>
                </a:solidFill>
              </a:rPr>
              <a:t>s/√n</a:t>
            </a:r>
            <a:r>
              <a:rPr lang="en-US" altLang="en-US" sz="2400" dirty="0" smtClean="0"/>
              <a:t> is called the standard error of x , denoted  </a:t>
            </a:r>
            <a:r>
              <a:rPr lang="en-US" altLang="en-US" sz="2400" b="1" dirty="0" smtClean="0">
                <a:solidFill>
                  <a:srgbClr val="333399"/>
                </a:solidFill>
              </a:rPr>
              <a:t>SE(x).  </a:t>
            </a:r>
            <a:endParaRPr lang="en-US" altLang="en-US" sz="2400" b="1" dirty="0" smtClean="0"/>
          </a:p>
        </p:txBody>
      </p:sp>
      <p:graphicFrame>
        <p:nvGraphicFramePr>
          <p:cNvPr id="5124" name="Object 2"/>
          <p:cNvGraphicFramePr>
            <a:graphicFrameLocks noChangeAspect="1"/>
          </p:cNvGraphicFramePr>
          <p:nvPr>
            <p:extLst>
              <p:ext uri="{D42A27DB-BD31-4B8C-83A1-F6EECF244321}">
                <p14:modId xmlns:p14="http://schemas.microsoft.com/office/powerpoint/2010/main" val="3066114849"/>
              </p:ext>
            </p:extLst>
          </p:nvPr>
        </p:nvGraphicFramePr>
        <p:xfrm>
          <a:off x="228600" y="228600"/>
          <a:ext cx="2181225" cy="1143000"/>
        </p:xfrm>
        <a:graphic>
          <a:graphicData uri="http://schemas.openxmlformats.org/presentationml/2006/ole">
            <mc:AlternateContent xmlns:mc="http://schemas.openxmlformats.org/markup-compatibility/2006">
              <mc:Choice xmlns:v="urn:schemas-microsoft-com:vml" Requires="v">
                <p:oleObj spid="_x0000_s5189" name="Equation" r:id="rId3" imgW="800100" imgH="419100" progId="Equation.3">
                  <p:embed/>
                </p:oleObj>
              </mc:Choice>
              <mc:Fallback>
                <p:oleObj name="Equation" r:id="rId3" imgW="800100" imgH="4191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 y="228600"/>
                        <a:ext cx="2181225" cy="1143000"/>
                      </a:xfrm>
                      <a:prstGeom prst="rect">
                        <a:avLst/>
                      </a:prstGeom>
                      <a:solidFill>
                        <a:schemeClr val="bg1"/>
                      </a:solidFill>
                      <a:ln w="19050">
                        <a:solidFill>
                          <a:srgbClr val="FF0000"/>
                        </a:solidFill>
                      </a:ln>
                      <a:effectLst/>
                    </p:spPr>
                  </p:pic>
                </p:oleObj>
              </mc:Fallback>
            </mc:AlternateContent>
          </a:graphicData>
        </a:graphic>
      </p:graphicFrame>
      <p:graphicFrame>
        <p:nvGraphicFramePr>
          <p:cNvPr id="5125" name="Object 8"/>
          <p:cNvGraphicFramePr>
            <a:graphicFrameLocks noChangeAspect="1"/>
          </p:cNvGraphicFramePr>
          <p:nvPr>
            <p:extLst>
              <p:ext uri="{D42A27DB-BD31-4B8C-83A1-F6EECF244321}">
                <p14:modId xmlns:p14="http://schemas.microsoft.com/office/powerpoint/2010/main" val="3776200536"/>
              </p:ext>
            </p:extLst>
          </p:nvPr>
        </p:nvGraphicFramePr>
        <p:xfrm>
          <a:off x="5791200" y="3276600"/>
          <a:ext cx="2895600" cy="928688"/>
        </p:xfrm>
        <a:graphic>
          <a:graphicData uri="http://schemas.openxmlformats.org/presentationml/2006/ole">
            <mc:AlternateContent xmlns:mc="http://schemas.openxmlformats.org/markup-compatibility/2006">
              <mc:Choice xmlns:v="urn:schemas-microsoft-com:vml" Requires="v">
                <p:oleObj spid="_x0000_s5190" name="Equation" r:id="rId5" imgW="1384300" imgH="444500" progId="Equation.3">
                  <p:embed/>
                </p:oleObj>
              </mc:Choice>
              <mc:Fallback>
                <p:oleObj name="Equation" r:id="rId5" imgW="1384300" imgH="444500"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91200" y="3276600"/>
                        <a:ext cx="2895600" cy="928688"/>
                      </a:xfrm>
                      <a:prstGeom prst="rect">
                        <a:avLst/>
                      </a:prstGeom>
                      <a:solidFill>
                        <a:schemeClr val="bg1"/>
                      </a:solidFill>
                      <a:ln w="19050">
                        <a:solidFill>
                          <a:srgbClr val="FF0000"/>
                        </a:solidFill>
                      </a:ln>
                      <a:effectLst/>
                    </p:spPr>
                  </p:pic>
                </p:oleObj>
              </mc:Fallback>
            </mc:AlternateContent>
          </a:graphicData>
        </a:graphic>
      </p:graphicFrame>
      <p:cxnSp>
        <p:nvCxnSpPr>
          <p:cNvPr id="7" name="Straight Connector 6"/>
          <p:cNvCxnSpPr/>
          <p:nvPr/>
        </p:nvCxnSpPr>
        <p:spPr bwMode="auto">
          <a:xfrm>
            <a:off x="7315200" y="4900159"/>
            <a:ext cx="304800" cy="1588"/>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8" name="Straight Connector 7"/>
          <p:cNvCxnSpPr/>
          <p:nvPr/>
        </p:nvCxnSpPr>
        <p:spPr bwMode="auto">
          <a:xfrm>
            <a:off x="2590800" y="5411788"/>
            <a:ext cx="304800" cy="1588"/>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graphicFrame>
        <p:nvGraphicFramePr>
          <p:cNvPr id="5128" name="Object 5"/>
          <p:cNvGraphicFramePr>
            <a:graphicFrameLocks noChangeAspect="1"/>
          </p:cNvGraphicFramePr>
          <p:nvPr>
            <p:extLst>
              <p:ext uri="{D42A27DB-BD31-4B8C-83A1-F6EECF244321}">
                <p14:modId xmlns:p14="http://schemas.microsoft.com/office/powerpoint/2010/main" val="3179398736"/>
              </p:ext>
            </p:extLst>
          </p:nvPr>
        </p:nvGraphicFramePr>
        <p:xfrm>
          <a:off x="4038600" y="5435147"/>
          <a:ext cx="1746250" cy="914400"/>
        </p:xfrm>
        <a:graphic>
          <a:graphicData uri="http://schemas.openxmlformats.org/presentationml/2006/ole">
            <mc:AlternateContent xmlns:mc="http://schemas.openxmlformats.org/markup-compatibility/2006">
              <mc:Choice xmlns:v="urn:schemas-microsoft-com:vml" Requires="v">
                <p:oleObj spid="_x0000_s5191" name="Equation" r:id="rId7" imgW="800100" imgH="419100" progId="Equation.3">
                  <p:embed/>
                </p:oleObj>
              </mc:Choice>
              <mc:Fallback>
                <p:oleObj name="Equation" r:id="rId7" imgW="800100" imgH="419100" progId="Equation.3">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038600" y="5435147"/>
                        <a:ext cx="1746250" cy="914400"/>
                      </a:xfrm>
                      <a:prstGeom prst="rect">
                        <a:avLst/>
                      </a:prstGeom>
                      <a:solidFill>
                        <a:schemeClr val="bg1"/>
                      </a:solidFill>
                      <a:ln w="19050">
                        <a:solidFill>
                          <a:srgbClr val="FF0000"/>
                        </a:solidFill>
                      </a:ln>
                      <a:effectLst/>
                    </p:spPr>
                  </p:pic>
                </p:oleObj>
              </mc:Fallback>
            </mc:AlternateContent>
          </a:graphicData>
        </a:graphic>
      </p:graphicFrame>
    </p:spTree>
  </p:cSld>
  <p:clrMapOvr>
    <a:masterClrMapping/>
  </p:clrMapOvr>
  <p:transition spd="slow">
    <p:pull dir="lu"/>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6" name="Rectangle 1026"/>
          <p:cNvSpPr>
            <a:spLocks noGrp="1" noChangeArrowheads="1"/>
          </p:cNvSpPr>
          <p:nvPr>
            <p:ph type="title"/>
          </p:nvPr>
        </p:nvSpPr>
        <p:spPr>
          <a:xfrm>
            <a:off x="685800" y="381000"/>
            <a:ext cx="7772400" cy="1143000"/>
          </a:xfrm>
          <a:solidFill>
            <a:srgbClr val="FFC000"/>
          </a:solidFill>
        </p:spPr>
        <p:txBody>
          <a:bodyPr/>
          <a:lstStyle/>
          <a:p>
            <a:r>
              <a:rPr lang="en-US" altLang="en-US" dirty="0" smtClean="0">
                <a:solidFill>
                  <a:srgbClr val="FF0000"/>
                </a:solidFill>
              </a:rPr>
              <a:t>Standardize using s for </a:t>
            </a:r>
            <a:r>
              <a:rPr lang="en-US" altLang="en-US" dirty="0" smtClean="0">
                <a:solidFill>
                  <a:srgbClr val="FF0000"/>
                </a:solidFill>
                <a:sym typeface="Symbol" charset="2"/>
              </a:rPr>
              <a:t></a:t>
            </a:r>
            <a:endParaRPr lang="en-US" altLang="en-US" dirty="0" smtClean="0">
              <a:solidFill>
                <a:srgbClr val="FF0000"/>
              </a:solidFill>
            </a:endParaRPr>
          </a:p>
        </p:txBody>
      </p:sp>
      <p:sp>
        <p:nvSpPr>
          <p:cNvPr id="6147" name="Rectangle 1027"/>
          <p:cNvSpPr>
            <a:spLocks noGrp="1" noChangeArrowheads="1"/>
          </p:cNvSpPr>
          <p:nvPr>
            <p:ph idx="1"/>
          </p:nvPr>
        </p:nvSpPr>
        <p:spPr>
          <a:xfrm>
            <a:off x="674688" y="1828800"/>
            <a:ext cx="7772400" cy="2895600"/>
          </a:xfrm>
          <a:solidFill>
            <a:srgbClr val="FFC000"/>
          </a:solidFill>
        </p:spPr>
        <p:txBody>
          <a:bodyPr/>
          <a:lstStyle/>
          <a:p>
            <a:r>
              <a:rPr lang="en-US" altLang="en-US" dirty="0" smtClean="0"/>
              <a:t>Substitute s (sample standard deviation) for </a:t>
            </a:r>
            <a:r>
              <a:rPr lang="en-US" altLang="en-US" dirty="0" smtClean="0">
                <a:sym typeface="Symbol" charset="2"/>
              </a:rPr>
              <a:t></a:t>
            </a:r>
          </a:p>
          <a:p>
            <a:endParaRPr lang="en-US" altLang="en-US" dirty="0" smtClean="0">
              <a:sym typeface="Symbol" charset="2"/>
            </a:endParaRPr>
          </a:p>
          <a:p>
            <a:endParaRPr lang="en-US" altLang="en-US" dirty="0" smtClean="0">
              <a:sym typeface="Symbol" charset="2"/>
            </a:endParaRPr>
          </a:p>
          <a:p>
            <a:endParaRPr lang="en-US" altLang="en-US" dirty="0" smtClean="0">
              <a:sym typeface="Symbol" charset="2"/>
            </a:endParaRPr>
          </a:p>
          <a:p>
            <a:pPr>
              <a:buFont typeface="Monotype Sorts" pitchFamily="2" charset="2"/>
              <a:buNone/>
            </a:pPr>
            <a:endParaRPr lang="en-US" altLang="en-US" dirty="0" smtClean="0">
              <a:sym typeface="Symbol" charset="2"/>
            </a:endParaRPr>
          </a:p>
          <a:p>
            <a:pPr>
              <a:buFont typeface="Monotype Sorts" pitchFamily="2" charset="2"/>
              <a:buNone/>
            </a:pPr>
            <a:endParaRPr lang="en-US" altLang="en-US" dirty="0" smtClean="0"/>
          </a:p>
        </p:txBody>
      </p:sp>
      <p:graphicFrame>
        <p:nvGraphicFramePr>
          <p:cNvPr id="31749" name="Object 1029"/>
          <p:cNvGraphicFramePr>
            <a:graphicFrameLocks noChangeAspect="1"/>
          </p:cNvGraphicFramePr>
          <p:nvPr/>
        </p:nvGraphicFramePr>
        <p:xfrm>
          <a:off x="4876800" y="2895600"/>
          <a:ext cx="1827213" cy="1420813"/>
        </p:xfrm>
        <a:graphic>
          <a:graphicData uri="http://schemas.openxmlformats.org/presentationml/2006/ole">
            <mc:AlternateContent xmlns:mc="http://schemas.openxmlformats.org/markup-compatibility/2006">
              <mc:Choice xmlns:v="urn:schemas-microsoft-com:vml" Requires="v">
                <p:oleObj spid="_x0000_s6369" name="Equation" r:id="rId3" imgW="622030" imgH="609336" progId="Equation.3">
                  <p:embed/>
                </p:oleObj>
              </mc:Choice>
              <mc:Fallback>
                <p:oleObj name="Equation" r:id="rId3" imgW="622030" imgH="609336" progId="Equation.3">
                  <p:embed/>
                  <p:pic>
                    <p:nvPicPr>
                      <p:cNvPr id="0" name="Object 102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76800" y="2895600"/>
                        <a:ext cx="1827213" cy="1420813"/>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750" name="Object 1030"/>
          <p:cNvGraphicFramePr>
            <a:graphicFrameLocks noChangeAspect="1"/>
          </p:cNvGraphicFramePr>
          <p:nvPr/>
        </p:nvGraphicFramePr>
        <p:xfrm>
          <a:off x="2951163" y="3352800"/>
          <a:ext cx="401637" cy="401638"/>
        </p:xfrm>
        <a:graphic>
          <a:graphicData uri="http://schemas.openxmlformats.org/presentationml/2006/ole">
            <mc:AlternateContent xmlns:mc="http://schemas.openxmlformats.org/markup-compatibility/2006">
              <mc:Choice xmlns:v="urn:schemas-microsoft-com:vml" Requires="v">
                <p:oleObj spid="_x0000_s6370" name="Equation" r:id="rId5" imgW="126725" imgH="126725" progId="Equation.3">
                  <p:embed/>
                </p:oleObj>
              </mc:Choice>
              <mc:Fallback>
                <p:oleObj name="Equation" r:id="rId5" imgW="126725" imgH="126725" progId="Equation.3">
                  <p:embed/>
                  <p:pic>
                    <p:nvPicPr>
                      <p:cNvPr id="0" name="Object 103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51163" y="3352800"/>
                        <a:ext cx="401637" cy="401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751" name="Object 1031"/>
          <p:cNvGraphicFramePr>
            <a:graphicFrameLocks noChangeAspect="1"/>
          </p:cNvGraphicFramePr>
          <p:nvPr/>
        </p:nvGraphicFramePr>
        <p:xfrm>
          <a:off x="3200400" y="3276600"/>
          <a:ext cx="401638" cy="401638"/>
        </p:xfrm>
        <a:graphic>
          <a:graphicData uri="http://schemas.openxmlformats.org/presentationml/2006/ole">
            <mc:AlternateContent xmlns:mc="http://schemas.openxmlformats.org/markup-compatibility/2006">
              <mc:Choice xmlns:v="urn:schemas-microsoft-com:vml" Requires="v">
                <p:oleObj spid="_x0000_s6371" name="Equation" r:id="rId7" imgW="126725" imgH="126725" progId="Equation.3">
                  <p:embed/>
                </p:oleObj>
              </mc:Choice>
              <mc:Fallback>
                <p:oleObj name="Equation" r:id="rId7" imgW="126725" imgH="126725" progId="Equation.3">
                  <p:embed/>
                  <p:pic>
                    <p:nvPicPr>
                      <p:cNvPr id="0" name="Object 103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00400" y="3276600"/>
                        <a:ext cx="401638" cy="401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752" name="Object 1032"/>
          <p:cNvGraphicFramePr>
            <a:graphicFrameLocks noChangeAspect="1"/>
          </p:cNvGraphicFramePr>
          <p:nvPr/>
        </p:nvGraphicFramePr>
        <p:xfrm>
          <a:off x="3276600" y="3200400"/>
          <a:ext cx="401638" cy="401638"/>
        </p:xfrm>
        <a:graphic>
          <a:graphicData uri="http://schemas.openxmlformats.org/presentationml/2006/ole">
            <mc:AlternateContent xmlns:mc="http://schemas.openxmlformats.org/markup-compatibility/2006">
              <mc:Choice xmlns:v="urn:schemas-microsoft-com:vml" Requires="v">
                <p:oleObj spid="_x0000_s6372" name="Equation" r:id="rId8" imgW="126725" imgH="126725" progId="Equation.3">
                  <p:embed/>
                </p:oleObj>
              </mc:Choice>
              <mc:Fallback>
                <p:oleObj name="Equation" r:id="rId8" imgW="126725" imgH="126725" progId="Equation.3">
                  <p:embed/>
                  <p:pic>
                    <p:nvPicPr>
                      <p:cNvPr id="0" name="Object 103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76600" y="3200400"/>
                        <a:ext cx="401638" cy="401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753" name="Object 1033"/>
          <p:cNvGraphicFramePr>
            <a:graphicFrameLocks noChangeAspect="1"/>
          </p:cNvGraphicFramePr>
          <p:nvPr/>
        </p:nvGraphicFramePr>
        <p:xfrm>
          <a:off x="3429000" y="3200400"/>
          <a:ext cx="401638" cy="401638"/>
        </p:xfrm>
        <a:graphic>
          <a:graphicData uri="http://schemas.openxmlformats.org/presentationml/2006/ole">
            <mc:AlternateContent xmlns:mc="http://schemas.openxmlformats.org/markup-compatibility/2006">
              <mc:Choice xmlns:v="urn:schemas-microsoft-com:vml" Requires="v">
                <p:oleObj spid="_x0000_s6373" name="Equation" r:id="rId9" imgW="126725" imgH="126725" progId="Equation.3">
                  <p:embed/>
                </p:oleObj>
              </mc:Choice>
              <mc:Fallback>
                <p:oleObj name="Equation" r:id="rId9" imgW="126725" imgH="126725" progId="Equation.3">
                  <p:embed/>
                  <p:pic>
                    <p:nvPicPr>
                      <p:cNvPr id="0" name="Object 103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29000" y="3200400"/>
                        <a:ext cx="401638" cy="401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754" name="Object 1034"/>
          <p:cNvGraphicFramePr>
            <a:graphicFrameLocks noChangeAspect="1"/>
          </p:cNvGraphicFramePr>
          <p:nvPr/>
        </p:nvGraphicFramePr>
        <p:xfrm>
          <a:off x="3581400" y="3200400"/>
          <a:ext cx="401638" cy="401638"/>
        </p:xfrm>
        <a:graphic>
          <a:graphicData uri="http://schemas.openxmlformats.org/presentationml/2006/ole">
            <mc:AlternateContent xmlns:mc="http://schemas.openxmlformats.org/markup-compatibility/2006">
              <mc:Choice xmlns:v="urn:schemas-microsoft-com:vml" Requires="v">
                <p:oleObj spid="_x0000_s6374" name="Equation" r:id="rId10" imgW="126725" imgH="126725" progId="Equation.3">
                  <p:embed/>
                </p:oleObj>
              </mc:Choice>
              <mc:Fallback>
                <p:oleObj name="Equation" r:id="rId10" imgW="126725" imgH="126725" progId="Equation.3">
                  <p:embed/>
                  <p:pic>
                    <p:nvPicPr>
                      <p:cNvPr id="0" name="Object 103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81400" y="3200400"/>
                        <a:ext cx="401638" cy="401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755" name="Object 1035"/>
          <p:cNvGraphicFramePr>
            <a:graphicFrameLocks noChangeAspect="1"/>
          </p:cNvGraphicFramePr>
          <p:nvPr/>
        </p:nvGraphicFramePr>
        <p:xfrm>
          <a:off x="3733800" y="3200400"/>
          <a:ext cx="401638" cy="401638"/>
        </p:xfrm>
        <a:graphic>
          <a:graphicData uri="http://schemas.openxmlformats.org/presentationml/2006/ole">
            <mc:AlternateContent xmlns:mc="http://schemas.openxmlformats.org/markup-compatibility/2006">
              <mc:Choice xmlns:v="urn:schemas-microsoft-com:vml" Requires="v">
                <p:oleObj spid="_x0000_s6375" name="Equation" r:id="rId11" imgW="126725" imgH="126725" progId="Equation.3">
                  <p:embed/>
                </p:oleObj>
              </mc:Choice>
              <mc:Fallback>
                <p:oleObj name="Equation" r:id="rId11" imgW="126725" imgH="126725" progId="Equation.3">
                  <p:embed/>
                  <p:pic>
                    <p:nvPicPr>
                      <p:cNvPr id="0" name="Object 103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33800" y="3200400"/>
                        <a:ext cx="401638" cy="401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756" name="Object 1036"/>
          <p:cNvGraphicFramePr>
            <a:graphicFrameLocks noChangeAspect="1"/>
          </p:cNvGraphicFramePr>
          <p:nvPr/>
        </p:nvGraphicFramePr>
        <p:xfrm>
          <a:off x="3886200" y="3200400"/>
          <a:ext cx="401638" cy="401638"/>
        </p:xfrm>
        <a:graphic>
          <a:graphicData uri="http://schemas.openxmlformats.org/presentationml/2006/ole">
            <mc:AlternateContent xmlns:mc="http://schemas.openxmlformats.org/markup-compatibility/2006">
              <mc:Choice xmlns:v="urn:schemas-microsoft-com:vml" Requires="v">
                <p:oleObj spid="_x0000_s6376" name="Equation" r:id="rId12" imgW="126725" imgH="126725" progId="Equation.3">
                  <p:embed/>
                </p:oleObj>
              </mc:Choice>
              <mc:Fallback>
                <p:oleObj name="Equation" r:id="rId12" imgW="126725" imgH="126725" progId="Equation.3">
                  <p:embed/>
                  <p:pic>
                    <p:nvPicPr>
                      <p:cNvPr id="0" name="Object 103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86200" y="3200400"/>
                        <a:ext cx="401638" cy="401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1758" name="Text Box 1038"/>
          <p:cNvSpPr txBox="1">
            <a:spLocks noChangeArrowheads="1"/>
          </p:cNvSpPr>
          <p:nvPr/>
        </p:nvSpPr>
        <p:spPr bwMode="auto">
          <a:xfrm>
            <a:off x="4191000" y="3048000"/>
            <a:ext cx="36988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b="1" i="0" dirty="0">
                <a:solidFill>
                  <a:srgbClr val="FF3399"/>
                </a:solidFill>
                <a:latin typeface="Arial Narrow" pitchFamily="34" charset="0"/>
              </a:rPr>
              <a:t>s</a:t>
            </a:r>
            <a:endParaRPr lang="en-US" altLang="en-US" sz="2400" b="1" i="0" dirty="0">
              <a:solidFill>
                <a:srgbClr val="FF3399"/>
              </a:solidFill>
              <a:latin typeface="Times New Roman" pitchFamily="18" charset="0"/>
            </a:endParaRPr>
          </a:p>
        </p:txBody>
      </p:sp>
      <p:sp>
        <p:nvSpPr>
          <p:cNvPr id="31759" name="Text Box 1039"/>
          <p:cNvSpPr txBox="1">
            <a:spLocks noChangeArrowheads="1"/>
          </p:cNvSpPr>
          <p:nvPr/>
        </p:nvSpPr>
        <p:spPr bwMode="auto">
          <a:xfrm>
            <a:off x="4419600" y="3048000"/>
            <a:ext cx="36988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b="1" i="0" dirty="0">
                <a:solidFill>
                  <a:srgbClr val="FF3399"/>
                </a:solidFill>
                <a:latin typeface="Arial Narrow" pitchFamily="34" charset="0"/>
              </a:rPr>
              <a:t>s</a:t>
            </a:r>
            <a:endParaRPr lang="en-US" altLang="en-US" sz="2400" b="1" i="0" dirty="0">
              <a:solidFill>
                <a:srgbClr val="FF3399"/>
              </a:solidFill>
              <a:latin typeface="Times New Roman" pitchFamily="18" charset="0"/>
            </a:endParaRPr>
          </a:p>
        </p:txBody>
      </p:sp>
      <p:sp>
        <p:nvSpPr>
          <p:cNvPr id="31760" name="Text Box 1040"/>
          <p:cNvSpPr txBox="1">
            <a:spLocks noChangeArrowheads="1"/>
          </p:cNvSpPr>
          <p:nvPr/>
        </p:nvSpPr>
        <p:spPr bwMode="auto">
          <a:xfrm>
            <a:off x="4648200" y="3048000"/>
            <a:ext cx="36988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b="1" i="0" dirty="0">
                <a:solidFill>
                  <a:srgbClr val="FF3399"/>
                </a:solidFill>
                <a:latin typeface="Arial Narrow" pitchFamily="34" charset="0"/>
              </a:rPr>
              <a:t>s</a:t>
            </a:r>
            <a:endParaRPr lang="en-US" altLang="en-US" sz="2400" b="1" i="0" dirty="0">
              <a:solidFill>
                <a:srgbClr val="FF3399"/>
              </a:solidFill>
              <a:latin typeface="Times New Roman" pitchFamily="18" charset="0"/>
            </a:endParaRPr>
          </a:p>
        </p:txBody>
      </p:sp>
      <p:sp>
        <p:nvSpPr>
          <p:cNvPr id="31761" name="Text Box 1041"/>
          <p:cNvSpPr txBox="1">
            <a:spLocks noChangeArrowheads="1"/>
          </p:cNvSpPr>
          <p:nvPr/>
        </p:nvSpPr>
        <p:spPr bwMode="auto">
          <a:xfrm>
            <a:off x="4876800" y="3048000"/>
            <a:ext cx="36988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b="1" i="0" dirty="0">
                <a:solidFill>
                  <a:srgbClr val="FF3399"/>
                </a:solidFill>
                <a:latin typeface="Arial Narrow" pitchFamily="34" charset="0"/>
              </a:rPr>
              <a:t>s</a:t>
            </a:r>
            <a:endParaRPr lang="en-US" altLang="en-US" sz="2400" b="1" i="0" dirty="0">
              <a:solidFill>
                <a:srgbClr val="FF3399"/>
              </a:solidFill>
              <a:latin typeface="Times New Roman" pitchFamily="18" charset="0"/>
            </a:endParaRPr>
          </a:p>
        </p:txBody>
      </p:sp>
      <p:graphicFrame>
        <p:nvGraphicFramePr>
          <p:cNvPr id="31762" name="Object 1042"/>
          <p:cNvGraphicFramePr>
            <a:graphicFrameLocks noChangeAspect="1"/>
          </p:cNvGraphicFramePr>
          <p:nvPr/>
        </p:nvGraphicFramePr>
        <p:xfrm>
          <a:off x="4038600" y="3200400"/>
          <a:ext cx="401638" cy="401638"/>
        </p:xfrm>
        <a:graphic>
          <a:graphicData uri="http://schemas.openxmlformats.org/presentationml/2006/ole">
            <mc:AlternateContent xmlns:mc="http://schemas.openxmlformats.org/markup-compatibility/2006">
              <mc:Choice xmlns:v="urn:schemas-microsoft-com:vml" Requires="v">
                <p:oleObj spid="_x0000_s6377" name="Equation" r:id="rId13" imgW="126725" imgH="126725" progId="Equation.3">
                  <p:embed/>
                </p:oleObj>
              </mc:Choice>
              <mc:Fallback>
                <p:oleObj name="Equation" r:id="rId13" imgW="126725" imgH="126725" progId="Equation.3">
                  <p:embed/>
                  <p:pic>
                    <p:nvPicPr>
                      <p:cNvPr id="0" name="Object 104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38600" y="3200400"/>
                        <a:ext cx="401638" cy="401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1768" name="Text Box 1048"/>
          <p:cNvSpPr txBox="1">
            <a:spLocks noChangeArrowheads="1"/>
          </p:cNvSpPr>
          <p:nvPr/>
        </p:nvSpPr>
        <p:spPr bwMode="auto">
          <a:xfrm>
            <a:off x="5105400" y="3124200"/>
            <a:ext cx="36988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b="1" i="0" dirty="0">
                <a:solidFill>
                  <a:srgbClr val="FF3399"/>
                </a:solidFill>
                <a:latin typeface="Arial Narrow" pitchFamily="34" charset="0"/>
              </a:rPr>
              <a:t>s</a:t>
            </a:r>
            <a:endParaRPr lang="en-US" altLang="en-US" sz="2400" b="1" i="0" dirty="0">
              <a:solidFill>
                <a:srgbClr val="FF3399"/>
              </a:solidFill>
              <a:latin typeface="Times New Roman" pitchFamily="18" charset="0"/>
            </a:endParaRPr>
          </a:p>
        </p:txBody>
      </p:sp>
      <p:sp>
        <p:nvSpPr>
          <p:cNvPr id="31769" name="Text Box 1049"/>
          <p:cNvSpPr txBox="1">
            <a:spLocks noChangeArrowheads="1"/>
          </p:cNvSpPr>
          <p:nvPr/>
        </p:nvSpPr>
        <p:spPr bwMode="auto">
          <a:xfrm>
            <a:off x="5334000" y="3200400"/>
            <a:ext cx="36988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b="1" i="0" dirty="0">
                <a:solidFill>
                  <a:srgbClr val="FF3399"/>
                </a:solidFill>
                <a:latin typeface="Arial Narrow" pitchFamily="34" charset="0"/>
              </a:rPr>
              <a:t>s</a:t>
            </a:r>
            <a:endParaRPr lang="en-US" altLang="en-US" sz="2400" b="1" i="0" dirty="0">
              <a:solidFill>
                <a:srgbClr val="FF3399"/>
              </a:solidFill>
              <a:latin typeface="Times New Roman" pitchFamily="18" charset="0"/>
            </a:endParaRPr>
          </a:p>
        </p:txBody>
      </p:sp>
      <p:sp>
        <p:nvSpPr>
          <p:cNvPr id="31770" name="Text Box 1050"/>
          <p:cNvSpPr txBox="1">
            <a:spLocks noChangeArrowheads="1"/>
          </p:cNvSpPr>
          <p:nvPr/>
        </p:nvSpPr>
        <p:spPr bwMode="auto">
          <a:xfrm>
            <a:off x="5562600" y="3200400"/>
            <a:ext cx="36988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b="1" i="0" dirty="0">
                <a:solidFill>
                  <a:srgbClr val="FF3399"/>
                </a:solidFill>
                <a:latin typeface="Arial Narrow" pitchFamily="34" charset="0"/>
              </a:rPr>
              <a:t>s</a:t>
            </a:r>
            <a:endParaRPr lang="en-US" altLang="en-US" sz="2400" b="1" i="0" dirty="0">
              <a:solidFill>
                <a:srgbClr val="FF3399"/>
              </a:solidFill>
              <a:latin typeface="Times New Roman" pitchFamily="18" charset="0"/>
            </a:endParaRPr>
          </a:p>
        </p:txBody>
      </p:sp>
      <p:sp>
        <p:nvSpPr>
          <p:cNvPr id="31771" name="Text Box 1051"/>
          <p:cNvSpPr txBox="1">
            <a:spLocks noChangeArrowheads="1"/>
          </p:cNvSpPr>
          <p:nvPr/>
        </p:nvSpPr>
        <p:spPr bwMode="auto">
          <a:xfrm>
            <a:off x="5867400" y="3276600"/>
            <a:ext cx="36988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b="1" i="0" dirty="0">
                <a:solidFill>
                  <a:srgbClr val="FF3399"/>
                </a:solidFill>
                <a:latin typeface="Arial Narrow" pitchFamily="34" charset="0"/>
              </a:rPr>
              <a:t>s</a:t>
            </a:r>
            <a:endParaRPr lang="en-US" altLang="en-US" sz="2400" b="1" i="0" dirty="0">
              <a:solidFill>
                <a:srgbClr val="FF3399"/>
              </a:solidFill>
              <a:latin typeface="Times New Roman" pitchFamily="18" charset="0"/>
            </a:endParaRPr>
          </a:p>
        </p:txBody>
      </p:sp>
      <p:sp>
        <p:nvSpPr>
          <p:cNvPr id="31772" name="Line 1052"/>
          <p:cNvSpPr>
            <a:spLocks noChangeShapeType="1"/>
          </p:cNvSpPr>
          <p:nvPr/>
        </p:nvSpPr>
        <p:spPr bwMode="auto">
          <a:xfrm flipH="1" flipV="1">
            <a:off x="5181600" y="3581400"/>
            <a:ext cx="457200" cy="1828800"/>
          </a:xfrm>
          <a:prstGeom prst="line">
            <a:avLst/>
          </a:prstGeom>
          <a:noFill/>
          <a:ln w="28575">
            <a:solidFill>
              <a:schemeClr val="hlink"/>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dirty="0"/>
          </a:p>
        </p:txBody>
      </p:sp>
      <p:graphicFrame>
        <p:nvGraphicFramePr>
          <p:cNvPr id="31773" name="Object 1053"/>
          <p:cNvGraphicFramePr>
            <a:graphicFrameLocks noChangeAspect="1"/>
          </p:cNvGraphicFramePr>
          <p:nvPr/>
        </p:nvGraphicFramePr>
        <p:xfrm>
          <a:off x="1676400" y="2895600"/>
          <a:ext cx="1371600" cy="1400175"/>
        </p:xfrm>
        <a:graphic>
          <a:graphicData uri="http://schemas.openxmlformats.org/presentationml/2006/ole">
            <mc:AlternateContent xmlns:mc="http://schemas.openxmlformats.org/markup-compatibility/2006">
              <mc:Choice xmlns:v="urn:schemas-microsoft-com:vml" Requires="v">
                <p:oleObj spid="_x0000_s6378" name="Equation" r:id="rId14" imgW="596900" imgH="609600" progId="Equation.3">
                  <p:embed/>
                </p:oleObj>
              </mc:Choice>
              <mc:Fallback>
                <p:oleObj name="Equation" r:id="rId14" imgW="596900" imgH="609600" progId="Equation.3">
                  <p:embed/>
                  <p:pic>
                    <p:nvPicPr>
                      <p:cNvPr id="0" name="Object 1053"/>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676400" y="2895600"/>
                        <a:ext cx="1371600" cy="1400175"/>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 name="TextBox 23"/>
          <p:cNvSpPr txBox="1">
            <a:spLocks noChangeArrowheads="1"/>
          </p:cNvSpPr>
          <p:nvPr/>
        </p:nvSpPr>
        <p:spPr bwMode="auto">
          <a:xfrm>
            <a:off x="152400" y="4953000"/>
            <a:ext cx="8763000" cy="523220"/>
          </a:xfrm>
          <a:prstGeom prst="rect">
            <a:avLst/>
          </a:prstGeom>
          <a:solidFill>
            <a:srgbClr val="FFC000"/>
          </a:solidFill>
          <a:ln>
            <a:noFill/>
          </a:ln>
        </p:spPr>
        <p:txBody>
          <a:bodyPr wrap="square">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sz="2800" i="0" dirty="0">
                <a:solidFill>
                  <a:srgbClr val="FF0000"/>
                </a:solidFill>
                <a:latin typeface="+mn-lt"/>
              </a:rPr>
              <a:t>Note quite </a:t>
            </a:r>
            <a:r>
              <a:rPr lang="en-US" altLang="en-US" sz="2800" i="0" dirty="0" smtClean="0">
                <a:solidFill>
                  <a:srgbClr val="FF0000"/>
                </a:solidFill>
                <a:latin typeface="+mn-lt"/>
              </a:rPr>
              <a:t>correct to label expression on</a:t>
            </a:r>
            <a:r>
              <a:rPr lang="en-US" altLang="en-US" sz="2800" i="0" dirty="0" smtClean="0">
                <a:solidFill>
                  <a:srgbClr val="FF0000"/>
                </a:solidFill>
              </a:rPr>
              <a:t> </a:t>
            </a:r>
            <a:r>
              <a:rPr lang="en-US" altLang="en-US" sz="2800" i="0" dirty="0">
                <a:solidFill>
                  <a:srgbClr val="FF0000"/>
                </a:solidFill>
                <a:latin typeface="+mn-lt"/>
              </a:rPr>
              <a:t>right</a:t>
            </a:r>
            <a:r>
              <a:rPr lang="en-US" altLang="en-US" sz="2800" i="0" dirty="0">
                <a:solidFill>
                  <a:srgbClr val="FF0000"/>
                </a:solidFill>
              </a:rPr>
              <a:t> </a:t>
            </a:r>
            <a:r>
              <a:rPr lang="en-US" altLang="en-US" sz="2800" i="0" dirty="0" smtClean="0">
                <a:solidFill>
                  <a:srgbClr val="FF0000"/>
                </a:solidFill>
                <a:latin typeface="+mn-lt"/>
              </a:rPr>
              <a:t> “z” </a:t>
            </a:r>
            <a:endParaRPr lang="en-US" altLang="en-US" sz="2800" i="0" dirty="0">
              <a:solidFill>
                <a:srgbClr val="FF0000"/>
              </a:solidFill>
              <a:latin typeface="+mn-lt"/>
            </a:endParaRPr>
          </a:p>
        </p:txBody>
      </p:sp>
      <p:sp>
        <p:nvSpPr>
          <p:cNvPr id="25" name="TextBox 24"/>
          <p:cNvSpPr txBox="1">
            <a:spLocks noChangeArrowheads="1"/>
          </p:cNvSpPr>
          <p:nvPr/>
        </p:nvSpPr>
        <p:spPr bwMode="auto">
          <a:xfrm>
            <a:off x="342900" y="5674318"/>
            <a:ext cx="8382000" cy="523220"/>
          </a:xfrm>
          <a:prstGeom prst="rect">
            <a:avLst/>
          </a:prstGeom>
          <a:solidFill>
            <a:srgbClr val="FFC000"/>
          </a:solidFill>
          <a:ln>
            <a:noFill/>
          </a:ln>
        </p:spPr>
        <p:txBody>
          <a:bodyPr wrap="square">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sz="2800" i="0" dirty="0">
                <a:solidFill>
                  <a:srgbClr val="FF0000"/>
                </a:solidFill>
                <a:latin typeface="+mn-lt"/>
                <a:sym typeface="Symbol" charset="2"/>
              </a:rPr>
              <a:t>Not knowing  means using z is no longer correct</a:t>
            </a:r>
            <a:endParaRPr lang="en-US" altLang="en-US" sz="2800" i="0" dirty="0">
              <a:solidFill>
                <a:srgbClr val="FF0000"/>
              </a:solidFill>
              <a:latin typeface="+mn-lt"/>
            </a:endParaRPr>
          </a:p>
        </p:txBody>
      </p:sp>
    </p:spTree>
  </p:cSld>
  <p:clrMapOvr>
    <a:masterClrMapping/>
  </p:clrMapOvr>
  <p:transition spd="slow">
    <p:pull dir="l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31773"/>
                                        </p:tgtEl>
                                        <p:attrNameLst>
                                          <p:attrName>style.visibility</p:attrName>
                                        </p:attrNameLst>
                                      </p:cBhvr>
                                      <p:to>
                                        <p:strVal val="visible"/>
                                      </p:to>
                                    </p:set>
                                    <p:anim calcmode="lin" valueType="num">
                                      <p:cBhvr additive="base">
                                        <p:cTn id="7" dur="500" fill="hold"/>
                                        <p:tgtEl>
                                          <p:spTgt spid="31773"/>
                                        </p:tgtEl>
                                        <p:attrNameLst>
                                          <p:attrName>ppt_x</p:attrName>
                                        </p:attrNameLst>
                                      </p:cBhvr>
                                      <p:tavLst>
                                        <p:tav tm="0">
                                          <p:val>
                                            <p:strVal val="0-#ppt_w/2"/>
                                          </p:val>
                                        </p:tav>
                                        <p:tav tm="100000">
                                          <p:val>
                                            <p:strVal val="#ppt_x"/>
                                          </p:val>
                                        </p:tav>
                                      </p:tavLst>
                                    </p:anim>
                                    <p:anim calcmode="lin" valueType="num">
                                      <p:cBhvr additive="base">
                                        <p:cTn id="8" dur="500" fill="hold"/>
                                        <p:tgtEl>
                                          <p:spTgt spid="31773"/>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499"/>
                                          </p:stCondLst>
                                        </p:cTn>
                                        <p:tgtEl>
                                          <p:spTgt spid="31749"/>
                                        </p:tgtEl>
                                        <p:attrNameLst>
                                          <p:attrName>style.visibility</p:attrName>
                                        </p:attrNameLst>
                                      </p:cBhvr>
                                      <p:to>
                                        <p:strVal val="visible"/>
                                      </p:to>
                                    </p:set>
                                  </p:childTnLst>
                                </p:cTn>
                              </p:par>
                            </p:childTnLst>
                          </p:cTn>
                        </p:par>
                        <p:par>
                          <p:cTn id="13" fill="hold" nodeType="afterGroup">
                            <p:stCondLst>
                              <p:cond delay="500"/>
                            </p:stCondLst>
                            <p:childTnLst>
                              <p:par>
                                <p:cTn id="14" presetID="11" presetClass="entr" presetSubtype="0" fill="hold" nodeType="afterEffect">
                                  <p:stCondLst>
                                    <p:cond delay="500"/>
                                  </p:stCondLst>
                                  <p:childTnLst>
                                    <p:set>
                                      <p:cBhvr>
                                        <p:cTn id="15" dur="75">
                                          <p:stCondLst>
                                            <p:cond delay="0"/>
                                          </p:stCondLst>
                                        </p:cTn>
                                        <p:tgtEl>
                                          <p:spTgt spid="31750"/>
                                        </p:tgtEl>
                                        <p:attrNameLst>
                                          <p:attrName>style.visibility</p:attrName>
                                        </p:attrNameLst>
                                      </p:cBhvr>
                                      <p:to>
                                        <p:strVal val="visible"/>
                                      </p:to>
                                    </p:set>
                                  </p:childTnLst>
                                </p:cTn>
                              </p:par>
                            </p:childTnLst>
                          </p:cTn>
                        </p:par>
                        <p:par>
                          <p:cTn id="16" fill="hold" nodeType="afterGroup">
                            <p:stCondLst>
                              <p:cond delay="1075"/>
                            </p:stCondLst>
                            <p:childTnLst>
                              <p:par>
                                <p:cTn id="17" presetID="11" presetClass="entr" presetSubtype="0" fill="hold" nodeType="afterEffect">
                                  <p:stCondLst>
                                    <p:cond delay="0"/>
                                  </p:stCondLst>
                                  <p:childTnLst>
                                    <p:set>
                                      <p:cBhvr>
                                        <p:cTn id="18" dur="75">
                                          <p:stCondLst>
                                            <p:cond delay="0"/>
                                          </p:stCondLst>
                                        </p:cTn>
                                        <p:tgtEl>
                                          <p:spTgt spid="31751"/>
                                        </p:tgtEl>
                                        <p:attrNameLst>
                                          <p:attrName>style.visibility</p:attrName>
                                        </p:attrNameLst>
                                      </p:cBhvr>
                                      <p:to>
                                        <p:strVal val="visible"/>
                                      </p:to>
                                    </p:set>
                                  </p:childTnLst>
                                </p:cTn>
                              </p:par>
                            </p:childTnLst>
                          </p:cTn>
                        </p:par>
                        <p:par>
                          <p:cTn id="19" fill="hold" nodeType="afterGroup">
                            <p:stCondLst>
                              <p:cond delay="1150"/>
                            </p:stCondLst>
                            <p:childTnLst>
                              <p:par>
                                <p:cTn id="20" presetID="11" presetClass="entr" presetSubtype="0" fill="hold" nodeType="afterEffect">
                                  <p:stCondLst>
                                    <p:cond delay="0"/>
                                  </p:stCondLst>
                                  <p:childTnLst>
                                    <p:set>
                                      <p:cBhvr>
                                        <p:cTn id="21" dur="75">
                                          <p:stCondLst>
                                            <p:cond delay="0"/>
                                          </p:stCondLst>
                                        </p:cTn>
                                        <p:tgtEl>
                                          <p:spTgt spid="31752"/>
                                        </p:tgtEl>
                                        <p:attrNameLst>
                                          <p:attrName>style.visibility</p:attrName>
                                        </p:attrNameLst>
                                      </p:cBhvr>
                                      <p:to>
                                        <p:strVal val="visible"/>
                                      </p:to>
                                    </p:set>
                                  </p:childTnLst>
                                </p:cTn>
                              </p:par>
                            </p:childTnLst>
                          </p:cTn>
                        </p:par>
                        <p:par>
                          <p:cTn id="22" fill="hold" nodeType="afterGroup">
                            <p:stCondLst>
                              <p:cond delay="1225"/>
                            </p:stCondLst>
                            <p:childTnLst>
                              <p:par>
                                <p:cTn id="23" presetID="11" presetClass="entr" presetSubtype="0" fill="hold" nodeType="afterEffect">
                                  <p:stCondLst>
                                    <p:cond delay="0"/>
                                  </p:stCondLst>
                                  <p:childTnLst>
                                    <p:set>
                                      <p:cBhvr>
                                        <p:cTn id="24" dur="75">
                                          <p:stCondLst>
                                            <p:cond delay="0"/>
                                          </p:stCondLst>
                                        </p:cTn>
                                        <p:tgtEl>
                                          <p:spTgt spid="31753"/>
                                        </p:tgtEl>
                                        <p:attrNameLst>
                                          <p:attrName>style.visibility</p:attrName>
                                        </p:attrNameLst>
                                      </p:cBhvr>
                                      <p:to>
                                        <p:strVal val="visible"/>
                                      </p:to>
                                    </p:set>
                                  </p:childTnLst>
                                </p:cTn>
                              </p:par>
                            </p:childTnLst>
                          </p:cTn>
                        </p:par>
                        <p:par>
                          <p:cTn id="25" fill="hold" nodeType="afterGroup">
                            <p:stCondLst>
                              <p:cond delay="1300"/>
                            </p:stCondLst>
                            <p:childTnLst>
                              <p:par>
                                <p:cTn id="26" presetID="11" presetClass="entr" presetSubtype="0" fill="hold" nodeType="afterEffect">
                                  <p:stCondLst>
                                    <p:cond delay="0"/>
                                  </p:stCondLst>
                                  <p:childTnLst>
                                    <p:set>
                                      <p:cBhvr>
                                        <p:cTn id="27" dur="75">
                                          <p:stCondLst>
                                            <p:cond delay="0"/>
                                          </p:stCondLst>
                                        </p:cTn>
                                        <p:tgtEl>
                                          <p:spTgt spid="31754"/>
                                        </p:tgtEl>
                                        <p:attrNameLst>
                                          <p:attrName>style.visibility</p:attrName>
                                        </p:attrNameLst>
                                      </p:cBhvr>
                                      <p:to>
                                        <p:strVal val="visible"/>
                                      </p:to>
                                    </p:set>
                                  </p:childTnLst>
                                </p:cTn>
                              </p:par>
                            </p:childTnLst>
                          </p:cTn>
                        </p:par>
                        <p:par>
                          <p:cTn id="28" fill="hold" nodeType="afterGroup">
                            <p:stCondLst>
                              <p:cond delay="1375"/>
                            </p:stCondLst>
                            <p:childTnLst>
                              <p:par>
                                <p:cTn id="29" presetID="11" presetClass="entr" presetSubtype="0" fill="hold" nodeType="afterEffect">
                                  <p:stCondLst>
                                    <p:cond delay="0"/>
                                  </p:stCondLst>
                                  <p:childTnLst>
                                    <p:set>
                                      <p:cBhvr>
                                        <p:cTn id="30" dur="75">
                                          <p:stCondLst>
                                            <p:cond delay="0"/>
                                          </p:stCondLst>
                                        </p:cTn>
                                        <p:tgtEl>
                                          <p:spTgt spid="31755"/>
                                        </p:tgtEl>
                                        <p:attrNameLst>
                                          <p:attrName>style.visibility</p:attrName>
                                        </p:attrNameLst>
                                      </p:cBhvr>
                                      <p:to>
                                        <p:strVal val="visible"/>
                                      </p:to>
                                    </p:set>
                                  </p:childTnLst>
                                </p:cTn>
                              </p:par>
                            </p:childTnLst>
                          </p:cTn>
                        </p:par>
                        <p:par>
                          <p:cTn id="31" fill="hold" nodeType="afterGroup">
                            <p:stCondLst>
                              <p:cond delay="1450"/>
                            </p:stCondLst>
                            <p:childTnLst>
                              <p:par>
                                <p:cTn id="32" presetID="11" presetClass="entr" presetSubtype="0" fill="hold" nodeType="afterEffect">
                                  <p:stCondLst>
                                    <p:cond delay="0"/>
                                  </p:stCondLst>
                                  <p:childTnLst>
                                    <p:set>
                                      <p:cBhvr>
                                        <p:cTn id="33" dur="500">
                                          <p:stCondLst>
                                            <p:cond delay="0"/>
                                          </p:stCondLst>
                                        </p:cTn>
                                        <p:tgtEl>
                                          <p:spTgt spid="31756"/>
                                        </p:tgtEl>
                                        <p:attrNameLst>
                                          <p:attrName>style.visibility</p:attrName>
                                        </p:attrNameLst>
                                      </p:cBhvr>
                                      <p:to>
                                        <p:strVal val="visible"/>
                                      </p:to>
                                    </p:set>
                                  </p:childTnLst>
                                </p:cTn>
                              </p:par>
                            </p:childTnLst>
                          </p:cTn>
                        </p:par>
                        <p:par>
                          <p:cTn id="34" fill="hold" nodeType="afterGroup">
                            <p:stCondLst>
                              <p:cond delay="1950"/>
                            </p:stCondLst>
                            <p:childTnLst>
                              <p:par>
                                <p:cTn id="35" presetID="11" presetClass="entr" presetSubtype="0" fill="hold" nodeType="afterEffect">
                                  <p:stCondLst>
                                    <p:cond delay="0"/>
                                  </p:stCondLst>
                                  <p:childTnLst>
                                    <p:set>
                                      <p:cBhvr>
                                        <p:cTn id="36" dur="500">
                                          <p:stCondLst>
                                            <p:cond delay="0"/>
                                          </p:stCondLst>
                                        </p:cTn>
                                        <p:tgtEl>
                                          <p:spTgt spid="31762"/>
                                        </p:tgtEl>
                                        <p:attrNameLst>
                                          <p:attrName>style.visibility</p:attrName>
                                        </p:attrNameLst>
                                      </p:cBhvr>
                                      <p:to>
                                        <p:strVal val="visible"/>
                                      </p:to>
                                    </p:set>
                                  </p:childTnLst>
                                </p:cTn>
                              </p:par>
                            </p:childTnLst>
                          </p:cTn>
                        </p:par>
                        <p:par>
                          <p:cTn id="37" fill="hold" nodeType="afterGroup">
                            <p:stCondLst>
                              <p:cond delay="2450"/>
                            </p:stCondLst>
                            <p:childTnLst>
                              <p:par>
                                <p:cTn id="38" presetID="11" presetClass="entr" presetSubtype="0" fill="hold" grpId="0" nodeType="afterEffect">
                                  <p:stCondLst>
                                    <p:cond delay="0"/>
                                  </p:stCondLst>
                                  <p:childTnLst>
                                    <p:set>
                                      <p:cBhvr>
                                        <p:cTn id="39" dur="75">
                                          <p:stCondLst>
                                            <p:cond delay="0"/>
                                          </p:stCondLst>
                                        </p:cTn>
                                        <p:tgtEl>
                                          <p:spTgt spid="31758"/>
                                        </p:tgtEl>
                                        <p:attrNameLst>
                                          <p:attrName>style.visibility</p:attrName>
                                        </p:attrNameLst>
                                      </p:cBhvr>
                                      <p:to>
                                        <p:strVal val="visible"/>
                                      </p:to>
                                    </p:set>
                                  </p:childTnLst>
                                </p:cTn>
                              </p:par>
                            </p:childTnLst>
                          </p:cTn>
                        </p:par>
                        <p:par>
                          <p:cTn id="40" fill="hold" nodeType="afterGroup">
                            <p:stCondLst>
                              <p:cond delay="2525"/>
                            </p:stCondLst>
                            <p:childTnLst>
                              <p:par>
                                <p:cTn id="41" presetID="11" presetClass="entr" presetSubtype="0" fill="hold" grpId="0" nodeType="afterEffect">
                                  <p:stCondLst>
                                    <p:cond delay="0"/>
                                  </p:stCondLst>
                                  <p:childTnLst>
                                    <p:set>
                                      <p:cBhvr>
                                        <p:cTn id="42" dur="75">
                                          <p:stCondLst>
                                            <p:cond delay="0"/>
                                          </p:stCondLst>
                                        </p:cTn>
                                        <p:tgtEl>
                                          <p:spTgt spid="31759"/>
                                        </p:tgtEl>
                                        <p:attrNameLst>
                                          <p:attrName>style.visibility</p:attrName>
                                        </p:attrNameLst>
                                      </p:cBhvr>
                                      <p:to>
                                        <p:strVal val="visible"/>
                                      </p:to>
                                    </p:set>
                                  </p:childTnLst>
                                </p:cTn>
                              </p:par>
                            </p:childTnLst>
                          </p:cTn>
                        </p:par>
                        <p:par>
                          <p:cTn id="43" fill="hold" nodeType="afterGroup">
                            <p:stCondLst>
                              <p:cond delay="2600"/>
                            </p:stCondLst>
                            <p:childTnLst>
                              <p:par>
                                <p:cTn id="44" presetID="11" presetClass="entr" presetSubtype="0" fill="hold" grpId="0" nodeType="afterEffect">
                                  <p:stCondLst>
                                    <p:cond delay="0"/>
                                  </p:stCondLst>
                                  <p:childTnLst>
                                    <p:set>
                                      <p:cBhvr>
                                        <p:cTn id="45" dur="75">
                                          <p:stCondLst>
                                            <p:cond delay="0"/>
                                          </p:stCondLst>
                                        </p:cTn>
                                        <p:tgtEl>
                                          <p:spTgt spid="31760"/>
                                        </p:tgtEl>
                                        <p:attrNameLst>
                                          <p:attrName>style.visibility</p:attrName>
                                        </p:attrNameLst>
                                      </p:cBhvr>
                                      <p:to>
                                        <p:strVal val="visible"/>
                                      </p:to>
                                    </p:set>
                                  </p:childTnLst>
                                </p:cTn>
                              </p:par>
                            </p:childTnLst>
                          </p:cTn>
                        </p:par>
                        <p:par>
                          <p:cTn id="46" fill="hold" nodeType="afterGroup">
                            <p:stCondLst>
                              <p:cond delay="2675"/>
                            </p:stCondLst>
                            <p:childTnLst>
                              <p:par>
                                <p:cTn id="47" presetID="11" presetClass="entr" presetSubtype="0" fill="hold" grpId="0" nodeType="afterEffect">
                                  <p:stCondLst>
                                    <p:cond delay="0"/>
                                  </p:stCondLst>
                                  <p:childTnLst>
                                    <p:set>
                                      <p:cBhvr>
                                        <p:cTn id="48" dur="75">
                                          <p:stCondLst>
                                            <p:cond delay="0"/>
                                          </p:stCondLst>
                                        </p:cTn>
                                        <p:tgtEl>
                                          <p:spTgt spid="31761"/>
                                        </p:tgtEl>
                                        <p:attrNameLst>
                                          <p:attrName>style.visibility</p:attrName>
                                        </p:attrNameLst>
                                      </p:cBhvr>
                                      <p:to>
                                        <p:strVal val="visible"/>
                                      </p:to>
                                    </p:set>
                                  </p:childTnLst>
                                </p:cTn>
                              </p:par>
                            </p:childTnLst>
                          </p:cTn>
                        </p:par>
                        <p:par>
                          <p:cTn id="49" fill="hold" nodeType="afterGroup">
                            <p:stCondLst>
                              <p:cond delay="2750"/>
                            </p:stCondLst>
                            <p:childTnLst>
                              <p:par>
                                <p:cTn id="50" presetID="11" presetClass="entr" presetSubtype="0" fill="hold" grpId="0" nodeType="afterEffect">
                                  <p:stCondLst>
                                    <p:cond delay="0"/>
                                  </p:stCondLst>
                                  <p:childTnLst>
                                    <p:set>
                                      <p:cBhvr>
                                        <p:cTn id="51" dur="75">
                                          <p:stCondLst>
                                            <p:cond delay="0"/>
                                          </p:stCondLst>
                                        </p:cTn>
                                        <p:tgtEl>
                                          <p:spTgt spid="31768"/>
                                        </p:tgtEl>
                                        <p:attrNameLst>
                                          <p:attrName>style.visibility</p:attrName>
                                        </p:attrNameLst>
                                      </p:cBhvr>
                                      <p:to>
                                        <p:strVal val="visible"/>
                                      </p:to>
                                    </p:set>
                                  </p:childTnLst>
                                </p:cTn>
                              </p:par>
                            </p:childTnLst>
                          </p:cTn>
                        </p:par>
                        <p:par>
                          <p:cTn id="52" fill="hold" nodeType="afterGroup">
                            <p:stCondLst>
                              <p:cond delay="2825"/>
                            </p:stCondLst>
                            <p:childTnLst>
                              <p:par>
                                <p:cTn id="53" presetID="11" presetClass="entr" presetSubtype="0" fill="hold" grpId="0" nodeType="afterEffect">
                                  <p:stCondLst>
                                    <p:cond delay="0"/>
                                  </p:stCondLst>
                                  <p:childTnLst>
                                    <p:set>
                                      <p:cBhvr>
                                        <p:cTn id="54" dur="75">
                                          <p:stCondLst>
                                            <p:cond delay="0"/>
                                          </p:stCondLst>
                                        </p:cTn>
                                        <p:tgtEl>
                                          <p:spTgt spid="31769"/>
                                        </p:tgtEl>
                                        <p:attrNameLst>
                                          <p:attrName>style.visibility</p:attrName>
                                        </p:attrNameLst>
                                      </p:cBhvr>
                                      <p:to>
                                        <p:strVal val="visible"/>
                                      </p:to>
                                    </p:set>
                                  </p:childTnLst>
                                </p:cTn>
                              </p:par>
                            </p:childTnLst>
                          </p:cTn>
                        </p:par>
                        <p:par>
                          <p:cTn id="55" fill="hold" nodeType="afterGroup">
                            <p:stCondLst>
                              <p:cond delay="2900"/>
                            </p:stCondLst>
                            <p:childTnLst>
                              <p:par>
                                <p:cTn id="56" presetID="11" presetClass="entr" presetSubtype="0" fill="hold" grpId="0" nodeType="afterEffect">
                                  <p:stCondLst>
                                    <p:cond delay="0"/>
                                  </p:stCondLst>
                                  <p:childTnLst>
                                    <p:set>
                                      <p:cBhvr>
                                        <p:cTn id="57" dur="75">
                                          <p:stCondLst>
                                            <p:cond delay="0"/>
                                          </p:stCondLst>
                                        </p:cTn>
                                        <p:tgtEl>
                                          <p:spTgt spid="31770"/>
                                        </p:tgtEl>
                                        <p:attrNameLst>
                                          <p:attrName>style.visibility</p:attrName>
                                        </p:attrNameLst>
                                      </p:cBhvr>
                                      <p:to>
                                        <p:strVal val="visible"/>
                                      </p:to>
                                    </p:set>
                                  </p:childTnLst>
                                </p:cTn>
                              </p:par>
                            </p:childTnLst>
                          </p:cTn>
                        </p:par>
                        <p:par>
                          <p:cTn id="58" fill="hold" nodeType="afterGroup">
                            <p:stCondLst>
                              <p:cond delay="2975"/>
                            </p:stCondLst>
                            <p:childTnLst>
                              <p:par>
                                <p:cTn id="59" presetID="1" presetClass="entr" presetSubtype="0" fill="hold" grpId="0" nodeType="afterEffect">
                                  <p:stCondLst>
                                    <p:cond delay="0"/>
                                  </p:stCondLst>
                                  <p:childTnLst>
                                    <p:set>
                                      <p:cBhvr>
                                        <p:cTn id="60" dur="1" fill="hold">
                                          <p:stCondLst>
                                            <p:cond delay="499"/>
                                          </p:stCondLst>
                                        </p:cTn>
                                        <p:tgtEl>
                                          <p:spTgt spid="31771"/>
                                        </p:tgtEl>
                                        <p:attrNameLst>
                                          <p:attrName>style.visibility</p:attrName>
                                        </p:attrNameLst>
                                      </p:cBhvr>
                                      <p:to>
                                        <p:strVal val="visible"/>
                                      </p:to>
                                    </p:set>
                                  </p:childTnLst>
                                </p:cTn>
                              </p:par>
                            </p:childTnLst>
                          </p:cTn>
                        </p:par>
                      </p:childTnLst>
                    </p:cTn>
                  </p:par>
                  <p:par>
                    <p:cTn id="61" fill="hold" nodeType="clickPar">
                      <p:stCondLst>
                        <p:cond delay="indefinite"/>
                      </p:stCondLst>
                      <p:childTnLst>
                        <p:par>
                          <p:cTn id="62" fill="hold" nodeType="withGroup">
                            <p:stCondLst>
                              <p:cond delay="0"/>
                            </p:stCondLst>
                            <p:childTnLst>
                              <p:par>
                                <p:cTn id="63" presetID="2" presetClass="entr" presetSubtype="4" fill="hold" grpId="0" nodeType="clickEffect">
                                  <p:stCondLst>
                                    <p:cond delay="0"/>
                                  </p:stCondLst>
                                  <p:childTnLst>
                                    <p:set>
                                      <p:cBhvr>
                                        <p:cTn id="64" dur="1" fill="hold">
                                          <p:stCondLst>
                                            <p:cond delay="0"/>
                                          </p:stCondLst>
                                        </p:cTn>
                                        <p:tgtEl>
                                          <p:spTgt spid="24"/>
                                        </p:tgtEl>
                                        <p:attrNameLst>
                                          <p:attrName>style.visibility</p:attrName>
                                        </p:attrNameLst>
                                      </p:cBhvr>
                                      <p:to>
                                        <p:strVal val="visible"/>
                                      </p:to>
                                    </p:set>
                                    <p:anim calcmode="lin" valueType="num">
                                      <p:cBhvr additive="base">
                                        <p:cTn id="65" dur="500" fill="hold"/>
                                        <p:tgtEl>
                                          <p:spTgt spid="24"/>
                                        </p:tgtEl>
                                        <p:attrNameLst>
                                          <p:attrName>ppt_x</p:attrName>
                                        </p:attrNameLst>
                                      </p:cBhvr>
                                      <p:tavLst>
                                        <p:tav tm="0">
                                          <p:val>
                                            <p:strVal val="#ppt_x"/>
                                          </p:val>
                                        </p:tav>
                                        <p:tav tm="100000">
                                          <p:val>
                                            <p:strVal val="#ppt_x"/>
                                          </p:val>
                                        </p:tav>
                                      </p:tavLst>
                                    </p:anim>
                                    <p:anim calcmode="lin" valueType="num">
                                      <p:cBhvr additive="base">
                                        <p:cTn id="66"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67" fill="hold" nodeType="clickPar">
                      <p:stCondLst>
                        <p:cond delay="indefinite"/>
                      </p:stCondLst>
                      <p:childTnLst>
                        <p:par>
                          <p:cTn id="68" fill="hold" nodeType="withGroup">
                            <p:stCondLst>
                              <p:cond delay="0"/>
                            </p:stCondLst>
                            <p:childTnLst>
                              <p:par>
                                <p:cTn id="69" presetID="2" presetClass="entr" presetSubtype="4" fill="hold" grpId="0" nodeType="clickEffect">
                                  <p:stCondLst>
                                    <p:cond delay="0"/>
                                  </p:stCondLst>
                                  <p:childTnLst>
                                    <p:set>
                                      <p:cBhvr>
                                        <p:cTn id="70" dur="1" fill="hold">
                                          <p:stCondLst>
                                            <p:cond delay="0"/>
                                          </p:stCondLst>
                                        </p:cTn>
                                        <p:tgtEl>
                                          <p:spTgt spid="25"/>
                                        </p:tgtEl>
                                        <p:attrNameLst>
                                          <p:attrName>style.visibility</p:attrName>
                                        </p:attrNameLst>
                                      </p:cBhvr>
                                      <p:to>
                                        <p:strVal val="visible"/>
                                      </p:to>
                                    </p:set>
                                    <p:anim calcmode="lin" valueType="num">
                                      <p:cBhvr additive="base">
                                        <p:cTn id="71" dur="500" fill="hold"/>
                                        <p:tgtEl>
                                          <p:spTgt spid="25"/>
                                        </p:tgtEl>
                                        <p:attrNameLst>
                                          <p:attrName>ppt_x</p:attrName>
                                        </p:attrNameLst>
                                      </p:cBhvr>
                                      <p:tavLst>
                                        <p:tav tm="0">
                                          <p:val>
                                            <p:strVal val="#ppt_x"/>
                                          </p:val>
                                        </p:tav>
                                        <p:tav tm="100000">
                                          <p:val>
                                            <p:strVal val="#ppt_x"/>
                                          </p:val>
                                        </p:tav>
                                      </p:tavLst>
                                    </p:anim>
                                    <p:anim calcmode="lin" valueType="num">
                                      <p:cBhvr additive="base">
                                        <p:cTn id="72" dur="500" fill="hold"/>
                                        <p:tgtEl>
                                          <p:spTgt spid="25"/>
                                        </p:tgtEl>
                                        <p:attrNameLst>
                                          <p:attrName>ppt_y</p:attrName>
                                        </p:attrNameLst>
                                      </p:cBhvr>
                                      <p:tavLst>
                                        <p:tav tm="0">
                                          <p:val>
                                            <p:strVal val="1+#ppt_h/2"/>
                                          </p:val>
                                        </p:tav>
                                        <p:tav tm="100000">
                                          <p:val>
                                            <p:strVal val="#ppt_y"/>
                                          </p:val>
                                        </p:tav>
                                      </p:tavLst>
                                    </p:anim>
                                  </p:childTnLst>
                                </p:cTn>
                              </p:par>
                              <p:par>
                                <p:cTn id="73" presetID="1" presetClass="entr" presetSubtype="0" fill="hold" grpId="0" nodeType="withEffect">
                                  <p:stCondLst>
                                    <p:cond delay="0"/>
                                  </p:stCondLst>
                                  <p:childTnLst>
                                    <p:set>
                                      <p:cBhvr>
                                        <p:cTn id="74" dur="1" fill="hold">
                                          <p:stCondLst>
                                            <p:cond delay="499"/>
                                          </p:stCondLst>
                                        </p:cTn>
                                        <p:tgtEl>
                                          <p:spTgt spid="317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58" grpId="0" autoUpdateAnimBg="0"/>
      <p:bldP spid="31759" grpId="0" autoUpdateAnimBg="0"/>
      <p:bldP spid="31760" grpId="0" autoUpdateAnimBg="0"/>
      <p:bldP spid="31761" grpId="0" autoUpdateAnimBg="0"/>
      <p:bldP spid="31768" grpId="0" autoUpdateAnimBg="0"/>
      <p:bldP spid="31769" grpId="0" autoUpdateAnimBg="0"/>
      <p:bldP spid="31770" grpId="0" autoUpdateAnimBg="0"/>
      <p:bldP spid="31771" grpId="0" autoUpdateAnimBg="0"/>
      <p:bldP spid="31772" grpId="0" animBg="1"/>
      <p:bldP spid="24" grpId="0" animBg="1"/>
      <p:bldP spid="2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685800" y="76200"/>
            <a:ext cx="7772400" cy="685800"/>
          </a:xfrm>
          <a:solidFill>
            <a:srgbClr val="FFC000"/>
          </a:solidFill>
        </p:spPr>
        <p:txBody>
          <a:bodyPr/>
          <a:lstStyle/>
          <a:p>
            <a:r>
              <a:rPr lang="en-US" altLang="en-US" dirty="0" smtClean="0">
                <a:solidFill>
                  <a:srgbClr val="FF0000"/>
                </a:solidFill>
              </a:rPr>
              <a:t>t-distributions</a:t>
            </a:r>
          </a:p>
        </p:txBody>
      </p:sp>
      <p:sp>
        <p:nvSpPr>
          <p:cNvPr id="7171" name="Content Placeholder 2"/>
          <p:cNvSpPr>
            <a:spLocks noGrp="1"/>
          </p:cNvSpPr>
          <p:nvPr>
            <p:ph idx="1"/>
          </p:nvPr>
        </p:nvSpPr>
        <p:spPr>
          <a:xfrm>
            <a:off x="326571" y="914400"/>
            <a:ext cx="8534400" cy="2895600"/>
          </a:xfrm>
          <a:solidFill>
            <a:srgbClr val="FFC000"/>
          </a:solidFill>
        </p:spPr>
        <p:txBody>
          <a:bodyPr/>
          <a:lstStyle/>
          <a:p>
            <a:pPr marL="0" indent="0" eaLnBrk="1" hangingPunct="1">
              <a:lnSpc>
                <a:spcPct val="160000"/>
              </a:lnSpc>
              <a:spcAft>
                <a:spcPct val="75000"/>
              </a:spcAft>
              <a:buFont typeface="Wingdings" charset="2"/>
              <a:buNone/>
            </a:pPr>
            <a:r>
              <a:rPr lang="en-US" altLang="en-US" sz="2400" dirty="0" smtClean="0"/>
              <a:t>Suppose that a Simple Random Sample of size n is drawn from a population whose distribution can be approximated by a N(µ, σ) model. When </a:t>
            </a:r>
            <a:r>
              <a:rPr lang="en-US" altLang="en-US" sz="2400" dirty="0" smtClean="0">
                <a:latin typeface="Symbol" charset="2"/>
              </a:rPr>
              <a:t>s</a:t>
            </a:r>
            <a:r>
              <a:rPr lang="en-US" altLang="en-US" sz="2400" dirty="0" smtClean="0"/>
              <a:t> is known, the sampling model for the mean x is N(</a:t>
            </a:r>
            <a:r>
              <a:rPr lang="en-US" altLang="en-US" sz="2400" dirty="0" smtClean="0">
                <a:latin typeface="Symbol" charset="2"/>
              </a:rPr>
              <a:t>m, s</a:t>
            </a:r>
            <a:r>
              <a:rPr lang="en-US" altLang="en-US" sz="2400" dirty="0" smtClean="0"/>
              <a:t>/√n), so            is approximately Z~N(0,1).</a:t>
            </a:r>
          </a:p>
          <a:p>
            <a:pPr marL="0" indent="0" eaLnBrk="1" hangingPunct="1">
              <a:lnSpc>
                <a:spcPct val="160000"/>
              </a:lnSpc>
              <a:spcAft>
                <a:spcPct val="75000"/>
              </a:spcAft>
              <a:buFont typeface="Monotype Sorts" pitchFamily="2" charset="2"/>
              <a:buNone/>
            </a:pPr>
            <a:r>
              <a:rPr lang="en-US" altLang="en-US" dirty="0" smtClean="0"/>
              <a:t> </a:t>
            </a:r>
            <a:endParaRPr lang="en-US" altLang="en-US" sz="2400" dirty="0" smtClean="0"/>
          </a:p>
        </p:txBody>
      </p:sp>
      <p:cxnSp>
        <p:nvCxnSpPr>
          <p:cNvPr id="5" name="Straight Connector 4"/>
          <p:cNvCxnSpPr/>
          <p:nvPr/>
        </p:nvCxnSpPr>
        <p:spPr bwMode="auto">
          <a:xfrm>
            <a:off x="2313214" y="2895600"/>
            <a:ext cx="228600" cy="1588"/>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7173" name="TextBox 5"/>
          <p:cNvSpPr txBox="1">
            <a:spLocks noChangeArrowheads="1"/>
          </p:cNvSpPr>
          <p:nvPr/>
        </p:nvSpPr>
        <p:spPr bwMode="auto">
          <a:xfrm>
            <a:off x="413657" y="3927248"/>
            <a:ext cx="8458200" cy="120032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sz="2400" i="0" dirty="0">
                <a:solidFill>
                  <a:srgbClr val="FF0000"/>
                </a:solidFill>
                <a:latin typeface="+mn-lt"/>
              </a:rPr>
              <a:t>When s is estimated from the sample standard deviation </a:t>
            </a:r>
            <a:r>
              <a:rPr lang="en-US" altLang="en-US" sz="2400" i="0" dirty="0" smtClean="0">
                <a:solidFill>
                  <a:srgbClr val="FF0000"/>
                </a:solidFill>
                <a:latin typeface="+mn-lt"/>
              </a:rPr>
              <a:t>s, the </a:t>
            </a:r>
            <a:r>
              <a:rPr lang="en-US" altLang="en-US" sz="2400" i="0" dirty="0">
                <a:solidFill>
                  <a:srgbClr val="FF0000"/>
                </a:solidFill>
                <a:latin typeface="+mn-lt"/>
              </a:rPr>
              <a:t>sampling model for         follows a</a:t>
            </a:r>
            <a:endParaRPr lang="en-US" altLang="en-US" sz="2400" b="1" i="0" dirty="0">
              <a:solidFill>
                <a:srgbClr val="FF0000"/>
              </a:solidFill>
              <a:latin typeface="+mn-lt"/>
            </a:endParaRPr>
          </a:p>
          <a:p>
            <a:pPr>
              <a:spcBef>
                <a:spcPct val="0"/>
              </a:spcBef>
              <a:buClrTx/>
              <a:buSzTx/>
              <a:buFontTx/>
              <a:buNone/>
            </a:pPr>
            <a:r>
              <a:rPr lang="en-US" altLang="en-US" sz="2400" b="1" dirty="0">
                <a:solidFill>
                  <a:srgbClr val="333399"/>
                </a:solidFill>
              </a:rPr>
              <a:t>t distribution with degrees of freedom n </a:t>
            </a:r>
            <a:r>
              <a:rPr lang="en-US" altLang="en-US" sz="2400" b="1" dirty="0">
                <a:solidFill>
                  <a:srgbClr val="333399"/>
                </a:solidFill>
                <a:cs typeface="Arial" charset="0"/>
              </a:rPr>
              <a:t>− </a:t>
            </a:r>
            <a:r>
              <a:rPr lang="en-US" altLang="en-US" sz="2400" b="1" dirty="0">
                <a:solidFill>
                  <a:srgbClr val="333399"/>
                </a:solidFill>
              </a:rPr>
              <a:t>1.</a:t>
            </a:r>
            <a:endParaRPr lang="en-US" altLang="en-US" sz="2400" dirty="0"/>
          </a:p>
        </p:txBody>
      </p:sp>
      <p:sp>
        <p:nvSpPr>
          <p:cNvPr id="7174" name="TextBox 9"/>
          <p:cNvSpPr txBox="1">
            <a:spLocks noChangeArrowheads="1"/>
          </p:cNvSpPr>
          <p:nvPr/>
        </p:nvSpPr>
        <p:spPr bwMode="auto">
          <a:xfrm>
            <a:off x="1752600" y="5334000"/>
            <a:ext cx="6400800" cy="1200150"/>
          </a:xfrm>
          <a:prstGeom prst="rect">
            <a:avLst/>
          </a:prstGeom>
          <a:solidFill>
            <a:srgbClr val="FFFFFF"/>
          </a:solidFill>
          <a:ln w="19050">
            <a:solidFill>
              <a:srgbClr val="FF0000"/>
            </a:solidFill>
            <a:miter lim="800000"/>
            <a:headEnd/>
            <a:tailEnd/>
          </a:ln>
        </p:spPr>
        <p:txBody>
          <a:bodyPr>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sz="2400" dirty="0"/>
              <a:t>			</a:t>
            </a:r>
          </a:p>
          <a:p>
            <a:pPr>
              <a:spcBef>
                <a:spcPct val="0"/>
              </a:spcBef>
              <a:buClrTx/>
              <a:buSzTx/>
              <a:buFontTx/>
              <a:buNone/>
            </a:pPr>
            <a:r>
              <a:rPr lang="en-US" altLang="en-US" sz="2400" dirty="0"/>
              <a:t>		</a:t>
            </a:r>
            <a:r>
              <a:rPr lang="en-US" altLang="en-US" sz="2400" i="0" dirty="0">
                <a:latin typeface="+mn-lt"/>
              </a:rPr>
              <a:t>is the 1-sample t statistic</a:t>
            </a:r>
          </a:p>
          <a:p>
            <a:pPr>
              <a:spcBef>
                <a:spcPct val="0"/>
              </a:spcBef>
              <a:buClrTx/>
              <a:buSzTx/>
              <a:buFontTx/>
              <a:buNone/>
            </a:pPr>
            <a:endParaRPr lang="en-US" altLang="en-US" sz="2400" dirty="0"/>
          </a:p>
        </p:txBody>
      </p:sp>
      <p:graphicFrame>
        <p:nvGraphicFramePr>
          <p:cNvPr id="7175" name="Object 1044"/>
          <p:cNvGraphicFramePr>
            <a:graphicFrameLocks noChangeAspect="1"/>
          </p:cNvGraphicFramePr>
          <p:nvPr>
            <p:extLst>
              <p:ext uri="{D42A27DB-BD31-4B8C-83A1-F6EECF244321}">
                <p14:modId xmlns:p14="http://schemas.microsoft.com/office/powerpoint/2010/main" val="645638998"/>
              </p:ext>
            </p:extLst>
          </p:nvPr>
        </p:nvGraphicFramePr>
        <p:xfrm>
          <a:off x="2057400" y="5421312"/>
          <a:ext cx="1473200" cy="1025525"/>
        </p:xfrm>
        <a:graphic>
          <a:graphicData uri="http://schemas.openxmlformats.org/presentationml/2006/ole">
            <mc:AlternateContent xmlns:mc="http://schemas.openxmlformats.org/markup-compatibility/2006">
              <mc:Choice xmlns:v="urn:schemas-microsoft-com:vml" Requires="v">
                <p:oleObj spid="_x0000_s7238" name="Equation" r:id="rId3" imgW="584200" imgH="406400" progId="Equation.3">
                  <p:embed/>
                </p:oleObj>
              </mc:Choice>
              <mc:Fallback>
                <p:oleObj name="Equation" r:id="rId3" imgW="584200" imgH="406400" progId="Equation.3">
                  <p:embed/>
                  <p:pic>
                    <p:nvPicPr>
                      <p:cNvPr id="0" name="Object 104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7400" y="5421312"/>
                        <a:ext cx="1473200" cy="1025525"/>
                      </a:xfrm>
                      <a:prstGeom prst="rect">
                        <a:avLst/>
                      </a:prstGeom>
                      <a:solidFill>
                        <a:srgbClr val="FFFFFF"/>
                      </a:solidFill>
                      <a:ln>
                        <a:noFill/>
                      </a:ln>
                      <a:effectLst/>
                      <a:extLst>
                        <a:ext uri="{91240B29-F687-4F45-9708-019B960494DF}">
                          <a14:hiddenLine xmlns:a14="http://schemas.microsoft.com/office/drawing/2010/main" w="9525">
                            <a:solidFill>
                              <a:schemeClr val="hlink"/>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76" name="Object 1"/>
          <p:cNvGraphicFramePr>
            <a:graphicFrameLocks noChangeAspect="1"/>
          </p:cNvGraphicFramePr>
          <p:nvPr>
            <p:extLst>
              <p:ext uri="{D42A27DB-BD31-4B8C-83A1-F6EECF244321}">
                <p14:modId xmlns:p14="http://schemas.microsoft.com/office/powerpoint/2010/main" val="3136754161"/>
              </p:ext>
            </p:extLst>
          </p:nvPr>
        </p:nvGraphicFramePr>
        <p:xfrm>
          <a:off x="4171270" y="4269443"/>
          <a:ext cx="471487" cy="515938"/>
        </p:xfrm>
        <a:graphic>
          <a:graphicData uri="http://schemas.openxmlformats.org/presentationml/2006/ole">
            <mc:AlternateContent xmlns:mc="http://schemas.openxmlformats.org/markup-compatibility/2006">
              <mc:Choice xmlns:v="urn:schemas-microsoft-com:vml" Requires="v">
                <p:oleObj spid="_x0000_s7239" name="Equation" r:id="rId5" imgW="393529" imgH="431613" progId="Equation.3">
                  <p:embed/>
                </p:oleObj>
              </mc:Choice>
              <mc:Fallback>
                <p:oleObj name="Equation" r:id="rId5" imgW="393529" imgH="431613" progId="Equation.3">
                  <p:embed/>
                  <p:pic>
                    <p:nvPicPr>
                      <p:cNvPr id="0"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71270" y="4269443"/>
                        <a:ext cx="471487" cy="515938"/>
                      </a:xfrm>
                      <a:prstGeom prst="rect">
                        <a:avLst/>
                      </a:prstGeom>
                      <a:solidFill>
                        <a:srgbClr val="FED58A"/>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177" name="Object 2"/>
          <p:cNvGraphicFramePr>
            <a:graphicFrameLocks noChangeAspect="1"/>
          </p:cNvGraphicFramePr>
          <p:nvPr>
            <p:extLst>
              <p:ext uri="{D42A27DB-BD31-4B8C-83A1-F6EECF244321}">
                <p14:modId xmlns:p14="http://schemas.microsoft.com/office/powerpoint/2010/main" val="3490580281"/>
              </p:ext>
            </p:extLst>
          </p:nvPr>
        </p:nvGraphicFramePr>
        <p:xfrm>
          <a:off x="5105400" y="2789238"/>
          <a:ext cx="676275" cy="676275"/>
        </p:xfrm>
        <a:graphic>
          <a:graphicData uri="http://schemas.openxmlformats.org/presentationml/2006/ole">
            <mc:AlternateContent xmlns:mc="http://schemas.openxmlformats.org/markup-compatibility/2006">
              <mc:Choice xmlns:v="urn:schemas-microsoft-com:vml" Requires="v">
                <p:oleObj spid="_x0000_s7240" name="Equation" r:id="rId7" imgW="431613" imgH="431613" progId="Equation.3">
                  <p:embed/>
                </p:oleObj>
              </mc:Choice>
              <mc:Fallback>
                <p:oleObj name="Equation" r:id="rId7" imgW="431613" imgH="431613" progId="Equation.3">
                  <p:embed/>
                  <p:pic>
                    <p:nvPicPr>
                      <p:cNvPr id="0" name="Object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105400" y="2789238"/>
                        <a:ext cx="676275" cy="676275"/>
                      </a:xfrm>
                      <a:prstGeom prst="rect">
                        <a:avLst/>
                      </a:prstGeom>
                      <a:solidFill>
                        <a:schemeClr val="bg1"/>
                      </a:solidFill>
                      <a:ln>
                        <a:noFill/>
                      </a:ln>
                    </p:spPr>
                  </p:pic>
                </p:oleObj>
              </mc:Fallback>
            </mc:AlternateContent>
          </a:graphicData>
        </a:graphic>
      </p:graphicFrame>
    </p:spTree>
  </p:cSld>
  <p:clrMapOvr>
    <a:masterClrMapping/>
  </p:clrMapOvr>
  <p:transition spd="slow">
    <p:pull dir="lu"/>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1026"/>
          <p:cNvSpPr>
            <a:spLocks noGrp="1" noChangeArrowheads="1"/>
          </p:cNvSpPr>
          <p:nvPr>
            <p:ph type="title"/>
          </p:nvPr>
        </p:nvSpPr>
        <p:spPr>
          <a:xfrm>
            <a:off x="609600" y="152400"/>
            <a:ext cx="7772400" cy="838200"/>
          </a:xfrm>
        </p:spPr>
        <p:txBody>
          <a:bodyPr/>
          <a:lstStyle/>
          <a:p>
            <a:r>
              <a:rPr lang="en-US" altLang="en-US" sz="4000" dirty="0" smtClean="0">
                <a:solidFill>
                  <a:srgbClr val="FF0000"/>
                </a:solidFill>
              </a:rPr>
              <a:t>Confidence Interval Estimates</a:t>
            </a:r>
          </a:p>
        </p:txBody>
      </p:sp>
      <p:sp>
        <p:nvSpPr>
          <p:cNvPr id="34819" name="Rectangle 1027"/>
          <p:cNvSpPr>
            <a:spLocks noGrp="1" noChangeArrowheads="1"/>
          </p:cNvSpPr>
          <p:nvPr>
            <p:ph sz="half" idx="1"/>
          </p:nvPr>
        </p:nvSpPr>
        <p:spPr>
          <a:xfrm>
            <a:off x="457200" y="1143000"/>
            <a:ext cx="3810000" cy="5562600"/>
          </a:xfrm>
          <a:solidFill>
            <a:srgbClr val="FFFFFF"/>
          </a:solidFill>
          <a:ln w="19050">
            <a:solidFill>
              <a:srgbClr val="FF0000"/>
            </a:solidFill>
          </a:ln>
        </p:spPr>
        <p:txBody>
          <a:bodyPr/>
          <a:lstStyle/>
          <a:p>
            <a:pPr>
              <a:defRPr/>
            </a:pPr>
            <a:r>
              <a:rPr lang="en-US" sz="3000" dirty="0" smtClean="0">
                <a:solidFill>
                  <a:srgbClr val="990000"/>
                </a:solidFill>
                <a:effectLst>
                  <a:outerShdw blurRad="38100" dist="38100" dir="2700000" algn="tl">
                    <a:srgbClr val="C0C0C0"/>
                  </a:outerShdw>
                </a:effectLst>
              </a:rPr>
              <a:t>CONFIDENCE INTERVAL for </a:t>
            </a:r>
            <a:r>
              <a:rPr lang="en-US" sz="3000" dirty="0" smtClean="0">
                <a:solidFill>
                  <a:srgbClr val="990000"/>
                </a:solidFill>
                <a:effectLst>
                  <a:outerShdw blurRad="38100" dist="38100" dir="2700000" algn="tl">
                    <a:srgbClr val="C0C0C0"/>
                  </a:outerShdw>
                </a:effectLst>
                <a:sym typeface="Symbol" pitchFamily="18" charset="2"/>
              </a:rPr>
              <a:t></a:t>
            </a:r>
            <a:r>
              <a:rPr lang="en-US" sz="3000" dirty="0" smtClean="0">
                <a:solidFill>
                  <a:srgbClr val="990000"/>
                </a:solidFill>
                <a:effectLst>
                  <a:outerShdw blurRad="38100" dist="38100" dir="2700000" algn="tl">
                    <a:srgbClr val="C0C0C0"/>
                  </a:outerShdw>
                </a:effectLst>
              </a:rPr>
              <a:t> </a:t>
            </a:r>
          </a:p>
          <a:p>
            <a:pPr>
              <a:defRPr/>
            </a:pPr>
            <a:endParaRPr lang="en-US" sz="3000" dirty="0" smtClean="0">
              <a:solidFill>
                <a:srgbClr val="990000"/>
              </a:solidFill>
              <a:effectLst>
                <a:outerShdw blurRad="38100" dist="38100" dir="2700000" algn="tl">
                  <a:srgbClr val="C0C0C0"/>
                </a:outerShdw>
              </a:effectLst>
              <a:sym typeface="Symbol" pitchFamily="18" charset="2"/>
            </a:endParaRPr>
          </a:p>
          <a:p>
            <a:pPr>
              <a:defRPr/>
            </a:pPr>
            <a:endParaRPr lang="en-US" sz="3000" dirty="0" smtClean="0">
              <a:solidFill>
                <a:srgbClr val="990000"/>
              </a:solidFill>
              <a:effectLst>
                <a:outerShdw blurRad="38100" dist="38100" dir="2700000" algn="tl">
                  <a:srgbClr val="C0C0C0"/>
                </a:outerShdw>
              </a:effectLst>
              <a:sym typeface="Symbol" pitchFamily="18" charset="2"/>
            </a:endParaRPr>
          </a:p>
          <a:p>
            <a:pPr>
              <a:defRPr/>
            </a:pPr>
            <a:r>
              <a:rPr lang="en-US" sz="2400" i="0" dirty="0" smtClean="0">
                <a:solidFill>
                  <a:srgbClr val="000000"/>
                </a:solidFill>
                <a:sym typeface="Symbol" pitchFamily="18" charset="2"/>
              </a:rPr>
              <a:t>where:</a:t>
            </a:r>
          </a:p>
          <a:p>
            <a:pPr>
              <a:defRPr/>
            </a:pPr>
            <a:r>
              <a:rPr lang="en-US" sz="2400" dirty="0" smtClean="0">
                <a:solidFill>
                  <a:srgbClr val="000000"/>
                </a:solidFill>
                <a:sym typeface="Symbol" pitchFamily="18" charset="2"/>
              </a:rPr>
              <a:t>t</a:t>
            </a:r>
            <a:r>
              <a:rPr lang="en-US" sz="2400" i="0" dirty="0" smtClean="0">
                <a:solidFill>
                  <a:srgbClr val="000000"/>
                </a:solidFill>
                <a:sym typeface="Symbol" pitchFamily="18" charset="2"/>
              </a:rPr>
              <a:t> = Critical value from t-distribution with n-1 degrees of freedom</a:t>
            </a:r>
          </a:p>
          <a:p>
            <a:pPr>
              <a:defRPr/>
            </a:pPr>
            <a:r>
              <a:rPr lang="en-US" sz="2400" i="0" dirty="0" smtClean="0">
                <a:solidFill>
                  <a:srgbClr val="000000"/>
                </a:solidFill>
                <a:sym typeface="Symbol" pitchFamily="18" charset="2"/>
              </a:rPr>
              <a:t>	 = Sample mean</a:t>
            </a:r>
          </a:p>
          <a:p>
            <a:pPr>
              <a:defRPr/>
            </a:pPr>
            <a:r>
              <a:rPr lang="en-US" sz="2400" i="0" dirty="0" smtClean="0">
                <a:solidFill>
                  <a:srgbClr val="000000"/>
                </a:solidFill>
                <a:sym typeface="Symbol" pitchFamily="18" charset="2"/>
              </a:rPr>
              <a:t>s = Sample standard deviation</a:t>
            </a:r>
          </a:p>
          <a:p>
            <a:pPr>
              <a:defRPr/>
            </a:pPr>
            <a:r>
              <a:rPr lang="en-US" sz="2400" dirty="0" smtClean="0">
                <a:solidFill>
                  <a:srgbClr val="000000"/>
                </a:solidFill>
                <a:sym typeface="Symbol" pitchFamily="18" charset="2"/>
              </a:rPr>
              <a:t>n</a:t>
            </a:r>
            <a:r>
              <a:rPr lang="en-US" sz="2400" i="0" dirty="0" smtClean="0">
                <a:solidFill>
                  <a:srgbClr val="000000"/>
                </a:solidFill>
                <a:sym typeface="Symbol" pitchFamily="18" charset="2"/>
              </a:rPr>
              <a:t> = Sample size</a:t>
            </a:r>
            <a:endParaRPr lang="en-US" sz="2400" i="0" dirty="0" smtClean="0">
              <a:solidFill>
                <a:srgbClr val="990000"/>
              </a:solidFill>
              <a:sym typeface="Symbol" pitchFamily="18" charset="2"/>
            </a:endParaRPr>
          </a:p>
        </p:txBody>
      </p:sp>
      <p:sp>
        <p:nvSpPr>
          <p:cNvPr id="6" name="Content Placeholder 5"/>
          <p:cNvSpPr>
            <a:spLocks noGrp="1"/>
          </p:cNvSpPr>
          <p:nvPr>
            <p:ph sz="half" idx="2"/>
          </p:nvPr>
        </p:nvSpPr>
        <p:spPr>
          <a:xfrm>
            <a:off x="4572000" y="1295400"/>
            <a:ext cx="4419600" cy="5029200"/>
          </a:xfrm>
          <a:solidFill>
            <a:srgbClr val="FFC000"/>
          </a:solidFill>
          <a:ln w="19050">
            <a:solidFill>
              <a:srgbClr val="FF0000"/>
            </a:solidFill>
          </a:ln>
        </p:spPr>
        <p:txBody>
          <a:bodyPr/>
          <a:lstStyle/>
          <a:p>
            <a:r>
              <a:rPr lang="en-US" altLang="en-US" sz="2000" i="0" dirty="0" smtClean="0"/>
              <a:t>For </a:t>
            </a:r>
            <a:r>
              <a:rPr lang="en-US" altLang="en-US" sz="2000" i="0" dirty="0" smtClean="0">
                <a:solidFill>
                  <a:srgbClr val="FF0000"/>
                </a:solidFill>
              </a:rPr>
              <a:t>very small samples </a:t>
            </a:r>
            <a:r>
              <a:rPr lang="en-US" altLang="en-US" sz="2000" i="0" dirty="0" smtClean="0"/>
              <a:t>(</a:t>
            </a:r>
            <a:r>
              <a:rPr lang="en-US" altLang="en-US" sz="2000" i="0" dirty="0" smtClean="0">
                <a:latin typeface="Times New Roman" pitchFamily="18" charset="0"/>
              </a:rPr>
              <a:t>n</a:t>
            </a:r>
            <a:r>
              <a:rPr lang="en-US" altLang="en-US" sz="2000" i="0" dirty="0" smtClean="0"/>
              <a:t> &lt; 15), the data should follow a Normal model very closely.</a:t>
            </a:r>
          </a:p>
          <a:p>
            <a:r>
              <a:rPr lang="en-US" altLang="en-US" sz="2000" i="0" dirty="0" smtClean="0"/>
              <a:t>For </a:t>
            </a:r>
            <a:r>
              <a:rPr lang="en-US" altLang="en-US" sz="2000" i="0" dirty="0" smtClean="0">
                <a:solidFill>
                  <a:srgbClr val="FF0000"/>
                </a:solidFill>
              </a:rPr>
              <a:t>moderate sample sizes </a:t>
            </a:r>
            <a:r>
              <a:rPr lang="en-US" altLang="en-US" sz="2000" i="0" dirty="0" smtClean="0"/>
              <a:t>(</a:t>
            </a:r>
            <a:r>
              <a:rPr lang="en-US" altLang="en-US" sz="2000" i="0" dirty="0" smtClean="0">
                <a:latin typeface="Times New Roman" pitchFamily="18" charset="0"/>
              </a:rPr>
              <a:t>n</a:t>
            </a:r>
            <a:r>
              <a:rPr lang="en-US" altLang="en-US" sz="2000" i="0" dirty="0" smtClean="0"/>
              <a:t> between 15 and 40), </a:t>
            </a:r>
            <a:r>
              <a:rPr lang="en-US" altLang="en-US" sz="2000" i="0" dirty="0" smtClean="0">
                <a:latin typeface="Times New Roman" pitchFamily="18" charset="0"/>
              </a:rPr>
              <a:t>t</a:t>
            </a:r>
            <a:r>
              <a:rPr lang="en-US" altLang="en-US" sz="2000" i="0" dirty="0" smtClean="0"/>
              <a:t> methods  will work well as long as the data are unimodal and reasonably symmetric.</a:t>
            </a:r>
          </a:p>
          <a:p>
            <a:r>
              <a:rPr lang="en-US" altLang="en-US" sz="2000" i="0" dirty="0" smtClean="0"/>
              <a:t>For </a:t>
            </a:r>
            <a:r>
              <a:rPr lang="en-US" altLang="en-US" sz="2000" i="0" dirty="0" smtClean="0">
                <a:solidFill>
                  <a:srgbClr val="FF0000"/>
                </a:solidFill>
              </a:rPr>
              <a:t>sample sizes larger than 40</a:t>
            </a:r>
            <a:r>
              <a:rPr lang="en-US" altLang="en-US" sz="2000" i="0" dirty="0" smtClean="0"/>
              <a:t>, </a:t>
            </a:r>
            <a:r>
              <a:rPr lang="en-US" altLang="en-US" sz="2000" i="0" dirty="0" smtClean="0">
                <a:latin typeface="Times New Roman" pitchFamily="18" charset="0"/>
              </a:rPr>
              <a:t>t</a:t>
            </a:r>
            <a:r>
              <a:rPr lang="en-US" altLang="en-US" sz="2000" i="0" dirty="0" smtClean="0"/>
              <a:t> methods are safe to use unless the data are extremely skewed. If outliers are present, analyses can be performed twice, with the outliers and without.</a:t>
            </a:r>
          </a:p>
        </p:txBody>
      </p:sp>
      <p:graphicFrame>
        <p:nvGraphicFramePr>
          <p:cNvPr id="8197" name="Object 1028"/>
          <p:cNvGraphicFramePr>
            <a:graphicFrameLocks noChangeAspect="1"/>
          </p:cNvGraphicFramePr>
          <p:nvPr/>
        </p:nvGraphicFramePr>
        <p:xfrm>
          <a:off x="1676400" y="1981200"/>
          <a:ext cx="1820863" cy="1365250"/>
        </p:xfrm>
        <a:graphic>
          <a:graphicData uri="http://schemas.openxmlformats.org/presentationml/2006/ole">
            <mc:AlternateContent xmlns:mc="http://schemas.openxmlformats.org/markup-compatibility/2006">
              <mc:Choice xmlns:v="urn:schemas-microsoft-com:vml" Requires="v">
                <p:oleObj spid="_x0000_s8237" name="Equation" r:id="rId3" imgW="558800" imgH="419100" progId="Equation.3">
                  <p:embed/>
                </p:oleObj>
              </mc:Choice>
              <mc:Fallback>
                <p:oleObj name="Equation" r:id="rId3" imgW="558800" imgH="419100" progId="Equation.3">
                  <p:embed/>
                  <p:pic>
                    <p:nvPicPr>
                      <p:cNvPr id="0" name="Object 102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76400" y="1981200"/>
                        <a:ext cx="1820863" cy="1365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198" name="Object 1029"/>
          <p:cNvGraphicFramePr>
            <a:graphicFrameLocks noChangeAspect="1"/>
          </p:cNvGraphicFramePr>
          <p:nvPr>
            <p:extLst>
              <p:ext uri="{D42A27DB-BD31-4B8C-83A1-F6EECF244321}">
                <p14:modId xmlns:p14="http://schemas.microsoft.com/office/powerpoint/2010/main" val="910861685"/>
              </p:ext>
            </p:extLst>
          </p:nvPr>
        </p:nvGraphicFramePr>
        <p:xfrm>
          <a:off x="1066800" y="4800600"/>
          <a:ext cx="390525" cy="457200"/>
        </p:xfrm>
        <a:graphic>
          <a:graphicData uri="http://schemas.openxmlformats.org/presentationml/2006/ole">
            <mc:AlternateContent xmlns:mc="http://schemas.openxmlformats.org/markup-compatibility/2006">
              <mc:Choice xmlns:v="urn:schemas-microsoft-com:vml" Requires="v">
                <p:oleObj spid="_x0000_s8238" name="Equation" r:id="rId5" imgW="139579" imgH="164957" progId="Equation.3">
                  <p:embed/>
                </p:oleObj>
              </mc:Choice>
              <mc:Fallback>
                <p:oleObj name="Equation" r:id="rId5" imgW="139579" imgH="164957" progId="Equation.3">
                  <p:embed/>
                  <p:pic>
                    <p:nvPicPr>
                      <p:cNvPr id="0" name="Object 102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66800" y="4800600"/>
                        <a:ext cx="39052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6">
                                            <p:bg/>
                                          </p:spTgt>
                                        </p:tgtEl>
                                        <p:attrNameLst>
                                          <p:attrName>style.visibility</p:attrName>
                                        </p:attrNameLst>
                                      </p:cBhvr>
                                      <p:to>
                                        <p:strVal val="visible"/>
                                      </p:to>
                                    </p:set>
                                    <p:anim calcmode="lin" valueType="num">
                                      <p:cBhvr additive="base">
                                        <p:cTn id="7" dur="500" fill="hold"/>
                                        <p:tgtEl>
                                          <p:spTgt spid="6">
                                            <p:bg/>
                                          </p:spTgt>
                                        </p:tgtEl>
                                        <p:attrNameLst>
                                          <p:attrName>ppt_x</p:attrName>
                                        </p:attrNameLst>
                                      </p:cBhvr>
                                      <p:tavLst>
                                        <p:tav tm="0">
                                          <p:val>
                                            <p:strVal val="1+#ppt_w/2"/>
                                          </p:val>
                                        </p:tav>
                                        <p:tav tm="100000">
                                          <p:val>
                                            <p:strVal val="#ppt_x"/>
                                          </p:val>
                                        </p:tav>
                                      </p:tavLst>
                                    </p:anim>
                                    <p:anim calcmode="lin" valueType="num">
                                      <p:cBhvr additive="base">
                                        <p:cTn id="8" dur="500" fill="hold"/>
                                        <p:tgtEl>
                                          <p:spTgt spid="6">
                                            <p:bg/>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6">
                                            <p:txEl>
                                              <p:pRg st="0" end="0"/>
                                            </p:txEl>
                                          </p:spTgt>
                                        </p:tgtEl>
                                        <p:attrNameLst>
                                          <p:attrName>style.visibility</p:attrName>
                                        </p:attrNameLst>
                                      </p:cBhvr>
                                      <p:to>
                                        <p:strVal val="visible"/>
                                      </p:to>
                                    </p:set>
                                    <p:anim calcmode="lin" valueType="num">
                                      <p:cBhvr additive="base">
                                        <p:cTn id="13" dur="500" fill="hold"/>
                                        <p:tgtEl>
                                          <p:spTgt spid="6">
                                            <p:txEl>
                                              <p:pRg st="0" end="0"/>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6">
                                            <p:txEl>
                                              <p:pRg st="1" end="1"/>
                                            </p:txEl>
                                          </p:spTgt>
                                        </p:tgtEl>
                                        <p:attrNameLst>
                                          <p:attrName>style.visibility</p:attrName>
                                        </p:attrNameLst>
                                      </p:cBhvr>
                                      <p:to>
                                        <p:strVal val="visible"/>
                                      </p:to>
                                    </p:set>
                                    <p:anim calcmode="lin" valueType="num">
                                      <p:cBhvr additive="base">
                                        <p:cTn id="19" dur="500" fill="hold"/>
                                        <p:tgtEl>
                                          <p:spTgt spid="6">
                                            <p:txEl>
                                              <p:pRg st="1" end="1"/>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6">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6">
                                            <p:txEl>
                                              <p:pRg st="2" end="2"/>
                                            </p:txEl>
                                          </p:spTgt>
                                        </p:tgtEl>
                                        <p:attrNameLst>
                                          <p:attrName>style.visibility</p:attrName>
                                        </p:attrNameLst>
                                      </p:cBhvr>
                                      <p:to>
                                        <p:strVal val="visible"/>
                                      </p:to>
                                    </p:set>
                                    <p:anim calcmode="lin" valueType="num">
                                      <p:cBhvr additive="base">
                                        <p:cTn id="25" dur="500" fill="hold"/>
                                        <p:tgtEl>
                                          <p:spTgt spid="6">
                                            <p:txEl>
                                              <p:pRg st="2" end="2"/>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6">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685800" y="152400"/>
            <a:ext cx="7772400" cy="685800"/>
          </a:xfrm>
          <a:noFill/>
        </p:spPr>
        <p:txBody>
          <a:bodyPr/>
          <a:lstStyle/>
          <a:p>
            <a:r>
              <a:rPr lang="en-US" altLang="en-US" dirty="0" smtClean="0">
                <a:solidFill>
                  <a:srgbClr val="FF0000"/>
                </a:solidFill>
              </a:rPr>
              <a:t>t distributions</a:t>
            </a:r>
          </a:p>
        </p:txBody>
      </p:sp>
      <p:sp>
        <p:nvSpPr>
          <p:cNvPr id="9219" name="Rectangle 3"/>
          <p:cNvSpPr>
            <a:spLocks noGrp="1" noChangeArrowheads="1"/>
          </p:cNvSpPr>
          <p:nvPr>
            <p:ph idx="1"/>
          </p:nvPr>
        </p:nvSpPr>
        <p:spPr>
          <a:xfrm>
            <a:off x="685800" y="838200"/>
            <a:ext cx="7772400" cy="4953000"/>
          </a:xfrm>
          <a:noFill/>
        </p:spPr>
        <p:txBody>
          <a:bodyPr/>
          <a:lstStyle/>
          <a:p>
            <a:r>
              <a:rPr lang="en-US" altLang="en-US" dirty="0" smtClean="0"/>
              <a:t>Very similar to </a:t>
            </a:r>
            <a:r>
              <a:rPr lang="en-US" altLang="en-US" dirty="0" err="1" smtClean="0"/>
              <a:t>z~N</a:t>
            </a:r>
            <a:r>
              <a:rPr lang="en-US" altLang="en-US" dirty="0" smtClean="0"/>
              <a:t>(0, 1)</a:t>
            </a:r>
          </a:p>
          <a:p>
            <a:r>
              <a:rPr lang="en-US" altLang="en-US" dirty="0" smtClean="0"/>
              <a:t>Sometimes called Student’s t distribution; Gossett, brewery employee</a:t>
            </a:r>
          </a:p>
          <a:p>
            <a:r>
              <a:rPr lang="en-US" altLang="en-US" dirty="0" smtClean="0"/>
              <a:t>Properties:</a:t>
            </a:r>
          </a:p>
          <a:p>
            <a:pPr>
              <a:buFont typeface="Monotype Sorts" pitchFamily="2" charset="2"/>
              <a:buNone/>
            </a:pPr>
            <a:r>
              <a:rPr lang="en-US" altLang="en-US" dirty="0" err="1" smtClean="0"/>
              <a:t>i</a:t>
            </a:r>
            <a:r>
              <a:rPr lang="en-US" altLang="en-US" dirty="0" smtClean="0"/>
              <a:t>)	 symmetric around 0 (like z)</a:t>
            </a:r>
          </a:p>
          <a:p>
            <a:pPr>
              <a:buFont typeface="Monotype Sorts" pitchFamily="2" charset="2"/>
              <a:buNone/>
            </a:pPr>
            <a:r>
              <a:rPr lang="en-US" altLang="en-US" dirty="0" smtClean="0"/>
              <a:t>ii) degrees of freedom </a:t>
            </a:r>
            <a:r>
              <a:rPr lang="en-US" altLang="en-US" dirty="0" smtClean="0">
                <a:latin typeface="Symbol" charset="2"/>
              </a:rPr>
              <a:t></a:t>
            </a:r>
          </a:p>
          <a:p>
            <a:pPr>
              <a:buFont typeface="Monotype Sorts" pitchFamily="2" charset="2"/>
              <a:buNone/>
            </a:pPr>
            <a:endParaRPr lang="en-US" altLang="en-US" dirty="0" smtClean="0">
              <a:latin typeface="Symbol" charset="2"/>
            </a:endParaRPr>
          </a:p>
        </p:txBody>
      </p:sp>
      <p:graphicFrame>
        <p:nvGraphicFramePr>
          <p:cNvPr id="9220" name="Object 4">
            <a:hlinkClick r:id="" action="ppaction://ole?verb=0"/>
          </p:cNvPr>
          <p:cNvGraphicFramePr>
            <a:graphicFrameLocks/>
          </p:cNvGraphicFramePr>
          <p:nvPr>
            <p:extLst>
              <p:ext uri="{D42A27DB-BD31-4B8C-83A1-F6EECF244321}">
                <p14:modId xmlns:p14="http://schemas.microsoft.com/office/powerpoint/2010/main" val="3041998827"/>
              </p:ext>
            </p:extLst>
          </p:nvPr>
        </p:nvGraphicFramePr>
        <p:xfrm>
          <a:off x="1143000" y="4724400"/>
          <a:ext cx="7467600" cy="1943100"/>
        </p:xfrm>
        <a:graphic>
          <a:graphicData uri="http://schemas.openxmlformats.org/presentationml/2006/ole">
            <mc:AlternateContent xmlns:mc="http://schemas.openxmlformats.org/markup-compatibility/2006">
              <mc:Choice xmlns:v="urn:schemas-microsoft-com:vml" Requires="v">
                <p:oleObj spid="_x0000_s9240" name="Equation" r:id="rId3" imgW="7733903" imgH="1952625" progId="Equation.3">
                  <p:embed/>
                </p:oleObj>
              </mc:Choice>
              <mc:Fallback>
                <p:oleObj name="Equation" r:id="rId3" imgW="7733903" imgH="1952625" progId="Equation.3">
                  <p:embed/>
                  <p:pic>
                    <p:nvPicPr>
                      <p:cNvPr id="0" name="Object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4724400"/>
                        <a:ext cx="7467600" cy="1943100"/>
                      </a:xfrm>
                      <a:prstGeom prst="rect">
                        <a:avLst/>
                      </a:prstGeom>
                      <a:noFill/>
                      <a:ln>
                        <a:noFill/>
                      </a:ln>
                      <a:effectLst/>
                    </p:spPr>
                  </p:pic>
                </p:oleObj>
              </mc:Fallback>
            </mc:AlternateContent>
          </a:graphicData>
        </a:graphic>
      </p:graphicFrame>
    </p:spTree>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242" name="Group 2"/>
          <p:cNvGrpSpPr>
            <a:grpSpLocks/>
          </p:cNvGrpSpPr>
          <p:nvPr/>
        </p:nvGrpSpPr>
        <p:grpSpPr bwMode="auto">
          <a:xfrm>
            <a:off x="766763" y="2473325"/>
            <a:ext cx="7600950" cy="3925888"/>
            <a:chOff x="483" y="1558"/>
            <a:chExt cx="4788" cy="2473"/>
          </a:xfrm>
        </p:grpSpPr>
        <p:grpSp>
          <p:nvGrpSpPr>
            <p:cNvPr id="10251" name="Group 3"/>
            <p:cNvGrpSpPr>
              <a:grpSpLocks/>
            </p:cNvGrpSpPr>
            <p:nvPr/>
          </p:nvGrpSpPr>
          <p:grpSpPr bwMode="auto">
            <a:xfrm>
              <a:off x="483" y="1558"/>
              <a:ext cx="4788" cy="2473"/>
              <a:chOff x="483" y="1558"/>
              <a:chExt cx="4788" cy="2473"/>
            </a:xfrm>
          </p:grpSpPr>
          <p:grpSp>
            <p:nvGrpSpPr>
              <p:cNvPr id="10259" name="Group 4"/>
              <p:cNvGrpSpPr>
                <a:grpSpLocks/>
              </p:cNvGrpSpPr>
              <p:nvPr/>
            </p:nvGrpSpPr>
            <p:grpSpPr bwMode="auto">
              <a:xfrm>
                <a:off x="483" y="1558"/>
                <a:ext cx="4788" cy="2473"/>
                <a:chOff x="483" y="1558"/>
                <a:chExt cx="4788" cy="2473"/>
              </a:xfrm>
            </p:grpSpPr>
            <p:sp>
              <p:nvSpPr>
                <p:cNvPr id="10265" name="Rectangle 5"/>
                <p:cNvSpPr>
                  <a:spLocks noChangeArrowheads="1"/>
                </p:cNvSpPr>
                <p:nvPr/>
              </p:nvSpPr>
              <p:spPr bwMode="auto">
                <a:xfrm>
                  <a:off x="483" y="1558"/>
                  <a:ext cx="4788" cy="2473"/>
                </a:xfrm>
                <a:prstGeom prst="rect">
                  <a:avLst/>
                </a:prstGeom>
                <a:solidFill>
                  <a:srgbClr val="FFFFFF"/>
                </a:solidFill>
                <a:ln w="127000">
                  <a:solidFill>
                    <a:schemeClr val="tx2"/>
                  </a:solidFill>
                  <a:miter lim="800000"/>
                  <a:headEnd/>
                  <a:tailEnd/>
                </a:ln>
              </p:spPr>
              <p:txBody>
                <a:bodyPr wrap="none" anchor="ct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endParaRPr lang="en-US" altLang="en-US" sz="2400"/>
                </a:p>
              </p:txBody>
            </p:sp>
            <p:sp>
              <p:nvSpPr>
                <p:cNvPr id="10266" name="Freeform 6"/>
                <p:cNvSpPr>
                  <a:spLocks/>
                </p:cNvSpPr>
                <p:nvPr/>
              </p:nvSpPr>
              <p:spPr bwMode="auto">
                <a:xfrm>
                  <a:off x="722" y="1650"/>
                  <a:ext cx="4298" cy="2009"/>
                </a:xfrm>
                <a:custGeom>
                  <a:avLst/>
                  <a:gdLst>
                    <a:gd name="T0" fmla="*/ 0 w 4298"/>
                    <a:gd name="T1" fmla="*/ 0 h 2009"/>
                    <a:gd name="T2" fmla="*/ 4297 w 4298"/>
                    <a:gd name="T3" fmla="*/ 0 h 2009"/>
                    <a:gd name="T4" fmla="*/ 4297 w 4298"/>
                    <a:gd name="T5" fmla="*/ 2008 h 2009"/>
                    <a:gd name="T6" fmla="*/ 0 w 4298"/>
                    <a:gd name="T7" fmla="*/ 2008 h 2009"/>
                    <a:gd name="T8" fmla="*/ 0 w 4298"/>
                    <a:gd name="T9" fmla="*/ 0 h 2009"/>
                    <a:gd name="T10" fmla="*/ 0 60000 65536"/>
                    <a:gd name="T11" fmla="*/ 0 60000 65536"/>
                    <a:gd name="T12" fmla="*/ 0 60000 65536"/>
                    <a:gd name="T13" fmla="*/ 0 60000 65536"/>
                    <a:gd name="T14" fmla="*/ 0 60000 65536"/>
                    <a:gd name="T15" fmla="*/ 0 w 4298"/>
                    <a:gd name="T16" fmla="*/ 0 h 2009"/>
                    <a:gd name="T17" fmla="*/ 4298 w 4298"/>
                    <a:gd name="T18" fmla="*/ 2009 h 2009"/>
                  </a:gdLst>
                  <a:ahLst/>
                  <a:cxnLst>
                    <a:cxn ang="T10">
                      <a:pos x="T0" y="T1"/>
                    </a:cxn>
                    <a:cxn ang="T11">
                      <a:pos x="T2" y="T3"/>
                    </a:cxn>
                    <a:cxn ang="T12">
                      <a:pos x="T4" y="T5"/>
                    </a:cxn>
                    <a:cxn ang="T13">
                      <a:pos x="T6" y="T7"/>
                    </a:cxn>
                    <a:cxn ang="T14">
                      <a:pos x="T8" y="T9"/>
                    </a:cxn>
                  </a:cxnLst>
                  <a:rect l="T15" t="T16" r="T17" b="T18"/>
                  <a:pathLst>
                    <a:path w="4298" h="2009">
                      <a:moveTo>
                        <a:pt x="0" y="0"/>
                      </a:moveTo>
                      <a:lnTo>
                        <a:pt x="4297" y="0"/>
                      </a:lnTo>
                      <a:lnTo>
                        <a:pt x="4297" y="2008"/>
                      </a:lnTo>
                      <a:lnTo>
                        <a:pt x="0" y="2008"/>
                      </a:lnTo>
                      <a:lnTo>
                        <a:pt x="0" y="0"/>
                      </a:lnTo>
                    </a:path>
                  </a:pathLst>
                </a:custGeom>
                <a:solidFill>
                  <a:srgbClr val="FFFFFF"/>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10267" name="Line 7"/>
                <p:cNvSpPr>
                  <a:spLocks noChangeShapeType="1"/>
                </p:cNvSpPr>
                <p:nvPr/>
              </p:nvSpPr>
              <p:spPr bwMode="auto">
                <a:xfrm>
                  <a:off x="726" y="3664"/>
                  <a:ext cx="4295"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268" name="Line 8"/>
                <p:cNvSpPr>
                  <a:spLocks noChangeShapeType="1"/>
                </p:cNvSpPr>
                <p:nvPr/>
              </p:nvSpPr>
              <p:spPr bwMode="auto">
                <a:xfrm flipV="1">
                  <a:off x="722" y="3624"/>
                  <a:ext cx="0" cy="79"/>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269" name="Line 9"/>
                <p:cNvSpPr>
                  <a:spLocks noChangeShapeType="1"/>
                </p:cNvSpPr>
                <p:nvPr/>
              </p:nvSpPr>
              <p:spPr bwMode="auto">
                <a:xfrm flipV="1">
                  <a:off x="1446" y="3624"/>
                  <a:ext cx="0" cy="79"/>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270" name="Line 10"/>
                <p:cNvSpPr>
                  <a:spLocks noChangeShapeType="1"/>
                </p:cNvSpPr>
                <p:nvPr/>
              </p:nvSpPr>
              <p:spPr bwMode="auto">
                <a:xfrm flipV="1">
                  <a:off x="2156" y="3624"/>
                  <a:ext cx="0" cy="79"/>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271" name="Line 11"/>
                <p:cNvSpPr>
                  <a:spLocks noChangeShapeType="1"/>
                </p:cNvSpPr>
                <p:nvPr/>
              </p:nvSpPr>
              <p:spPr bwMode="auto">
                <a:xfrm flipV="1">
                  <a:off x="2880" y="3624"/>
                  <a:ext cx="0" cy="79"/>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272" name="Line 12"/>
                <p:cNvSpPr>
                  <a:spLocks noChangeShapeType="1"/>
                </p:cNvSpPr>
                <p:nvPr/>
              </p:nvSpPr>
              <p:spPr bwMode="auto">
                <a:xfrm flipV="1">
                  <a:off x="3591" y="3624"/>
                  <a:ext cx="0" cy="79"/>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273" name="Line 13"/>
                <p:cNvSpPr>
                  <a:spLocks noChangeShapeType="1"/>
                </p:cNvSpPr>
                <p:nvPr/>
              </p:nvSpPr>
              <p:spPr bwMode="auto">
                <a:xfrm flipV="1">
                  <a:off x="4314" y="3624"/>
                  <a:ext cx="0" cy="79"/>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274" name="Line 14"/>
                <p:cNvSpPr>
                  <a:spLocks noChangeShapeType="1"/>
                </p:cNvSpPr>
                <p:nvPr/>
              </p:nvSpPr>
              <p:spPr bwMode="auto">
                <a:xfrm flipV="1">
                  <a:off x="5025" y="3624"/>
                  <a:ext cx="0" cy="79"/>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275" name="Freeform 15"/>
                <p:cNvSpPr>
                  <a:spLocks/>
                </p:cNvSpPr>
                <p:nvPr/>
              </p:nvSpPr>
              <p:spPr bwMode="auto">
                <a:xfrm>
                  <a:off x="722" y="1659"/>
                  <a:ext cx="4304" cy="1988"/>
                </a:xfrm>
                <a:custGeom>
                  <a:avLst/>
                  <a:gdLst>
                    <a:gd name="T0" fmla="*/ 89 w 4304"/>
                    <a:gd name="T1" fmla="*/ 1969 h 1988"/>
                    <a:gd name="T2" fmla="*/ 191 w 4304"/>
                    <a:gd name="T3" fmla="*/ 1961 h 1988"/>
                    <a:gd name="T4" fmla="*/ 279 w 4304"/>
                    <a:gd name="T5" fmla="*/ 1943 h 1988"/>
                    <a:gd name="T6" fmla="*/ 381 w 4304"/>
                    <a:gd name="T7" fmla="*/ 1908 h 1988"/>
                    <a:gd name="T8" fmla="*/ 470 w 4304"/>
                    <a:gd name="T9" fmla="*/ 1881 h 1988"/>
                    <a:gd name="T10" fmla="*/ 559 w 4304"/>
                    <a:gd name="T11" fmla="*/ 1837 h 1988"/>
                    <a:gd name="T12" fmla="*/ 648 w 4304"/>
                    <a:gd name="T13" fmla="*/ 1785 h 1988"/>
                    <a:gd name="T14" fmla="*/ 749 w 4304"/>
                    <a:gd name="T15" fmla="*/ 1714 h 1988"/>
                    <a:gd name="T16" fmla="*/ 813 w 4304"/>
                    <a:gd name="T17" fmla="*/ 1662 h 1988"/>
                    <a:gd name="T18" fmla="*/ 876 w 4304"/>
                    <a:gd name="T19" fmla="*/ 1600 h 1988"/>
                    <a:gd name="T20" fmla="*/ 927 w 4304"/>
                    <a:gd name="T21" fmla="*/ 1538 h 1988"/>
                    <a:gd name="T22" fmla="*/ 990 w 4304"/>
                    <a:gd name="T23" fmla="*/ 1468 h 1988"/>
                    <a:gd name="T24" fmla="*/ 1041 w 4304"/>
                    <a:gd name="T25" fmla="*/ 1398 h 1988"/>
                    <a:gd name="T26" fmla="*/ 1104 w 4304"/>
                    <a:gd name="T27" fmla="*/ 1319 h 1988"/>
                    <a:gd name="T28" fmla="*/ 1168 w 4304"/>
                    <a:gd name="T29" fmla="*/ 1231 h 1988"/>
                    <a:gd name="T30" fmla="*/ 1219 w 4304"/>
                    <a:gd name="T31" fmla="*/ 1152 h 1988"/>
                    <a:gd name="T32" fmla="*/ 1282 w 4304"/>
                    <a:gd name="T33" fmla="*/ 1055 h 1988"/>
                    <a:gd name="T34" fmla="*/ 1333 w 4304"/>
                    <a:gd name="T35" fmla="*/ 958 h 1988"/>
                    <a:gd name="T36" fmla="*/ 1396 w 4304"/>
                    <a:gd name="T37" fmla="*/ 861 h 1988"/>
                    <a:gd name="T38" fmla="*/ 1447 w 4304"/>
                    <a:gd name="T39" fmla="*/ 765 h 1988"/>
                    <a:gd name="T40" fmla="*/ 1511 w 4304"/>
                    <a:gd name="T41" fmla="*/ 668 h 1988"/>
                    <a:gd name="T42" fmla="*/ 1561 w 4304"/>
                    <a:gd name="T43" fmla="*/ 571 h 1988"/>
                    <a:gd name="T44" fmla="*/ 1625 w 4304"/>
                    <a:gd name="T45" fmla="*/ 483 h 1988"/>
                    <a:gd name="T46" fmla="*/ 1676 w 4304"/>
                    <a:gd name="T47" fmla="*/ 395 h 1988"/>
                    <a:gd name="T48" fmla="*/ 1739 w 4304"/>
                    <a:gd name="T49" fmla="*/ 316 h 1988"/>
                    <a:gd name="T50" fmla="*/ 1790 w 4304"/>
                    <a:gd name="T51" fmla="*/ 237 h 1988"/>
                    <a:gd name="T52" fmla="*/ 1853 w 4304"/>
                    <a:gd name="T53" fmla="*/ 167 h 1988"/>
                    <a:gd name="T54" fmla="*/ 1904 w 4304"/>
                    <a:gd name="T55" fmla="*/ 114 h 1988"/>
                    <a:gd name="T56" fmla="*/ 1967 w 4304"/>
                    <a:gd name="T57" fmla="*/ 61 h 1988"/>
                    <a:gd name="T58" fmla="*/ 2031 w 4304"/>
                    <a:gd name="T59" fmla="*/ 26 h 1988"/>
                    <a:gd name="T60" fmla="*/ 2132 w 4304"/>
                    <a:gd name="T61" fmla="*/ 0 h 1988"/>
                    <a:gd name="T62" fmla="*/ 2221 w 4304"/>
                    <a:gd name="T63" fmla="*/ 8 h 1988"/>
                    <a:gd name="T64" fmla="*/ 2297 w 4304"/>
                    <a:gd name="T65" fmla="*/ 35 h 1988"/>
                    <a:gd name="T66" fmla="*/ 2374 w 4304"/>
                    <a:gd name="T67" fmla="*/ 88 h 1988"/>
                    <a:gd name="T68" fmla="*/ 2450 w 4304"/>
                    <a:gd name="T69" fmla="*/ 158 h 1988"/>
                    <a:gd name="T70" fmla="*/ 2513 w 4304"/>
                    <a:gd name="T71" fmla="*/ 228 h 1988"/>
                    <a:gd name="T72" fmla="*/ 2564 w 4304"/>
                    <a:gd name="T73" fmla="*/ 299 h 1988"/>
                    <a:gd name="T74" fmla="*/ 2627 w 4304"/>
                    <a:gd name="T75" fmla="*/ 387 h 1988"/>
                    <a:gd name="T76" fmla="*/ 2678 w 4304"/>
                    <a:gd name="T77" fmla="*/ 475 h 1988"/>
                    <a:gd name="T78" fmla="*/ 2742 w 4304"/>
                    <a:gd name="T79" fmla="*/ 562 h 1988"/>
                    <a:gd name="T80" fmla="*/ 2792 w 4304"/>
                    <a:gd name="T81" fmla="*/ 659 h 1988"/>
                    <a:gd name="T82" fmla="*/ 2856 w 4304"/>
                    <a:gd name="T83" fmla="*/ 756 h 1988"/>
                    <a:gd name="T84" fmla="*/ 2907 w 4304"/>
                    <a:gd name="T85" fmla="*/ 853 h 1988"/>
                    <a:gd name="T86" fmla="*/ 2970 w 4304"/>
                    <a:gd name="T87" fmla="*/ 949 h 1988"/>
                    <a:gd name="T88" fmla="*/ 3021 w 4304"/>
                    <a:gd name="T89" fmla="*/ 1046 h 1988"/>
                    <a:gd name="T90" fmla="*/ 3084 w 4304"/>
                    <a:gd name="T91" fmla="*/ 1134 h 1988"/>
                    <a:gd name="T92" fmla="*/ 3135 w 4304"/>
                    <a:gd name="T93" fmla="*/ 1222 h 1988"/>
                    <a:gd name="T94" fmla="*/ 3199 w 4304"/>
                    <a:gd name="T95" fmla="*/ 1310 h 1988"/>
                    <a:gd name="T96" fmla="*/ 3262 w 4304"/>
                    <a:gd name="T97" fmla="*/ 1389 h 1988"/>
                    <a:gd name="T98" fmla="*/ 3313 w 4304"/>
                    <a:gd name="T99" fmla="*/ 1459 h 1988"/>
                    <a:gd name="T100" fmla="*/ 3376 w 4304"/>
                    <a:gd name="T101" fmla="*/ 1530 h 1988"/>
                    <a:gd name="T102" fmla="*/ 3440 w 4304"/>
                    <a:gd name="T103" fmla="*/ 1600 h 1988"/>
                    <a:gd name="T104" fmla="*/ 3503 w 4304"/>
                    <a:gd name="T105" fmla="*/ 1662 h 1988"/>
                    <a:gd name="T106" fmla="*/ 3567 w 4304"/>
                    <a:gd name="T107" fmla="*/ 1723 h 1988"/>
                    <a:gd name="T108" fmla="*/ 3630 w 4304"/>
                    <a:gd name="T109" fmla="*/ 1767 h 1988"/>
                    <a:gd name="T110" fmla="*/ 3694 w 4304"/>
                    <a:gd name="T111" fmla="*/ 1802 h 1988"/>
                    <a:gd name="T112" fmla="*/ 3770 w 4304"/>
                    <a:gd name="T113" fmla="*/ 1846 h 1988"/>
                    <a:gd name="T114" fmla="*/ 3833 w 4304"/>
                    <a:gd name="T115" fmla="*/ 1873 h 1988"/>
                    <a:gd name="T116" fmla="*/ 3922 w 4304"/>
                    <a:gd name="T117" fmla="*/ 1908 h 1988"/>
                    <a:gd name="T118" fmla="*/ 3998 w 4304"/>
                    <a:gd name="T119" fmla="*/ 1925 h 1988"/>
                    <a:gd name="T120" fmla="*/ 4087 w 4304"/>
                    <a:gd name="T121" fmla="*/ 1952 h 1988"/>
                    <a:gd name="T122" fmla="*/ 4163 w 4304"/>
                    <a:gd name="T123" fmla="*/ 1969 h 1988"/>
                    <a:gd name="T124" fmla="*/ 4252 w 4304"/>
                    <a:gd name="T125" fmla="*/ 1978 h 1988"/>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4304"/>
                    <a:gd name="T190" fmla="*/ 0 h 1988"/>
                    <a:gd name="T191" fmla="*/ 4304 w 4304"/>
                    <a:gd name="T192" fmla="*/ 1988 h 1988"/>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4304" h="1988">
                      <a:moveTo>
                        <a:pt x="0" y="1987"/>
                      </a:moveTo>
                      <a:lnTo>
                        <a:pt x="13" y="1978"/>
                      </a:lnTo>
                      <a:lnTo>
                        <a:pt x="26" y="1978"/>
                      </a:lnTo>
                      <a:lnTo>
                        <a:pt x="38" y="1978"/>
                      </a:lnTo>
                      <a:lnTo>
                        <a:pt x="51" y="1978"/>
                      </a:lnTo>
                      <a:lnTo>
                        <a:pt x="64" y="1978"/>
                      </a:lnTo>
                      <a:lnTo>
                        <a:pt x="76" y="1978"/>
                      </a:lnTo>
                      <a:lnTo>
                        <a:pt x="89" y="1969"/>
                      </a:lnTo>
                      <a:lnTo>
                        <a:pt x="102" y="1969"/>
                      </a:lnTo>
                      <a:lnTo>
                        <a:pt x="114" y="1969"/>
                      </a:lnTo>
                      <a:lnTo>
                        <a:pt x="127" y="1969"/>
                      </a:lnTo>
                      <a:lnTo>
                        <a:pt x="140" y="1969"/>
                      </a:lnTo>
                      <a:lnTo>
                        <a:pt x="153" y="1961"/>
                      </a:lnTo>
                      <a:lnTo>
                        <a:pt x="165" y="1961"/>
                      </a:lnTo>
                      <a:lnTo>
                        <a:pt x="178" y="1961"/>
                      </a:lnTo>
                      <a:lnTo>
                        <a:pt x="191" y="1961"/>
                      </a:lnTo>
                      <a:lnTo>
                        <a:pt x="203" y="1952"/>
                      </a:lnTo>
                      <a:lnTo>
                        <a:pt x="216" y="1952"/>
                      </a:lnTo>
                      <a:lnTo>
                        <a:pt x="229" y="1952"/>
                      </a:lnTo>
                      <a:lnTo>
                        <a:pt x="241" y="1952"/>
                      </a:lnTo>
                      <a:lnTo>
                        <a:pt x="241" y="1943"/>
                      </a:lnTo>
                      <a:lnTo>
                        <a:pt x="254" y="1943"/>
                      </a:lnTo>
                      <a:lnTo>
                        <a:pt x="267" y="1943"/>
                      </a:lnTo>
                      <a:lnTo>
                        <a:pt x="279" y="1943"/>
                      </a:lnTo>
                      <a:lnTo>
                        <a:pt x="292" y="1934"/>
                      </a:lnTo>
                      <a:lnTo>
                        <a:pt x="305" y="1934"/>
                      </a:lnTo>
                      <a:lnTo>
                        <a:pt x="318" y="1925"/>
                      </a:lnTo>
                      <a:lnTo>
                        <a:pt x="330" y="1925"/>
                      </a:lnTo>
                      <a:lnTo>
                        <a:pt x="343" y="1925"/>
                      </a:lnTo>
                      <a:lnTo>
                        <a:pt x="356" y="1917"/>
                      </a:lnTo>
                      <a:lnTo>
                        <a:pt x="368" y="1917"/>
                      </a:lnTo>
                      <a:lnTo>
                        <a:pt x="381" y="1908"/>
                      </a:lnTo>
                      <a:lnTo>
                        <a:pt x="394" y="1908"/>
                      </a:lnTo>
                      <a:lnTo>
                        <a:pt x="406" y="1908"/>
                      </a:lnTo>
                      <a:lnTo>
                        <a:pt x="406" y="1899"/>
                      </a:lnTo>
                      <a:lnTo>
                        <a:pt x="419" y="1899"/>
                      </a:lnTo>
                      <a:lnTo>
                        <a:pt x="432" y="1890"/>
                      </a:lnTo>
                      <a:lnTo>
                        <a:pt x="444" y="1890"/>
                      </a:lnTo>
                      <a:lnTo>
                        <a:pt x="457" y="1881"/>
                      </a:lnTo>
                      <a:lnTo>
                        <a:pt x="470" y="1881"/>
                      </a:lnTo>
                      <a:lnTo>
                        <a:pt x="470" y="1873"/>
                      </a:lnTo>
                      <a:lnTo>
                        <a:pt x="483" y="1873"/>
                      </a:lnTo>
                      <a:lnTo>
                        <a:pt x="495" y="1864"/>
                      </a:lnTo>
                      <a:lnTo>
                        <a:pt x="508" y="1864"/>
                      </a:lnTo>
                      <a:lnTo>
                        <a:pt x="521" y="1855"/>
                      </a:lnTo>
                      <a:lnTo>
                        <a:pt x="533" y="1846"/>
                      </a:lnTo>
                      <a:lnTo>
                        <a:pt x="546" y="1846"/>
                      </a:lnTo>
                      <a:lnTo>
                        <a:pt x="559" y="1837"/>
                      </a:lnTo>
                      <a:lnTo>
                        <a:pt x="571" y="1829"/>
                      </a:lnTo>
                      <a:lnTo>
                        <a:pt x="584" y="1820"/>
                      </a:lnTo>
                      <a:lnTo>
                        <a:pt x="597" y="1820"/>
                      </a:lnTo>
                      <a:lnTo>
                        <a:pt x="597" y="1811"/>
                      </a:lnTo>
                      <a:lnTo>
                        <a:pt x="609" y="1811"/>
                      </a:lnTo>
                      <a:lnTo>
                        <a:pt x="622" y="1802"/>
                      </a:lnTo>
                      <a:lnTo>
                        <a:pt x="635" y="1793"/>
                      </a:lnTo>
                      <a:lnTo>
                        <a:pt x="648" y="1785"/>
                      </a:lnTo>
                      <a:lnTo>
                        <a:pt x="660" y="1776"/>
                      </a:lnTo>
                      <a:lnTo>
                        <a:pt x="673" y="1767"/>
                      </a:lnTo>
                      <a:lnTo>
                        <a:pt x="686" y="1758"/>
                      </a:lnTo>
                      <a:lnTo>
                        <a:pt x="698" y="1750"/>
                      </a:lnTo>
                      <a:lnTo>
                        <a:pt x="711" y="1741"/>
                      </a:lnTo>
                      <a:lnTo>
                        <a:pt x="724" y="1732"/>
                      </a:lnTo>
                      <a:lnTo>
                        <a:pt x="736" y="1723"/>
                      </a:lnTo>
                      <a:lnTo>
                        <a:pt x="749" y="1714"/>
                      </a:lnTo>
                      <a:lnTo>
                        <a:pt x="749" y="1706"/>
                      </a:lnTo>
                      <a:lnTo>
                        <a:pt x="762" y="1706"/>
                      </a:lnTo>
                      <a:lnTo>
                        <a:pt x="762" y="1697"/>
                      </a:lnTo>
                      <a:lnTo>
                        <a:pt x="774" y="1688"/>
                      </a:lnTo>
                      <a:lnTo>
                        <a:pt x="787" y="1679"/>
                      </a:lnTo>
                      <a:lnTo>
                        <a:pt x="800" y="1670"/>
                      </a:lnTo>
                      <a:lnTo>
                        <a:pt x="800" y="1662"/>
                      </a:lnTo>
                      <a:lnTo>
                        <a:pt x="813" y="1662"/>
                      </a:lnTo>
                      <a:lnTo>
                        <a:pt x="813" y="1653"/>
                      </a:lnTo>
                      <a:lnTo>
                        <a:pt x="825" y="1644"/>
                      </a:lnTo>
                      <a:lnTo>
                        <a:pt x="838" y="1635"/>
                      </a:lnTo>
                      <a:lnTo>
                        <a:pt x="851" y="1626"/>
                      </a:lnTo>
                      <a:lnTo>
                        <a:pt x="851" y="1618"/>
                      </a:lnTo>
                      <a:lnTo>
                        <a:pt x="863" y="1609"/>
                      </a:lnTo>
                      <a:lnTo>
                        <a:pt x="863" y="1600"/>
                      </a:lnTo>
                      <a:lnTo>
                        <a:pt x="876" y="1600"/>
                      </a:lnTo>
                      <a:lnTo>
                        <a:pt x="876" y="1591"/>
                      </a:lnTo>
                      <a:lnTo>
                        <a:pt x="889" y="1582"/>
                      </a:lnTo>
                      <a:lnTo>
                        <a:pt x="901" y="1574"/>
                      </a:lnTo>
                      <a:lnTo>
                        <a:pt x="901" y="1565"/>
                      </a:lnTo>
                      <a:lnTo>
                        <a:pt x="914" y="1556"/>
                      </a:lnTo>
                      <a:lnTo>
                        <a:pt x="914" y="1547"/>
                      </a:lnTo>
                      <a:lnTo>
                        <a:pt x="927" y="1547"/>
                      </a:lnTo>
                      <a:lnTo>
                        <a:pt x="927" y="1538"/>
                      </a:lnTo>
                      <a:lnTo>
                        <a:pt x="939" y="1530"/>
                      </a:lnTo>
                      <a:lnTo>
                        <a:pt x="952" y="1521"/>
                      </a:lnTo>
                      <a:lnTo>
                        <a:pt x="952" y="1512"/>
                      </a:lnTo>
                      <a:lnTo>
                        <a:pt x="965" y="1503"/>
                      </a:lnTo>
                      <a:lnTo>
                        <a:pt x="965" y="1495"/>
                      </a:lnTo>
                      <a:lnTo>
                        <a:pt x="977" y="1486"/>
                      </a:lnTo>
                      <a:lnTo>
                        <a:pt x="977" y="1477"/>
                      </a:lnTo>
                      <a:lnTo>
                        <a:pt x="990" y="1468"/>
                      </a:lnTo>
                      <a:lnTo>
                        <a:pt x="1003" y="1459"/>
                      </a:lnTo>
                      <a:lnTo>
                        <a:pt x="1003" y="1451"/>
                      </a:lnTo>
                      <a:lnTo>
                        <a:pt x="1016" y="1442"/>
                      </a:lnTo>
                      <a:lnTo>
                        <a:pt x="1016" y="1433"/>
                      </a:lnTo>
                      <a:lnTo>
                        <a:pt x="1028" y="1424"/>
                      </a:lnTo>
                      <a:lnTo>
                        <a:pt x="1028" y="1415"/>
                      </a:lnTo>
                      <a:lnTo>
                        <a:pt x="1041" y="1407"/>
                      </a:lnTo>
                      <a:lnTo>
                        <a:pt x="1041" y="1398"/>
                      </a:lnTo>
                      <a:lnTo>
                        <a:pt x="1054" y="1389"/>
                      </a:lnTo>
                      <a:lnTo>
                        <a:pt x="1066" y="1380"/>
                      </a:lnTo>
                      <a:lnTo>
                        <a:pt x="1066" y="1371"/>
                      </a:lnTo>
                      <a:lnTo>
                        <a:pt x="1079" y="1354"/>
                      </a:lnTo>
                      <a:lnTo>
                        <a:pt x="1079" y="1345"/>
                      </a:lnTo>
                      <a:lnTo>
                        <a:pt x="1092" y="1336"/>
                      </a:lnTo>
                      <a:lnTo>
                        <a:pt x="1092" y="1327"/>
                      </a:lnTo>
                      <a:lnTo>
                        <a:pt x="1104" y="1319"/>
                      </a:lnTo>
                      <a:lnTo>
                        <a:pt x="1117" y="1310"/>
                      </a:lnTo>
                      <a:lnTo>
                        <a:pt x="1117" y="1301"/>
                      </a:lnTo>
                      <a:lnTo>
                        <a:pt x="1130" y="1283"/>
                      </a:lnTo>
                      <a:lnTo>
                        <a:pt x="1130" y="1275"/>
                      </a:lnTo>
                      <a:lnTo>
                        <a:pt x="1142" y="1266"/>
                      </a:lnTo>
                      <a:lnTo>
                        <a:pt x="1142" y="1257"/>
                      </a:lnTo>
                      <a:lnTo>
                        <a:pt x="1155" y="1248"/>
                      </a:lnTo>
                      <a:lnTo>
                        <a:pt x="1168" y="1231"/>
                      </a:lnTo>
                      <a:lnTo>
                        <a:pt x="1168" y="1222"/>
                      </a:lnTo>
                      <a:lnTo>
                        <a:pt x="1181" y="1213"/>
                      </a:lnTo>
                      <a:lnTo>
                        <a:pt x="1181" y="1204"/>
                      </a:lnTo>
                      <a:lnTo>
                        <a:pt x="1193" y="1196"/>
                      </a:lnTo>
                      <a:lnTo>
                        <a:pt x="1193" y="1178"/>
                      </a:lnTo>
                      <a:lnTo>
                        <a:pt x="1206" y="1169"/>
                      </a:lnTo>
                      <a:lnTo>
                        <a:pt x="1206" y="1160"/>
                      </a:lnTo>
                      <a:lnTo>
                        <a:pt x="1219" y="1152"/>
                      </a:lnTo>
                      <a:lnTo>
                        <a:pt x="1231" y="1134"/>
                      </a:lnTo>
                      <a:lnTo>
                        <a:pt x="1231" y="1125"/>
                      </a:lnTo>
                      <a:lnTo>
                        <a:pt x="1244" y="1116"/>
                      </a:lnTo>
                      <a:lnTo>
                        <a:pt x="1244" y="1099"/>
                      </a:lnTo>
                      <a:lnTo>
                        <a:pt x="1257" y="1090"/>
                      </a:lnTo>
                      <a:lnTo>
                        <a:pt x="1257" y="1081"/>
                      </a:lnTo>
                      <a:lnTo>
                        <a:pt x="1269" y="1064"/>
                      </a:lnTo>
                      <a:lnTo>
                        <a:pt x="1282" y="1055"/>
                      </a:lnTo>
                      <a:lnTo>
                        <a:pt x="1282" y="1046"/>
                      </a:lnTo>
                      <a:lnTo>
                        <a:pt x="1295" y="1028"/>
                      </a:lnTo>
                      <a:lnTo>
                        <a:pt x="1295" y="1020"/>
                      </a:lnTo>
                      <a:lnTo>
                        <a:pt x="1307" y="1011"/>
                      </a:lnTo>
                      <a:lnTo>
                        <a:pt x="1307" y="993"/>
                      </a:lnTo>
                      <a:lnTo>
                        <a:pt x="1320" y="985"/>
                      </a:lnTo>
                      <a:lnTo>
                        <a:pt x="1333" y="976"/>
                      </a:lnTo>
                      <a:lnTo>
                        <a:pt x="1333" y="958"/>
                      </a:lnTo>
                      <a:lnTo>
                        <a:pt x="1346" y="949"/>
                      </a:lnTo>
                      <a:lnTo>
                        <a:pt x="1346" y="941"/>
                      </a:lnTo>
                      <a:lnTo>
                        <a:pt x="1358" y="923"/>
                      </a:lnTo>
                      <a:lnTo>
                        <a:pt x="1358" y="914"/>
                      </a:lnTo>
                      <a:lnTo>
                        <a:pt x="1371" y="905"/>
                      </a:lnTo>
                      <a:lnTo>
                        <a:pt x="1371" y="888"/>
                      </a:lnTo>
                      <a:lnTo>
                        <a:pt x="1384" y="879"/>
                      </a:lnTo>
                      <a:lnTo>
                        <a:pt x="1396" y="861"/>
                      </a:lnTo>
                      <a:lnTo>
                        <a:pt x="1396" y="853"/>
                      </a:lnTo>
                      <a:lnTo>
                        <a:pt x="1409" y="844"/>
                      </a:lnTo>
                      <a:lnTo>
                        <a:pt x="1409" y="826"/>
                      </a:lnTo>
                      <a:lnTo>
                        <a:pt x="1422" y="817"/>
                      </a:lnTo>
                      <a:lnTo>
                        <a:pt x="1422" y="809"/>
                      </a:lnTo>
                      <a:lnTo>
                        <a:pt x="1434" y="791"/>
                      </a:lnTo>
                      <a:lnTo>
                        <a:pt x="1447" y="782"/>
                      </a:lnTo>
                      <a:lnTo>
                        <a:pt x="1447" y="765"/>
                      </a:lnTo>
                      <a:lnTo>
                        <a:pt x="1460" y="756"/>
                      </a:lnTo>
                      <a:lnTo>
                        <a:pt x="1460" y="747"/>
                      </a:lnTo>
                      <a:lnTo>
                        <a:pt x="1472" y="730"/>
                      </a:lnTo>
                      <a:lnTo>
                        <a:pt x="1472" y="721"/>
                      </a:lnTo>
                      <a:lnTo>
                        <a:pt x="1485" y="703"/>
                      </a:lnTo>
                      <a:lnTo>
                        <a:pt x="1498" y="694"/>
                      </a:lnTo>
                      <a:lnTo>
                        <a:pt x="1498" y="686"/>
                      </a:lnTo>
                      <a:lnTo>
                        <a:pt x="1511" y="668"/>
                      </a:lnTo>
                      <a:lnTo>
                        <a:pt x="1511" y="659"/>
                      </a:lnTo>
                      <a:lnTo>
                        <a:pt x="1523" y="650"/>
                      </a:lnTo>
                      <a:lnTo>
                        <a:pt x="1523" y="633"/>
                      </a:lnTo>
                      <a:lnTo>
                        <a:pt x="1536" y="624"/>
                      </a:lnTo>
                      <a:lnTo>
                        <a:pt x="1536" y="615"/>
                      </a:lnTo>
                      <a:lnTo>
                        <a:pt x="1549" y="598"/>
                      </a:lnTo>
                      <a:lnTo>
                        <a:pt x="1561" y="589"/>
                      </a:lnTo>
                      <a:lnTo>
                        <a:pt x="1561" y="571"/>
                      </a:lnTo>
                      <a:lnTo>
                        <a:pt x="1574" y="562"/>
                      </a:lnTo>
                      <a:lnTo>
                        <a:pt x="1574" y="554"/>
                      </a:lnTo>
                      <a:lnTo>
                        <a:pt x="1587" y="536"/>
                      </a:lnTo>
                      <a:lnTo>
                        <a:pt x="1587" y="527"/>
                      </a:lnTo>
                      <a:lnTo>
                        <a:pt x="1599" y="518"/>
                      </a:lnTo>
                      <a:lnTo>
                        <a:pt x="1612" y="510"/>
                      </a:lnTo>
                      <a:lnTo>
                        <a:pt x="1612" y="492"/>
                      </a:lnTo>
                      <a:lnTo>
                        <a:pt x="1625" y="483"/>
                      </a:lnTo>
                      <a:lnTo>
                        <a:pt x="1625" y="475"/>
                      </a:lnTo>
                      <a:lnTo>
                        <a:pt x="1637" y="457"/>
                      </a:lnTo>
                      <a:lnTo>
                        <a:pt x="1637" y="448"/>
                      </a:lnTo>
                      <a:lnTo>
                        <a:pt x="1650" y="439"/>
                      </a:lnTo>
                      <a:lnTo>
                        <a:pt x="1663" y="431"/>
                      </a:lnTo>
                      <a:lnTo>
                        <a:pt x="1663" y="413"/>
                      </a:lnTo>
                      <a:lnTo>
                        <a:pt x="1676" y="404"/>
                      </a:lnTo>
                      <a:lnTo>
                        <a:pt x="1676" y="395"/>
                      </a:lnTo>
                      <a:lnTo>
                        <a:pt x="1688" y="387"/>
                      </a:lnTo>
                      <a:lnTo>
                        <a:pt x="1688" y="369"/>
                      </a:lnTo>
                      <a:lnTo>
                        <a:pt x="1701" y="360"/>
                      </a:lnTo>
                      <a:lnTo>
                        <a:pt x="1701" y="351"/>
                      </a:lnTo>
                      <a:lnTo>
                        <a:pt x="1714" y="343"/>
                      </a:lnTo>
                      <a:lnTo>
                        <a:pt x="1726" y="334"/>
                      </a:lnTo>
                      <a:lnTo>
                        <a:pt x="1726" y="325"/>
                      </a:lnTo>
                      <a:lnTo>
                        <a:pt x="1739" y="316"/>
                      </a:lnTo>
                      <a:lnTo>
                        <a:pt x="1739" y="299"/>
                      </a:lnTo>
                      <a:lnTo>
                        <a:pt x="1752" y="290"/>
                      </a:lnTo>
                      <a:lnTo>
                        <a:pt x="1752" y="281"/>
                      </a:lnTo>
                      <a:lnTo>
                        <a:pt x="1764" y="272"/>
                      </a:lnTo>
                      <a:lnTo>
                        <a:pt x="1777" y="263"/>
                      </a:lnTo>
                      <a:lnTo>
                        <a:pt x="1777" y="255"/>
                      </a:lnTo>
                      <a:lnTo>
                        <a:pt x="1790" y="246"/>
                      </a:lnTo>
                      <a:lnTo>
                        <a:pt x="1790" y="237"/>
                      </a:lnTo>
                      <a:lnTo>
                        <a:pt x="1802" y="228"/>
                      </a:lnTo>
                      <a:lnTo>
                        <a:pt x="1802" y="220"/>
                      </a:lnTo>
                      <a:lnTo>
                        <a:pt x="1815" y="211"/>
                      </a:lnTo>
                      <a:lnTo>
                        <a:pt x="1828" y="202"/>
                      </a:lnTo>
                      <a:lnTo>
                        <a:pt x="1828" y="193"/>
                      </a:lnTo>
                      <a:lnTo>
                        <a:pt x="1841" y="184"/>
                      </a:lnTo>
                      <a:lnTo>
                        <a:pt x="1841" y="176"/>
                      </a:lnTo>
                      <a:lnTo>
                        <a:pt x="1853" y="167"/>
                      </a:lnTo>
                      <a:lnTo>
                        <a:pt x="1853" y="158"/>
                      </a:lnTo>
                      <a:lnTo>
                        <a:pt x="1866" y="158"/>
                      </a:lnTo>
                      <a:lnTo>
                        <a:pt x="1866" y="149"/>
                      </a:lnTo>
                      <a:lnTo>
                        <a:pt x="1879" y="140"/>
                      </a:lnTo>
                      <a:lnTo>
                        <a:pt x="1891" y="132"/>
                      </a:lnTo>
                      <a:lnTo>
                        <a:pt x="1891" y="123"/>
                      </a:lnTo>
                      <a:lnTo>
                        <a:pt x="1904" y="123"/>
                      </a:lnTo>
                      <a:lnTo>
                        <a:pt x="1904" y="114"/>
                      </a:lnTo>
                      <a:lnTo>
                        <a:pt x="1917" y="105"/>
                      </a:lnTo>
                      <a:lnTo>
                        <a:pt x="1917" y="96"/>
                      </a:lnTo>
                      <a:lnTo>
                        <a:pt x="1929" y="96"/>
                      </a:lnTo>
                      <a:lnTo>
                        <a:pt x="1942" y="88"/>
                      </a:lnTo>
                      <a:lnTo>
                        <a:pt x="1942" y="79"/>
                      </a:lnTo>
                      <a:lnTo>
                        <a:pt x="1955" y="79"/>
                      </a:lnTo>
                      <a:lnTo>
                        <a:pt x="1955" y="70"/>
                      </a:lnTo>
                      <a:lnTo>
                        <a:pt x="1967" y="61"/>
                      </a:lnTo>
                      <a:lnTo>
                        <a:pt x="1980" y="52"/>
                      </a:lnTo>
                      <a:lnTo>
                        <a:pt x="1993" y="52"/>
                      </a:lnTo>
                      <a:lnTo>
                        <a:pt x="1993" y="44"/>
                      </a:lnTo>
                      <a:lnTo>
                        <a:pt x="2006" y="44"/>
                      </a:lnTo>
                      <a:lnTo>
                        <a:pt x="2006" y="35"/>
                      </a:lnTo>
                      <a:lnTo>
                        <a:pt x="2018" y="35"/>
                      </a:lnTo>
                      <a:lnTo>
                        <a:pt x="2018" y="26"/>
                      </a:lnTo>
                      <a:lnTo>
                        <a:pt x="2031" y="26"/>
                      </a:lnTo>
                      <a:lnTo>
                        <a:pt x="2044" y="17"/>
                      </a:lnTo>
                      <a:lnTo>
                        <a:pt x="2056" y="17"/>
                      </a:lnTo>
                      <a:lnTo>
                        <a:pt x="2069" y="8"/>
                      </a:lnTo>
                      <a:lnTo>
                        <a:pt x="2082" y="8"/>
                      </a:lnTo>
                      <a:lnTo>
                        <a:pt x="2094" y="0"/>
                      </a:lnTo>
                      <a:lnTo>
                        <a:pt x="2107" y="0"/>
                      </a:lnTo>
                      <a:lnTo>
                        <a:pt x="2120" y="0"/>
                      </a:lnTo>
                      <a:lnTo>
                        <a:pt x="2132" y="0"/>
                      </a:lnTo>
                      <a:lnTo>
                        <a:pt x="2145" y="0"/>
                      </a:lnTo>
                      <a:lnTo>
                        <a:pt x="2158" y="0"/>
                      </a:lnTo>
                      <a:lnTo>
                        <a:pt x="2171" y="0"/>
                      </a:lnTo>
                      <a:lnTo>
                        <a:pt x="2183" y="0"/>
                      </a:lnTo>
                      <a:lnTo>
                        <a:pt x="2196" y="0"/>
                      </a:lnTo>
                      <a:lnTo>
                        <a:pt x="2209" y="0"/>
                      </a:lnTo>
                      <a:lnTo>
                        <a:pt x="2221" y="0"/>
                      </a:lnTo>
                      <a:lnTo>
                        <a:pt x="2221" y="8"/>
                      </a:lnTo>
                      <a:lnTo>
                        <a:pt x="2234" y="8"/>
                      </a:lnTo>
                      <a:lnTo>
                        <a:pt x="2247" y="8"/>
                      </a:lnTo>
                      <a:lnTo>
                        <a:pt x="2247" y="17"/>
                      </a:lnTo>
                      <a:lnTo>
                        <a:pt x="2259" y="17"/>
                      </a:lnTo>
                      <a:lnTo>
                        <a:pt x="2272" y="17"/>
                      </a:lnTo>
                      <a:lnTo>
                        <a:pt x="2272" y="26"/>
                      </a:lnTo>
                      <a:lnTo>
                        <a:pt x="2285" y="26"/>
                      </a:lnTo>
                      <a:lnTo>
                        <a:pt x="2297" y="35"/>
                      </a:lnTo>
                      <a:lnTo>
                        <a:pt x="2310" y="44"/>
                      </a:lnTo>
                      <a:lnTo>
                        <a:pt x="2323" y="52"/>
                      </a:lnTo>
                      <a:lnTo>
                        <a:pt x="2336" y="52"/>
                      </a:lnTo>
                      <a:lnTo>
                        <a:pt x="2336" y="61"/>
                      </a:lnTo>
                      <a:lnTo>
                        <a:pt x="2348" y="61"/>
                      </a:lnTo>
                      <a:lnTo>
                        <a:pt x="2348" y="70"/>
                      </a:lnTo>
                      <a:lnTo>
                        <a:pt x="2361" y="79"/>
                      </a:lnTo>
                      <a:lnTo>
                        <a:pt x="2374" y="88"/>
                      </a:lnTo>
                      <a:lnTo>
                        <a:pt x="2386" y="96"/>
                      </a:lnTo>
                      <a:lnTo>
                        <a:pt x="2399" y="105"/>
                      </a:lnTo>
                      <a:lnTo>
                        <a:pt x="2399" y="114"/>
                      </a:lnTo>
                      <a:lnTo>
                        <a:pt x="2412" y="123"/>
                      </a:lnTo>
                      <a:lnTo>
                        <a:pt x="2424" y="132"/>
                      </a:lnTo>
                      <a:lnTo>
                        <a:pt x="2437" y="140"/>
                      </a:lnTo>
                      <a:lnTo>
                        <a:pt x="2437" y="149"/>
                      </a:lnTo>
                      <a:lnTo>
                        <a:pt x="2450" y="158"/>
                      </a:lnTo>
                      <a:lnTo>
                        <a:pt x="2462" y="167"/>
                      </a:lnTo>
                      <a:lnTo>
                        <a:pt x="2462" y="176"/>
                      </a:lnTo>
                      <a:lnTo>
                        <a:pt x="2475" y="184"/>
                      </a:lnTo>
                      <a:lnTo>
                        <a:pt x="2475" y="193"/>
                      </a:lnTo>
                      <a:lnTo>
                        <a:pt x="2488" y="202"/>
                      </a:lnTo>
                      <a:lnTo>
                        <a:pt x="2501" y="211"/>
                      </a:lnTo>
                      <a:lnTo>
                        <a:pt x="2501" y="220"/>
                      </a:lnTo>
                      <a:lnTo>
                        <a:pt x="2513" y="228"/>
                      </a:lnTo>
                      <a:lnTo>
                        <a:pt x="2513" y="237"/>
                      </a:lnTo>
                      <a:lnTo>
                        <a:pt x="2526" y="246"/>
                      </a:lnTo>
                      <a:lnTo>
                        <a:pt x="2526" y="255"/>
                      </a:lnTo>
                      <a:lnTo>
                        <a:pt x="2539" y="263"/>
                      </a:lnTo>
                      <a:lnTo>
                        <a:pt x="2551" y="272"/>
                      </a:lnTo>
                      <a:lnTo>
                        <a:pt x="2551" y="281"/>
                      </a:lnTo>
                      <a:lnTo>
                        <a:pt x="2564" y="290"/>
                      </a:lnTo>
                      <a:lnTo>
                        <a:pt x="2564" y="299"/>
                      </a:lnTo>
                      <a:lnTo>
                        <a:pt x="2577" y="316"/>
                      </a:lnTo>
                      <a:lnTo>
                        <a:pt x="2577" y="325"/>
                      </a:lnTo>
                      <a:lnTo>
                        <a:pt x="2589" y="334"/>
                      </a:lnTo>
                      <a:lnTo>
                        <a:pt x="2602" y="343"/>
                      </a:lnTo>
                      <a:lnTo>
                        <a:pt x="2602" y="351"/>
                      </a:lnTo>
                      <a:lnTo>
                        <a:pt x="2615" y="360"/>
                      </a:lnTo>
                      <a:lnTo>
                        <a:pt x="2615" y="369"/>
                      </a:lnTo>
                      <a:lnTo>
                        <a:pt x="2627" y="387"/>
                      </a:lnTo>
                      <a:lnTo>
                        <a:pt x="2627" y="395"/>
                      </a:lnTo>
                      <a:lnTo>
                        <a:pt x="2640" y="404"/>
                      </a:lnTo>
                      <a:lnTo>
                        <a:pt x="2640" y="413"/>
                      </a:lnTo>
                      <a:lnTo>
                        <a:pt x="2653" y="431"/>
                      </a:lnTo>
                      <a:lnTo>
                        <a:pt x="2666" y="439"/>
                      </a:lnTo>
                      <a:lnTo>
                        <a:pt x="2666" y="448"/>
                      </a:lnTo>
                      <a:lnTo>
                        <a:pt x="2678" y="457"/>
                      </a:lnTo>
                      <a:lnTo>
                        <a:pt x="2678" y="475"/>
                      </a:lnTo>
                      <a:lnTo>
                        <a:pt x="2691" y="483"/>
                      </a:lnTo>
                      <a:lnTo>
                        <a:pt x="2691" y="492"/>
                      </a:lnTo>
                      <a:lnTo>
                        <a:pt x="2704" y="510"/>
                      </a:lnTo>
                      <a:lnTo>
                        <a:pt x="2716" y="518"/>
                      </a:lnTo>
                      <a:lnTo>
                        <a:pt x="2716" y="527"/>
                      </a:lnTo>
                      <a:lnTo>
                        <a:pt x="2729" y="536"/>
                      </a:lnTo>
                      <a:lnTo>
                        <a:pt x="2729" y="554"/>
                      </a:lnTo>
                      <a:lnTo>
                        <a:pt x="2742" y="562"/>
                      </a:lnTo>
                      <a:lnTo>
                        <a:pt x="2742" y="571"/>
                      </a:lnTo>
                      <a:lnTo>
                        <a:pt x="2754" y="589"/>
                      </a:lnTo>
                      <a:lnTo>
                        <a:pt x="2767" y="598"/>
                      </a:lnTo>
                      <a:lnTo>
                        <a:pt x="2767" y="615"/>
                      </a:lnTo>
                      <a:lnTo>
                        <a:pt x="2780" y="624"/>
                      </a:lnTo>
                      <a:lnTo>
                        <a:pt x="2780" y="633"/>
                      </a:lnTo>
                      <a:lnTo>
                        <a:pt x="2792" y="650"/>
                      </a:lnTo>
                      <a:lnTo>
                        <a:pt x="2792" y="659"/>
                      </a:lnTo>
                      <a:lnTo>
                        <a:pt x="2805" y="668"/>
                      </a:lnTo>
                      <a:lnTo>
                        <a:pt x="2805" y="686"/>
                      </a:lnTo>
                      <a:lnTo>
                        <a:pt x="2818" y="694"/>
                      </a:lnTo>
                      <a:lnTo>
                        <a:pt x="2831" y="703"/>
                      </a:lnTo>
                      <a:lnTo>
                        <a:pt x="2831" y="721"/>
                      </a:lnTo>
                      <a:lnTo>
                        <a:pt x="2843" y="730"/>
                      </a:lnTo>
                      <a:lnTo>
                        <a:pt x="2843" y="747"/>
                      </a:lnTo>
                      <a:lnTo>
                        <a:pt x="2856" y="756"/>
                      </a:lnTo>
                      <a:lnTo>
                        <a:pt x="2856" y="765"/>
                      </a:lnTo>
                      <a:lnTo>
                        <a:pt x="2869" y="782"/>
                      </a:lnTo>
                      <a:lnTo>
                        <a:pt x="2881" y="791"/>
                      </a:lnTo>
                      <a:lnTo>
                        <a:pt x="2881" y="809"/>
                      </a:lnTo>
                      <a:lnTo>
                        <a:pt x="2894" y="817"/>
                      </a:lnTo>
                      <a:lnTo>
                        <a:pt x="2894" y="826"/>
                      </a:lnTo>
                      <a:lnTo>
                        <a:pt x="2907" y="844"/>
                      </a:lnTo>
                      <a:lnTo>
                        <a:pt x="2907" y="853"/>
                      </a:lnTo>
                      <a:lnTo>
                        <a:pt x="2919" y="861"/>
                      </a:lnTo>
                      <a:lnTo>
                        <a:pt x="2932" y="879"/>
                      </a:lnTo>
                      <a:lnTo>
                        <a:pt x="2932" y="888"/>
                      </a:lnTo>
                      <a:lnTo>
                        <a:pt x="2945" y="905"/>
                      </a:lnTo>
                      <a:lnTo>
                        <a:pt x="2945" y="914"/>
                      </a:lnTo>
                      <a:lnTo>
                        <a:pt x="2957" y="923"/>
                      </a:lnTo>
                      <a:lnTo>
                        <a:pt x="2957" y="941"/>
                      </a:lnTo>
                      <a:lnTo>
                        <a:pt x="2970" y="949"/>
                      </a:lnTo>
                      <a:lnTo>
                        <a:pt x="2970" y="958"/>
                      </a:lnTo>
                      <a:lnTo>
                        <a:pt x="2983" y="976"/>
                      </a:lnTo>
                      <a:lnTo>
                        <a:pt x="2996" y="985"/>
                      </a:lnTo>
                      <a:lnTo>
                        <a:pt x="2996" y="993"/>
                      </a:lnTo>
                      <a:lnTo>
                        <a:pt x="3008" y="1011"/>
                      </a:lnTo>
                      <a:lnTo>
                        <a:pt x="3008" y="1020"/>
                      </a:lnTo>
                      <a:lnTo>
                        <a:pt x="3021" y="1028"/>
                      </a:lnTo>
                      <a:lnTo>
                        <a:pt x="3021" y="1046"/>
                      </a:lnTo>
                      <a:lnTo>
                        <a:pt x="3034" y="1055"/>
                      </a:lnTo>
                      <a:lnTo>
                        <a:pt x="3046" y="1064"/>
                      </a:lnTo>
                      <a:lnTo>
                        <a:pt x="3046" y="1081"/>
                      </a:lnTo>
                      <a:lnTo>
                        <a:pt x="3059" y="1090"/>
                      </a:lnTo>
                      <a:lnTo>
                        <a:pt x="3059" y="1099"/>
                      </a:lnTo>
                      <a:lnTo>
                        <a:pt x="3072" y="1116"/>
                      </a:lnTo>
                      <a:lnTo>
                        <a:pt x="3072" y="1125"/>
                      </a:lnTo>
                      <a:lnTo>
                        <a:pt x="3084" y="1134"/>
                      </a:lnTo>
                      <a:lnTo>
                        <a:pt x="3097" y="1152"/>
                      </a:lnTo>
                      <a:lnTo>
                        <a:pt x="3097" y="1160"/>
                      </a:lnTo>
                      <a:lnTo>
                        <a:pt x="3110" y="1169"/>
                      </a:lnTo>
                      <a:lnTo>
                        <a:pt x="3110" y="1178"/>
                      </a:lnTo>
                      <a:lnTo>
                        <a:pt x="3122" y="1196"/>
                      </a:lnTo>
                      <a:lnTo>
                        <a:pt x="3122" y="1204"/>
                      </a:lnTo>
                      <a:lnTo>
                        <a:pt x="3135" y="1213"/>
                      </a:lnTo>
                      <a:lnTo>
                        <a:pt x="3135" y="1222"/>
                      </a:lnTo>
                      <a:lnTo>
                        <a:pt x="3148" y="1231"/>
                      </a:lnTo>
                      <a:lnTo>
                        <a:pt x="3161" y="1248"/>
                      </a:lnTo>
                      <a:lnTo>
                        <a:pt x="3161" y="1257"/>
                      </a:lnTo>
                      <a:lnTo>
                        <a:pt x="3173" y="1266"/>
                      </a:lnTo>
                      <a:lnTo>
                        <a:pt x="3173" y="1275"/>
                      </a:lnTo>
                      <a:lnTo>
                        <a:pt x="3186" y="1283"/>
                      </a:lnTo>
                      <a:lnTo>
                        <a:pt x="3186" y="1301"/>
                      </a:lnTo>
                      <a:lnTo>
                        <a:pt x="3199" y="1310"/>
                      </a:lnTo>
                      <a:lnTo>
                        <a:pt x="3211" y="1319"/>
                      </a:lnTo>
                      <a:lnTo>
                        <a:pt x="3211" y="1327"/>
                      </a:lnTo>
                      <a:lnTo>
                        <a:pt x="3224" y="1336"/>
                      </a:lnTo>
                      <a:lnTo>
                        <a:pt x="3224" y="1345"/>
                      </a:lnTo>
                      <a:lnTo>
                        <a:pt x="3237" y="1354"/>
                      </a:lnTo>
                      <a:lnTo>
                        <a:pt x="3237" y="1371"/>
                      </a:lnTo>
                      <a:lnTo>
                        <a:pt x="3249" y="1380"/>
                      </a:lnTo>
                      <a:lnTo>
                        <a:pt x="3262" y="1389"/>
                      </a:lnTo>
                      <a:lnTo>
                        <a:pt x="3262" y="1398"/>
                      </a:lnTo>
                      <a:lnTo>
                        <a:pt x="3275" y="1407"/>
                      </a:lnTo>
                      <a:lnTo>
                        <a:pt x="3275" y="1415"/>
                      </a:lnTo>
                      <a:lnTo>
                        <a:pt x="3287" y="1424"/>
                      </a:lnTo>
                      <a:lnTo>
                        <a:pt x="3287" y="1433"/>
                      </a:lnTo>
                      <a:lnTo>
                        <a:pt x="3300" y="1442"/>
                      </a:lnTo>
                      <a:lnTo>
                        <a:pt x="3300" y="1451"/>
                      </a:lnTo>
                      <a:lnTo>
                        <a:pt x="3313" y="1459"/>
                      </a:lnTo>
                      <a:lnTo>
                        <a:pt x="3326" y="1468"/>
                      </a:lnTo>
                      <a:lnTo>
                        <a:pt x="3326" y="1477"/>
                      </a:lnTo>
                      <a:lnTo>
                        <a:pt x="3338" y="1486"/>
                      </a:lnTo>
                      <a:lnTo>
                        <a:pt x="3338" y="1495"/>
                      </a:lnTo>
                      <a:lnTo>
                        <a:pt x="3351" y="1503"/>
                      </a:lnTo>
                      <a:lnTo>
                        <a:pt x="3351" y="1512"/>
                      </a:lnTo>
                      <a:lnTo>
                        <a:pt x="3364" y="1521"/>
                      </a:lnTo>
                      <a:lnTo>
                        <a:pt x="3376" y="1530"/>
                      </a:lnTo>
                      <a:lnTo>
                        <a:pt x="3376" y="1538"/>
                      </a:lnTo>
                      <a:lnTo>
                        <a:pt x="3389" y="1547"/>
                      </a:lnTo>
                      <a:lnTo>
                        <a:pt x="3402" y="1556"/>
                      </a:lnTo>
                      <a:lnTo>
                        <a:pt x="3402" y="1565"/>
                      </a:lnTo>
                      <a:lnTo>
                        <a:pt x="3414" y="1574"/>
                      </a:lnTo>
                      <a:lnTo>
                        <a:pt x="3427" y="1582"/>
                      </a:lnTo>
                      <a:lnTo>
                        <a:pt x="3427" y="1591"/>
                      </a:lnTo>
                      <a:lnTo>
                        <a:pt x="3440" y="1600"/>
                      </a:lnTo>
                      <a:lnTo>
                        <a:pt x="3452" y="1609"/>
                      </a:lnTo>
                      <a:lnTo>
                        <a:pt x="3452" y="1618"/>
                      </a:lnTo>
                      <a:lnTo>
                        <a:pt x="3465" y="1626"/>
                      </a:lnTo>
                      <a:lnTo>
                        <a:pt x="3465" y="1635"/>
                      </a:lnTo>
                      <a:lnTo>
                        <a:pt x="3478" y="1635"/>
                      </a:lnTo>
                      <a:lnTo>
                        <a:pt x="3490" y="1644"/>
                      </a:lnTo>
                      <a:lnTo>
                        <a:pt x="3490" y="1653"/>
                      </a:lnTo>
                      <a:lnTo>
                        <a:pt x="3503" y="1662"/>
                      </a:lnTo>
                      <a:lnTo>
                        <a:pt x="3516" y="1670"/>
                      </a:lnTo>
                      <a:lnTo>
                        <a:pt x="3516" y="1679"/>
                      </a:lnTo>
                      <a:lnTo>
                        <a:pt x="3529" y="1679"/>
                      </a:lnTo>
                      <a:lnTo>
                        <a:pt x="3541" y="1688"/>
                      </a:lnTo>
                      <a:lnTo>
                        <a:pt x="3541" y="1697"/>
                      </a:lnTo>
                      <a:lnTo>
                        <a:pt x="3554" y="1706"/>
                      </a:lnTo>
                      <a:lnTo>
                        <a:pt x="3567" y="1714"/>
                      </a:lnTo>
                      <a:lnTo>
                        <a:pt x="3567" y="1723"/>
                      </a:lnTo>
                      <a:lnTo>
                        <a:pt x="3579" y="1723"/>
                      </a:lnTo>
                      <a:lnTo>
                        <a:pt x="3592" y="1732"/>
                      </a:lnTo>
                      <a:lnTo>
                        <a:pt x="3605" y="1741"/>
                      </a:lnTo>
                      <a:lnTo>
                        <a:pt x="3605" y="1750"/>
                      </a:lnTo>
                      <a:lnTo>
                        <a:pt x="3617" y="1750"/>
                      </a:lnTo>
                      <a:lnTo>
                        <a:pt x="3617" y="1758"/>
                      </a:lnTo>
                      <a:lnTo>
                        <a:pt x="3630" y="1758"/>
                      </a:lnTo>
                      <a:lnTo>
                        <a:pt x="3630" y="1767"/>
                      </a:lnTo>
                      <a:lnTo>
                        <a:pt x="3643" y="1767"/>
                      </a:lnTo>
                      <a:lnTo>
                        <a:pt x="3655" y="1776"/>
                      </a:lnTo>
                      <a:lnTo>
                        <a:pt x="3655" y="1785"/>
                      </a:lnTo>
                      <a:lnTo>
                        <a:pt x="3668" y="1785"/>
                      </a:lnTo>
                      <a:lnTo>
                        <a:pt x="3668" y="1793"/>
                      </a:lnTo>
                      <a:lnTo>
                        <a:pt x="3681" y="1793"/>
                      </a:lnTo>
                      <a:lnTo>
                        <a:pt x="3681" y="1802"/>
                      </a:lnTo>
                      <a:lnTo>
                        <a:pt x="3694" y="1802"/>
                      </a:lnTo>
                      <a:lnTo>
                        <a:pt x="3706" y="1811"/>
                      </a:lnTo>
                      <a:lnTo>
                        <a:pt x="3719" y="1820"/>
                      </a:lnTo>
                      <a:lnTo>
                        <a:pt x="3732" y="1820"/>
                      </a:lnTo>
                      <a:lnTo>
                        <a:pt x="3732" y="1829"/>
                      </a:lnTo>
                      <a:lnTo>
                        <a:pt x="3744" y="1829"/>
                      </a:lnTo>
                      <a:lnTo>
                        <a:pt x="3744" y="1837"/>
                      </a:lnTo>
                      <a:lnTo>
                        <a:pt x="3757" y="1837"/>
                      </a:lnTo>
                      <a:lnTo>
                        <a:pt x="3770" y="1846"/>
                      </a:lnTo>
                      <a:lnTo>
                        <a:pt x="3782" y="1846"/>
                      </a:lnTo>
                      <a:lnTo>
                        <a:pt x="3782" y="1855"/>
                      </a:lnTo>
                      <a:lnTo>
                        <a:pt x="3795" y="1855"/>
                      </a:lnTo>
                      <a:lnTo>
                        <a:pt x="3795" y="1864"/>
                      </a:lnTo>
                      <a:lnTo>
                        <a:pt x="3808" y="1864"/>
                      </a:lnTo>
                      <a:lnTo>
                        <a:pt x="3820" y="1864"/>
                      </a:lnTo>
                      <a:lnTo>
                        <a:pt x="3820" y="1873"/>
                      </a:lnTo>
                      <a:lnTo>
                        <a:pt x="3833" y="1873"/>
                      </a:lnTo>
                      <a:lnTo>
                        <a:pt x="3846" y="1881"/>
                      </a:lnTo>
                      <a:lnTo>
                        <a:pt x="3859" y="1881"/>
                      </a:lnTo>
                      <a:lnTo>
                        <a:pt x="3871" y="1890"/>
                      </a:lnTo>
                      <a:lnTo>
                        <a:pt x="3884" y="1890"/>
                      </a:lnTo>
                      <a:lnTo>
                        <a:pt x="3884" y="1899"/>
                      </a:lnTo>
                      <a:lnTo>
                        <a:pt x="3897" y="1899"/>
                      </a:lnTo>
                      <a:lnTo>
                        <a:pt x="3909" y="1908"/>
                      </a:lnTo>
                      <a:lnTo>
                        <a:pt x="3922" y="1908"/>
                      </a:lnTo>
                      <a:lnTo>
                        <a:pt x="3935" y="1908"/>
                      </a:lnTo>
                      <a:lnTo>
                        <a:pt x="3935" y="1917"/>
                      </a:lnTo>
                      <a:lnTo>
                        <a:pt x="3947" y="1917"/>
                      </a:lnTo>
                      <a:lnTo>
                        <a:pt x="3960" y="1917"/>
                      </a:lnTo>
                      <a:lnTo>
                        <a:pt x="3960" y="1925"/>
                      </a:lnTo>
                      <a:lnTo>
                        <a:pt x="3973" y="1925"/>
                      </a:lnTo>
                      <a:lnTo>
                        <a:pt x="3985" y="1925"/>
                      </a:lnTo>
                      <a:lnTo>
                        <a:pt x="3998" y="1925"/>
                      </a:lnTo>
                      <a:lnTo>
                        <a:pt x="3998" y="1934"/>
                      </a:lnTo>
                      <a:lnTo>
                        <a:pt x="4011" y="1934"/>
                      </a:lnTo>
                      <a:lnTo>
                        <a:pt x="4024" y="1934"/>
                      </a:lnTo>
                      <a:lnTo>
                        <a:pt x="4036" y="1943"/>
                      </a:lnTo>
                      <a:lnTo>
                        <a:pt x="4049" y="1943"/>
                      </a:lnTo>
                      <a:lnTo>
                        <a:pt x="4062" y="1943"/>
                      </a:lnTo>
                      <a:lnTo>
                        <a:pt x="4074" y="1952"/>
                      </a:lnTo>
                      <a:lnTo>
                        <a:pt x="4087" y="1952"/>
                      </a:lnTo>
                      <a:lnTo>
                        <a:pt x="4100" y="1952"/>
                      </a:lnTo>
                      <a:lnTo>
                        <a:pt x="4112" y="1952"/>
                      </a:lnTo>
                      <a:lnTo>
                        <a:pt x="4112" y="1961"/>
                      </a:lnTo>
                      <a:lnTo>
                        <a:pt x="4125" y="1961"/>
                      </a:lnTo>
                      <a:lnTo>
                        <a:pt x="4138" y="1961"/>
                      </a:lnTo>
                      <a:lnTo>
                        <a:pt x="4150" y="1961"/>
                      </a:lnTo>
                      <a:lnTo>
                        <a:pt x="4163" y="1961"/>
                      </a:lnTo>
                      <a:lnTo>
                        <a:pt x="4163" y="1969"/>
                      </a:lnTo>
                      <a:lnTo>
                        <a:pt x="4176" y="1969"/>
                      </a:lnTo>
                      <a:lnTo>
                        <a:pt x="4189" y="1969"/>
                      </a:lnTo>
                      <a:lnTo>
                        <a:pt x="4201" y="1969"/>
                      </a:lnTo>
                      <a:lnTo>
                        <a:pt x="4214" y="1969"/>
                      </a:lnTo>
                      <a:lnTo>
                        <a:pt x="4227" y="1969"/>
                      </a:lnTo>
                      <a:lnTo>
                        <a:pt x="4227" y="1978"/>
                      </a:lnTo>
                      <a:lnTo>
                        <a:pt x="4239" y="1978"/>
                      </a:lnTo>
                      <a:lnTo>
                        <a:pt x="4252" y="1978"/>
                      </a:lnTo>
                      <a:lnTo>
                        <a:pt x="4265" y="1978"/>
                      </a:lnTo>
                      <a:lnTo>
                        <a:pt x="4277" y="1978"/>
                      </a:lnTo>
                      <a:lnTo>
                        <a:pt x="4290" y="1978"/>
                      </a:lnTo>
                      <a:lnTo>
                        <a:pt x="4303" y="1978"/>
                      </a:lnTo>
                    </a:path>
                  </a:pathLst>
                </a:custGeom>
                <a:noFill/>
                <a:ln w="50800" cap="rnd">
                  <a:solidFill>
                    <a:srgbClr val="00008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276" name="Rectangle 16"/>
                <p:cNvSpPr>
                  <a:spLocks noChangeArrowheads="1"/>
                </p:cNvSpPr>
                <p:nvPr/>
              </p:nvSpPr>
              <p:spPr bwMode="auto">
                <a:xfrm>
                  <a:off x="602" y="3737"/>
                  <a:ext cx="213"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wrap="none" lIns="90488" tIns="44450" rIns="90488" bIns="4445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sz="1400" b="1" i="0">
                      <a:solidFill>
                        <a:srgbClr val="000000"/>
                      </a:solidFill>
                    </a:rPr>
                    <a:t>-3</a:t>
                  </a:r>
                </a:p>
              </p:txBody>
            </p:sp>
            <p:sp>
              <p:nvSpPr>
                <p:cNvPr id="10277" name="Rectangle 17"/>
                <p:cNvSpPr>
                  <a:spLocks noChangeArrowheads="1"/>
                </p:cNvSpPr>
                <p:nvPr/>
              </p:nvSpPr>
              <p:spPr bwMode="auto">
                <a:xfrm>
                  <a:off x="1325" y="3737"/>
                  <a:ext cx="213"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wrap="none" lIns="90488" tIns="44450" rIns="90488" bIns="4445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sz="1400" b="1" i="0">
                      <a:solidFill>
                        <a:srgbClr val="000000"/>
                      </a:solidFill>
                    </a:rPr>
                    <a:t>-2</a:t>
                  </a:r>
                </a:p>
              </p:txBody>
            </p:sp>
            <p:sp>
              <p:nvSpPr>
                <p:cNvPr id="10278" name="Rectangle 18"/>
                <p:cNvSpPr>
                  <a:spLocks noChangeArrowheads="1"/>
                </p:cNvSpPr>
                <p:nvPr/>
              </p:nvSpPr>
              <p:spPr bwMode="auto">
                <a:xfrm>
                  <a:off x="2036" y="3737"/>
                  <a:ext cx="213"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wrap="none" lIns="90488" tIns="44450" rIns="90488" bIns="4445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sz="1400" b="1" i="0">
                      <a:solidFill>
                        <a:srgbClr val="000000"/>
                      </a:solidFill>
                    </a:rPr>
                    <a:t>-1</a:t>
                  </a:r>
                </a:p>
              </p:txBody>
            </p:sp>
            <p:sp>
              <p:nvSpPr>
                <p:cNvPr id="10279" name="Rectangle 19"/>
                <p:cNvSpPr>
                  <a:spLocks noChangeArrowheads="1"/>
                </p:cNvSpPr>
                <p:nvPr/>
              </p:nvSpPr>
              <p:spPr bwMode="auto">
                <a:xfrm>
                  <a:off x="2785" y="3737"/>
                  <a:ext cx="176"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wrap="none" lIns="90488" tIns="44450" rIns="90488" bIns="4445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sz="1400" b="1" i="0">
                      <a:solidFill>
                        <a:srgbClr val="000000"/>
                      </a:solidFill>
                    </a:rPr>
                    <a:t>0</a:t>
                  </a:r>
                </a:p>
              </p:txBody>
            </p:sp>
            <p:sp>
              <p:nvSpPr>
                <p:cNvPr id="10280" name="Rectangle 20"/>
                <p:cNvSpPr>
                  <a:spLocks noChangeArrowheads="1"/>
                </p:cNvSpPr>
                <p:nvPr/>
              </p:nvSpPr>
              <p:spPr bwMode="auto">
                <a:xfrm>
                  <a:off x="3496" y="3737"/>
                  <a:ext cx="176"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wrap="none" lIns="90488" tIns="44450" rIns="90488" bIns="4445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sz="1400" b="1" i="0">
                      <a:solidFill>
                        <a:srgbClr val="000000"/>
                      </a:solidFill>
                    </a:rPr>
                    <a:t>1</a:t>
                  </a:r>
                </a:p>
              </p:txBody>
            </p:sp>
            <p:sp>
              <p:nvSpPr>
                <p:cNvPr id="10281" name="Rectangle 21"/>
                <p:cNvSpPr>
                  <a:spLocks noChangeArrowheads="1"/>
                </p:cNvSpPr>
                <p:nvPr/>
              </p:nvSpPr>
              <p:spPr bwMode="auto">
                <a:xfrm>
                  <a:off x="4219" y="3737"/>
                  <a:ext cx="176"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wrap="none" lIns="90488" tIns="44450" rIns="90488" bIns="4445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sz="1400" b="1" i="0">
                      <a:solidFill>
                        <a:srgbClr val="000000"/>
                      </a:solidFill>
                    </a:rPr>
                    <a:t>2</a:t>
                  </a:r>
                </a:p>
              </p:txBody>
            </p:sp>
            <p:sp>
              <p:nvSpPr>
                <p:cNvPr id="10282" name="Rectangle 22"/>
                <p:cNvSpPr>
                  <a:spLocks noChangeArrowheads="1"/>
                </p:cNvSpPr>
                <p:nvPr/>
              </p:nvSpPr>
              <p:spPr bwMode="auto">
                <a:xfrm>
                  <a:off x="4930" y="3737"/>
                  <a:ext cx="176"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wrap="none" lIns="90488" tIns="44450" rIns="90488" bIns="4445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sz="1400" b="1" i="0">
                      <a:solidFill>
                        <a:srgbClr val="000000"/>
                      </a:solidFill>
                    </a:rPr>
                    <a:t>3</a:t>
                  </a:r>
                </a:p>
              </p:txBody>
            </p:sp>
          </p:grpSp>
          <p:grpSp>
            <p:nvGrpSpPr>
              <p:cNvPr id="10260" name="Group 23"/>
              <p:cNvGrpSpPr>
                <a:grpSpLocks/>
              </p:cNvGrpSpPr>
              <p:nvPr/>
            </p:nvGrpSpPr>
            <p:grpSpPr bwMode="auto">
              <a:xfrm>
                <a:off x="3483" y="1758"/>
                <a:ext cx="600" cy="403"/>
                <a:chOff x="3483" y="1758"/>
                <a:chExt cx="600" cy="403"/>
              </a:xfrm>
            </p:grpSpPr>
            <p:sp>
              <p:nvSpPr>
                <p:cNvPr id="10263" name="Arc 24"/>
                <p:cNvSpPr>
                  <a:spLocks/>
                </p:cNvSpPr>
                <p:nvPr/>
              </p:nvSpPr>
              <p:spPr bwMode="auto">
                <a:xfrm>
                  <a:off x="3483" y="1973"/>
                  <a:ext cx="332" cy="18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600"/>
                      </a:moveTo>
                      <a:cubicBezTo>
                        <a:pt x="0" y="9696"/>
                        <a:pt x="9631" y="35"/>
                        <a:pt x="21535" y="0"/>
                      </a:cubicBezTo>
                    </a:path>
                    <a:path w="21600" h="21600" stroke="0" extrusionOk="0">
                      <a:moveTo>
                        <a:pt x="0" y="21600"/>
                      </a:moveTo>
                      <a:cubicBezTo>
                        <a:pt x="0" y="9696"/>
                        <a:pt x="9631" y="35"/>
                        <a:pt x="21535" y="0"/>
                      </a:cubicBezTo>
                      <a:lnTo>
                        <a:pt x="21600" y="21600"/>
                      </a:lnTo>
                      <a:lnTo>
                        <a:pt x="0" y="21600"/>
                      </a:lnTo>
                      <a:close/>
                    </a:path>
                  </a:pathLst>
                </a:custGeom>
                <a:noFill/>
                <a:ln w="12700" cap="rnd">
                  <a:solidFill>
                    <a:schemeClr val="bg2"/>
                  </a:solidFill>
                  <a:round/>
                  <a:headEnd type="triangle" w="med" len="me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264" name="Rectangle 25"/>
                <p:cNvSpPr>
                  <a:spLocks noChangeArrowheads="1"/>
                </p:cNvSpPr>
                <p:nvPr/>
              </p:nvSpPr>
              <p:spPr bwMode="auto">
                <a:xfrm>
                  <a:off x="3813" y="1758"/>
                  <a:ext cx="270"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wrap="none" lIns="90488" tIns="44450" rIns="90488" bIns="4445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i="0">
                      <a:solidFill>
                        <a:schemeClr val="bg2"/>
                      </a:solidFill>
                      <a:latin typeface="Times New Roman" pitchFamily="18" charset="0"/>
                    </a:rPr>
                    <a:t>Z</a:t>
                  </a:r>
                </a:p>
              </p:txBody>
            </p:sp>
          </p:grpSp>
          <p:sp>
            <p:nvSpPr>
              <p:cNvPr id="10261" name="Line 26"/>
              <p:cNvSpPr>
                <a:spLocks noChangeShapeType="1"/>
              </p:cNvSpPr>
              <p:nvPr/>
            </p:nvSpPr>
            <p:spPr bwMode="auto">
              <a:xfrm>
                <a:off x="2891" y="1688"/>
                <a:ext cx="0" cy="2000"/>
              </a:xfrm>
              <a:prstGeom prst="line">
                <a:avLst/>
              </a:prstGeom>
              <a:noFill/>
              <a:ln w="25400">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262" name="Rectangle 27"/>
              <p:cNvSpPr>
                <a:spLocks noChangeArrowheads="1"/>
              </p:cNvSpPr>
              <p:nvPr/>
            </p:nvSpPr>
            <p:spPr bwMode="auto">
              <a:xfrm>
                <a:off x="624" y="3748"/>
                <a:ext cx="4512" cy="192"/>
              </a:xfrm>
              <a:prstGeom prst="rect">
                <a:avLst/>
              </a:prstGeom>
              <a:solidFill>
                <a:schemeClr val="tx1"/>
              </a:solidFill>
              <a:ln>
                <a:noFill/>
              </a:ln>
              <a:extLst>
                <a:ext uri="{91240B29-F687-4F45-9708-019B960494DF}">
                  <a14:hiddenLine xmlns:a14="http://schemas.microsoft.com/office/drawing/2010/main" w="76200">
                    <a:solidFill>
                      <a:srgbClr val="000000"/>
                    </a:solidFill>
                    <a:miter lim="800000"/>
                    <a:headEnd/>
                    <a:tailEnd/>
                  </a14:hiddenLine>
                </a:ext>
              </a:extLst>
            </p:spPr>
            <p:txBody>
              <a:bodyPr wrap="none" anchor="ct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endParaRPr lang="en-US" altLang="en-US" sz="2400"/>
              </a:p>
            </p:txBody>
          </p:sp>
        </p:grpSp>
        <p:sp>
          <p:nvSpPr>
            <p:cNvPr id="10252" name="Rectangle 28"/>
            <p:cNvSpPr>
              <a:spLocks noChangeArrowheads="1"/>
            </p:cNvSpPr>
            <p:nvPr/>
          </p:nvSpPr>
          <p:spPr bwMode="auto">
            <a:xfrm>
              <a:off x="2779" y="3655"/>
              <a:ext cx="242"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wrap="none" lIns="90488" tIns="44450" rIns="90488" bIns="4445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i="0">
                  <a:solidFill>
                    <a:schemeClr val="bg2"/>
                  </a:solidFill>
                  <a:latin typeface="Times New Roman" pitchFamily="18" charset="0"/>
                </a:rPr>
                <a:t>0</a:t>
              </a:r>
            </a:p>
          </p:txBody>
        </p:sp>
        <p:sp>
          <p:nvSpPr>
            <p:cNvPr id="10253" name="Rectangle 29"/>
            <p:cNvSpPr>
              <a:spLocks noChangeArrowheads="1"/>
            </p:cNvSpPr>
            <p:nvPr/>
          </p:nvSpPr>
          <p:spPr bwMode="auto">
            <a:xfrm>
              <a:off x="3473" y="3655"/>
              <a:ext cx="242"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wrap="none" lIns="90488" tIns="44450" rIns="90488" bIns="4445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i="0">
                  <a:solidFill>
                    <a:schemeClr val="bg2"/>
                  </a:solidFill>
                  <a:latin typeface="Times New Roman" pitchFamily="18" charset="0"/>
                </a:rPr>
                <a:t>1</a:t>
              </a:r>
            </a:p>
          </p:txBody>
        </p:sp>
        <p:sp>
          <p:nvSpPr>
            <p:cNvPr id="10254" name="Rectangle 30"/>
            <p:cNvSpPr>
              <a:spLocks noChangeArrowheads="1"/>
            </p:cNvSpPr>
            <p:nvPr/>
          </p:nvSpPr>
          <p:spPr bwMode="auto">
            <a:xfrm>
              <a:off x="4200" y="3655"/>
              <a:ext cx="242"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wrap="none" lIns="90488" tIns="44450" rIns="90488" bIns="4445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i="0">
                  <a:solidFill>
                    <a:schemeClr val="bg2"/>
                  </a:solidFill>
                  <a:latin typeface="Times New Roman" pitchFamily="18" charset="0"/>
                </a:rPr>
                <a:t>2</a:t>
              </a:r>
            </a:p>
          </p:txBody>
        </p:sp>
        <p:sp>
          <p:nvSpPr>
            <p:cNvPr id="10255" name="Rectangle 31"/>
            <p:cNvSpPr>
              <a:spLocks noChangeArrowheads="1"/>
            </p:cNvSpPr>
            <p:nvPr/>
          </p:nvSpPr>
          <p:spPr bwMode="auto">
            <a:xfrm>
              <a:off x="4912" y="3655"/>
              <a:ext cx="242"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wrap="none" lIns="90488" tIns="44450" rIns="90488" bIns="4445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i="0">
                  <a:solidFill>
                    <a:schemeClr val="bg2"/>
                  </a:solidFill>
                  <a:latin typeface="Times New Roman" pitchFamily="18" charset="0"/>
                </a:rPr>
                <a:t>3</a:t>
              </a:r>
            </a:p>
          </p:txBody>
        </p:sp>
        <p:sp>
          <p:nvSpPr>
            <p:cNvPr id="10256" name="Rectangle 32"/>
            <p:cNvSpPr>
              <a:spLocks noChangeArrowheads="1"/>
            </p:cNvSpPr>
            <p:nvPr/>
          </p:nvSpPr>
          <p:spPr bwMode="auto">
            <a:xfrm>
              <a:off x="1975" y="3655"/>
              <a:ext cx="327"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wrap="none" lIns="90488" tIns="44450" rIns="90488" bIns="4445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i="0">
                  <a:solidFill>
                    <a:schemeClr val="bg2"/>
                  </a:solidFill>
                  <a:latin typeface="Times New Roman" pitchFamily="18" charset="0"/>
                </a:rPr>
                <a:t>-1</a:t>
              </a:r>
            </a:p>
          </p:txBody>
        </p:sp>
        <p:sp>
          <p:nvSpPr>
            <p:cNvPr id="10257" name="Rectangle 33"/>
            <p:cNvSpPr>
              <a:spLocks noChangeArrowheads="1"/>
            </p:cNvSpPr>
            <p:nvPr/>
          </p:nvSpPr>
          <p:spPr bwMode="auto">
            <a:xfrm>
              <a:off x="1248" y="3655"/>
              <a:ext cx="327"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wrap="none" lIns="90488" tIns="44450" rIns="90488" bIns="4445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i="0">
                  <a:solidFill>
                    <a:schemeClr val="bg2"/>
                  </a:solidFill>
                  <a:latin typeface="Times New Roman" pitchFamily="18" charset="0"/>
                </a:rPr>
                <a:t>-2</a:t>
              </a:r>
            </a:p>
          </p:txBody>
        </p:sp>
        <p:sp>
          <p:nvSpPr>
            <p:cNvPr id="10258" name="Rectangle 34"/>
            <p:cNvSpPr>
              <a:spLocks noChangeArrowheads="1"/>
            </p:cNvSpPr>
            <p:nvPr/>
          </p:nvSpPr>
          <p:spPr bwMode="auto">
            <a:xfrm>
              <a:off x="536" y="3655"/>
              <a:ext cx="327"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wrap="none" lIns="90488" tIns="44450" rIns="90488" bIns="4445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i="0">
                  <a:solidFill>
                    <a:schemeClr val="bg2"/>
                  </a:solidFill>
                  <a:latin typeface="Times New Roman" pitchFamily="18" charset="0"/>
                </a:rPr>
                <a:t>-3</a:t>
              </a:r>
            </a:p>
          </p:txBody>
        </p:sp>
      </p:grpSp>
      <p:graphicFrame>
        <p:nvGraphicFramePr>
          <p:cNvPr id="10250" name="Object 37">
            <a:hlinkClick r:id="" action="ppaction://ole?verb=0"/>
          </p:cNvPr>
          <p:cNvGraphicFramePr>
            <a:graphicFrameLocks/>
          </p:cNvGraphicFramePr>
          <p:nvPr>
            <p:extLst>
              <p:ext uri="{D42A27DB-BD31-4B8C-83A1-F6EECF244321}">
                <p14:modId xmlns:p14="http://schemas.microsoft.com/office/powerpoint/2010/main" val="1255638517"/>
              </p:ext>
            </p:extLst>
          </p:nvPr>
        </p:nvGraphicFramePr>
        <p:xfrm>
          <a:off x="3570289" y="990600"/>
          <a:ext cx="1633538" cy="1308100"/>
        </p:xfrm>
        <a:graphic>
          <a:graphicData uri="http://schemas.openxmlformats.org/presentationml/2006/ole">
            <mc:AlternateContent xmlns:mc="http://schemas.openxmlformats.org/markup-compatibility/2006">
              <mc:Choice xmlns:v="urn:schemas-microsoft-com:vml" Requires="v">
                <p:oleObj spid="_x0000_s10308" name="Equation" r:id="rId3" imgW="660240" imgH="533160" progId="Equation.DSMT4">
                  <p:embed/>
                </p:oleObj>
              </mc:Choice>
              <mc:Fallback>
                <p:oleObj name="Equation" r:id="rId3" imgW="660240" imgH="533160" progId="Equation.DSMT4">
                  <p:embed/>
                  <p:pic>
                    <p:nvPicPr>
                      <p:cNvPr id="0" name="Object 37"/>
                      <p:cNvPicPr>
                        <a:picLocks noChangeArrowheads="1"/>
                      </p:cNvPicPr>
                      <p:nvPr/>
                    </p:nvPicPr>
                    <p:blipFill>
                      <a:blip r:embed="rId4"/>
                      <a:srcRect/>
                      <a:stretch>
                        <a:fillRect/>
                      </a:stretch>
                    </p:blipFill>
                    <p:spPr bwMode="auto">
                      <a:xfrm>
                        <a:off x="3570289" y="990600"/>
                        <a:ext cx="1633538" cy="1308100"/>
                      </a:xfrm>
                      <a:prstGeom prst="rect">
                        <a:avLst/>
                      </a:prstGeom>
                      <a:solidFill>
                        <a:schemeClr val="bg1"/>
                      </a:solidFill>
                      <a:ln w="19050">
                        <a:solidFill>
                          <a:srgbClr val="FF0000"/>
                        </a:solidFill>
                      </a:ln>
                      <a:effectLst/>
                    </p:spPr>
                  </p:pic>
                </p:oleObj>
              </mc:Fallback>
            </mc:AlternateContent>
          </a:graphicData>
        </a:graphic>
      </p:graphicFrame>
      <p:sp>
        <p:nvSpPr>
          <p:cNvPr id="10245" name="Rectangle 41"/>
          <p:cNvSpPr>
            <a:spLocks noGrp="1" noChangeArrowheads="1"/>
          </p:cNvSpPr>
          <p:nvPr>
            <p:ph type="title"/>
          </p:nvPr>
        </p:nvSpPr>
        <p:spPr>
          <a:xfrm>
            <a:off x="533400" y="0"/>
            <a:ext cx="8001000" cy="1143000"/>
          </a:xfrm>
          <a:noFill/>
        </p:spPr>
        <p:txBody>
          <a:bodyPr/>
          <a:lstStyle/>
          <a:p>
            <a:r>
              <a:rPr lang="en-US" altLang="en-US" dirty="0" smtClean="0">
                <a:solidFill>
                  <a:srgbClr val="FF0000"/>
                </a:solidFill>
              </a:rPr>
              <a:t>Student’s t Distribution </a:t>
            </a:r>
          </a:p>
        </p:txBody>
      </p:sp>
      <p:sp>
        <p:nvSpPr>
          <p:cNvPr id="10246" name="Rectangle 42"/>
          <p:cNvSpPr>
            <a:spLocks noChangeArrowheads="1"/>
          </p:cNvSpPr>
          <p:nvPr/>
        </p:nvSpPr>
        <p:spPr bwMode="auto">
          <a:xfrm>
            <a:off x="6642100" y="6542088"/>
            <a:ext cx="180975"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wrap="none" lIns="90488" tIns="44450" rIns="90488" bIns="4445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endParaRPr lang="en-US" altLang="en-US" sz="1400" i="0">
              <a:latin typeface="Times New Roman" pitchFamily="18" charset="0"/>
            </a:endParaRPr>
          </a:p>
        </p:txBody>
      </p:sp>
    </p:spTree>
  </p:cSld>
  <p:clrMapOvr>
    <a:masterClrMapping/>
  </p:clrMapOvr>
  <p:transition>
    <p:wipe dir="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266" name="Group 2"/>
          <p:cNvGrpSpPr>
            <a:grpSpLocks/>
          </p:cNvGrpSpPr>
          <p:nvPr/>
        </p:nvGrpSpPr>
        <p:grpSpPr bwMode="auto">
          <a:xfrm>
            <a:off x="766763" y="2473325"/>
            <a:ext cx="7600950" cy="3925888"/>
            <a:chOff x="483" y="1558"/>
            <a:chExt cx="4788" cy="2473"/>
          </a:xfrm>
        </p:grpSpPr>
        <p:grpSp>
          <p:nvGrpSpPr>
            <p:cNvPr id="11275" name="Group 3"/>
            <p:cNvGrpSpPr>
              <a:grpSpLocks/>
            </p:cNvGrpSpPr>
            <p:nvPr/>
          </p:nvGrpSpPr>
          <p:grpSpPr bwMode="auto">
            <a:xfrm>
              <a:off x="483" y="1558"/>
              <a:ext cx="4788" cy="2473"/>
              <a:chOff x="483" y="1558"/>
              <a:chExt cx="4788" cy="2473"/>
            </a:xfrm>
          </p:grpSpPr>
          <p:sp>
            <p:nvSpPr>
              <p:cNvPr id="11291" name="Rectangle 4"/>
              <p:cNvSpPr>
                <a:spLocks noChangeArrowheads="1"/>
              </p:cNvSpPr>
              <p:nvPr/>
            </p:nvSpPr>
            <p:spPr bwMode="auto">
              <a:xfrm>
                <a:off x="483" y="1558"/>
                <a:ext cx="4788" cy="2473"/>
              </a:xfrm>
              <a:prstGeom prst="rect">
                <a:avLst/>
              </a:prstGeom>
              <a:solidFill>
                <a:srgbClr val="FFFFFF"/>
              </a:solidFill>
              <a:ln w="127000">
                <a:solidFill>
                  <a:schemeClr val="tx2"/>
                </a:solidFill>
                <a:miter lim="800000"/>
                <a:headEnd/>
                <a:tailEnd/>
              </a:ln>
            </p:spPr>
            <p:txBody>
              <a:bodyPr wrap="none" anchor="ct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endParaRPr lang="en-US" altLang="en-US" sz="2400"/>
              </a:p>
            </p:txBody>
          </p:sp>
          <p:sp>
            <p:nvSpPr>
              <p:cNvPr id="11292" name="Freeform 5"/>
              <p:cNvSpPr>
                <a:spLocks/>
              </p:cNvSpPr>
              <p:nvPr/>
            </p:nvSpPr>
            <p:spPr bwMode="auto">
              <a:xfrm>
                <a:off x="722" y="1650"/>
                <a:ext cx="4298" cy="2009"/>
              </a:xfrm>
              <a:custGeom>
                <a:avLst/>
                <a:gdLst>
                  <a:gd name="T0" fmla="*/ 0 w 4298"/>
                  <a:gd name="T1" fmla="*/ 0 h 2009"/>
                  <a:gd name="T2" fmla="*/ 4297 w 4298"/>
                  <a:gd name="T3" fmla="*/ 0 h 2009"/>
                  <a:gd name="T4" fmla="*/ 4297 w 4298"/>
                  <a:gd name="T5" fmla="*/ 2008 h 2009"/>
                  <a:gd name="T6" fmla="*/ 0 w 4298"/>
                  <a:gd name="T7" fmla="*/ 2008 h 2009"/>
                  <a:gd name="T8" fmla="*/ 0 w 4298"/>
                  <a:gd name="T9" fmla="*/ 0 h 2009"/>
                  <a:gd name="T10" fmla="*/ 0 60000 65536"/>
                  <a:gd name="T11" fmla="*/ 0 60000 65536"/>
                  <a:gd name="T12" fmla="*/ 0 60000 65536"/>
                  <a:gd name="T13" fmla="*/ 0 60000 65536"/>
                  <a:gd name="T14" fmla="*/ 0 60000 65536"/>
                  <a:gd name="T15" fmla="*/ 0 w 4298"/>
                  <a:gd name="T16" fmla="*/ 0 h 2009"/>
                  <a:gd name="T17" fmla="*/ 4298 w 4298"/>
                  <a:gd name="T18" fmla="*/ 2009 h 2009"/>
                </a:gdLst>
                <a:ahLst/>
                <a:cxnLst>
                  <a:cxn ang="T10">
                    <a:pos x="T0" y="T1"/>
                  </a:cxn>
                  <a:cxn ang="T11">
                    <a:pos x="T2" y="T3"/>
                  </a:cxn>
                  <a:cxn ang="T12">
                    <a:pos x="T4" y="T5"/>
                  </a:cxn>
                  <a:cxn ang="T13">
                    <a:pos x="T6" y="T7"/>
                  </a:cxn>
                  <a:cxn ang="T14">
                    <a:pos x="T8" y="T9"/>
                  </a:cxn>
                </a:cxnLst>
                <a:rect l="T15" t="T16" r="T17" b="T18"/>
                <a:pathLst>
                  <a:path w="4298" h="2009">
                    <a:moveTo>
                      <a:pt x="0" y="0"/>
                    </a:moveTo>
                    <a:lnTo>
                      <a:pt x="4297" y="0"/>
                    </a:lnTo>
                    <a:lnTo>
                      <a:pt x="4297" y="2008"/>
                    </a:lnTo>
                    <a:lnTo>
                      <a:pt x="0" y="2008"/>
                    </a:lnTo>
                    <a:lnTo>
                      <a:pt x="0" y="0"/>
                    </a:lnTo>
                  </a:path>
                </a:pathLst>
              </a:custGeom>
              <a:solidFill>
                <a:srgbClr val="FFFFFF"/>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11293" name="Line 6"/>
              <p:cNvSpPr>
                <a:spLocks noChangeShapeType="1"/>
              </p:cNvSpPr>
              <p:nvPr/>
            </p:nvSpPr>
            <p:spPr bwMode="auto">
              <a:xfrm>
                <a:off x="726" y="3664"/>
                <a:ext cx="4295"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294" name="Line 7"/>
              <p:cNvSpPr>
                <a:spLocks noChangeShapeType="1"/>
              </p:cNvSpPr>
              <p:nvPr/>
            </p:nvSpPr>
            <p:spPr bwMode="auto">
              <a:xfrm flipV="1">
                <a:off x="722" y="3624"/>
                <a:ext cx="0" cy="79"/>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295" name="Line 8"/>
              <p:cNvSpPr>
                <a:spLocks noChangeShapeType="1"/>
              </p:cNvSpPr>
              <p:nvPr/>
            </p:nvSpPr>
            <p:spPr bwMode="auto">
              <a:xfrm flipV="1">
                <a:off x="1446" y="3624"/>
                <a:ext cx="0" cy="79"/>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296" name="Line 9"/>
              <p:cNvSpPr>
                <a:spLocks noChangeShapeType="1"/>
              </p:cNvSpPr>
              <p:nvPr/>
            </p:nvSpPr>
            <p:spPr bwMode="auto">
              <a:xfrm flipV="1">
                <a:off x="2156" y="3624"/>
                <a:ext cx="0" cy="79"/>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297" name="Line 10"/>
              <p:cNvSpPr>
                <a:spLocks noChangeShapeType="1"/>
              </p:cNvSpPr>
              <p:nvPr/>
            </p:nvSpPr>
            <p:spPr bwMode="auto">
              <a:xfrm flipV="1">
                <a:off x="2880" y="3624"/>
                <a:ext cx="0" cy="79"/>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298" name="Line 11"/>
              <p:cNvSpPr>
                <a:spLocks noChangeShapeType="1"/>
              </p:cNvSpPr>
              <p:nvPr/>
            </p:nvSpPr>
            <p:spPr bwMode="auto">
              <a:xfrm flipV="1">
                <a:off x="3591" y="3624"/>
                <a:ext cx="0" cy="79"/>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299" name="Line 12"/>
              <p:cNvSpPr>
                <a:spLocks noChangeShapeType="1"/>
              </p:cNvSpPr>
              <p:nvPr/>
            </p:nvSpPr>
            <p:spPr bwMode="auto">
              <a:xfrm flipV="1">
                <a:off x="4314" y="3624"/>
                <a:ext cx="0" cy="79"/>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300" name="Line 13"/>
              <p:cNvSpPr>
                <a:spLocks noChangeShapeType="1"/>
              </p:cNvSpPr>
              <p:nvPr/>
            </p:nvSpPr>
            <p:spPr bwMode="auto">
              <a:xfrm flipV="1">
                <a:off x="5025" y="3624"/>
                <a:ext cx="0" cy="79"/>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301" name="Freeform 14"/>
              <p:cNvSpPr>
                <a:spLocks/>
              </p:cNvSpPr>
              <p:nvPr/>
            </p:nvSpPr>
            <p:spPr bwMode="auto">
              <a:xfrm>
                <a:off x="722" y="2063"/>
                <a:ext cx="4304" cy="1443"/>
              </a:xfrm>
              <a:custGeom>
                <a:avLst/>
                <a:gdLst>
                  <a:gd name="T0" fmla="*/ 76 w 4304"/>
                  <a:gd name="T1" fmla="*/ 1433 h 1443"/>
                  <a:gd name="T2" fmla="*/ 165 w 4304"/>
                  <a:gd name="T3" fmla="*/ 1416 h 1443"/>
                  <a:gd name="T4" fmla="*/ 267 w 4304"/>
                  <a:gd name="T5" fmla="*/ 1398 h 1443"/>
                  <a:gd name="T6" fmla="*/ 356 w 4304"/>
                  <a:gd name="T7" fmla="*/ 1381 h 1443"/>
                  <a:gd name="T8" fmla="*/ 444 w 4304"/>
                  <a:gd name="T9" fmla="*/ 1363 h 1443"/>
                  <a:gd name="T10" fmla="*/ 521 w 4304"/>
                  <a:gd name="T11" fmla="*/ 1337 h 1443"/>
                  <a:gd name="T12" fmla="*/ 597 w 4304"/>
                  <a:gd name="T13" fmla="*/ 1319 h 1443"/>
                  <a:gd name="T14" fmla="*/ 686 w 4304"/>
                  <a:gd name="T15" fmla="*/ 1293 h 1443"/>
                  <a:gd name="T16" fmla="*/ 749 w 4304"/>
                  <a:gd name="T17" fmla="*/ 1266 h 1443"/>
                  <a:gd name="T18" fmla="*/ 838 w 4304"/>
                  <a:gd name="T19" fmla="*/ 1240 h 1443"/>
                  <a:gd name="T20" fmla="*/ 914 w 4304"/>
                  <a:gd name="T21" fmla="*/ 1196 h 1443"/>
                  <a:gd name="T22" fmla="*/ 977 w 4304"/>
                  <a:gd name="T23" fmla="*/ 1170 h 1443"/>
                  <a:gd name="T24" fmla="*/ 1041 w 4304"/>
                  <a:gd name="T25" fmla="*/ 1134 h 1443"/>
                  <a:gd name="T26" fmla="*/ 1117 w 4304"/>
                  <a:gd name="T27" fmla="*/ 1082 h 1443"/>
                  <a:gd name="T28" fmla="*/ 1206 w 4304"/>
                  <a:gd name="T29" fmla="*/ 1020 h 1443"/>
                  <a:gd name="T30" fmla="*/ 1269 w 4304"/>
                  <a:gd name="T31" fmla="*/ 967 h 1443"/>
                  <a:gd name="T32" fmla="*/ 1333 w 4304"/>
                  <a:gd name="T33" fmla="*/ 915 h 1443"/>
                  <a:gd name="T34" fmla="*/ 1396 w 4304"/>
                  <a:gd name="T35" fmla="*/ 853 h 1443"/>
                  <a:gd name="T36" fmla="*/ 1460 w 4304"/>
                  <a:gd name="T37" fmla="*/ 783 h 1443"/>
                  <a:gd name="T38" fmla="*/ 1511 w 4304"/>
                  <a:gd name="T39" fmla="*/ 712 h 1443"/>
                  <a:gd name="T40" fmla="*/ 1574 w 4304"/>
                  <a:gd name="T41" fmla="*/ 633 h 1443"/>
                  <a:gd name="T42" fmla="*/ 1625 w 4304"/>
                  <a:gd name="T43" fmla="*/ 563 h 1443"/>
                  <a:gd name="T44" fmla="*/ 1688 w 4304"/>
                  <a:gd name="T45" fmla="*/ 475 h 1443"/>
                  <a:gd name="T46" fmla="*/ 1739 w 4304"/>
                  <a:gd name="T47" fmla="*/ 396 h 1443"/>
                  <a:gd name="T48" fmla="*/ 1802 w 4304"/>
                  <a:gd name="T49" fmla="*/ 317 h 1443"/>
                  <a:gd name="T50" fmla="*/ 1853 w 4304"/>
                  <a:gd name="T51" fmla="*/ 238 h 1443"/>
                  <a:gd name="T52" fmla="*/ 1917 w 4304"/>
                  <a:gd name="T53" fmla="*/ 158 h 1443"/>
                  <a:gd name="T54" fmla="*/ 1980 w 4304"/>
                  <a:gd name="T55" fmla="*/ 88 h 1443"/>
                  <a:gd name="T56" fmla="*/ 2056 w 4304"/>
                  <a:gd name="T57" fmla="*/ 27 h 1443"/>
                  <a:gd name="T58" fmla="*/ 2132 w 4304"/>
                  <a:gd name="T59" fmla="*/ 0 h 1443"/>
                  <a:gd name="T60" fmla="*/ 2221 w 4304"/>
                  <a:gd name="T61" fmla="*/ 9 h 1443"/>
                  <a:gd name="T62" fmla="*/ 2297 w 4304"/>
                  <a:gd name="T63" fmla="*/ 53 h 1443"/>
                  <a:gd name="T64" fmla="*/ 2348 w 4304"/>
                  <a:gd name="T65" fmla="*/ 114 h 1443"/>
                  <a:gd name="T66" fmla="*/ 2412 w 4304"/>
                  <a:gd name="T67" fmla="*/ 176 h 1443"/>
                  <a:gd name="T68" fmla="*/ 2462 w 4304"/>
                  <a:gd name="T69" fmla="*/ 255 h 1443"/>
                  <a:gd name="T70" fmla="*/ 2526 w 4304"/>
                  <a:gd name="T71" fmla="*/ 334 h 1443"/>
                  <a:gd name="T72" fmla="*/ 2577 w 4304"/>
                  <a:gd name="T73" fmla="*/ 413 h 1443"/>
                  <a:gd name="T74" fmla="*/ 2640 w 4304"/>
                  <a:gd name="T75" fmla="*/ 501 h 1443"/>
                  <a:gd name="T76" fmla="*/ 2691 w 4304"/>
                  <a:gd name="T77" fmla="*/ 581 h 1443"/>
                  <a:gd name="T78" fmla="*/ 2754 w 4304"/>
                  <a:gd name="T79" fmla="*/ 660 h 1443"/>
                  <a:gd name="T80" fmla="*/ 2805 w 4304"/>
                  <a:gd name="T81" fmla="*/ 730 h 1443"/>
                  <a:gd name="T82" fmla="*/ 2869 w 4304"/>
                  <a:gd name="T83" fmla="*/ 792 h 1443"/>
                  <a:gd name="T84" fmla="*/ 2932 w 4304"/>
                  <a:gd name="T85" fmla="*/ 853 h 1443"/>
                  <a:gd name="T86" fmla="*/ 2983 w 4304"/>
                  <a:gd name="T87" fmla="*/ 915 h 1443"/>
                  <a:gd name="T88" fmla="*/ 3059 w 4304"/>
                  <a:gd name="T89" fmla="*/ 976 h 1443"/>
                  <a:gd name="T90" fmla="*/ 3122 w 4304"/>
                  <a:gd name="T91" fmla="*/ 1038 h 1443"/>
                  <a:gd name="T92" fmla="*/ 3186 w 4304"/>
                  <a:gd name="T93" fmla="*/ 1073 h 1443"/>
                  <a:gd name="T94" fmla="*/ 3237 w 4304"/>
                  <a:gd name="T95" fmla="*/ 1117 h 1443"/>
                  <a:gd name="T96" fmla="*/ 3338 w 4304"/>
                  <a:gd name="T97" fmla="*/ 1170 h 1443"/>
                  <a:gd name="T98" fmla="*/ 3440 w 4304"/>
                  <a:gd name="T99" fmla="*/ 1214 h 1443"/>
                  <a:gd name="T100" fmla="*/ 3516 w 4304"/>
                  <a:gd name="T101" fmla="*/ 1249 h 1443"/>
                  <a:gd name="T102" fmla="*/ 3592 w 4304"/>
                  <a:gd name="T103" fmla="*/ 1275 h 1443"/>
                  <a:gd name="T104" fmla="*/ 3668 w 4304"/>
                  <a:gd name="T105" fmla="*/ 1310 h 1443"/>
                  <a:gd name="T106" fmla="*/ 3770 w 4304"/>
                  <a:gd name="T107" fmla="*/ 1337 h 1443"/>
                  <a:gd name="T108" fmla="*/ 3859 w 4304"/>
                  <a:gd name="T109" fmla="*/ 1363 h 1443"/>
                  <a:gd name="T110" fmla="*/ 3947 w 4304"/>
                  <a:gd name="T111" fmla="*/ 1381 h 1443"/>
                  <a:gd name="T112" fmla="*/ 4049 w 4304"/>
                  <a:gd name="T113" fmla="*/ 1398 h 1443"/>
                  <a:gd name="T114" fmla="*/ 4125 w 4304"/>
                  <a:gd name="T115" fmla="*/ 1416 h 1443"/>
                  <a:gd name="T116" fmla="*/ 4227 w 4304"/>
                  <a:gd name="T117" fmla="*/ 1425 h 1443"/>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4304"/>
                  <a:gd name="T178" fmla="*/ 0 h 1443"/>
                  <a:gd name="T179" fmla="*/ 4304 w 4304"/>
                  <a:gd name="T180" fmla="*/ 1443 h 1443"/>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4304" h="1443">
                    <a:moveTo>
                      <a:pt x="0" y="1442"/>
                    </a:moveTo>
                    <a:lnTo>
                      <a:pt x="13" y="1442"/>
                    </a:lnTo>
                    <a:lnTo>
                      <a:pt x="26" y="1442"/>
                    </a:lnTo>
                    <a:lnTo>
                      <a:pt x="26" y="1433"/>
                    </a:lnTo>
                    <a:lnTo>
                      <a:pt x="38" y="1433"/>
                    </a:lnTo>
                    <a:lnTo>
                      <a:pt x="51" y="1433"/>
                    </a:lnTo>
                    <a:lnTo>
                      <a:pt x="64" y="1433"/>
                    </a:lnTo>
                    <a:lnTo>
                      <a:pt x="76" y="1433"/>
                    </a:lnTo>
                    <a:lnTo>
                      <a:pt x="89" y="1425"/>
                    </a:lnTo>
                    <a:lnTo>
                      <a:pt x="102" y="1425"/>
                    </a:lnTo>
                    <a:lnTo>
                      <a:pt x="114" y="1425"/>
                    </a:lnTo>
                    <a:lnTo>
                      <a:pt x="127" y="1425"/>
                    </a:lnTo>
                    <a:lnTo>
                      <a:pt x="140" y="1425"/>
                    </a:lnTo>
                    <a:lnTo>
                      <a:pt x="140" y="1416"/>
                    </a:lnTo>
                    <a:lnTo>
                      <a:pt x="153" y="1416"/>
                    </a:lnTo>
                    <a:lnTo>
                      <a:pt x="165" y="1416"/>
                    </a:lnTo>
                    <a:lnTo>
                      <a:pt x="178" y="1416"/>
                    </a:lnTo>
                    <a:lnTo>
                      <a:pt x="191" y="1416"/>
                    </a:lnTo>
                    <a:lnTo>
                      <a:pt x="203" y="1407"/>
                    </a:lnTo>
                    <a:lnTo>
                      <a:pt x="216" y="1407"/>
                    </a:lnTo>
                    <a:lnTo>
                      <a:pt x="229" y="1407"/>
                    </a:lnTo>
                    <a:lnTo>
                      <a:pt x="241" y="1407"/>
                    </a:lnTo>
                    <a:lnTo>
                      <a:pt x="254" y="1398"/>
                    </a:lnTo>
                    <a:lnTo>
                      <a:pt x="267" y="1398"/>
                    </a:lnTo>
                    <a:lnTo>
                      <a:pt x="279" y="1398"/>
                    </a:lnTo>
                    <a:lnTo>
                      <a:pt x="292" y="1398"/>
                    </a:lnTo>
                    <a:lnTo>
                      <a:pt x="292" y="1389"/>
                    </a:lnTo>
                    <a:lnTo>
                      <a:pt x="305" y="1389"/>
                    </a:lnTo>
                    <a:lnTo>
                      <a:pt x="318" y="1389"/>
                    </a:lnTo>
                    <a:lnTo>
                      <a:pt x="330" y="1389"/>
                    </a:lnTo>
                    <a:lnTo>
                      <a:pt x="343" y="1381"/>
                    </a:lnTo>
                    <a:lnTo>
                      <a:pt x="356" y="1381"/>
                    </a:lnTo>
                    <a:lnTo>
                      <a:pt x="368" y="1381"/>
                    </a:lnTo>
                    <a:lnTo>
                      <a:pt x="381" y="1372"/>
                    </a:lnTo>
                    <a:lnTo>
                      <a:pt x="394" y="1372"/>
                    </a:lnTo>
                    <a:lnTo>
                      <a:pt x="406" y="1372"/>
                    </a:lnTo>
                    <a:lnTo>
                      <a:pt x="419" y="1372"/>
                    </a:lnTo>
                    <a:lnTo>
                      <a:pt x="419" y="1363"/>
                    </a:lnTo>
                    <a:lnTo>
                      <a:pt x="432" y="1363"/>
                    </a:lnTo>
                    <a:lnTo>
                      <a:pt x="444" y="1363"/>
                    </a:lnTo>
                    <a:lnTo>
                      <a:pt x="457" y="1363"/>
                    </a:lnTo>
                    <a:lnTo>
                      <a:pt x="457" y="1354"/>
                    </a:lnTo>
                    <a:lnTo>
                      <a:pt x="470" y="1354"/>
                    </a:lnTo>
                    <a:lnTo>
                      <a:pt x="483" y="1354"/>
                    </a:lnTo>
                    <a:lnTo>
                      <a:pt x="495" y="1346"/>
                    </a:lnTo>
                    <a:lnTo>
                      <a:pt x="508" y="1346"/>
                    </a:lnTo>
                    <a:lnTo>
                      <a:pt x="521" y="1346"/>
                    </a:lnTo>
                    <a:lnTo>
                      <a:pt x="521" y="1337"/>
                    </a:lnTo>
                    <a:lnTo>
                      <a:pt x="533" y="1337"/>
                    </a:lnTo>
                    <a:lnTo>
                      <a:pt x="546" y="1337"/>
                    </a:lnTo>
                    <a:lnTo>
                      <a:pt x="559" y="1337"/>
                    </a:lnTo>
                    <a:lnTo>
                      <a:pt x="559" y="1328"/>
                    </a:lnTo>
                    <a:lnTo>
                      <a:pt x="571" y="1328"/>
                    </a:lnTo>
                    <a:lnTo>
                      <a:pt x="584" y="1328"/>
                    </a:lnTo>
                    <a:lnTo>
                      <a:pt x="584" y="1319"/>
                    </a:lnTo>
                    <a:lnTo>
                      <a:pt x="597" y="1319"/>
                    </a:lnTo>
                    <a:lnTo>
                      <a:pt x="609" y="1319"/>
                    </a:lnTo>
                    <a:lnTo>
                      <a:pt x="622" y="1310"/>
                    </a:lnTo>
                    <a:lnTo>
                      <a:pt x="635" y="1310"/>
                    </a:lnTo>
                    <a:lnTo>
                      <a:pt x="648" y="1302"/>
                    </a:lnTo>
                    <a:lnTo>
                      <a:pt x="660" y="1302"/>
                    </a:lnTo>
                    <a:lnTo>
                      <a:pt x="673" y="1302"/>
                    </a:lnTo>
                    <a:lnTo>
                      <a:pt x="673" y="1293"/>
                    </a:lnTo>
                    <a:lnTo>
                      <a:pt x="686" y="1293"/>
                    </a:lnTo>
                    <a:lnTo>
                      <a:pt x="698" y="1293"/>
                    </a:lnTo>
                    <a:lnTo>
                      <a:pt x="698" y="1284"/>
                    </a:lnTo>
                    <a:lnTo>
                      <a:pt x="711" y="1284"/>
                    </a:lnTo>
                    <a:lnTo>
                      <a:pt x="724" y="1284"/>
                    </a:lnTo>
                    <a:lnTo>
                      <a:pt x="724" y="1275"/>
                    </a:lnTo>
                    <a:lnTo>
                      <a:pt x="736" y="1275"/>
                    </a:lnTo>
                    <a:lnTo>
                      <a:pt x="749" y="1275"/>
                    </a:lnTo>
                    <a:lnTo>
                      <a:pt x="749" y="1266"/>
                    </a:lnTo>
                    <a:lnTo>
                      <a:pt x="762" y="1266"/>
                    </a:lnTo>
                    <a:lnTo>
                      <a:pt x="774" y="1258"/>
                    </a:lnTo>
                    <a:lnTo>
                      <a:pt x="787" y="1258"/>
                    </a:lnTo>
                    <a:lnTo>
                      <a:pt x="800" y="1249"/>
                    </a:lnTo>
                    <a:lnTo>
                      <a:pt x="813" y="1249"/>
                    </a:lnTo>
                    <a:lnTo>
                      <a:pt x="813" y="1240"/>
                    </a:lnTo>
                    <a:lnTo>
                      <a:pt x="825" y="1240"/>
                    </a:lnTo>
                    <a:lnTo>
                      <a:pt x="838" y="1240"/>
                    </a:lnTo>
                    <a:lnTo>
                      <a:pt x="838" y="1231"/>
                    </a:lnTo>
                    <a:lnTo>
                      <a:pt x="851" y="1231"/>
                    </a:lnTo>
                    <a:lnTo>
                      <a:pt x="863" y="1222"/>
                    </a:lnTo>
                    <a:lnTo>
                      <a:pt x="876" y="1214"/>
                    </a:lnTo>
                    <a:lnTo>
                      <a:pt x="889" y="1214"/>
                    </a:lnTo>
                    <a:lnTo>
                      <a:pt x="901" y="1205"/>
                    </a:lnTo>
                    <a:lnTo>
                      <a:pt x="914" y="1205"/>
                    </a:lnTo>
                    <a:lnTo>
                      <a:pt x="914" y="1196"/>
                    </a:lnTo>
                    <a:lnTo>
                      <a:pt x="927" y="1196"/>
                    </a:lnTo>
                    <a:lnTo>
                      <a:pt x="927" y="1187"/>
                    </a:lnTo>
                    <a:lnTo>
                      <a:pt x="939" y="1187"/>
                    </a:lnTo>
                    <a:lnTo>
                      <a:pt x="952" y="1187"/>
                    </a:lnTo>
                    <a:lnTo>
                      <a:pt x="952" y="1178"/>
                    </a:lnTo>
                    <a:lnTo>
                      <a:pt x="965" y="1178"/>
                    </a:lnTo>
                    <a:lnTo>
                      <a:pt x="965" y="1170"/>
                    </a:lnTo>
                    <a:lnTo>
                      <a:pt x="977" y="1170"/>
                    </a:lnTo>
                    <a:lnTo>
                      <a:pt x="977" y="1161"/>
                    </a:lnTo>
                    <a:lnTo>
                      <a:pt x="990" y="1161"/>
                    </a:lnTo>
                    <a:lnTo>
                      <a:pt x="1003" y="1152"/>
                    </a:lnTo>
                    <a:lnTo>
                      <a:pt x="1016" y="1152"/>
                    </a:lnTo>
                    <a:lnTo>
                      <a:pt x="1016" y="1143"/>
                    </a:lnTo>
                    <a:lnTo>
                      <a:pt x="1028" y="1143"/>
                    </a:lnTo>
                    <a:lnTo>
                      <a:pt x="1028" y="1134"/>
                    </a:lnTo>
                    <a:lnTo>
                      <a:pt x="1041" y="1134"/>
                    </a:lnTo>
                    <a:lnTo>
                      <a:pt x="1041" y="1126"/>
                    </a:lnTo>
                    <a:lnTo>
                      <a:pt x="1054" y="1126"/>
                    </a:lnTo>
                    <a:lnTo>
                      <a:pt x="1066" y="1117"/>
                    </a:lnTo>
                    <a:lnTo>
                      <a:pt x="1079" y="1108"/>
                    </a:lnTo>
                    <a:lnTo>
                      <a:pt x="1092" y="1099"/>
                    </a:lnTo>
                    <a:lnTo>
                      <a:pt x="1104" y="1091"/>
                    </a:lnTo>
                    <a:lnTo>
                      <a:pt x="1117" y="1091"/>
                    </a:lnTo>
                    <a:lnTo>
                      <a:pt x="1117" y="1082"/>
                    </a:lnTo>
                    <a:lnTo>
                      <a:pt x="1130" y="1073"/>
                    </a:lnTo>
                    <a:lnTo>
                      <a:pt x="1142" y="1064"/>
                    </a:lnTo>
                    <a:lnTo>
                      <a:pt x="1155" y="1055"/>
                    </a:lnTo>
                    <a:lnTo>
                      <a:pt x="1168" y="1055"/>
                    </a:lnTo>
                    <a:lnTo>
                      <a:pt x="1168" y="1047"/>
                    </a:lnTo>
                    <a:lnTo>
                      <a:pt x="1181" y="1038"/>
                    </a:lnTo>
                    <a:lnTo>
                      <a:pt x="1193" y="1029"/>
                    </a:lnTo>
                    <a:lnTo>
                      <a:pt x="1206" y="1020"/>
                    </a:lnTo>
                    <a:lnTo>
                      <a:pt x="1206" y="1011"/>
                    </a:lnTo>
                    <a:lnTo>
                      <a:pt x="1219" y="1011"/>
                    </a:lnTo>
                    <a:lnTo>
                      <a:pt x="1231" y="1003"/>
                    </a:lnTo>
                    <a:lnTo>
                      <a:pt x="1231" y="994"/>
                    </a:lnTo>
                    <a:lnTo>
                      <a:pt x="1244" y="994"/>
                    </a:lnTo>
                    <a:lnTo>
                      <a:pt x="1244" y="985"/>
                    </a:lnTo>
                    <a:lnTo>
                      <a:pt x="1257" y="976"/>
                    </a:lnTo>
                    <a:lnTo>
                      <a:pt x="1269" y="967"/>
                    </a:lnTo>
                    <a:lnTo>
                      <a:pt x="1282" y="959"/>
                    </a:lnTo>
                    <a:lnTo>
                      <a:pt x="1282" y="950"/>
                    </a:lnTo>
                    <a:lnTo>
                      <a:pt x="1295" y="950"/>
                    </a:lnTo>
                    <a:lnTo>
                      <a:pt x="1295" y="941"/>
                    </a:lnTo>
                    <a:lnTo>
                      <a:pt x="1307" y="932"/>
                    </a:lnTo>
                    <a:lnTo>
                      <a:pt x="1307" y="923"/>
                    </a:lnTo>
                    <a:lnTo>
                      <a:pt x="1320" y="923"/>
                    </a:lnTo>
                    <a:lnTo>
                      <a:pt x="1333" y="915"/>
                    </a:lnTo>
                    <a:lnTo>
                      <a:pt x="1333" y="906"/>
                    </a:lnTo>
                    <a:lnTo>
                      <a:pt x="1346" y="897"/>
                    </a:lnTo>
                    <a:lnTo>
                      <a:pt x="1358" y="888"/>
                    </a:lnTo>
                    <a:lnTo>
                      <a:pt x="1358" y="879"/>
                    </a:lnTo>
                    <a:lnTo>
                      <a:pt x="1371" y="871"/>
                    </a:lnTo>
                    <a:lnTo>
                      <a:pt x="1371" y="862"/>
                    </a:lnTo>
                    <a:lnTo>
                      <a:pt x="1384" y="853"/>
                    </a:lnTo>
                    <a:lnTo>
                      <a:pt x="1396" y="853"/>
                    </a:lnTo>
                    <a:lnTo>
                      <a:pt x="1396" y="844"/>
                    </a:lnTo>
                    <a:lnTo>
                      <a:pt x="1409" y="836"/>
                    </a:lnTo>
                    <a:lnTo>
                      <a:pt x="1409" y="827"/>
                    </a:lnTo>
                    <a:lnTo>
                      <a:pt x="1422" y="818"/>
                    </a:lnTo>
                    <a:lnTo>
                      <a:pt x="1422" y="809"/>
                    </a:lnTo>
                    <a:lnTo>
                      <a:pt x="1434" y="800"/>
                    </a:lnTo>
                    <a:lnTo>
                      <a:pt x="1447" y="792"/>
                    </a:lnTo>
                    <a:lnTo>
                      <a:pt x="1460" y="783"/>
                    </a:lnTo>
                    <a:lnTo>
                      <a:pt x="1460" y="774"/>
                    </a:lnTo>
                    <a:lnTo>
                      <a:pt x="1472" y="765"/>
                    </a:lnTo>
                    <a:lnTo>
                      <a:pt x="1472" y="756"/>
                    </a:lnTo>
                    <a:lnTo>
                      <a:pt x="1485" y="748"/>
                    </a:lnTo>
                    <a:lnTo>
                      <a:pt x="1498" y="739"/>
                    </a:lnTo>
                    <a:lnTo>
                      <a:pt x="1498" y="730"/>
                    </a:lnTo>
                    <a:lnTo>
                      <a:pt x="1511" y="721"/>
                    </a:lnTo>
                    <a:lnTo>
                      <a:pt x="1511" y="712"/>
                    </a:lnTo>
                    <a:lnTo>
                      <a:pt x="1523" y="704"/>
                    </a:lnTo>
                    <a:lnTo>
                      <a:pt x="1523" y="695"/>
                    </a:lnTo>
                    <a:lnTo>
                      <a:pt x="1536" y="686"/>
                    </a:lnTo>
                    <a:lnTo>
                      <a:pt x="1536" y="677"/>
                    </a:lnTo>
                    <a:lnTo>
                      <a:pt x="1549" y="668"/>
                    </a:lnTo>
                    <a:lnTo>
                      <a:pt x="1561" y="660"/>
                    </a:lnTo>
                    <a:lnTo>
                      <a:pt x="1561" y="651"/>
                    </a:lnTo>
                    <a:lnTo>
                      <a:pt x="1574" y="633"/>
                    </a:lnTo>
                    <a:lnTo>
                      <a:pt x="1574" y="624"/>
                    </a:lnTo>
                    <a:lnTo>
                      <a:pt x="1587" y="616"/>
                    </a:lnTo>
                    <a:lnTo>
                      <a:pt x="1587" y="607"/>
                    </a:lnTo>
                    <a:lnTo>
                      <a:pt x="1599" y="598"/>
                    </a:lnTo>
                    <a:lnTo>
                      <a:pt x="1612" y="589"/>
                    </a:lnTo>
                    <a:lnTo>
                      <a:pt x="1612" y="581"/>
                    </a:lnTo>
                    <a:lnTo>
                      <a:pt x="1625" y="572"/>
                    </a:lnTo>
                    <a:lnTo>
                      <a:pt x="1625" y="563"/>
                    </a:lnTo>
                    <a:lnTo>
                      <a:pt x="1637" y="554"/>
                    </a:lnTo>
                    <a:lnTo>
                      <a:pt x="1637" y="537"/>
                    </a:lnTo>
                    <a:lnTo>
                      <a:pt x="1650" y="528"/>
                    </a:lnTo>
                    <a:lnTo>
                      <a:pt x="1663" y="519"/>
                    </a:lnTo>
                    <a:lnTo>
                      <a:pt x="1663" y="510"/>
                    </a:lnTo>
                    <a:lnTo>
                      <a:pt x="1676" y="501"/>
                    </a:lnTo>
                    <a:lnTo>
                      <a:pt x="1676" y="493"/>
                    </a:lnTo>
                    <a:lnTo>
                      <a:pt x="1688" y="475"/>
                    </a:lnTo>
                    <a:lnTo>
                      <a:pt x="1688" y="466"/>
                    </a:lnTo>
                    <a:lnTo>
                      <a:pt x="1701" y="457"/>
                    </a:lnTo>
                    <a:lnTo>
                      <a:pt x="1701" y="449"/>
                    </a:lnTo>
                    <a:lnTo>
                      <a:pt x="1714" y="440"/>
                    </a:lnTo>
                    <a:lnTo>
                      <a:pt x="1726" y="431"/>
                    </a:lnTo>
                    <a:lnTo>
                      <a:pt x="1726" y="413"/>
                    </a:lnTo>
                    <a:lnTo>
                      <a:pt x="1739" y="405"/>
                    </a:lnTo>
                    <a:lnTo>
                      <a:pt x="1739" y="396"/>
                    </a:lnTo>
                    <a:lnTo>
                      <a:pt x="1752" y="387"/>
                    </a:lnTo>
                    <a:lnTo>
                      <a:pt x="1752" y="378"/>
                    </a:lnTo>
                    <a:lnTo>
                      <a:pt x="1764" y="361"/>
                    </a:lnTo>
                    <a:lnTo>
                      <a:pt x="1777" y="352"/>
                    </a:lnTo>
                    <a:lnTo>
                      <a:pt x="1777" y="343"/>
                    </a:lnTo>
                    <a:lnTo>
                      <a:pt x="1790" y="334"/>
                    </a:lnTo>
                    <a:lnTo>
                      <a:pt x="1790" y="326"/>
                    </a:lnTo>
                    <a:lnTo>
                      <a:pt x="1802" y="317"/>
                    </a:lnTo>
                    <a:lnTo>
                      <a:pt x="1802" y="299"/>
                    </a:lnTo>
                    <a:lnTo>
                      <a:pt x="1815" y="290"/>
                    </a:lnTo>
                    <a:lnTo>
                      <a:pt x="1828" y="282"/>
                    </a:lnTo>
                    <a:lnTo>
                      <a:pt x="1828" y="273"/>
                    </a:lnTo>
                    <a:lnTo>
                      <a:pt x="1841" y="264"/>
                    </a:lnTo>
                    <a:lnTo>
                      <a:pt x="1841" y="255"/>
                    </a:lnTo>
                    <a:lnTo>
                      <a:pt x="1853" y="246"/>
                    </a:lnTo>
                    <a:lnTo>
                      <a:pt x="1853" y="238"/>
                    </a:lnTo>
                    <a:lnTo>
                      <a:pt x="1866" y="220"/>
                    </a:lnTo>
                    <a:lnTo>
                      <a:pt x="1866" y="211"/>
                    </a:lnTo>
                    <a:lnTo>
                      <a:pt x="1879" y="202"/>
                    </a:lnTo>
                    <a:lnTo>
                      <a:pt x="1891" y="194"/>
                    </a:lnTo>
                    <a:lnTo>
                      <a:pt x="1891" y="185"/>
                    </a:lnTo>
                    <a:lnTo>
                      <a:pt x="1904" y="176"/>
                    </a:lnTo>
                    <a:lnTo>
                      <a:pt x="1904" y="167"/>
                    </a:lnTo>
                    <a:lnTo>
                      <a:pt x="1917" y="158"/>
                    </a:lnTo>
                    <a:lnTo>
                      <a:pt x="1917" y="150"/>
                    </a:lnTo>
                    <a:lnTo>
                      <a:pt x="1929" y="141"/>
                    </a:lnTo>
                    <a:lnTo>
                      <a:pt x="1942" y="132"/>
                    </a:lnTo>
                    <a:lnTo>
                      <a:pt x="1942" y="123"/>
                    </a:lnTo>
                    <a:lnTo>
                      <a:pt x="1955" y="114"/>
                    </a:lnTo>
                    <a:lnTo>
                      <a:pt x="1967" y="106"/>
                    </a:lnTo>
                    <a:lnTo>
                      <a:pt x="1967" y="97"/>
                    </a:lnTo>
                    <a:lnTo>
                      <a:pt x="1980" y="88"/>
                    </a:lnTo>
                    <a:lnTo>
                      <a:pt x="1993" y="79"/>
                    </a:lnTo>
                    <a:lnTo>
                      <a:pt x="2006" y="71"/>
                    </a:lnTo>
                    <a:lnTo>
                      <a:pt x="2006" y="62"/>
                    </a:lnTo>
                    <a:lnTo>
                      <a:pt x="2018" y="53"/>
                    </a:lnTo>
                    <a:lnTo>
                      <a:pt x="2031" y="44"/>
                    </a:lnTo>
                    <a:lnTo>
                      <a:pt x="2044" y="35"/>
                    </a:lnTo>
                    <a:lnTo>
                      <a:pt x="2056" y="35"/>
                    </a:lnTo>
                    <a:lnTo>
                      <a:pt x="2056" y="27"/>
                    </a:lnTo>
                    <a:lnTo>
                      <a:pt x="2069" y="27"/>
                    </a:lnTo>
                    <a:lnTo>
                      <a:pt x="2069" y="18"/>
                    </a:lnTo>
                    <a:lnTo>
                      <a:pt x="2082" y="18"/>
                    </a:lnTo>
                    <a:lnTo>
                      <a:pt x="2082" y="9"/>
                    </a:lnTo>
                    <a:lnTo>
                      <a:pt x="2094" y="9"/>
                    </a:lnTo>
                    <a:lnTo>
                      <a:pt x="2107" y="9"/>
                    </a:lnTo>
                    <a:lnTo>
                      <a:pt x="2120" y="0"/>
                    </a:lnTo>
                    <a:lnTo>
                      <a:pt x="2132" y="0"/>
                    </a:lnTo>
                    <a:lnTo>
                      <a:pt x="2145" y="0"/>
                    </a:lnTo>
                    <a:lnTo>
                      <a:pt x="2158" y="0"/>
                    </a:lnTo>
                    <a:lnTo>
                      <a:pt x="2171" y="0"/>
                    </a:lnTo>
                    <a:lnTo>
                      <a:pt x="2183" y="0"/>
                    </a:lnTo>
                    <a:lnTo>
                      <a:pt x="2196" y="0"/>
                    </a:lnTo>
                    <a:lnTo>
                      <a:pt x="2196" y="9"/>
                    </a:lnTo>
                    <a:lnTo>
                      <a:pt x="2209" y="9"/>
                    </a:lnTo>
                    <a:lnTo>
                      <a:pt x="2221" y="9"/>
                    </a:lnTo>
                    <a:lnTo>
                      <a:pt x="2234" y="18"/>
                    </a:lnTo>
                    <a:lnTo>
                      <a:pt x="2247" y="27"/>
                    </a:lnTo>
                    <a:lnTo>
                      <a:pt x="2259" y="35"/>
                    </a:lnTo>
                    <a:lnTo>
                      <a:pt x="2272" y="35"/>
                    </a:lnTo>
                    <a:lnTo>
                      <a:pt x="2272" y="44"/>
                    </a:lnTo>
                    <a:lnTo>
                      <a:pt x="2285" y="44"/>
                    </a:lnTo>
                    <a:lnTo>
                      <a:pt x="2285" y="53"/>
                    </a:lnTo>
                    <a:lnTo>
                      <a:pt x="2297" y="53"/>
                    </a:lnTo>
                    <a:lnTo>
                      <a:pt x="2297" y="62"/>
                    </a:lnTo>
                    <a:lnTo>
                      <a:pt x="2310" y="71"/>
                    </a:lnTo>
                    <a:lnTo>
                      <a:pt x="2310" y="79"/>
                    </a:lnTo>
                    <a:lnTo>
                      <a:pt x="2323" y="79"/>
                    </a:lnTo>
                    <a:lnTo>
                      <a:pt x="2336" y="88"/>
                    </a:lnTo>
                    <a:lnTo>
                      <a:pt x="2336" y="97"/>
                    </a:lnTo>
                    <a:lnTo>
                      <a:pt x="2348" y="106"/>
                    </a:lnTo>
                    <a:lnTo>
                      <a:pt x="2348" y="114"/>
                    </a:lnTo>
                    <a:lnTo>
                      <a:pt x="2361" y="114"/>
                    </a:lnTo>
                    <a:lnTo>
                      <a:pt x="2361" y="123"/>
                    </a:lnTo>
                    <a:lnTo>
                      <a:pt x="2374" y="132"/>
                    </a:lnTo>
                    <a:lnTo>
                      <a:pt x="2386" y="141"/>
                    </a:lnTo>
                    <a:lnTo>
                      <a:pt x="2386" y="150"/>
                    </a:lnTo>
                    <a:lnTo>
                      <a:pt x="2399" y="158"/>
                    </a:lnTo>
                    <a:lnTo>
                      <a:pt x="2399" y="167"/>
                    </a:lnTo>
                    <a:lnTo>
                      <a:pt x="2412" y="176"/>
                    </a:lnTo>
                    <a:lnTo>
                      <a:pt x="2412" y="185"/>
                    </a:lnTo>
                    <a:lnTo>
                      <a:pt x="2424" y="194"/>
                    </a:lnTo>
                    <a:lnTo>
                      <a:pt x="2437" y="202"/>
                    </a:lnTo>
                    <a:lnTo>
                      <a:pt x="2437" y="211"/>
                    </a:lnTo>
                    <a:lnTo>
                      <a:pt x="2450" y="220"/>
                    </a:lnTo>
                    <a:lnTo>
                      <a:pt x="2450" y="238"/>
                    </a:lnTo>
                    <a:lnTo>
                      <a:pt x="2462" y="246"/>
                    </a:lnTo>
                    <a:lnTo>
                      <a:pt x="2462" y="255"/>
                    </a:lnTo>
                    <a:lnTo>
                      <a:pt x="2475" y="264"/>
                    </a:lnTo>
                    <a:lnTo>
                      <a:pt x="2475" y="273"/>
                    </a:lnTo>
                    <a:lnTo>
                      <a:pt x="2488" y="282"/>
                    </a:lnTo>
                    <a:lnTo>
                      <a:pt x="2501" y="290"/>
                    </a:lnTo>
                    <a:lnTo>
                      <a:pt x="2501" y="299"/>
                    </a:lnTo>
                    <a:lnTo>
                      <a:pt x="2513" y="317"/>
                    </a:lnTo>
                    <a:lnTo>
                      <a:pt x="2513" y="326"/>
                    </a:lnTo>
                    <a:lnTo>
                      <a:pt x="2526" y="334"/>
                    </a:lnTo>
                    <a:lnTo>
                      <a:pt x="2526" y="343"/>
                    </a:lnTo>
                    <a:lnTo>
                      <a:pt x="2539" y="352"/>
                    </a:lnTo>
                    <a:lnTo>
                      <a:pt x="2551" y="361"/>
                    </a:lnTo>
                    <a:lnTo>
                      <a:pt x="2551" y="378"/>
                    </a:lnTo>
                    <a:lnTo>
                      <a:pt x="2564" y="387"/>
                    </a:lnTo>
                    <a:lnTo>
                      <a:pt x="2564" y="396"/>
                    </a:lnTo>
                    <a:lnTo>
                      <a:pt x="2577" y="405"/>
                    </a:lnTo>
                    <a:lnTo>
                      <a:pt x="2577" y="413"/>
                    </a:lnTo>
                    <a:lnTo>
                      <a:pt x="2589" y="431"/>
                    </a:lnTo>
                    <a:lnTo>
                      <a:pt x="2602" y="440"/>
                    </a:lnTo>
                    <a:lnTo>
                      <a:pt x="2602" y="449"/>
                    </a:lnTo>
                    <a:lnTo>
                      <a:pt x="2615" y="457"/>
                    </a:lnTo>
                    <a:lnTo>
                      <a:pt x="2615" y="466"/>
                    </a:lnTo>
                    <a:lnTo>
                      <a:pt x="2627" y="475"/>
                    </a:lnTo>
                    <a:lnTo>
                      <a:pt x="2627" y="493"/>
                    </a:lnTo>
                    <a:lnTo>
                      <a:pt x="2640" y="501"/>
                    </a:lnTo>
                    <a:lnTo>
                      <a:pt x="2640" y="510"/>
                    </a:lnTo>
                    <a:lnTo>
                      <a:pt x="2653" y="519"/>
                    </a:lnTo>
                    <a:lnTo>
                      <a:pt x="2666" y="528"/>
                    </a:lnTo>
                    <a:lnTo>
                      <a:pt x="2666" y="537"/>
                    </a:lnTo>
                    <a:lnTo>
                      <a:pt x="2678" y="554"/>
                    </a:lnTo>
                    <a:lnTo>
                      <a:pt x="2678" y="563"/>
                    </a:lnTo>
                    <a:lnTo>
                      <a:pt x="2691" y="572"/>
                    </a:lnTo>
                    <a:lnTo>
                      <a:pt x="2691" y="581"/>
                    </a:lnTo>
                    <a:lnTo>
                      <a:pt x="2704" y="589"/>
                    </a:lnTo>
                    <a:lnTo>
                      <a:pt x="2716" y="598"/>
                    </a:lnTo>
                    <a:lnTo>
                      <a:pt x="2716" y="607"/>
                    </a:lnTo>
                    <a:lnTo>
                      <a:pt x="2729" y="616"/>
                    </a:lnTo>
                    <a:lnTo>
                      <a:pt x="2729" y="624"/>
                    </a:lnTo>
                    <a:lnTo>
                      <a:pt x="2742" y="633"/>
                    </a:lnTo>
                    <a:lnTo>
                      <a:pt x="2742" y="651"/>
                    </a:lnTo>
                    <a:lnTo>
                      <a:pt x="2754" y="660"/>
                    </a:lnTo>
                    <a:lnTo>
                      <a:pt x="2767" y="668"/>
                    </a:lnTo>
                    <a:lnTo>
                      <a:pt x="2767" y="677"/>
                    </a:lnTo>
                    <a:lnTo>
                      <a:pt x="2780" y="686"/>
                    </a:lnTo>
                    <a:lnTo>
                      <a:pt x="2780" y="695"/>
                    </a:lnTo>
                    <a:lnTo>
                      <a:pt x="2792" y="704"/>
                    </a:lnTo>
                    <a:lnTo>
                      <a:pt x="2792" y="712"/>
                    </a:lnTo>
                    <a:lnTo>
                      <a:pt x="2805" y="721"/>
                    </a:lnTo>
                    <a:lnTo>
                      <a:pt x="2805" y="730"/>
                    </a:lnTo>
                    <a:lnTo>
                      <a:pt x="2818" y="739"/>
                    </a:lnTo>
                    <a:lnTo>
                      <a:pt x="2831" y="748"/>
                    </a:lnTo>
                    <a:lnTo>
                      <a:pt x="2831" y="756"/>
                    </a:lnTo>
                    <a:lnTo>
                      <a:pt x="2843" y="765"/>
                    </a:lnTo>
                    <a:lnTo>
                      <a:pt x="2843" y="774"/>
                    </a:lnTo>
                    <a:lnTo>
                      <a:pt x="2856" y="783"/>
                    </a:lnTo>
                    <a:lnTo>
                      <a:pt x="2856" y="792"/>
                    </a:lnTo>
                    <a:lnTo>
                      <a:pt x="2869" y="792"/>
                    </a:lnTo>
                    <a:lnTo>
                      <a:pt x="2881" y="800"/>
                    </a:lnTo>
                    <a:lnTo>
                      <a:pt x="2881" y="809"/>
                    </a:lnTo>
                    <a:lnTo>
                      <a:pt x="2894" y="818"/>
                    </a:lnTo>
                    <a:lnTo>
                      <a:pt x="2894" y="827"/>
                    </a:lnTo>
                    <a:lnTo>
                      <a:pt x="2907" y="836"/>
                    </a:lnTo>
                    <a:lnTo>
                      <a:pt x="2907" y="844"/>
                    </a:lnTo>
                    <a:lnTo>
                      <a:pt x="2919" y="853"/>
                    </a:lnTo>
                    <a:lnTo>
                      <a:pt x="2932" y="853"/>
                    </a:lnTo>
                    <a:lnTo>
                      <a:pt x="2932" y="862"/>
                    </a:lnTo>
                    <a:lnTo>
                      <a:pt x="2945" y="871"/>
                    </a:lnTo>
                    <a:lnTo>
                      <a:pt x="2945" y="879"/>
                    </a:lnTo>
                    <a:lnTo>
                      <a:pt x="2957" y="888"/>
                    </a:lnTo>
                    <a:lnTo>
                      <a:pt x="2957" y="897"/>
                    </a:lnTo>
                    <a:lnTo>
                      <a:pt x="2970" y="897"/>
                    </a:lnTo>
                    <a:lnTo>
                      <a:pt x="2970" y="906"/>
                    </a:lnTo>
                    <a:lnTo>
                      <a:pt x="2983" y="915"/>
                    </a:lnTo>
                    <a:lnTo>
                      <a:pt x="2996" y="923"/>
                    </a:lnTo>
                    <a:lnTo>
                      <a:pt x="3008" y="932"/>
                    </a:lnTo>
                    <a:lnTo>
                      <a:pt x="3008" y="941"/>
                    </a:lnTo>
                    <a:lnTo>
                      <a:pt x="3021" y="950"/>
                    </a:lnTo>
                    <a:lnTo>
                      <a:pt x="3034" y="959"/>
                    </a:lnTo>
                    <a:lnTo>
                      <a:pt x="3046" y="967"/>
                    </a:lnTo>
                    <a:lnTo>
                      <a:pt x="3046" y="976"/>
                    </a:lnTo>
                    <a:lnTo>
                      <a:pt x="3059" y="976"/>
                    </a:lnTo>
                    <a:lnTo>
                      <a:pt x="3059" y="985"/>
                    </a:lnTo>
                    <a:lnTo>
                      <a:pt x="3072" y="994"/>
                    </a:lnTo>
                    <a:lnTo>
                      <a:pt x="3084" y="1003"/>
                    </a:lnTo>
                    <a:lnTo>
                      <a:pt x="3097" y="1011"/>
                    </a:lnTo>
                    <a:lnTo>
                      <a:pt x="3110" y="1020"/>
                    </a:lnTo>
                    <a:lnTo>
                      <a:pt x="3110" y="1029"/>
                    </a:lnTo>
                    <a:lnTo>
                      <a:pt x="3122" y="1029"/>
                    </a:lnTo>
                    <a:lnTo>
                      <a:pt x="3122" y="1038"/>
                    </a:lnTo>
                    <a:lnTo>
                      <a:pt x="3135" y="1038"/>
                    </a:lnTo>
                    <a:lnTo>
                      <a:pt x="3135" y="1047"/>
                    </a:lnTo>
                    <a:lnTo>
                      <a:pt x="3148" y="1055"/>
                    </a:lnTo>
                    <a:lnTo>
                      <a:pt x="3161" y="1055"/>
                    </a:lnTo>
                    <a:lnTo>
                      <a:pt x="3161" y="1064"/>
                    </a:lnTo>
                    <a:lnTo>
                      <a:pt x="3173" y="1064"/>
                    </a:lnTo>
                    <a:lnTo>
                      <a:pt x="3173" y="1073"/>
                    </a:lnTo>
                    <a:lnTo>
                      <a:pt x="3186" y="1073"/>
                    </a:lnTo>
                    <a:lnTo>
                      <a:pt x="3186" y="1082"/>
                    </a:lnTo>
                    <a:lnTo>
                      <a:pt x="3199" y="1091"/>
                    </a:lnTo>
                    <a:lnTo>
                      <a:pt x="3211" y="1091"/>
                    </a:lnTo>
                    <a:lnTo>
                      <a:pt x="3211" y="1099"/>
                    </a:lnTo>
                    <a:lnTo>
                      <a:pt x="3224" y="1099"/>
                    </a:lnTo>
                    <a:lnTo>
                      <a:pt x="3224" y="1108"/>
                    </a:lnTo>
                    <a:lnTo>
                      <a:pt x="3237" y="1108"/>
                    </a:lnTo>
                    <a:lnTo>
                      <a:pt x="3237" y="1117"/>
                    </a:lnTo>
                    <a:lnTo>
                      <a:pt x="3249" y="1117"/>
                    </a:lnTo>
                    <a:lnTo>
                      <a:pt x="3262" y="1126"/>
                    </a:lnTo>
                    <a:lnTo>
                      <a:pt x="3275" y="1134"/>
                    </a:lnTo>
                    <a:lnTo>
                      <a:pt x="3287" y="1143"/>
                    </a:lnTo>
                    <a:lnTo>
                      <a:pt x="3300" y="1152"/>
                    </a:lnTo>
                    <a:lnTo>
                      <a:pt x="3313" y="1152"/>
                    </a:lnTo>
                    <a:lnTo>
                      <a:pt x="3326" y="1161"/>
                    </a:lnTo>
                    <a:lnTo>
                      <a:pt x="3338" y="1170"/>
                    </a:lnTo>
                    <a:lnTo>
                      <a:pt x="3351" y="1178"/>
                    </a:lnTo>
                    <a:lnTo>
                      <a:pt x="3364" y="1187"/>
                    </a:lnTo>
                    <a:lnTo>
                      <a:pt x="3376" y="1187"/>
                    </a:lnTo>
                    <a:lnTo>
                      <a:pt x="3389" y="1196"/>
                    </a:lnTo>
                    <a:lnTo>
                      <a:pt x="3402" y="1205"/>
                    </a:lnTo>
                    <a:lnTo>
                      <a:pt x="3414" y="1205"/>
                    </a:lnTo>
                    <a:lnTo>
                      <a:pt x="3427" y="1214"/>
                    </a:lnTo>
                    <a:lnTo>
                      <a:pt x="3440" y="1214"/>
                    </a:lnTo>
                    <a:lnTo>
                      <a:pt x="3440" y="1222"/>
                    </a:lnTo>
                    <a:lnTo>
                      <a:pt x="3452" y="1222"/>
                    </a:lnTo>
                    <a:lnTo>
                      <a:pt x="3452" y="1231"/>
                    </a:lnTo>
                    <a:lnTo>
                      <a:pt x="3465" y="1231"/>
                    </a:lnTo>
                    <a:lnTo>
                      <a:pt x="3478" y="1240"/>
                    </a:lnTo>
                    <a:lnTo>
                      <a:pt x="3490" y="1240"/>
                    </a:lnTo>
                    <a:lnTo>
                      <a:pt x="3503" y="1249"/>
                    </a:lnTo>
                    <a:lnTo>
                      <a:pt x="3516" y="1249"/>
                    </a:lnTo>
                    <a:lnTo>
                      <a:pt x="3516" y="1258"/>
                    </a:lnTo>
                    <a:lnTo>
                      <a:pt x="3529" y="1258"/>
                    </a:lnTo>
                    <a:lnTo>
                      <a:pt x="3541" y="1258"/>
                    </a:lnTo>
                    <a:lnTo>
                      <a:pt x="3541" y="1266"/>
                    </a:lnTo>
                    <a:lnTo>
                      <a:pt x="3554" y="1266"/>
                    </a:lnTo>
                    <a:lnTo>
                      <a:pt x="3567" y="1275"/>
                    </a:lnTo>
                    <a:lnTo>
                      <a:pt x="3579" y="1275"/>
                    </a:lnTo>
                    <a:lnTo>
                      <a:pt x="3592" y="1275"/>
                    </a:lnTo>
                    <a:lnTo>
                      <a:pt x="3592" y="1284"/>
                    </a:lnTo>
                    <a:lnTo>
                      <a:pt x="3605" y="1284"/>
                    </a:lnTo>
                    <a:lnTo>
                      <a:pt x="3617" y="1293"/>
                    </a:lnTo>
                    <a:lnTo>
                      <a:pt x="3630" y="1293"/>
                    </a:lnTo>
                    <a:lnTo>
                      <a:pt x="3643" y="1302"/>
                    </a:lnTo>
                    <a:lnTo>
                      <a:pt x="3655" y="1302"/>
                    </a:lnTo>
                    <a:lnTo>
                      <a:pt x="3668" y="1302"/>
                    </a:lnTo>
                    <a:lnTo>
                      <a:pt x="3668" y="1310"/>
                    </a:lnTo>
                    <a:lnTo>
                      <a:pt x="3681" y="1310"/>
                    </a:lnTo>
                    <a:lnTo>
                      <a:pt x="3694" y="1310"/>
                    </a:lnTo>
                    <a:lnTo>
                      <a:pt x="3706" y="1319"/>
                    </a:lnTo>
                    <a:lnTo>
                      <a:pt x="3719" y="1319"/>
                    </a:lnTo>
                    <a:lnTo>
                      <a:pt x="3732" y="1328"/>
                    </a:lnTo>
                    <a:lnTo>
                      <a:pt x="3744" y="1328"/>
                    </a:lnTo>
                    <a:lnTo>
                      <a:pt x="3757" y="1337"/>
                    </a:lnTo>
                    <a:lnTo>
                      <a:pt x="3770" y="1337"/>
                    </a:lnTo>
                    <a:lnTo>
                      <a:pt x="3782" y="1337"/>
                    </a:lnTo>
                    <a:lnTo>
                      <a:pt x="3795" y="1346"/>
                    </a:lnTo>
                    <a:lnTo>
                      <a:pt x="3808" y="1346"/>
                    </a:lnTo>
                    <a:lnTo>
                      <a:pt x="3820" y="1346"/>
                    </a:lnTo>
                    <a:lnTo>
                      <a:pt x="3820" y="1354"/>
                    </a:lnTo>
                    <a:lnTo>
                      <a:pt x="3833" y="1354"/>
                    </a:lnTo>
                    <a:lnTo>
                      <a:pt x="3846" y="1354"/>
                    </a:lnTo>
                    <a:lnTo>
                      <a:pt x="3859" y="1363"/>
                    </a:lnTo>
                    <a:lnTo>
                      <a:pt x="3871" y="1363"/>
                    </a:lnTo>
                    <a:lnTo>
                      <a:pt x="3884" y="1363"/>
                    </a:lnTo>
                    <a:lnTo>
                      <a:pt x="3897" y="1372"/>
                    </a:lnTo>
                    <a:lnTo>
                      <a:pt x="3909" y="1372"/>
                    </a:lnTo>
                    <a:lnTo>
                      <a:pt x="3922" y="1372"/>
                    </a:lnTo>
                    <a:lnTo>
                      <a:pt x="3935" y="1372"/>
                    </a:lnTo>
                    <a:lnTo>
                      <a:pt x="3935" y="1381"/>
                    </a:lnTo>
                    <a:lnTo>
                      <a:pt x="3947" y="1381"/>
                    </a:lnTo>
                    <a:lnTo>
                      <a:pt x="3960" y="1381"/>
                    </a:lnTo>
                    <a:lnTo>
                      <a:pt x="3973" y="1381"/>
                    </a:lnTo>
                    <a:lnTo>
                      <a:pt x="3985" y="1389"/>
                    </a:lnTo>
                    <a:lnTo>
                      <a:pt x="3998" y="1389"/>
                    </a:lnTo>
                    <a:lnTo>
                      <a:pt x="4011" y="1389"/>
                    </a:lnTo>
                    <a:lnTo>
                      <a:pt x="4024" y="1398"/>
                    </a:lnTo>
                    <a:lnTo>
                      <a:pt x="4036" y="1398"/>
                    </a:lnTo>
                    <a:lnTo>
                      <a:pt x="4049" y="1398"/>
                    </a:lnTo>
                    <a:lnTo>
                      <a:pt x="4062" y="1398"/>
                    </a:lnTo>
                    <a:lnTo>
                      <a:pt x="4062" y="1407"/>
                    </a:lnTo>
                    <a:lnTo>
                      <a:pt x="4074" y="1407"/>
                    </a:lnTo>
                    <a:lnTo>
                      <a:pt x="4087" y="1407"/>
                    </a:lnTo>
                    <a:lnTo>
                      <a:pt x="4100" y="1407"/>
                    </a:lnTo>
                    <a:lnTo>
                      <a:pt x="4112" y="1407"/>
                    </a:lnTo>
                    <a:lnTo>
                      <a:pt x="4112" y="1416"/>
                    </a:lnTo>
                    <a:lnTo>
                      <a:pt x="4125" y="1416"/>
                    </a:lnTo>
                    <a:lnTo>
                      <a:pt x="4138" y="1416"/>
                    </a:lnTo>
                    <a:lnTo>
                      <a:pt x="4150" y="1416"/>
                    </a:lnTo>
                    <a:lnTo>
                      <a:pt x="4163" y="1416"/>
                    </a:lnTo>
                    <a:lnTo>
                      <a:pt x="4176" y="1425"/>
                    </a:lnTo>
                    <a:lnTo>
                      <a:pt x="4189" y="1425"/>
                    </a:lnTo>
                    <a:lnTo>
                      <a:pt x="4201" y="1425"/>
                    </a:lnTo>
                    <a:lnTo>
                      <a:pt x="4214" y="1425"/>
                    </a:lnTo>
                    <a:lnTo>
                      <a:pt x="4227" y="1425"/>
                    </a:lnTo>
                    <a:lnTo>
                      <a:pt x="4227" y="1433"/>
                    </a:lnTo>
                    <a:lnTo>
                      <a:pt x="4239" y="1433"/>
                    </a:lnTo>
                    <a:lnTo>
                      <a:pt x="4252" y="1433"/>
                    </a:lnTo>
                    <a:lnTo>
                      <a:pt x="4265" y="1433"/>
                    </a:lnTo>
                    <a:lnTo>
                      <a:pt x="4277" y="1433"/>
                    </a:lnTo>
                    <a:lnTo>
                      <a:pt x="4290" y="1442"/>
                    </a:lnTo>
                    <a:lnTo>
                      <a:pt x="4303" y="1442"/>
                    </a:lnTo>
                  </a:path>
                </a:pathLst>
              </a:custGeom>
              <a:noFill/>
              <a:ln w="50800" cap="rnd">
                <a:solidFill>
                  <a:srgbClr val="FF808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302" name="Freeform 15"/>
              <p:cNvSpPr>
                <a:spLocks/>
              </p:cNvSpPr>
              <p:nvPr/>
            </p:nvSpPr>
            <p:spPr bwMode="auto">
              <a:xfrm>
                <a:off x="722" y="1659"/>
                <a:ext cx="4304" cy="1988"/>
              </a:xfrm>
              <a:custGeom>
                <a:avLst/>
                <a:gdLst>
                  <a:gd name="T0" fmla="*/ 89 w 4304"/>
                  <a:gd name="T1" fmla="*/ 1969 h 1988"/>
                  <a:gd name="T2" fmla="*/ 191 w 4304"/>
                  <a:gd name="T3" fmla="*/ 1961 h 1988"/>
                  <a:gd name="T4" fmla="*/ 279 w 4304"/>
                  <a:gd name="T5" fmla="*/ 1943 h 1988"/>
                  <a:gd name="T6" fmla="*/ 381 w 4304"/>
                  <a:gd name="T7" fmla="*/ 1908 h 1988"/>
                  <a:gd name="T8" fmla="*/ 470 w 4304"/>
                  <a:gd name="T9" fmla="*/ 1881 h 1988"/>
                  <a:gd name="T10" fmla="*/ 559 w 4304"/>
                  <a:gd name="T11" fmla="*/ 1837 h 1988"/>
                  <a:gd name="T12" fmla="*/ 648 w 4304"/>
                  <a:gd name="T13" fmla="*/ 1785 h 1988"/>
                  <a:gd name="T14" fmla="*/ 749 w 4304"/>
                  <a:gd name="T15" fmla="*/ 1714 h 1988"/>
                  <a:gd name="T16" fmla="*/ 813 w 4304"/>
                  <a:gd name="T17" fmla="*/ 1662 h 1988"/>
                  <a:gd name="T18" fmla="*/ 876 w 4304"/>
                  <a:gd name="T19" fmla="*/ 1600 h 1988"/>
                  <a:gd name="T20" fmla="*/ 927 w 4304"/>
                  <a:gd name="T21" fmla="*/ 1538 h 1988"/>
                  <a:gd name="T22" fmla="*/ 990 w 4304"/>
                  <a:gd name="T23" fmla="*/ 1468 h 1988"/>
                  <a:gd name="T24" fmla="*/ 1041 w 4304"/>
                  <a:gd name="T25" fmla="*/ 1398 h 1988"/>
                  <a:gd name="T26" fmla="*/ 1104 w 4304"/>
                  <a:gd name="T27" fmla="*/ 1319 h 1988"/>
                  <a:gd name="T28" fmla="*/ 1168 w 4304"/>
                  <a:gd name="T29" fmla="*/ 1231 h 1988"/>
                  <a:gd name="T30" fmla="*/ 1219 w 4304"/>
                  <a:gd name="T31" fmla="*/ 1152 h 1988"/>
                  <a:gd name="T32" fmla="*/ 1282 w 4304"/>
                  <a:gd name="T33" fmla="*/ 1055 h 1988"/>
                  <a:gd name="T34" fmla="*/ 1333 w 4304"/>
                  <a:gd name="T35" fmla="*/ 958 h 1988"/>
                  <a:gd name="T36" fmla="*/ 1396 w 4304"/>
                  <a:gd name="T37" fmla="*/ 861 h 1988"/>
                  <a:gd name="T38" fmla="*/ 1447 w 4304"/>
                  <a:gd name="T39" fmla="*/ 765 h 1988"/>
                  <a:gd name="T40" fmla="*/ 1511 w 4304"/>
                  <a:gd name="T41" fmla="*/ 668 h 1988"/>
                  <a:gd name="T42" fmla="*/ 1561 w 4304"/>
                  <a:gd name="T43" fmla="*/ 571 h 1988"/>
                  <a:gd name="T44" fmla="*/ 1625 w 4304"/>
                  <a:gd name="T45" fmla="*/ 483 h 1988"/>
                  <a:gd name="T46" fmla="*/ 1676 w 4304"/>
                  <a:gd name="T47" fmla="*/ 395 h 1988"/>
                  <a:gd name="T48" fmla="*/ 1739 w 4304"/>
                  <a:gd name="T49" fmla="*/ 316 h 1988"/>
                  <a:gd name="T50" fmla="*/ 1790 w 4304"/>
                  <a:gd name="T51" fmla="*/ 237 h 1988"/>
                  <a:gd name="T52" fmla="*/ 1853 w 4304"/>
                  <a:gd name="T53" fmla="*/ 167 h 1988"/>
                  <a:gd name="T54" fmla="*/ 1904 w 4304"/>
                  <a:gd name="T55" fmla="*/ 114 h 1988"/>
                  <a:gd name="T56" fmla="*/ 1967 w 4304"/>
                  <a:gd name="T57" fmla="*/ 61 h 1988"/>
                  <a:gd name="T58" fmla="*/ 2031 w 4304"/>
                  <a:gd name="T59" fmla="*/ 26 h 1988"/>
                  <a:gd name="T60" fmla="*/ 2132 w 4304"/>
                  <a:gd name="T61" fmla="*/ 0 h 1988"/>
                  <a:gd name="T62" fmla="*/ 2221 w 4304"/>
                  <a:gd name="T63" fmla="*/ 8 h 1988"/>
                  <a:gd name="T64" fmla="*/ 2297 w 4304"/>
                  <a:gd name="T65" fmla="*/ 35 h 1988"/>
                  <a:gd name="T66" fmla="*/ 2374 w 4304"/>
                  <a:gd name="T67" fmla="*/ 88 h 1988"/>
                  <a:gd name="T68" fmla="*/ 2450 w 4304"/>
                  <a:gd name="T69" fmla="*/ 158 h 1988"/>
                  <a:gd name="T70" fmla="*/ 2513 w 4304"/>
                  <a:gd name="T71" fmla="*/ 228 h 1988"/>
                  <a:gd name="T72" fmla="*/ 2564 w 4304"/>
                  <a:gd name="T73" fmla="*/ 299 h 1988"/>
                  <a:gd name="T74" fmla="*/ 2627 w 4304"/>
                  <a:gd name="T75" fmla="*/ 387 h 1988"/>
                  <a:gd name="T76" fmla="*/ 2678 w 4304"/>
                  <a:gd name="T77" fmla="*/ 475 h 1988"/>
                  <a:gd name="T78" fmla="*/ 2742 w 4304"/>
                  <a:gd name="T79" fmla="*/ 562 h 1988"/>
                  <a:gd name="T80" fmla="*/ 2792 w 4304"/>
                  <a:gd name="T81" fmla="*/ 659 h 1988"/>
                  <a:gd name="T82" fmla="*/ 2856 w 4304"/>
                  <a:gd name="T83" fmla="*/ 756 h 1988"/>
                  <a:gd name="T84" fmla="*/ 2907 w 4304"/>
                  <a:gd name="T85" fmla="*/ 853 h 1988"/>
                  <a:gd name="T86" fmla="*/ 2970 w 4304"/>
                  <a:gd name="T87" fmla="*/ 949 h 1988"/>
                  <a:gd name="T88" fmla="*/ 3021 w 4304"/>
                  <a:gd name="T89" fmla="*/ 1046 h 1988"/>
                  <a:gd name="T90" fmla="*/ 3084 w 4304"/>
                  <a:gd name="T91" fmla="*/ 1134 h 1988"/>
                  <a:gd name="T92" fmla="*/ 3135 w 4304"/>
                  <a:gd name="T93" fmla="*/ 1222 h 1988"/>
                  <a:gd name="T94" fmla="*/ 3199 w 4304"/>
                  <a:gd name="T95" fmla="*/ 1310 h 1988"/>
                  <a:gd name="T96" fmla="*/ 3262 w 4304"/>
                  <a:gd name="T97" fmla="*/ 1389 h 1988"/>
                  <a:gd name="T98" fmla="*/ 3313 w 4304"/>
                  <a:gd name="T99" fmla="*/ 1459 h 1988"/>
                  <a:gd name="T100" fmla="*/ 3376 w 4304"/>
                  <a:gd name="T101" fmla="*/ 1530 h 1988"/>
                  <a:gd name="T102" fmla="*/ 3440 w 4304"/>
                  <a:gd name="T103" fmla="*/ 1600 h 1988"/>
                  <a:gd name="T104" fmla="*/ 3503 w 4304"/>
                  <a:gd name="T105" fmla="*/ 1662 h 1988"/>
                  <a:gd name="T106" fmla="*/ 3567 w 4304"/>
                  <a:gd name="T107" fmla="*/ 1723 h 1988"/>
                  <a:gd name="T108" fmla="*/ 3630 w 4304"/>
                  <a:gd name="T109" fmla="*/ 1767 h 1988"/>
                  <a:gd name="T110" fmla="*/ 3694 w 4304"/>
                  <a:gd name="T111" fmla="*/ 1802 h 1988"/>
                  <a:gd name="T112" fmla="*/ 3770 w 4304"/>
                  <a:gd name="T113" fmla="*/ 1846 h 1988"/>
                  <a:gd name="T114" fmla="*/ 3833 w 4304"/>
                  <a:gd name="T115" fmla="*/ 1873 h 1988"/>
                  <a:gd name="T116" fmla="*/ 3922 w 4304"/>
                  <a:gd name="T117" fmla="*/ 1908 h 1988"/>
                  <a:gd name="T118" fmla="*/ 3998 w 4304"/>
                  <a:gd name="T119" fmla="*/ 1925 h 1988"/>
                  <a:gd name="T120" fmla="*/ 4087 w 4304"/>
                  <a:gd name="T121" fmla="*/ 1952 h 1988"/>
                  <a:gd name="T122" fmla="*/ 4163 w 4304"/>
                  <a:gd name="T123" fmla="*/ 1969 h 1988"/>
                  <a:gd name="T124" fmla="*/ 4252 w 4304"/>
                  <a:gd name="T125" fmla="*/ 1978 h 1988"/>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4304"/>
                  <a:gd name="T190" fmla="*/ 0 h 1988"/>
                  <a:gd name="T191" fmla="*/ 4304 w 4304"/>
                  <a:gd name="T192" fmla="*/ 1988 h 1988"/>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4304" h="1988">
                    <a:moveTo>
                      <a:pt x="0" y="1987"/>
                    </a:moveTo>
                    <a:lnTo>
                      <a:pt x="13" y="1978"/>
                    </a:lnTo>
                    <a:lnTo>
                      <a:pt x="26" y="1978"/>
                    </a:lnTo>
                    <a:lnTo>
                      <a:pt x="38" y="1978"/>
                    </a:lnTo>
                    <a:lnTo>
                      <a:pt x="51" y="1978"/>
                    </a:lnTo>
                    <a:lnTo>
                      <a:pt x="64" y="1978"/>
                    </a:lnTo>
                    <a:lnTo>
                      <a:pt x="76" y="1978"/>
                    </a:lnTo>
                    <a:lnTo>
                      <a:pt x="89" y="1969"/>
                    </a:lnTo>
                    <a:lnTo>
                      <a:pt x="102" y="1969"/>
                    </a:lnTo>
                    <a:lnTo>
                      <a:pt x="114" y="1969"/>
                    </a:lnTo>
                    <a:lnTo>
                      <a:pt x="127" y="1969"/>
                    </a:lnTo>
                    <a:lnTo>
                      <a:pt x="140" y="1969"/>
                    </a:lnTo>
                    <a:lnTo>
                      <a:pt x="153" y="1961"/>
                    </a:lnTo>
                    <a:lnTo>
                      <a:pt x="165" y="1961"/>
                    </a:lnTo>
                    <a:lnTo>
                      <a:pt x="178" y="1961"/>
                    </a:lnTo>
                    <a:lnTo>
                      <a:pt x="191" y="1961"/>
                    </a:lnTo>
                    <a:lnTo>
                      <a:pt x="203" y="1952"/>
                    </a:lnTo>
                    <a:lnTo>
                      <a:pt x="216" y="1952"/>
                    </a:lnTo>
                    <a:lnTo>
                      <a:pt x="229" y="1952"/>
                    </a:lnTo>
                    <a:lnTo>
                      <a:pt x="241" y="1952"/>
                    </a:lnTo>
                    <a:lnTo>
                      <a:pt x="241" y="1943"/>
                    </a:lnTo>
                    <a:lnTo>
                      <a:pt x="254" y="1943"/>
                    </a:lnTo>
                    <a:lnTo>
                      <a:pt x="267" y="1943"/>
                    </a:lnTo>
                    <a:lnTo>
                      <a:pt x="279" y="1943"/>
                    </a:lnTo>
                    <a:lnTo>
                      <a:pt x="292" y="1934"/>
                    </a:lnTo>
                    <a:lnTo>
                      <a:pt x="305" y="1934"/>
                    </a:lnTo>
                    <a:lnTo>
                      <a:pt x="318" y="1925"/>
                    </a:lnTo>
                    <a:lnTo>
                      <a:pt x="330" y="1925"/>
                    </a:lnTo>
                    <a:lnTo>
                      <a:pt x="343" y="1925"/>
                    </a:lnTo>
                    <a:lnTo>
                      <a:pt x="356" y="1917"/>
                    </a:lnTo>
                    <a:lnTo>
                      <a:pt x="368" y="1917"/>
                    </a:lnTo>
                    <a:lnTo>
                      <a:pt x="381" y="1908"/>
                    </a:lnTo>
                    <a:lnTo>
                      <a:pt x="394" y="1908"/>
                    </a:lnTo>
                    <a:lnTo>
                      <a:pt x="406" y="1908"/>
                    </a:lnTo>
                    <a:lnTo>
                      <a:pt x="406" y="1899"/>
                    </a:lnTo>
                    <a:lnTo>
                      <a:pt x="419" y="1899"/>
                    </a:lnTo>
                    <a:lnTo>
                      <a:pt x="432" y="1890"/>
                    </a:lnTo>
                    <a:lnTo>
                      <a:pt x="444" y="1890"/>
                    </a:lnTo>
                    <a:lnTo>
                      <a:pt x="457" y="1881"/>
                    </a:lnTo>
                    <a:lnTo>
                      <a:pt x="470" y="1881"/>
                    </a:lnTo>
                    <a:lnTo>
                      <a:pt x="470" y="1873"/>
                    </a:lnTo>
                    <a:lnTo>
                      <a:pt x="483" y="1873"/>
                    </a:lnTo>
                    <a:lnTo>
                      <a:pt x="495" y="1864"/>
                    </a:lnTo>
                    <a:lnTo>
                      <a:pt x="508" y="1864"/>
                    </a:lnTo>
                    <a:lnTo>
                      <a:pt x="521" y="1855"/>
                    </a:lnTo>
                    <a:lnTo>
                      <a:pt x="533" y="1846"/>
                    </a:lnTo>
                    <a:lnTo>
                      <a:pt x="546" y="1846"/>
                    </a:lnTo>
                    <a:lnTo>
                      <a:pt x="559" y="1837"/>
                    </a:lnTo>
                    <a:lnTo>
                      <a:pt x="571" y="1829"/>
                    </a:lnTo>
                    <a:lnTo>
                      <a:pt x="584" y="1820"/>
                    </a:lnTo>
                    <a:lnTo>
                      <a:pt x="597" y="1820"/>
                    </a:lnTo>
                    <a:lnTo>
                      <a:pt x="597" y="1811"/>
                    </a:lnTo>
                    <a:lnTo>
                      <a:pt x="609" y="1811"/>
                    </a:lnTo>
                    <a:lnTo>
                      <a:pt x="622" y="1802"/>
                    </a:lnTo>
                    <a:lnTo>
                      <a:pt x="635" y="1793"/>
                    </a:lnTo>
                    <a:lnTo>
                      <a:pt x="648" y="1785"/>
                    </a:lnTo>
                    <a:lnTo>
                      <a:pt x="660" y="1776"/>
                    </a:lnTo>
                    <a:lnTo>
                      <a:pt x="673" y="1767"/>
                    </a:lnTo>
                    <a:lnTo>
                      <a:pt x="686" y="1758"/>
                    </a:lnTo>
                    <a:lnTo>
                      <a:pt x="698" y="1750"/>
                    </a:lnTo>
                    <a:lnTo>
                      <a:pt x="711" y="1741"/>
                    </a:lnTo>
                    <a:lnTo>
                      <a:pt x="724" y="1732"/>
                    </a:lnTo>
                    <a:lnTo>
                      <a:pt x="736" y="1723"/>
                    </a:lnTo>
                    <a:lnTo>
                      <a:pt x="749" y="1714"/>
                    </a:lnTo>
                    <a:lnTo>
                      <a:pt x="749" y="1706"/>
                    </a:lnTo>
                    <a:lnTo>
                      <a:pt x="762" y="1706"/>
                    </a:lnTo>
                    <a:lnTo>
                      <a:pt x="762" y="1697"/>
                    </a:lnTo>
                    <a:lnTo>
                      <a:pt x="774" y="1688"/>
                    </a:lnTo>
                    <a:lnTo>
                      <a:pt x="787" y="1679"/>
                    </a:lnTo>
                    <a:lnTo>
                      <a:pt x="800" y="1670"/>
                    </a:lnTo>
                    <a:lnTo>
                      <a:pt x="800" y="1662"/>
                    </a:lnTo>
                    <a:lnTo>
                      <a:pt x="813" y="1662"/>
                    </a:lnTo>
                    <a:lnTo>
                      <a:pt x="813" y="1653"/>
                    </a:lnTo>
                    <a:lnTo>
                      <a:pt x="825" y="1644"/>
                    </a:lnTo>
                    <a:lnTo>
                      <a:pt x="838" y="1635"/>
                    </a:lnTo>
                    <a:lnTo>
                      <a:pt x="851" y="1626"/>
                    </a:lnTo>
                    <a:lnTo>
                      <a:pt x="851" y="1618"/>
                    </a:lnTo>
                    <a:lnTo>
                      <a:pt x="863" y="1609"/>
                    </a:lnTo>
                    <a:lnTo>
                      <a:pt x="863" y="1600"/>
                    </a:lnTo>
                    <a:lnTo>
                      <a:pt x="876" y="1600"/>
                    </a:lnTo>
                    <a:lnTo>
                      <a:pt x="876" y="1591"/>
                    </a:lnTo>
                    <a:lnTo>
                      <a:pt x="889" y="1582"/>
                    </a:lnTo>
                    <a:lnTo>
                      <a:pt x="901" y="1574"/>
                    </a:lnTo>
                    <a:lnTo>
                      <a:pt x="901" y="1565"/>
                    </a:lnTo>
                    <a:lnTo>
                      <a:pt x="914" y="1556"/>
                    </a:lnTo>
                    <a:lnTo>
                      <a:pt x="914" y="1547"/>
                    </a:lnTo>
                    <a:lnTo>
                      <a:pt x="927" y="1547"/>
                    </a:lnTo>
                    <a:lnTo>
                      <a:pt x="927" y="1538"/>
                    </a:lnTo>
                    <a:lnTo>
                      <a:pt x="939" y="1530"/>
                    </a:lnTo>
                    <a:lnTo>
                      <a:pt x="952" y="1521"/>
                    </a:lnTo>
                    <a:lnTo>
                      <a:pt x="952" y="1512"/>
                    </a:lnTo>
                    <a:lnTo>
                      <a:pt x="965" y="1503"/>
                    </a:lnTo>
                    <a:lnTo>
                      <a:pt x="965" y="1495"/>
                    </a:lnTo>
                    <a:lnTo>
                      <a:pt x="977" y="1486"/>
                    </a:lnTo>
                    <a:lnTo>
                      <a:pt x="977" y="1477"/>
                    </a:lnTo>
                    <a:lnTo>
                      <a:pt x="990" y="1468"/>
                    </a:lnTo>
                    <a:lnTo>
                      <a:pt x="1003" y="1459"/>
                    </a:lnTo>
                    <a:lnTo>
                      <a:pt x="1003" y="1451"/>
                    </a:lnTo>
                    <a:lnTo>
                      <a:pt x="1016" y="1442"/>
                    </a:lnTo>
                    <a:lnTo>
                      <a:pt x="1016" y="1433"/>
                    </a:lnTo>
                    <a:lnTo>
                      <a:pt x="1028" y="1424"/>
                    </a:lnTo>
                    <a:lnTo>
                      <a:pt x="1028" y="1415"/>
                    </a:lnTo>
                    <a:lnTo>
                      <a:pt x="1041" y="1407"/>
                    </a:lnTo>
                    <a:lnTo>
                      <a:pt x="1041" y="1398"/>
                    </a:lnTo>
                    <a:lnTo>
                      <a:pt x="1054" y="1389"/>
                    </a:lnTo>
                    <a:lnTo>
                      <a:pt x="1066" y="1380"/>
                    </a:lnTo>
                    <a:lnTo>
                      <a:pt x="1066" y="1371"/>
                    </a:lnTo>
                    <a:lnTo>
                      <a:pt x="1079" y="1354"/>
                    </a:lnTo>
                    <a:lnTo>
                      <a:pt x="1079" y="1345"/>
                    </a:lnTo>
                    <a:lnTo>
                      <a:pt x="1092" y="1336"/>
                    </a:lnTo>
                    <a:lnTo>
                      <a:pt x="1092" y="1327"/>
                    </a:lnTo>
                    <a:lnTo>
                      <a:pt x="1104" y="1319"/>
                    </a:lnTo>
                    <a:lnTo>
                      <a:pt x="1117" y="1310"/>
                    </a:lnTo>
                    <a:lnTo>
                      <a:pt x="1117" y="1301"/>
                    </a:lnTo>
                    <a:lnTo>
                      <a:pt x="1130" y="1283"/>
                    </a:lnTo>
                    <a:lnTo>
                      <a:pt x="1130" y="1275"/>
                    </a:lnTo>
                    <a:lnTo>
                      <a:pt x="1142" y="1266"/>
                    </a:lnTo>
                    <a:lnTo>
                      <a:pt x="1142" y="1257"/>
                    </a:lnTo>
                    <a:lnTo>
                      <a:pt x="1155" y="1248"/>
                    </a:lnTo>
                    <a:lnTo>
                      <a:pt x="1168" y="1231"/>
                    </a:lnTo>
                    <a:lnTo>
                      <a:pt x="1168" y="1222"/>
                    </a:lnTo>
                    <a:lnTo>
                      <a:pt x="1181" y="1213"/>
                    </a:lnTo>
                    <a:lnTo>
                      <a:pt x="1181" y="1204"/>
                    </a:lnTo>
                    <a:lnTo>
                      <a:pt x="1193" y="1196"/>
                    </a:lnTo>
                    <a:lnTo>
                      <a:pt x="1193" y="1178"/>
                    </a:lnTo>
                    <a:lnTo>
                      <a:pt x="1206" y="1169"/>
                    </a:lnTo>
                    <a:lnTo>
                      <a:pt x="1206" y="1160"/>
                    </a:lnTo>
                    <a:lnTo>
                      <a:pt x="1219" y="1152"/>
                    </a:lnTo>
                    <a:lnTo>
                      <a:pt x="1231" y="1134"/>
                    </a:lnTo>
                    <a:lnTo>
                      <a:pt x="1231" y="1125"/>
                    </a:lnTo>
                    <a:lnTo>
                      <a:pt x="1244" y="1116"/>
                    </a:lnTo>
                    <a:lnTo>
                      <a:pt x="1244" y="1099"/>
                    </a:lnTo>
                    <a:lnTo>
                      <a:pt x="1257" y="1090"/>
                    </a:lnTo>
                    <a:lnTo>
                      <a:pt x="1257" y="1081"/>
                    </a:lnTo>
                    <a:lnTo>
                      <a:pt x="1269" y="1064"/>
                    </a:lnTo>
                    <a:lnTo>
                      <a:pt x="1282" y="1055"/>
                    </a:lnTo>
                    <a:lnTo>
                      <a:pt x="1282" y="1046"/>
                    </a:lnTo>
                    <a:lnTo>
                      <a:pt x="1295" y="1028"/>
                    </a:lnTo>
                    <a:lnTo>
                      <a:pt x="1295" y="1020"/>
                    </a:lnTo>
                    <a:lnTo>
                      <a:pt x="1307" y="1011"/>
                    </a:lnTo>
                    <a:lnTo>
                      <a:pt x="1307" y="993"/>
                    </a:lnTo>
                    <a:lnTo>
                      <a:pt x="1320" y="985"/>
                    </a:lnTo>
                    <a:lnTo>
                      <a:pt x="1333" y="976"/>
                    </a:lnTo>
                    <a:lnTo>
                      <a:pt x="1333" y="958"/>
                    </a:lnTo>
                    <a:lnTo>
                      <a:pt x="1346" y="949"/>
                    </a:lnTo>
                    <a:lnTo>
                      <a:pt x="1346" y="941"/>
                    </a:lnTo>
                    <a:lnTo>
                      <a:pt x="1358" y="923"/>
                    </a:lnTo>
                    <a:lnTo>
                      <a:pt x="1358" y="914"/>
                    </a:lnTo>
                    <a:lnTo>
                      <a:pt x="1371" y="905"/>
                    </a:lnTo>
                    <a:lnTo>
                      <a:pt x="1371" y="888"/>
                    </a:lnTo>
                    <a:lnTo>
                      <a:pt x="1384" y="879"/>
                    </a:lnTo>
                    <a:lnTo>
                      <a:pt x="1396" y="861"/>
                    </a:lnTo>
                    <a:lnTo>
                      <a:pt x="1396" y="853"/>
                    </a:lnTo>
                    <a:lnTo>
                      <a:pt x="1409" y="844"/>
                    </a:lnTo>
                    <a:lnTo>
                      <a:pt x="1409" y="826"/>
                    </a:lnTo>
                    <a:lnTo>
                      <a:pt x="1422" y="817"/>
                    </a:lnTo>
                    <a:lnTo>
                      <a:pt x="1422" y="809"/>
                    </a:lnTo>
                    <a:lnTo>
                      <a:pt x="1434" y="791"/>
                    </a:lnTo>
                    <a:lnTo>
                      <a:pt x="1447" y="782"/>
                    </a:lnTo>
                    <a:lnTo>
                      <a:pt x="1447" y="765"/>
                    </a:lnTo>
                    <a:lnTo>
                      <a:pt x="1460" y="756"/>
                    </a:lnTo>
                    <a:lnTo>
                      <a:pt x="1460" y="747"/>
                    </a:lnTo>
                    <a:lnTo>
                      <a:pt x="1472" y="730"/>
                    </a:lnTo>
                    <a:lnTo>
                      <a:pt x="1472" y="721"/>
                    </a:lnTo>
                    <a:lnTo>
                      <a:pt x="1485" y="703"/>
                    </a:lnTo>
                    <a:lnTo>
                      <a:pt x="1498" y="694"/>
                    </a:lnTo>
                    <a:lnTo>
                      <a:pt x="1498" y="686"/>
                    </a:lnTo>
                    <a:lnTo>
                      <a:pt x="1511" y="668"/>
                    </a:lnTo>
                    <a:lnTo>
                      <a:pt x="1511" y="659"/>
                    </a:lnTo>
                    <a:lnTo>
                      <a:pt x="1523" y="650"/>
                    </a:lnTo>
                    <a:lnTo>
                      <a:pt x="1523" y="633"/>
                    </a:lnTo>
                    <a:lnTo>
                      <a:pt x="1536" y="624"/>
                    </a:lnTo>
                    <a:lnTo>
                      <a:pt x="1536" y="615"/>
                    </a:lnTo>
                    <a:lnTo>
                      <a:pt x="1549" y="598"/>
                    </a:lnTo>
                    <a:lnTo>
                      <a:pt x="1561" y="589"/>
                    </a:lnTo>
                    <a:lnTo>
                      <a:pt x="1561" y="571"/>
                    </a:lnTo>
                    <a:lnTo>
                      <a:pt x="1574" y="562"/>
                    </a:lnTo>
                    <a:lnTo>
                      <a:pt x="1574" y="554"/>
                    </a:lnTo>
                    <a:lnTo>
                      <a:pt x="1587" y="536"/>
                    </a:lnTo>
                    <a:lnTo>
                      <a:pt x="1587" y="527"/>
                    </a:lnTo>
                    <a:lnTo>
                      <a:pt x="1599" y="518"/>
                    </a:lnTo>
                    <a:lnTo>
                      <a:pt x="1612" y="510"/>
                    </a:lnTo>
                    <a:lnTo>
                      <a:pt x="1612" y="492"/>
                    </a:lnTo>
                    <a:lnTo>
                      <a:pt x="1625" y="483"/>
                    </a:lnTo>
                    <a:lnTo>
                      <a:pt x="1625" y="475"/>
                    </a:lnTo>
                    <a:lnTo>
                      <a:pt x="1637" y="457"/>
                    </a:lnTo>
                    <a:lnTo>
                      <a:pt x="1637" y="448"/>
                    </a:lnTo>
                    <a:lnTo>
                      <a:pt x="1650" y="439"/>
                    </a:lnTo>
                    <a:lnTo>
                      <a:pt x="1663" y="431"/>
                    </a:lnTo>
                    <a:lnTo>
                      <a:pt x="1663" y="413"/>
                    </a:lnTo>
                    <a:lnTo>
                      <a:pt x="1676" y="404"/>
                    </a:lnTo>
                    <a:lnTo>
                      <a:pt x="1676" y="395"/>
                    </a:lnTo>
                    <a:lnTo>
                      <a:pt x="1688" y="387"/>
                    </a:lnTo>
                    <a:lnTo>
                      <a:pt x="1688" y="369"/>
                    </a:lnTo>
                    <a:lnTo>
                      <a:pt x="1701" y="360"/>
                    </a:lnTo>
                    <a:lnTo>
                      <a:pt x="1701" y="351"/>
                    </a:lnTo>
                    <a:lnTo>
                      <a:pt x="1714" y="343"/>
                    </a:lnTo>
                    <a:lnTo>
                      <a:pt x="1726" y="334"/>
                    </a:lnTo>
                    <a:lnTo>
                      <a:pt x="1726" y="325"/>
                    </a:lnTo>
                    <a:lnTo>
                      <a:pt x="1739" y="316"/>
                    </a:lnTo>
                    <a:lnTo>
                      <a:pt x="1739" y="299"/>
                    </a:lnTo>
                    <a:lnTo>
                      <a:pt x="1752" y="290"/>
                    </a:lnTo>
                    <a:lnTo>
                      <a:pt x="1752" y="281"/>
                    </a:lnTo>
                    <a:lnTo>
                      <a:pt x="1764" y="272"/>
                    </a:lnTo>
                    <a:lnTo>
                      <a:pt x="1777" y="263"/>
                    </a:lnTo>
                    <a:lnTo>
                      <a:pt x="1777" y="255"/>
                    </a:lnTo>
                    <a:lnTo>
                      <a:pt x="1790" y="246"/>
                    </a:lnTo>
                    <a:lnTo>
                      <a:pt x="1790" y="237"/>
                    </a:lnTo>
                    <a:lnTo>
                      <a:pt x="1802" y="228"/>
                    </a:lnTo>
                    <a:lnTo>
                      <a:pt x="1802" y="220"/>
                    </a:lnTo>
                    <a:lnTo>
                      <a:pt x="1815" y="211"/>
                    </a:lnTo>
                    <a:lnTo>
                      <a:pt x="1828" y="202"/>
                    </a:lnTo>
                    <a:lnTo>
                      <a:pt x="1828" y="193"/>
                    </a:lnTo>
                    <a:lnTo>
                      <a:pt x="1841" y="184"/>
                    </a:lnTo>
                    <a:lnTo>
                      <a:pt x="1841" y="176"/>
                    </a:lnTo>
                    <a:lnTo>
                      <a:pt x="1853" y="167"/>
                    </a:lnTo>
                    <a:lnTo>
                      <a:pt x="1853" y="158"/>
                    </a:lnTo>
                    <a:lnTo>
                      <a:pt x="1866" y="158"/>
                    </a:lnTo>
                    <a:lnTo>
                      <a:pt x="1866" y="149"/>
                    </a:lnTo>
                    <a:lnTo>
                      <a:pt x="1879" y="140"/>
                    </a:lnTo>
                    <a:lnTo>
                      <a:pt x="1891" y="132"/>
                    </a:lnTo>
                    <a:lnTo>
                      <a:pt x="1891" y="123"/>
                    </a:lnTo>
                    <a:lnTo>
                      <a:pt x="1904" y="123"/>
                    </a:lnTo>
                    <a:lnTo>
                      <a:pt x="1904" y="114"/>
                    </a:lnTo>
                    <a:lnTo>
                      <a:pt x="1917" y="105"/>
                    </a:lnTo>
                    <a:lnTo>
                      <a:pt x="1917" y="96"/>
                    </a:lnTo>
                    <a:lnTo>
                      <a:pt x="1929" y="96"/>
                    </a:lnTo>
                    <a:lnTo>
                      <a:pt x="1942" y="88"/>
                    </a:lnTo>
                    <a:lnTo>
                      <a:pt x="1942" y="79"/>
                    </a:lnTo>
                    <a:lnTo>
                      <a:pt x="1955" y="79"/>
                    </a:lnTo>
                    <a:lnTo>
                      <a:pt x="1955" y="70"/>
                    </a:lnTo>
                    <a:lnTo>
                      <a:pt x="1967" y="61"/>
                    </a:lnTo>
                    <a:lnTo>
                      <a:pt x="1980" y="52"/>
                    </a:lnTo>
                    <a:lnTo>
                      <a:pt x="1993" y="52"/>
                    </a:lnTo>
                    <a:lnTo>
                      <a:pt x="1993" y="44"/>
                    </a:lnTo>
                    <a:lnTo>
                      <a:pt x="2006" y="44"/>
                    </a:lnTo>
                    <a:lnTo>
                      <a:pt x="2006" y="35"/>
                    </a:lnTo>
                    <a:lnTo>
                      <a:pt x="2018" y="35"/>
                    </a:lnTo>
                    <a:lnTo>
                      <a:pt x="2018" y="26"/>
                    </a:lnTo>
                    <a:lnTo>
                      <a:pt x="2031" y="26"/>
                    </a:lnTo>
                    <a:lnTo>
                      <a:pt x="2044" y="17"/>
                    </a:lnTo>
                    <a:lnTo>
                      <a:pt x="2056" y="17"/>
                    </a:lnTo>
                    <a:lnTo>
                      <a:pt x="2069" y="8"/>
                    </a:lnTo>
                    <a:lnTo>
                      <a:pt x="2082" y="8"/>
                    </a:lnTo>
                    <a:lnTo>
                      <a:pt x="2094" y="0"/>
                    </a:lnTo>
                    <a:lnTo>
                      <a:pt x="2107" y="0"/>
                    </a:lnTo>
                    <a:lnTo>
                      <a:pt x="2120" y="0"/>
                    </a:lnTo>
                    <a:lnTo>
                      <a:pt x="2132" y="0"/>
                    </a:lnTo>
                    <a:lnTo>
                      <a:pt x="2145" y="0"/>
                    </a:lnTo>
                    <a:lnTo>
                      <a:pt x="2158" y="0"/>
                    </a:lnTo>
                    <a:lnTo>
                      <a:pt x="2171" y="0"/>
                    </a:lnTo>
                    <a:lnTo>
                      <a:pt x="2183" y="0"/>
                    </a:lnTo>
                    <a:lnTo>
                      <a:pt x="2196" y="0"/>
                    </a:lnTo>
                    <a:lnTo>
                      <a:pt x="2209" y="0"/>
                    </a:lnTo>
                    <a:lnTo>
                      <a:pt x="2221" y="0"/>
                    </a:lnTo>
                    <a:lnTo>
                      <a:pt x="2221" y="8"/>
                    </a:lnTo>
                    <a:lnTo>
                      <a:pt x="2234" y="8"/>
                    </a:lnTo>
                    <a:lnTo>
                      <a:pt x="2247" y="8"/>
                    </a:lnTo>
                    <a:lnTo>
                      <a:pt x="2247" y="17"/>
                    </a:lnTo>
                    <a:lnTo>
                      <a:pt x="2259" y="17"/>
                    </a:lnTo>
                    <a:lnTo>
                      <a:pt x="2272" y="17"/>
                    </a:lnTo>
                    <a:lnTo>
                      <a:pt x="2272" y="26"/>
                    </a:lnTo>
                    <a:lnTo>
                      <a:pt x="2285" y="26"/>
                    </a:lnTo>
                    <a:lnTo>
                      <a:pt x="2297" y="35"/>
                    </a:lnTo>
                    <a:lnTo>
                      <a:pt x="2310" y="44"/>
                    </a:lnTo>
                    <a:lnTo>
                      <a:pt x="2323" y="52"/>
                    </a:lnTo>
                    <a:lnTo>
                      <a:pt x="2336" y="52"/>
                    </a:lnTo>
                    <a:lnTo>
                      <a:pt x="2336" y="61"/>
                    </a:lnTo>
                    <a:lnTo>
                      <a:pt x="2348" y="61"/>
                    </a:lnTo>
                    <a:lnTo>
                      <a:pt x="2348" y="70"/>
                    </a:lnTo>
                    <a:lnTo>
                      <a:pt x="2361" y="79"/>
                    </a:lnTo>
                    <a:lnTo>
                      <a:pt x="2374" y="88"/>
                    </a:lnTo>
                    <a:lnTo>
                      <a:pt x="2386" y="96"/>
                    </a:lnTo>
                    <a:lnTo>
                      <a:pt x="2399" y="105"/>
                    </a:lnTo>
                    <a:lnTo>
                      <a:pt x="2399" y="114"/>
                    </a:lnTo>
                    <a:lnTo>
                      <a:pt x="2412" y="123"/>
                    </a:lnTo>
                    <a:lnTo>
                      <a:pt x="2424" y="132"/>
                    </a:lnTo>
                    <a:lnTo>
                      <a:pt x="2437" y="140"/>
                    </a:lnTo>
                    <a:lnTo>
                      <a:pt x="2437" y="149"/>
                    </a:lnTo>
                    <a:lnTo>
                      <a:pt x="2450" y="158"/>
                    </a:lnTo>
                    <a:lnTo>
                      <a:pt x="2462" y="167"/>
                    </a:lnTo>
                    <a:lnTo>
                      <a:pt x="2462" y="176"/>
                    </a:lnTo>
                    <a:lnTo>
                      <a:pt x="2475" y="184"/>
                    </a:lnTo>
                    <a:lnTo>
                      <a:pt x="2475" y="193"/>
                    </a:lnTo>
                    <a:lnTo>
                      <a:pt x="2488" y="202"/>
                    </a:lnTo>
                    <a:lnTo>
                      <a:pt x="2501" y="211"/>
                    </a:lnTo>
                    <a:lnTo>
                      <a:pt x="2501" y="220"/>
                    </a:lnTo>
                    <a:lnTo>
                      <a:pt x="2513" y="228"/>
                    </a:lnTo>
                    <a:lnTo>
                      <a:pt x="2513" y="237"/>
                    </a:lnTo>
                    <a:lnTo>
                      <a:pt x="2526" y="246"/>
                    </a:lnTo>
                    <a:lnTo>
                      <a:pt x="2526" y="255"/>
                    </a:lnTo>
                    <a:lnTo>
                      <a:pt x="2539" y="263"/>
                    </a:lnTo>
                    <a:lnTo>
                      <a:pt x="2551" y="272"/>
                    </a:lnTo>
                    <a:lnTo>
                      <a:pt x="2551" y="281"/>
                    </a:lnTo>
                    <a:lnTo>
                      <a:pt x="2564" y="290"/>
                    </a:lnTo>
                    <a:lnTo>
                      <a:pt x="2564" y="299"/>
                    </a:lnTo>
                    <a:lnTo>
                      <a:pt x="2577" y="316"/>
                    </a:lnTo>
                    <a:lnTo>
                      <a:pt x="2577" y="325"/>
                    </a:lnTo>
                    <a:lnTo>
                      <a:pt x="2589" y="334"/>
                    </a:lnTo>
                    <a:lnTo>
                      <a:pt x="2602" y="343"/>
                    </a:lnTo>
                    <a:lnTo>
                      <a:pt x="2602" y="351"/>
                    </a:lnTo>
                    <a:lnTo>
                      <a:pt x="2615" y="360"/>
                    </a:lnTo>
                    <a:lnTo>
                      <a:pt x="2615" y="369"/>
                    </a:lnTo>
                    <a:lnTo>
                      <a:pt x="2627" y="387"/>
                    </a:lnTo>
                    <a:lnTo>
                      <a:pt x="2627" y="395"/>
                    </a:lnTo>
                    <a:lnTo>
                      <a:pt x="2640" y="404"/>
                    </a:lnTo>
                    <a:lnTo>
                      <a:pt x="2640" y="413"/>
                    </a:lnTo>
                    <a:lnTo>
                      <a:pt x="2653" y="431"/>
                    </a:lnTo>
                    <a:lnTo>
                      <a:pt x="2666" y="439"/>
                    </a:lnTo>
                    <a:lnTo>
                      <a:pt x="2666" y="448"/>
                    </a:lnTo>
                    <a:lnTo>
                      <a:pt x="2678" y="457"/>
                    </a:lnTo>
                    <a:lnTo>
                      <a:pt x="2678" y="475"/>
                    </a:lnTo>
                    <a:lnTo>
                      <a:pt x="2691" y="483"/>
                    </a:lnTo>
                    <a:lnTo>
                      <a:pt x="2691" y="492"/>
                    </a:lnTo>
                    <a:lnTo>
                      <a:pt x="2704" y="510"/>
                    </a:lnTo>
                    <a:lnTo>
                      <a:pt x="2716" y="518"/>
                    </a:lnTo>
                    <a:lnTo>
                      <a:pt x="2716" y="527"/>
                    </a:lnTo>
                    <a:lnTo>
                      <a:pt x="2729" y="536"/>
                    </a:lnTo>
                    <a:lnTo>
                      <a:pt x="2729" y="554"/>
                    </a:lnTo>
                    <a:lnTo>
                      <a:pt x="2742" y="562"/>
                    </a:lnTo>
                    <a:lnTo>
                      <a:pt x="2742" y="571"/>
                    </a:lnTo>
                    <a:lnTo>
                      <a:pt x="2754" y="589"/>
                    </a:lnTo>
                    <a:lnTo>
                      <a:pt x="2767" y="598"/>
                    </a:lnTo>
                    <a:lnTo>
                      <a:pt x="2767" y="615"/>
                    </a:lnTo>
                    <a:lnTo>
                      <a:pt x="2780" y="624"/>
                    </a:lnTo>
                    <a:lnTo>
                      <a:pt x="2780" y="633"/>
                    </a:lnTo>
                    <a:lnTo>
                      <a:pt x="2792" y="650"/>
                    </a:lnTo>
                    <a:lnTo>
                      <a:pt x="2792" y="659"/>
                    </a:lnTo>
                    <a:lnTo>
                      <a:pt x="2805" y="668"/>
                    </a:lnTo>
                    <a:lnTo>
                      <a:pt x="2805" y="686"/>
                    </a:lnTo>
                    <a:lnTo>
                      <a:pt x="2818" y="694"/>
                    </a:lnTo>
                    <a:lnTo>
                      <a:pt x="2831" y="703"/>
                    </a:lnTo>
                    <a:lnTo>
                      <a:pt x="2831" y="721"/>
                    </a:lnTo>
                    <a:lnTo>
                      <a:pt x="2843" y="730"/>
                    </a:lnTo>
                    <a:lnTo>
                      <a:pt x="2843" y="747"/>
                    </a:lnTo>
                    <a:lnTo>
                      <a:pt x="2856" y="756"/>
                    </a:lnTo>
                    <a:lnTo>
                      <a:pt x="2856" y="765"/>
                    </a:lnTo>
                    <a:lnTo>
                      <a:pt x="2869" y="782"/>
                    </a:lnTo>
                    <a:lnTo>
                      <a:pt x="2881" y="791"/>
                    </a:lnTo>
                    <a:lnTo>
                      <a:pt x="2881" y="809"/>
                    </a:lnTo>
                    <a:lnTo>
                      <a:pt x="2894" y="817"/>
                    </a:lnTo>
                    <a:lnTo>
                      <a:pt x="2894" y="826"/>
                    </a:lnTo>
                    <a:lnTo>
                      <a:pt x="2907" y="844"/>
                    </a:lnTo>
                    <a:lnTo>
                      <a:pt x="2907" y="853"/>
                    </a:lnTo>
                    <a:lnTo>
                      <a:pt x="2919" y="861"/>
                    </a:lnTo>
                    <a:lnTo>
                      <a:pt x="2932" y="879"/>
                    </a:lnTo>
                    <a:lnTo>
                      <a:pt x="2932" y="888"/>
                    </a:lnTo>
                    <a:lnTo>
                      <a:pt x="2945" y="905"/>
                    </a:lnTo>
                    <a:lnTo>
                      <a:pt x="2945" y="914"/>
                    </a:lnTo>
                    <a:lnTo>
                      <a:pt x="2957" y="923"/>
                    </a:lnTo>
                    <a:lnTo>
                      <a:pt x="2957" y="941"/>
                    </a:lnTo>
                    <a:lnTo>
                      <a:pt x="2970" y="949"/>
                    </a:lnTo>
                    <a:lnTo>
                      <a:pt x="2970" y="958"/>
                    </a:lnTo>
                    <a:lnTo>
                      <a:pt x="2983" y="976"/>
                    </a:lnTo>
                    <a:lnTo>
                      <a:pt x="2996" y="985"/>
                    </a:lnTo>
                    <a:lnTo>
                      <a:pt x="2996" y="993"/>
                    </a:lnTo>
                    <a:lnTo>
                      <a:pt x="3008" y="1011"/>
                    </a:lnTo>
                    <a:lnTo>
                      <a:pt x="3008" y="1020"/>
                    </a:lnTo>
                    <a:lnTo>
                      <a:pt x="3021" y="1028"/>
                    </a:lnTo>
                    <a:lnTo>
                      <a:pt x="3021" y="1046"/>
                    </a:lnTo>
                    <a:lnTo>
                      <a:pt x="3034" y="1055"/>
                    </a:lnTo>
                    <a:lnTo>
                      <a:pt x="3046" y="1064"/>
                    </a:lnTo>
                    <a:lnTo>
                      <a:pt x="3046" y="1081"/>
                    </a:lnTo>
                    <a:lnTo>
                      <a:pt x="3059" y="1090"/>
                    </a:lnTo>
                    <a:lnTo>
                      <a:pt x="3059" y="1099"/>
                    </a:lnTo>
                    <a:lnTo>
                      <a:pt x="3072" y="1116"/>
                    </a:lnTo>
                    <a:lnTo>
                      <a:pt x="3072" y="1125"/>
                    </a:lnTo>
                    <a:lnTo>
                      <a:pt x="3084" y="1134"/>
                    </a:lnTo>
                    <a:lnTo>
                      <a:pt x="3097" y="1152"/>
                    </a:lnTo>
                    <a:lnTo>
                      <a:pt x="3097" y="1160"/>
                    </a:lnTo>
                    <a:lnTo>
                      <a:pt x="3110" y="1169"/>
                    </a:lnTo>
                    <a:lnTo>
                      <a:pt x="3110" y="1178"/>
                    </a:lnTo>
                    <a:lnTo>
                      <a:pt x="3122" y="1196"/>
                    </a:lnTo>
                    <a:lnTo>
                      <a:pt x="3122" y="1204"/>
                    </a:lnTo>
                    <a:lnTo>
                      <a:pt x="3135" y="1213"/>
                    </a:lnTo>
                    <a:lnTo>
                      <a:pt x="3135" y="1222"/>
                    </a:lnTo>
                    <a:lnTo>
                      <a:pt x="3148" y="1231"/>
                    </a:lnTo>
                    <a:lnTo>
                      <a:pt x="3161" y="1248"/>
                    </a:lnTo>
                    <a:lnTo>
                      <a:pt x="3161" y="1257"/>
                    </a:lnTo>
                    <a:lnTo>
                      <a:pt x="3173" y="1266"/>
                    </a:lnTo>
                    <a:lnTo>
                      <a:pt x="3173" y="1275"/>
                    </a:lnTo>
                    <a:lnTo>
                      <a:pt x="3186" y="1283"/>
                    </a:lnTo>
                    <a:lnTo>
                      <a:pt x="3186" y="1301"/>
                    </a:lnTo>
                    <a:lnTo>
                      <a:pt x="3199" y="1310"/>
                    </a:lnTo>
                    <a:lnTo>
                      <a:pt x="3211" y="1319"/>
                    </a:lnTo>
                    <a:lnTo>
                      <a:pt x="3211" y="1327"/>
                    </a:lnTo>
                    <a:lnTo>
                      <a:pt x="3224" y="1336"/>
                    </a:lnTo>
                    <a:lnTo>
                      <a:pt x="3224" y="1345"/>
                    </a:lnTo>
                    <a:lnTo>
                      <a:pt x="3237" y="1354"/>
                    </a:lnTo>
                    <a:lnTo>
                      <a:pt x="3237" y="1371"/>
                    </a:lnTo>
                    <a:lnTo>
                      <a:pt x="3249" y="1380"/>
                    </a:lnTo>
                    <a:lnTo>
                      <a:pt x="3262" y="1389"/>
                    </a:lnTo>
                    <a:lnTo>
                      <a:pt x="3262" y="1398"/>
                    </a:lnTo>
                    <a:lnTo>
                      <a:pt x="3275" y="1407"/>
                    </a:lnTo>
                    <a:lnTo>
                      <a:pt x="3275" y="1415"/>
                    </a:lnTo>
                    <a:lnTo>
                      <a:pt x="3287" y="1424"/>
                    </a:lnTo>
                    <a:lnTo>
                      <a:pt x="3287" y="1433"/>
                    </a:lnTo>
                    <a:lnTo>
                      <a:pt x="3300" y="1442"/>
                    </a:lnTo>
                    <a:lnTo>
                      <a:pt x="3300" y="1451"/>
                    </a:lnTo>
                    <a:lnTo>
                      <a:pt x="3313" y="1459"/>
                    </a:lnTo>
                    <a:lnTo>
                      <a:pt x="3326" y="1468"/>
                    </a:lnTo>
                    <a:lnTo>
                      <a:pt x="3326" y="1477"/>
                    </a:lnTo>
                    <a:lnTo>
                      <a:pt x="3338" y="1486"/>
                    </a:lnTo>
                    <a:lnTo>
                      <a:pt x="3338" y="1495"/>
                    </a:lnTo>
                    <a:lnTo>
                      <a:pt x="3351" y="1503"/>
                    </a:lnTo>
                    <a:lnTo>
                      <a:pt x="3351" y="1512"/>
                    </a:lnTo>
                    <a:lnTo>
                      <a:pt x="3364" y="1521"/>
                    </a:lnTo>
                    <a:lnTo>
                      <a:pt x="3376" y="1530"/>
                    </a:lnTo>
                    <a:lnTo>
                      <a:pt x="3376" y="1538"/>
                    </a:lnTo>
                    <a:lnTo>
                      <a:pt x="3389" y="1547"/>
                    </a:lnTo>
                    <a:lnTo>
                      <a:pt x="3402" y="1556"/>
                    </a:lnTo>
                    <a:lnTo>
                      <a:pt x="3402" y="1565"/>
                    </a:lnTo>
                    <a:lnTo>
                      <a:pt x="3414" y="1574"/>
                    </a:lnTo>
                    <a:lnTo>
                      <a:pt x="3427" y="1582"/>
                    </a:lnTo>
                    <a:lnTo>
                      <a:pt x="3427" y="1591"/>
                    </a:lnTo>
                    <a:lnTo>
                      <a:pt x="3440" y="1600"/>
                    </a:lnTo>
                    <a:lnTo>
                      <a:pt x="3452" y="1609"/>
                    </a:lnTo>
                    <a:lnTo>
                      <a:pt x="3452" y="1618"/>
                    </a:lnTo>
                    <a:lnTo>
                      <a:pt x="3465" y="1626"/>
                    </a:lnTo>
                    <a:lnTo>
                      <a:pt x="3465" y="1635"/>
                    </a:lnTo>
                    <a:lnTo>
                      <a:pt x="3478" y="1635"/>
                    </a:lnTo>
                    <a:lnTo>
                      <a:pt x="3490" y="1644"/>
                    </a:lnTo>
                    <a:lnTo>
                      <a:pt x="3490" y="1653"/>
                    </a:lnTo>
                    <a:lnTo>
                      <a:pt x="3503" y="1662"/>
                    </a:lnTo>
                    <a:lnTo>
                      <a:pt x="3516" y="1670"/>
                    </a:lnTo>
                    <a:lnTo>
                      <a:pt x="3516" y="1679"/>
                    </a:lnTo>
                    <a:lnTo>
                      <a:pt x="3529" y="1679"/>
                    </a:lnTo>
                    <a:lnTo>
                      <a:pt x="3541" y="1688"/>
                    </a:lnTo>
                    <a:lnTo>
                      <a:pt x="3541" y="1697"/>
                    </a:lnTo>
                    <a:lnTo>
                      <a:pt x="3554" y="1706"/>
                    </a:lnTo>
                    <a:lnTo>
                      <a:pt x="3567" y="1714"/>
                    </a:lnTo>
                    <a:lnTo>
                      <a:pt x="3567" y="1723"/>
                    </a:lnTo>
                    <a:lnTo>
                      <a:pt x="3579" y="1723"/>
                    </a:lnTo>
                    <a:lnTo>
                      <a:pt x="3592" y="1732"/>
                    </a:lnTo>
                    <a:lnTo>
                      <a:pt x="3605" y="1741"/>
                    </a:lnTo>
                    <a:lnTo>
                      <a:pt x="3605" y="1750"/>
                    </a:lnTo>
                    <a:lnTo>
                      <a:pt x="3617" y="1750"/>
                    </a:lnTo>
                    <a:lnTo>
                      <a:pt x="3617" y="1758"/>
                    </a:lnTo>
                    <a:lnTo>
                      <a:pt x="3630" y="1758"/>
                    </a:lnTo>
                    <a:lnTo>
                      <a:pt x="3630" y="1767"/>
                    </a:lnTo>
                    <a:lnTo>
                      <a:pt x="3643" y="1767"/>
                    </a:lnTo>
                    <a:lnTo>
                      <a:pt x="3655" y="1776"/>
                    </a:lnTo>
                    <a:lnTo>
                      <a:pt x="3655" y="1785"/>
                    </a:lnTo>
                    <a:lnTo>
                      <a:pt x="3668" y="1785"/>
                    </a:lnTo>
                    <a:lnTo>
                      <a:pt x="3668" y="1793"/>
                    </a:lnTo>
                    <a:lnTo>
                      <a:pt x="3681" y="1793"/>
                    </a:lnTo>
                    <a:lnTo>
                      <a:pt x="3681" y="1802"/>
                    </a:lnTo>
                    <a:lnTo>
                      <a:pt x="3694" y="1802"/>
                    </a:lnTo>
                    <a:lnTo>
                      <a:pt x="3706" y="1811"/>
                    </a:lnTo>
                    <a:lnTo>
                      <a:pt x="3719" y="1820"/>
                    </a:lnTo>
                    <a:lnTo>
                      <a:pt x="3732" y="1820"/>
                    </a:lnTo>
                    <a:lnTo>
                      <a:pt x="3732" y="1829"/>
                    </a:lnTo>
                    <a:lnTo>
                      <a:pt x="3744" y="1829"/>
                    </a:lnTo>
                    <a:lnTo>
                      <a:pt x="3744" y="1837"/>
                    </a:lnTo>
                    <a:lnTo>
                      <a:pt x="3757" y="1837"/>
                    </a:lnTo>
                    <a:lnTo>
                      <a:pt x="3770" y="1846"/>
                    </a:lnTo>
                    <a:lnTo>
                      <a:pt x="3782" y="1846"/>
                    </a:lnTo>
                    <a:lnTo>
                      <a:pt x="3782" y="1855"/>
                    </a:lnTo>
                    <a:lnTo>
                      <a:pt x="3795" y="1855"/>
                    </a:lnTo>
                    <a:lnTo>
                      <a:pt x="3795" y="1864"/>
                    </a:lnTo>
                    <a:lnTo>
                      <a:pt x="3808" y="1864"/>
                    </a:lnTo>
                    <a:lnTo>
                      <a:pt x="3820" y="1864"/>
                    </a:lnTo>
                    <a:lnTo>
                      <a:pt x="3820" y="1873"/>
                    </a:lnTo>
                    <a:lnTo>
                      <a:pt x="3833" y="1873"/>
                    </a:lnTo>
                    <a:lnTo>
                      <a:pt x="3846" y="1881"/>
                    </a:lnTo>
                    <a:lnTo>
                      <a:pt x="3859" y="1881"/>
                    </a:lnTo>
                    <a:lnTo>
                      <a:pt x="3871" y="1890"/>
                    </a:lnTo>
                    <a:lnTo>
                      <a:pt x="3884" y="1890"/>
                    </a:lnTo>
                    <a:lnTo>
                      <a:pt x="3884" y="1899"/>
                    </a:lnTo>
                    <a:lnTo>
                      <a:pt x="3897" y="1899"/>
                    </a:lnTo>
                    <a:lnTo>
                      <a:pt x="3909" y="1908"/>
                    </a:lnTo>
                    <a:lnTo>
                      <a:pt x="3922" y="1908"/>
                    </a:lnTo>
                    <a:lnTo>
                      <a:pt x="3935" y="1908"/>
                    </a:lnTo>
                    <a:lnTo>
                      <a:pt x="3935" y="1917"/>
                    </a:lnTo>
                    <a:lnTo>
                      <a:pt x="3947" y="1917"/>
                    </a:lnTo>
                    <a:lnTo>
                      <a:pt x="3960" y="1917"/>
                    </a:lnTo>
                    <a:lnTo>
                      <a:pt x="3960" y="1925"/>
                    </a:lnTo>
                    <a:lnTo>
                      <a:pt x="3973" y="1925"/>
                    </a:lnTo>
                    <a:lnTo>
                      <a:pt x="3985" y="1925"/>
                    </a:lnTo>
                    <a:lnTo>
                      <a:pt x="3998" y="1925"/>
                    </a:lnTo>
                    <a:lnTo>
                      <a:pt x="3998" y="1934"/>
                    </a:lnTo>
                    <a:lnTo>
                      <a:pt x="4011" y="1934"/>
                    </a:lnTo>
                    <a:lnTo>
                      <a:pt x="4024" y="1934"/>
                    </a:lnTo>
                    <a:lnTo>
                      <a:pt x="4036" y="1943"/>
                    </a:lnTo>
                    <a:lnTo>
                      <a:pt x="4049" y="1943"/>
                    </a:lnTo>
                    <a:lnTo>
                      <a:pt x="4062" y="1943"/>
                    </a:lnTo>
                    <a:lnTo>
                      <a:pt x="4074" y="1952"/>
                    </a:lnTo>
                    <a:lnTo>
                      <a:pt x="4087" y="1952"/>
                    </a:lnTo>
                    <a:lnTo>
                      <a:pt x="4100" y="1952"/>
                    </a:lnTo>
                    <a:lnTo>
                      <a:pt x="4112" y="1952"/>
                    </a:lnTo>
                    <a:lnTo>
                      <a:pt x="4112" y="1961"/>
                    </a:lnTo>
                    <a:lnTo>
                      <a:pt x="4125" y="1961"/>
                    </a:lnTo>
                    <a:lnTo>
                      <a:pt x="4138" y="1961"/>
                    </a:lnTo>
                    <a:lnTo>
                      <a:pt x="4150" y="1961"/>
                    </a:lnTo>
                    <a:lnTo>
                      <a:pt x="4163" y="1961"/>
                    </a:lnTo>
                    <a:lnTo>
                      <a:pt x="4163" y="1969"/>
                    </a:lnTo>
                    <a:lnTo>
                      <a:pt x="4176" y="1969"/>
                    </a:lnTo>
                    <a:lnTo>
                      <a:pt x="4189" y="1969"/>
                    </a:lnTo>
                    <a:lnTo>
                      <a:pt x="4201" y="1969"/>
                    </a:lnTo>
                    <a:lnTo>
                      <a:pt x="4214" y="1969"/>
                    </a:lnTo>
                    <a:lnTo>
                      <a:pt x="4227" y="1969"/>
                    </a:lnTo>
                    <a:lnTo>
                      <a:pt x="4227" y="1978"/>
                    </a:lnTo>
                    <a:lnTo>
                      <a:pt x="4239" y="1978"/>
                    </a:lnTo>
                    <a:lnTo>
                      <a:pt x="4252" y="1978"/>
                    </a:lnTo>
                    <a:lnTo>
                      <a:pt x="4265" y="1978"/>
                    </a:lnTo>
                    <a:lnTo>
                      <a:pt x="4277" y="1978"/>
                    </a:lnTo>
                    <a:lnTo>
                      <a:pt x="4290" y="1978"/>
                    </a:lnTo>
                    <a:lnTo>
                      <a:pt x="4303" y="1978"/>
                    </a:lnTo>
                  </a:path>
                </a:pathLst>
              </a:custGeom>
              <a:noFill/>
              <a:ln w="50800" cap="rnd">
                <a:solidFill>
                  <a:srgbClr val="00008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303" name="Rectangle 16"/>
              <p:cNvSpPr>
                <a:spLocks noChangeArrowheads="1"/>
              </p:cNvSpPr>
              <p:nvPr/>
            </p:nvSpPr>
            <p:spPr bwMode="auto">
              <a:xfrm>
                <a:off x="602" y="3737"/>
                <a:ext cx="213"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wrap="none" lIns="90488" tIns="44450" rIns="90488" bIns="4445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sz="1400" b="1" i="0">
                    <a:solidFill>
                      <a:srgbClr val="000000"/>
                    </a:solidFill>
                  </a:rPr>
                  <a:t>-3</a:t>
                </a:r>
              </a:p>
            </p:txBody>
          </p:sp>
          <p:sp>
            <p:nvSpPr>
              <p:cNvPr id="11304" name="Rectangle 17"/>
              <p:cNvSpPr>
                <a:spLocks noChangeArrowheads="1"/>
              </p:cNvSpPr>
              <p:nvPr/>
            </p:nvSpPr>
            <p:spPr bwMode="auto">
              <a:xfrm>
                <a:off x="1325" y="3737"/>
                <a:ext cx="213"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wrap="none" lIns="90488" tIns="44450" rIns="90488" bIns="4445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sz="1400" b="1" i="0">
                    <a:solidFill>
                      <a:srgbClr val="000000"/>
                    </a:solidFill>
                  </a:rPr>
                  <a:t>-2</a:t>
                </a:r>
              </a:p>
            </p:txBody>
          </p:sp>
          <p:sp>
            <p:nvSpPr>
              <p:cNvPr id="11305" name="Rectangle 18"/>
              <p:cNvSpPr>
                <a:spLocks noChangeArrowheads="1"/>
              </p:cNvSpPr>
              <p:nvPr/>
            </p:nvSpPr>
            <p:spPr bwMode="auto">
              <a:xfrm>
                <a:off x="2036" y="3737"/>
                <a:ext cx="213"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wrap="none" lIns="90488" tIns="44450" rIns="90488" bIns="4445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sz="1400" b="1" i="0">
                    <a:solidFill>
                      <a:srgbClr val="000000"/>
                    </a:solidFill>
                  </a:rPr>
                  <a:t>-1</a:t>
                </a:r>
              </a:p>
            </p:txBody>
          </p:sp>
          <p:sp>
            <p:nvSpPr>
              <p:cNvPr id="11306" name="Rectangle 19"/>
              <p:cNvSpPr>
                <a:spLocks noChangeArrowheads="1"/>
              </p:cNvSpPr>
              <p:nvPr/>
            </p:nvSpPr>
            <p:spPr bwMode="auto">
              <a:xfrm>
                <a:off x="2785" y="3737"/>
                <a:ext cx="176"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wrap="none" lIns="90488" tIns="44450" rIns="90488" bIns="4445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sz="1400" b="1" i="0">
                    <a:solidFill>
                      <a:srgbClr val="000000"/>
                    </a:solidFill>
                  </a:rPr>
                  <a:t>0</a:t>
                </a:r>
              </a:p>
            </p:txBody>
          </p:sp>
          <p:sp>
            <p:nvSpPr>
              <p:cNvPr id="11307" name="Rectangle 20"/>
              <p:cNvSpPr>
                <a:spLocks noChangeArrowheads="1"/>
              </p:cNvSpPr>
              <p:nvPr/>
            </p:nvSpPr>
            <p:spPr bwMode="auto">
              <a:xfrm>
                <a:off x="3496" y="3737"/>
                <a:ext cx="176"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wrap="none" lIns="90488" tIns="44450" rIns="90488" bIns="4445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sz="1400" b="1" i="0">
                    <a:solidFill>
                      <a:srgbClr val="000000"/>
                    </a:solidFill>
                  </a:rPr>
                  <a:t>1</a:t>
                </a:r>
              </a:p>
            </p:txBody>
          </p:sp>
          <p:sp>
            <p:nvSpPr>
              <p:cNvPr id="11308" name="Rectangle 21"/>
              <p:cNvSpPr>
                <a:spLocks noChangeArrowheads="1"/>
              </p:cNvSpPr>
              <p:nvPr/>
            </p:nvSpPr>
            <p:spPr bwMode="auto">
              <a:xfrm>
                <a:off x="4219" y="3737"/>
                <a:ext cx="176"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wrap="none" lIns="90488" tIns="44450" rIns="90488" bIns="4445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sz="1400" b="1" i="0">
                    <a:solidFill>
                      <a:srgbClr val="000000"/>
                    </a:solidFill>
                  </a:rPr>
                  <a:t>2</a:t>
                </a:r>
              </a:p>
            </p:txBody>
          </p:sp>
          <p:sp>
            <p:nvSpPr>
              <p:cNvPr id="11309" name="Rectangle 22"/>
              <p:cNvSpPr>
                <a:spLocks noChangeArrowheads="1"/>
              </p:cNvSpPr>
              <p:nvPr/>
            </p:nvSpPr>
            <p:spPr bwMode="auto">
              <a:xfrm>
                <a:off x="4930" y="3737"/>
                <a:ext cx="176"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wrap="none" lIns="90488" tIns="44450" rIns="90488" bIns="4445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sz="1400" b="1" i="0">
                    <a:solidFill>
                      <a:srgbClr val="000000"/>
                    </a:solidFill>
                  </a:rPr>
                  <a:t>3</a:t>
                </a:r>
              </a:p>
            </p:txBody>
          </p:sp>
        </p:grpSp>
        <p:grpSp>
          <p:nvGrpSpPr>
            <p:cNvPr id="11276" name="Group 23"/>
            <p:cNvGrpSpPr>
              <a:grpSpLocks/>
            </p:cNvGrpSpPr>
            <p:nvPr/>
          </p:nvGrpSpPr>
          <p:grpSpPr bwMode="auto">
            <a:xfrm>
              <a:off x="3483" y="1758"/>
              <a:ext cx="600" cy="403"/>
              <a:chOff x="3483" y="1758"/>
              <a:chExt cx="600" cy="403"/>
            </a:xfrm>
          </p:grpSpPr>
          <p:sp>
            <p:nvSpPr>
              <p:cNvPr id="11289" name="Arc 24"/>
              <p:cNvSpPr>
                <a:spLocks/>
              </p:cNvSpPr>
              <p:nvPr/>
            </p:nvSpPr>
            <p:spPr bwMode="auto">
              <a:xfrm>
                <a:off x="3483" y="1973"/>
                <a:ext cx="332" cy="18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600"/>
                    </a:moveTo>
                    <a:cubicBezTo>
                      <a:pt x="0" y="9696"/>
                      <a:pt x="9631" y="35"/>
                      <a:pt x="21535" y="0"/>
                    </a:cubicBezTo>
                  </a:path>
                  <a:path w="21600" h="21600" stroke="0" extrusionOk="0">
                    <a:moveTo>
                      <a:pt x="0" y="21600"/>
                    </a:moveTo>
                    <a:cubicBezTo>
                      <a:pt x="0" y="9696"/>
                      <a:pt x="9631" y="35"/>
                      <a:pt x="21535" y="0"/>
                    </a:cubicBezTo>
                    <a:lnTo>
                      <a:pt x="21600" y="21600"/>
                    </a:lnTo>
                    <a:lnTo>
                      <a:pt x="0" y="21600"/>
                    </a:lnTo>
                    <a:close/>
                  </a:path>
                </a:pathLst>
              </a:custGeom>
              <a:noFill/>
              <a:ln w="12700" cap="rnd">
                <a:solidFill>
                  <a:schemeClr val="bg2"/>
                </a:solidFill>
                <a:round/>
                <a:headEnd type="triangle" w="med" len="me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1290" name="Rectangle 25"/>
              <p:cNvSpPr>
                <a:spLocks noChangeArrowheads="1"/>
              </p:cNvSpPr>
              <p:nvPr/>
            </p:nvSpPr>
            <p:spPr bwMode="auto">
              <a:xfrm>
                <a:off x="3813" y="1758"/>
                <a:ext cx="270"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wrap="none" lIns="90488" tIns="44450" rIns="90488" bIns="4445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i="0">
                    <a:solidFill>
                      <a:schemeClr val="bg2"/>
                    </a:solidFill>
                    <a:latin typeface="Times New Roman" pitchFamily="18" charset="0"/>
                  </a:rPr>
                  <a:t>Z</a:t>
                </a:r>
              </a:p>
            </p:txBody>
          </p:sp>
        </p:grpSp>
        <p:grpSp>
          <p:nvGrpSpPr>
            <p:cNvPr id="11277" name="Group 26"/>
            <p:cNvGrpSpPr>
              <a:grpSpLocks/>
            </p:cNvGrpSpPr>
            <p:nvPr/>
          </p:nvGrpSpPr>
          <p:grpSpPr bwMode="auto">
            <a:xfrm>
              <a:off x="3509" y="2286"/>
              <a:ext cx="507" cy="403"/>
              <a:chOff x="3509" y="2286"/>
              <a:chExt cx="507" cy="403"/>
            </a:xfrm>
          </p:grpSpPr>
          <p:sp>
            <p:nvSpPr>
              <p:cNvPr id="11287" name="Rectangle 27"/>
              <p:cNvSpPr>
                <a:spLocks noChangeArrowheads="1"/>
              </p:cNvSpPr>
              <p:nvPr/>
            </p:nvSpPr>
            <p:spPr bwMode="auto">
              <a:xfrm>
                <a:off x="3831" y="2286"/>
                <a:ext cx="185"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wrap="none" lIns="90488" tIns="44450" rIns="90488" bIns="4445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i="0">
                    <a:solidFill>
                      <a:schemeClr val="bg2"/>
                    </a:solidFill>
                    <a:latin typeface="Times New Roman" pitchFamily="18" charset="0"/>
                  </a:rPr>
                  <a:t>t</a:t>
                </a:r>
              </a:p>
            </p:txBody>
          </p:sp>
          <p:sp>
            <p:nvSpPr>
              <p:cNvPr id="11288" name="Arc 28"/>
              <p:cNvSpPr>
                <a:spLocks/>
              </p:cNvSpPr>
              <p:nvPr/>
            </p:nvSpPr>
            <p:spPr bwMode="auto">
              <a:xfrm>
                <a:off x="3509" y="2501"/>
                <a:ext cx="284" cy="18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600"/>
                    </a:moveTo>
                    <a:cubicBezTo>
                      <a:pt x="0" y="9700"/>
                      <a:pt x="9624" y="42"/>
                      <a:pt x="21524" y="0"/>
                    </a:cubicBezTo>
                  </a:path>
                  <a:path w="21600" h="21600" stroke="0" extrusionOk="0">
                    <a:moveTo>
                      <a:pt x="0" y="21600"/>
                    </a:moveTo>
                    <a:cubicBezTo>
                      <a:pt x="0" y="9700"/>
                      <a:pt x="9624" y="42"/>
                      <a:pt x="21524" y="0"/>
                    </a:cubicBezTo>
                    <a:lnTo>
                      <a:pt x="21600" y="21600"/>
                    </a:lnTo>
                    <a:lnTo>
                      <a:pt x="0" y="21600"/>
                    </a:lnTo>
                    <a:close/>
                  </a:path>
                </a:pathLst>
              </a:custGeom>
              <a:noFill/>
              <a:ln w="12700" cap="rnd">
                <a:solidFill>
                  <a:schemeClr val="bg2"/>
                </a:solidFill>
                <a:round/>
                <a:headEnd type="triangle" w="med" len="me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sp>
          <p:nvSpPr>
            <p:cNvPr id="11278" name="Line 29"/>
            <p:cNvSpPr>
              <a:spLocks noChangeShapeType="1"/>
            </p:cNvSpPr>
            <p:nvPr/>
          </p:nvSpPr>
          <p:spPr bwMode="auto">
            <a:xfrm>
              <a:off x="2891" y="1688"/>
              <a:ext cx="0" cy="2000"/>
            </a:xfrm>
            <a:prstGeom prst="line">
              <a:avLst/>
            </a:prstGeom>
            <a:noFill/>
            <a:ln w="25400">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279" name="Rectangle 30"/>
            <p:cNvSpPr>
              <a:spLocks noChangeArrowheads="1"/>
            </p:cNvSpPr>
            <p:nvPr/>
          </p:nvSpPr>
          <p:spPr bwMode="auto">
            <a:xfrm>
              <a:off x="624" y="3748"/>
              <a:ext cx="4512" cy="192"/>
            </a:xfrm>
            <a:prstGeom prst="rect">
              <a:avLst/>
            </a:prstGeom>
            <a:solidFill>
              <a:schemeClr val="tx1"/>
            </a:solidFill>
            <a:ln>
              <a:noFill/>
            </a:ln>
            <a:extLst>
              <a:ext uri="{91240B29-F687-4F45-9708-019B960494DF}">
                <a14:hiddenLine xmlns:a14="http://schemas.microsoft.com/office/drawing/2010/main" w="76200">
                  <a:solidFill>
                    <a:srgbClr val="000000"/>
                  </a:solidFill>
                  <a:miter lim="800000"/>
                  <a:headEnd/>
                  <a:tailEnd/>
                </a14:hiddenLine>
              </a:ext>
            </a:extLst>
          </p:spPr>
          <p:txBody>
            <a:bodyPr wrap="none" anchor="ct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endParaRPr lang="en-US" altLang="en-US" sz="2400"/>
            </a:p>
          </p:txBody>
        </p:sp>
        <p:sp>
          <p:nvSpPr>
            <p:cNvPr id="11280" name="Rectangle 31"/>
            <p:cNvSpPr>
              <a:spLocks noChangeArrowheads="1"/>
            </p:cNvSpPr>
            <p:nvPr/>
          </p:nvSpPr>
          <p:spPr bwMode="auto">
            <a:xfrm>
              <a:off x="2779" y="3655"/>
              <a:ext cx="242"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wrap="none" lIns="90488" tIns="44450" rIns="90488" bIns="4445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i="0">
                  <a:solidFill>
                    <a:schemeClr val="bg2"/>
                  </a:solidFill>
                  <a:latin typeface="Times New Roman" pitchFamily="18" charset="0"/>
                </a:rPr>
                <a:t>0</a:t>
              </a:r>
            </a:p>
          </p:txBody>
        </p:sp>
        <p:sp>
          <p:nvSpPr>
            <p:cNvPr id="11281" name="Rectangle 32"/>
            <p:cNvSpPr>
              <a:spLocks noChangeArrowheads="1"/>
            </p:cNvSpPr>
            <p:nvPr/>
          </p:nvSpPr>
          <p:spPr bwMode="auto">
            <a:xfrm>
              <a:off x="3473" y="3655"/>
              <a:ext cx="242"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wrap="none" lIns="90488" tIns="44450" rIns="90488" bIns="4445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i="0">
                  <a:solidFill>
                    <a:schemeClr val="bg2"/>
                  </a:solidFill>
                  <a:latin typeface="Times New Roman" pitchFamily="18" charset="0"/>
                </a:rPr>
                <a:t>1</a:t>
              </a:r>
            </a:p>
          </p:txBody>
        </p:sp>
        <p:sp>
          <p:nvSpPr>
            <p:cNvPr id="11282" name="Rectangle 33"/>
            <p:cNvSpPr>
              <a:spLocks noChangeArrowheads="1"/>
            </p:cNvSpPr>
            <p:nvPr/>
          </p:nvSpPr>
          <p:spPr bwMode="auto">
            <a:xfrm>
              <a:off x="4200" y="3655"/>
              <a:ext cx="242"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wrap="none" lIns="90488" tIns="44450" rIns="90488" bIns="4445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i="0">
                  <a:solidFill>
                    <a:schemeClr val="bg2"/>
                  </a:solidFill>
                  <a:latin typeface="Times New Roman" pitchFamily="18" charset="0"/>
                </a:rPr>
                <a:t>2</a:t>
              </a:r>
            </a:p>
          </p:txBody>
        </p:sp>
        <p:sp>
          <p:nvSpPr>
            <p:cNvPr id="11283" name="Rectangle 34"/>
            <p:cNvSpPr>
              <a:spLocks noChangeArrowheads="1"/>
            </p:cNvSpPr>
            <p:nvPr/>
          </p:nvSpPr>
          <p:spPr bwMode="auto">
            <a:xfrm>
              <a:off x="4912" y="3655"/>
              <a:ext cx="242"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wrap="none" lIns="90488" tIns="44450" rIns="90488" bIns="4445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i="0">
                  <a:solidFill>
                    <a:schemeClr val="bg2"/>
                  </a:solidFill>
                  <a:latin typeface="Times New Roman" pitchFamily="18" charset="0"/>
                </a:rPr>
                <a:t>3</a:t>
              </a:r>
            </a:p>
          </p:txBody>
        </p:sp>
        <p:sp>
          <p:nvSpPr>
            <p:cNvPr id="11284" name="Rectangle 35"/>
            <p:cNvSpPr>
              <a:spLocks noChangeArrowheads="1"/>
            </p:cNvSpPr>
            <p:nvPr/>
          </p:nvSpPr>
          <p:spPr bwMode="auto">
            <a:xfrm>
              <a:off x="1975" y="3655"/>
              <a:ext cx="327"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wrap="none" lIns="90488" tIns="44450" rIns="90488" bIns="4445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i="0">
                  <a:solidFill>
                    <a:schemeClr val="bg2"/>
                  </a:solidFill>
                  <a:latin typeface="Times New Roman" pitchFamily="18" charset="0"/>
                </a:rPr>
                <a:t>-1</a:t>
              </a:r>
            </a:p>
          </p:txBody>
        </p:sp>
        <p:sp>
          <p:nvSpPr>
            <p:cNvPr id="11285" name="Rectangle 36"/>
            <p:cNvSpPr>
              <a:spLocks noChangeArrowheads="1"/>
            </p:cNvSpPr>
            <p:nvPr/>
          </p:nvSpPr>
          <p:spPr bwMode="auto">
            <a:xfrm>
              <a:off x="1248" y="3655"/>
              <a:ext cx="327"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wrap="none" lIns="90488" tIns="44450" rIns="90488" bIns="4445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i="0">
                  <a:solidFill>
                    <a:schemeClr val="bg2"/>
                  </a:solidFill>
                  <a:latin typeface="Times New Roman" pitchFamily="18" charset="0"/>
                </a:rPr>
                <a:t>-2</a:t>
              </a:r>
            </a:p>
          </p:txBody>
        </p:sp>
        <p:sp>
          <p:nvSpPr>
            <p:cNvPr id="11286" name="Rectangle 37"/>
            <p:cNvSpPr>
              <a:spLocks noChangeArrowheads="1"/>
            </p:cNvSpPr>
            <p:nvPr/>
          </p:nvSpPr>
          <p:spPr bwMode="auto">
            <a:xfrm>
              <a:off x="536" y="3655"/>
              <a:ext cx="327"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wrap="none" lIns="90488" tIns="44450" rIns="90488" bIns="4445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i="0">
                  <a:solidFill>
                    <a:schemeClr val="bg2"/>
                  </a:solidFill>
                  <a:latin typeface="Times New Roman" pitchFamily="18" charset="0"/>
                </a:rPr>
                <a:t>-3</a:t>
              </a:r>
            </a:p>
          </p:txBody>
        </p:sp>
      </p:grpSp>
      <p:graphicFrame>
        <p:nvGraphicFramePr>
          <p:cNvPr id="11274" name="Object 40">
            <a:hlinkClick r:id="" action="ppaction://ole?verb=0"/>
          </p:cNvPr>
          <p:cNvGraphicFramePr>
            <a:graphicFrameLocks/>
          </p:cNvGraphicFramePr>
          <p:nvPr>
            <p:extLst>
              <p:ext uri="{D42A27DB-BD31-4B8C-83A1-F6EECF244321}">
                <p14:modId xmlns:p14="http://schemas.microsoft.com/office/powerpoint/2010/main" val="388748880"/>
              </p:ext>
            </p:extLst>
          </p:nvPr>
        </p:nvGraphicFramePr>
        <p:xfrm>
          <a:off x="1250950" y="1004888"/>
          <a:ext cx="1635125" cy="1266825"/>
        </p:xfrm>
        <a:graphic>
          <a:graphicData uri="http://schemas.openxmlformats.org/presentationml/2006/ole">
            <mc:AlternateContent xmlns:mc="http://schemas.openxmlformats.org/markup-compatibility/2006">
              <mc:Choice xmlns:v="urn:schemas-microsoft-com:vml" Requires="v">
                <p:oleObj spid="_x0000_s11349" name="Equation" r:id="rId3" imgW="660240" imgH="533160" progId="Equation.DSMT4">
                  <p:embed/>
                </p:oleObj>
              </mc:Choice>
              <mc:Fallback>
                <p:oleObj name="Equation" r:id="rId3" imgW="660240" imgH="533160" progId="Equation.DSMT4">
                  <p:embed/>
                  <p:pic>
                    <p:nvPicPr>
                      <p:cNvPr id="0" name="Object 40"/>
                      <p:cNvPicPr>
                        <a:picLocks noChangeArrowheads="1"/>
                      </p:cNvPicPr>
                      <p:nvPr/>
                    </p:nvPicPr>
                    <p:blipFill>
                      <a:blip r:embed="rId4"/>
                      <a:srcRect/>
                      <a:stretch>
                        <a:fillRect/>
                      </a:stretch>
                    </p:blipFill>
                    <p:spPr bwMode="auto">
                      <a:xfrm>
                        <a:off x="1250950" y="1004888"/>
                        <a:ext cx="1635125" cy="1266825"/>
                      </a:xfrm>
                      <a:prstGeom prst="rect">
                        <a:avLst/>
                      </a:prstGeom>
                      <a:solidFill>
                        <a:schemeClr val="bg1"/>
                      </a:solidFill>
                      <a:ln w="19050">
                        <a:solidFill>
                          <a:srgbClr val="FF0000"/>
                        </a:solidFill>
                      </a:ln>
                      <a:effectLst/>
                    </p:spPr>
                  </p:pic>
                </p:oleObj>
              </mc:Fallback>
            </mc:AlternateContent>
          </a:graphicData>
        </a:graphic>
      </p:graphicFrame>
      <p:graphicFrame>
        <p:nvGraphicFramePr>
          <p:cNvPr id="11272" name="Object 43">
            <a:hlinkClick r:id="" action="ppaction://ole?verb=0"/>
          </p:cNvPr>
          <p:cNvGraphicFramePr>
            <a:graphicFrameLocks/>
          </p:cNvGraphicFramePr>
          <p:nvPr>
            <p:extLst>
              <p:ext uri="{D42A27DB-BD31-4B8C-83A1-F6EECF244321}">
                <p14:modId xmlns:p14="http://schemas.microsoft.com/office/powerpoint/2010/main" val="2143849171"/>
              </p:ext>
            </p:extLst>
          </p:nvPr>
        </p:nvGraphicFramePr>
        <p:xfrm>
          <a:off x="5246688" y="860425"/>
          <a:ext cx="1673225" cy="1384300"/>
        </p:xfrm>
        <a:graphic>
          <a:graphicData uri="http://schemas.openxmlformats.org/presentationml/2006/ole">
            <mc:AlternateContent xmlns:mc="http://schemas.openxmlformats.org/markup-compatibility/2006">
              <mc:Choice xmlns:v="urn:schemas-microsoft-com:vml" Requires="v">
                <p:oleObj spid="_x0000_s11350" name="Equation" r:id="rId5" imgW="634680" imgH="533160" progId="Equation.DSMT4">
                  <p:embed/>
                </p:oleObj>
              </mc:Choice>
              <mc:Fallback>
                <p:oleObj name="Equation" r:id="rId5" imgW="634680" imgH="533160" progId="Equation.DSMT4">
                  <p:embed/>
                  <p:pic>
                    <p:nvPicPr>
                      <p:cNvPr id="0" name="Object 43"/>
                      <p:cNvPicPr>
                        <a:picLocks noChangeArrowheads="1"/>
                      </p:cNvPicPr>
                      <p:nvPr/>
                    </p:nvPicPr>
                    <p:blipFill>
                      <a:blip r:embed="rId6"/>
                      <a:srcRect/>
                      <a:stretch>
                        <a:fillRect/>
                      </a:stretch>
                    </p:blipFill>
                    <p:spPr bwMode="auto">
                      <a:xfrm>
                        <a:off x="5246688" y="860425"/>
                        <a:ext cx="1673225" cy="1384300"/>
                      </a:xfrm>
                      <a:prstGeom prst="rect">
                        <a:avLst/>
                      </a:prstGeom>
                      <a:solidFill>
                        <a:schemeClr val="bg1"/>
                      </a:solidFill>
                      <a:ln w="19050">
                        <a:solidFill>
                          <a:srgbClr val="FF0000"/>
                        </a:solidFill>
                      </a:ln>
                      <a:effectLst/>
                    </p:spPr>
                  </p:pic>
                </p:oleObj>
              </mc:Fallback>
            </mc:AlternateContent>
          </a:graphicData>
        </a:graphic>
      </p:graphicFrame>
      <p:sp>
        <p:nvSpPr>
          <p:cNvPr id="11269" name="Rectangle 44"/>
          <p:cNvSpPr>
            <a:spLocks noGrp="1" noChangeArrowheads="1"/>
          </p:cNvSpPr>
          <p:nvPr>
            <p:ph type="title"/>
          </p:nvPr>
        </p:nvSpPr>
        <p:spPr>
          <a:xfrm>
            <a:off x="533400" y="0"/>
            <a:ext cx="8001000" cy="990600"/>
          </a:xfrm>
          <a:noFill/>
        </p:spPr>
        <p:txBody>
          <a:bodyPr/>
          <a:lstStyle/>
          <a:p>
            <a:r>
              <a:rPr lang="en-US" altLang="en-US" dirty="0" smtClean="0">
                <a:solidFill>
                  <a:srgbClr val="FF0000"/>
                </a:solidFill>
              </a:rPr>
              <a:t>Student’s t Distribution </a:t>
            </a:r>
          </a:p>
        </p:txBody>
      </p:sp>
      <p:sp>
        <p:nvSpPr>
          <p:cNvPr id="11270" name="Rectangle 45"/>
          <p:cNvSpPr>
            <a:spLocks noChangeArrowheads="1"/>
          </p:cNvSpPr>
          <p:nvPr/>
        </p:nvSpPr>
        <p:spPr bwMode="auto">
          <a:xfrm>
            <a:off x="6642100" y="6542088"/>
            <a:ext cx="1746250"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wrap="none" lIns="90488" tIns="44450" rIns="90488" bIns="4445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sz="1400" i="0">
                <a:latin typeface="Times New Roman" pitchFamily="18" charset="0"/>
              </a:rPr>
              <a:t>Figure 11.3, Page 372</a:t>
            </a:r>
          </a:p>
        </p:txBody>
      </p:sp>
    </p:spTree>
  </p:cSld>
  <p:clrMapOvr>
    <a:masterClrMapping/>
  </p:clrMapOvr>
  <p:transition>
    <p:wipe dir="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290" name="Group 2"/>
          <p:cNvGrpSpPr>
            <a:grpSpLocks/>
          </p:cNvGrpSpPr>
          <p:nvPr/>
        </p:nvGrpSpPr>
        <p:grpSpPr bwMode="auto">
          <a:xfrm>
            <a:off x="766763" y="2473325"/>
            <a:ext cx="7600950" cy="3925888"/>
            <a:chOff x="483" y="1558"/>
            <a:chExt cx="4788" cy="2473"/>
          </a:xfrm>
        </p:grpSpPr>
        <p:grpSp>
          <p:nvGrpSpPr>
            <p:cNvPr id="12301" name="Group 3"/>
            <p:cNvGrpSpPr>
              <a:grpSpLocks/>
            </p:cNvGrpSpPr>
            <p:nvPr/>
          </p:nvGrpSpPr>
          <p:grpSpPr bwMode="auto">
            <a:xfrm>
              <a:off x="483" y="1558"/>
              <a:ext cx="4788" cy="2473"/>
              <a:chOff x="483" y="1558"/>
              <a:chExt cx="4788" cy="2473"/>
            </a:xfrm>
          </p:grpSpPr>
          <p:sp>
            <p:nvSpPr>
              <p:cNvPr id="12317" name="Rectangle 4"/>
              <p:cNvSpPr>
                <a:spLocks noChangeArrowheads="1"/>
              </p:cNvSpPr>
              <p:nvPr/>
            </p:nvSpPr>
            <p:spPr bwMode="auto">
              <a:xfrm>
                <a:off x="483" y="1558"/>
                <a:ext cx="4788" cy="2473"/>
              </a:xfrm>
              <a:prstGeom prst="rect">
                <a:avLst/>
              </a:prstGeom>
              <a:solidFill>
                <a:srgbClr val="FFFFFF"/>
              </a:solidFill>
              <a:ln w="127000">
                <a:solidFill>
                  <a:schemeClr val="tx2"/>
                </a:solidFill>
                <a:miter lim="800000"/>
                <a:headEnd/>
                <a:tailEnd/>
              </a:ln>
            </p:spPr>
            <p:txBody>
              <a:bodyPr wrap="none" anchor="ct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endParaRPr lang="en-US" altLang="en-US" sz="2400"/>
              </a:p>
            </p:txBody>
          </p:sp>
          <p:sp>
            <p:nvSpPr>
              <p:cNvPr id="12318" name="Freeform 5"/>
              <p:cNvSpPr>
                <a:spLocks/>
              </p:cNvSpPr>
              <p:nvPr/>
            </p:nvSpPr>
            <p:spPr bwMode="auto">
              <a:xfrm>
                <a:off x="722" y="1650"/>
                <a:ext cx="4298" cy="2009"/>
              </a:xfrm>
              <a:custGeom>
                <a:avLst/>
                <a:gdLst>
                  <a:gd name="T0" fmla="*/ 0 w 4298"/>
                  <a:gd name="T1" fmla="*/ 0 h 2009"/>
                  <a:gd name="T2" fmla="*/ 4297 w 4298"/>
                  <a:gd name="T3" fmla="*/ 0 h 2009"/>
                  <a:gd name="T4" fmla="*/ 4297 w 4298"/>
                  <a:gd name="T5" fmla="*/ 2008 h 2009"/>
                  <a:gd name="T6" fmla="*/ 0 w 4298"/>
                  <a:gd name="T7" fmla="*/ 2008 h 2009"/>
                  <a:gd name="T8" fmla="*/ 0 w 4298"/>
                  <a:gd name="T9" fmla="*/ 0 h 2009"/>
                  <a:gd name="T10" fmla="*/ 0 60000 65536"/>
                  <a:gd name="T11" fmla="*/ 0 60000 65536"/>
                  <a:gd name="T12" fmla="*/ 0 60000 65536"/>
                  <a:gd name="T13" fmla="*/ 0 60000 65536"/>
                  <a:gd name="T14" fmla="*/ 0 60000 65536"/>
                  <a:gd name="T15" fmla="*/ 0 w 4298"/>
                  <a:gd name="T16" fmla="*/ 0 h 2009"/>
                  <a:gd name="T17" fmla="*/ 4298 w 4298"/>
                  <a:gd name="T18" fmla="*/ 2009 h 2009"/>
                </a:gdLst>
                <a:ahLst/>
                <a:cxnLst>
                  <a:cxn ang="T10">
                    <a:pos x="T0" y="T1"/>
                  </a:cxn>
                  <a:cxn ang="T11">
                    <a:pos x="T2" y="T3"/>
                  </a:cxn>
                  <a:cxn ang="T12">
                    <a:pos x="T4" y="T5"/>
                  </a:cxn>
                  <a:cxn ang="T13">
                    <a:pos x="T6" y="T7"/>
                  </a:cxn>
                  <a:cxn ang="T14">
                    <a:pos x="T8" y="T9"/>
                  </a:cxn>
                </a:cxnLst>
                <a:rect l="T15" t="T16" r="T17" b="T18"/>
                <a:pathLst>
                  <a:path w="4298" h="2009">
                    <a:moveTo>
                      <a:pt x="0" y="0"/>
                    </a:moveTo>
                    <a:lnTo>
                      <a:pt x="4297" y="0"/>
                    </a:lnTo>
                    <a:lnTo>
                      <a:pt x="4297" y="2008"/>
                    </a:lnTo>
                    <a:lnTo>
                      <a:pt x="0" y="2008"/>
                    </a:lnTo>
                    <a:lnTo>
                      <a:pt x="0" y="0"/>
                    </a:lnTo>
                  </a:path>
                </a:pathLst>
              </a:custGeom>
              <a:solidFill>
                <a:srgbClr val="FFFFFF"/>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12319" name="Line 6"/>
              <p:cNvSpPr>
                <a:spLocks noChangeShapeType="1"/>
              </p:cNvSpPr>
              <p:nvPr/>
            </p:nvSpPr>
            <p:spPr bwMode="auto">
              <a:xfrm>
                <a:off x="726" y="3664"/>
                <a:ext cx="4295"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2320" name="Line 7"/>
              <p:cNvSpPr>
                <a:spLocks noChangeShapeType="1"/>
              </p:cNvSpPr>
              <p:nvPr/>
            </p:nvSpPr>
            <p:spPr bwMode="auto">
              <a:xfrm flipV="1">
                <a:off x="722" y="3624"/>
                <a:ext cx="0" cy="79"/>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2321" name="Line 8"/>
              <p:cNvSpPr>
                <a:spLocks noChangeShapeType="1"/>
              </p:cNvSpPr>
              <p:nvPr/>
            </p:nvSpPr>
            <p:spPr bwMode="auto">
              <a:xfrm flipV="1">
                <a:off x="1446" y="3624"/>
                <a:ext cx="0" cy="79"/>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2322" name="Line 9"/>
              <p:cNvSpPr>
                <a:spLocks noChangeShapeType="1"/>
              </p:cNvSpPr>
              <p:nvPr/>
            </p:nvSpPr>
            <p:spPr bwMode="auto">
              <a:xfrm flipV="1">
                <a:off x="2156" y="3624"/>
                <a:ext cx="0" cy="79"/>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2323" name="Line 10"/>
              <p:cNvSpPr>
                <a:spLocks noChangeShapeType="1"/>
              </p:cNvSpPr>
              <p:nvPr/>
            </p:nvSpPr>
            <p:spPr bwMode="auto">
              <a:xfrm flipV="1">
                <a:off x="2880" y="3624"/>
                <a:ext cx="0" cy="79"/>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2324" name="Line 11"/>
              <p:cNvSpPr>
                <a:spLocks noChangeShapeType="1"/>
              </p:cNvSpPr>
              <p:nvPr/>
            </p:nvSpPr>
            <p:spPr bwMode="auto">
              <a:xfrm flipV="1">
                <a:off x="3591" y="3624"/>
                <a:ext cx="0" cy="79"/>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2325" name="Line 12"/>
              <p:cNvSpPr>
                <a:spLocks noChangeShapeType="1"/>
              </p:cNvSpPr>
              <p:nvPr/>
            </p:nvSpPr>
            <p:spPr bwMode="auto">
              <a:xfrm flipV="1">
                <a:off x="4314" y="3624"/>
                <a:ext cx="0" cy="79"/>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2326" name="Line 13"/>
              <p:cNvSpPr>
                <a:spLocks noChangeShapeType="1"/>
              </p:cNvSpPr>
              <p:nvPr/>
            </p:nvSpPr>
            <p:spPr bwMode="auto">
              <a:xfrm flipV="1">
                <a:off x="5025" y="3624"/>
                <a:ext cx="0" cy="79"/>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2327" name="Freeform 14"/>
              <p:cNvSpPr>
                <a:spLocks/>
              </p:cNvSpPr>
              <p:nvPr/>
            </p:nvSpPr>
            <p:spPr bwMode="auto">
              <a:xfrm>
                <a:off x="722" y="2063"/>
                <a:ext cx="4304" cy="1443"/>
              </a:xfrm>
              <a:custGeom>
                <a:avLst/>
                <a:gdLst>
                  <a:gd name="T0" fmla="*/ 76 w 4304"/>
                  <a:gd name="T1" fmla="*/ 1433 h 1443"/>
                  <a:gd name="T2" fmla="*/ 165 w 4304"/>
                  <a:gd name="T3" fmla="*/ 1416 h 1443"/>
                  <a:gd name="T4" fmla="*/ 267 w 4304"/>
                  <a:gd name="T5" fmla="*/ 1398 h 1443"/>
                  <a:gd name="T6" fmla="*/ 356 w 4304"/>
                  <a:gd name="T7" fmla="*/ 1381 h 1443"/>
                  <a:gd name="T8" fmla="*/ 444 w 4304"/>
                  <a:gd name="T9" fmla="*/ 1363 h 1443"/>
                  <a:gd name="T10" fmla="*/ 521 w 4304"/>
                  <a:gd name="T11" fmla="*/ 1337 h 1443"/>
                  <a:gd name="T12" fmla="*/ 597 w 4304"/>
                  <a:gd name="T13" fmla="*/ 1319 h 1443"/>
                  <a:gd name="T14" fmla="*/ 686 w 4304"/>
                  <a:gd name="T15" fmla="*/ 1293 h 1443"/>
                  <a:gd name="T16" fmla="*/ 749 w 4304"/>
                  <a:gd name="T17" fmla="*/ 1266 h 1443"/>
                  <a:gd name="T18" fmla="*/ 838 w 4304"/>
                  <a:gd name="T19" fmla="*/ 1240 h 1443"/>
                  <a:gd name="T20" fmla="*/ 914 w 4304"/>
                  <a:gd name="T21" fmla="*/ 1196 h 1443"/>
                  <a:gd name="T22" fmla="*/ 977 w 4304"/>
                  <a:gd name="T23" fmla="*/ 1170 h 1443"/>
                  <a:gd name="T24" fmla="*/ 1041 w 4304"/>
                  <a:gd name="T25" fmla="*/ 1134 h 1443"/>
                  <a:gd name="T26" fmla="*/ 1117 w 4304"/>
                  <a:gd name="T27" fmla="*/ 1082 h 1443"/>
                  <a:gd name="T28" fmla="*/ 1206 w 4304"/>
                  <a:gd name="T29" fmla="*/ 1020 h 1443"/>
                  <a:gd name="T30" fmla="*/ 1269 w 4304"/>
                  <a:gd name="T31" fmla="*/ 967 h 1443"/>
                  <a:gd name="T32" fmla="*/ 1333 w 4304"/>
                  <a:gd name="T33" fmla="*/ 915 h 1443"/>
                  <a:gd name="T34" fmla="*/ 1396 w 4304"/>
                  <a:gd name="T35" fmla="*/ 853 h 1443"/>
                  <a:gd name="T36" fmla="*/ 1460 w 4304"/>
                  <a:gd name="T37" fmla="*/ 783 h 1443"/>
                  <a:gd name="T38" fmla="*/ 1511 w 4304"/>
                  <a:gd name="T39" fmla="*/ 712 h 1443"/>
                  <a:gd name="T40" fmla="*/ 1574 w 4304"/>
                  <a:gd name="T41" fmla="*/ 633 h 1443"/>
                  <a:gd name="T42" fmla="*/ 1625 w 4304"/>
                  <a:gd name="T43" fmla="*/ 563 h 1443"/>
                  <a:gd name="T44" fmla="*/ 1688 w 4304"/>
                  <a:gd name="T45" fmla="*/ 475 h 1443"/>
                  <a:gd name="T46" fmla="*/ 1739 w 4304"/>
                  <a:gd name="T47" fmla="*/ 396 h 1443"/>
                  <a:gd name="T48" fmla="*/ 1802 w 4304"/>
                  <a:gd name="T49" fmla="*/ 317 h 1443"/>
                  <a:gd name="T50" fmla="*/ 1853 w 4304"/>
                  <a:gd name="T51" fmla="*/ 238 h 1443"/>
                  <a:gd name="T52" fmla="*/ 1917 w 4304"/>
                  <a:gd name="T53" fmla="*/ 158 h 1443"/>
                  <a:gd name="T54" fmla="*/ 1980 w 4304"/>
                  <a:gd name="T55" fmla="*/ 88 h 1443"/>
                  <a:gd name="T56" fmla="*/ 2056 w 4304"/>
                  <a:gd name="T57" fmla="*/ 27 h 1443"/>
                  <a:gd name="T58" fmla="*/ 2132 w 4304"/>
                  <a:gd name="T59" fmla="*/ 0 h 1443"/>
                  <a:gd name="T60" fmla="*/ 2221 w 4304"/>
                  <a:gd name="T61" fmla="*/ 9 h 1443"/>
                  <a:gd name="T62" fmla="*/ 2297 w 4304"/>
                  <a:gd name="T63" fmla="*/ 53 h 1443"/>
                  <a:gd name="T64" fmla="*/ 2348 w 4304"/>
                  <a:gd name="T65" fmla="*/ 114 h 1443"/>
                  <a:gd name="T66" fmla="*/ 2412 w 4304"/>
                  <a:gd name="T67" fmla="*/ 176 h 1443"/>
                  <a:gd name="T68" fmla="*/ 2462 w 4304"/>
                  <a:gd name="T69" fmla="*/ 255 h 1443"/>
                  <a:gd name="T70" fmla="*/ 2526 w 4304"/>
                  <a:gd name="T71" fmla="*/ 334 h 1443"/>
                  <a:gd name="T72" fmla="*/ 2577 w 4304"/>
                  <a:gd name="T73" fmla="*/ 413 h 1443"/>
                  <a:gd name="T74" fmla="*/ 2640 w 4304"/>
                  <a:gd name="T75" fmla="*/ 501 h 1443"/>
                  <a:gd name="T76" fmla="*/ 2691 w 4304"/>
                  <a:gd name="T77" fmla="*/ 581 h 1443"/>
                  <a:gd name="T78" fmla="*/ 2754 w 4304"/>
                  <a:gd name="T79" fmla="*/ 660 h 1443"/>
                  <a:gd name="T80" fmla="*/ 2805 w 4304"/>
                  <a:gd name="T81" fmla="*/ 730 h 1443"/>
                  <a:gd name="T82" fmla="*/ 2869 w 4304"/>
                  <a:gd name="T83" fmla="*/ 792 h 1443"/>
                  <a:gd name="T84" fmla="*/ 2932 w 4304"/>
                  <a:gd name="T85" fmla="*/ 853 h 1443"/>
                  <a:gd name="T86" fmla="*/ 2983 w 4304"/>
                  <a:gd name="T87" fmla="*/ 915 h 1443"/>
                  <a:gd name="T88" fmla="*/ 3059 w 4304"/>
                  <a:gd name="T89" fmla="*/ 976 h 1443"/>
                  <a:gd name="T90" fmla="*/ 3122 w 4304"/>
                  <a:gd name="T91" fmla="*/ 1038 h 1443"/>
                  <a:gd name="T92" fmla="*/ 3186 w 4304"/>
                  <a:gd name="T93" fmla="*/ 1073 h 1443"/>
                  <a:gd name="T94" fmla="*/ 3237 w 4304"/>
                  <a:gd name="T95" fmla="*/ 1117 h 1443"/>
                  <a:gd name="T96" fmla="*/ 3338 w 4304"/>
                  <a:gd name="T97" fmla="*/ 1170 h 1443"/>
                  <a:gd name="T98" fmla="*/ 3440 w 4304"/>
                  <a:gd name="T99" fmla="*/ 1214 h 1443"/>
                  <a:gd name="T100" fmla="*/ 3516 w 4304"/>
                  <a:gd name="T101" fmla="*/ 1249 h 1443"/>
                  <a:gd name="T102" fmla="*/ 3592 w 4304"/>
                  <a:gd name="T103" fmla="*/ 1275 h 1443"/>
                  <a:gd name="T104" fmla="*/ 3668 w 4304"/>
                  <a:gd name="T105" fmla="*/ 1310 h 1443"/>
                  <a:gd name="T106" fmla="*/ 3770 w 4304"/>
                  <a:gd name="T107" fmla="*/ 1337 h 1443"/>
                  <a:gd name="T108" fmla="*/ 3859 w 4304"/>
                  <a:gd name="T109" fmla="*/ 1363 h 1443"/>
                  <a:gd name="T110" fmla="*/ 3947 w 4304"/>
                  <a:gd name="T111" fmla="*/ 1381 h 1443"/>
                  <a:gd name="T112" fmla="*/ 4049 w 4304"/>
                  <a:gd name="T113" fmla="*/ 1398 h 1443"/>
                  <a:gd name="T114" fmla="*/ 4125 w 4304"/>
                  <a:gd name="T115" fmla="*/ 1416 h 1443"/>
                  <a:gd name="T116" fmla="*/ 4227 w 4304"/>
                  <a:gd name="T117" fmla="*/ 1425 h 1443"/>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4304"/>
                  <a:gd name="T178" fmla="*/ 0 h 1443"/>
                  <a:gd name="T179" fmla="*/ 4304 w 4304"/>
                  <a:gd name="T180" fmla="*/ 1443 h 1443"/>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4304" h="1443">
                    <a:moveTo>
                      <a:pt x="0" y="1442"/>
                    </a:moveTo>
                    <a:lnTo>
                      <a:pt x="13" y="1442"/>
                    </a:lnTo>
                    <a:lnTo>
                      <a:pt x="26" y="1442"/>
                    </a:lnTo>
                    <a:lnTo>
                      <a:pt x="26" y="1433"/>
                    </a:lnTo>
                    <a:lnTo>
                      <a:pt x="38" y="1433"/>
                    </a:lnTo>
                    <a:lnTo>
                      <a:pt x="51" y="1433"/>
                    </a:lnTo>
                    <a:lnTo>
                      <a:pt x="64" y="1433"/>
                    </a:lnTo>
                    <a:lnTo>
                      <a:pt x="76" y="1433"/>
                    </a:lnTo>
                    <a:lnTo>
                      <a:pt x="89" y="1425"/>
                    </a:lnTo>
                    <a:lnTo>
                      <a:pt x="102" y="1425"/>
                    </a:lnTo>
                    <a:lnTo>
                      <a:pt x="114" y="1425"/>
                    </a:lnTo>
                    <a:lnTo>
                      <a:pt x="127" y="1425"/>
                    </a:lnTo>
                    <a:lnTo>
                      <a:pt x="140" y="1425"/>
                    </a:lnTo>
                    <a:lnTo>
                      <a:pt x="140" y="1416"/>
                    </a:lnTo>
                    <a:lnTo>
                      <a:pt x="153" y="1416"/>
                    </a:lnTo>
                    <a:lnTo>
                      <a:pt x="165" y="1416"/>
                    </a:lnTo>
                    <a:lnTo>
                      <a:pt x="178" y="1416"/>
                    </a:lnTo>
                    <a:lnTo>
                      <a:pt x="191" y="1416"/>
                    </a:lnTo>
                    <a:lnTo>
                      <a:pt x="203" y="1407"/>
                    </a:lnTo>
                    <a:lnTo>
                      <a:pt x="216" y="1407"/>
                    </a:lnTo>
                    <a:lnTo>
                      <a:pt x="229" y="1407"/>
                    </a:lnTo>
                    <a:lnTo>
                      <a:pt x="241" y="1407"/>
                    </a:lnTo>
                    <a:lnTo>
                      <a:pt x="254" y="1398"/>
                    </a:lnTo>
                    <a:lnTo>
                      <a:pt x="267" y="1398"/>
                    </a:lnTo>
                    <a:lnTo>
                      <a:pt x="279" y="1398"/>
                    </a:lnTo>
                    <a:lnTo>
                      <a:pt x="292" y="1398"/>
                    </a:lnTo>
                    <a:lnTo>
                      <a:pt x="292" y="1389"/>
                    </a:lnTo>
                    <a:lnTo>
                      <a:pt x="305" y="1389"/>
                    </a:lnTo>
                    <a:lnTo>
                      <a:pt x="318" y="1389"/>
                    </a:lnTo>
                    <a:lnTo>
                      <a:pt x="330" y="1389"/>
                    </a:lnTo>
                    <a:lnTo>
                      <a:pt x="343" y="1381"/>
                    </a:lnTo>
                    <a:lnTo>
                      <a:pt x="356" y="1381"/>
                    </a:lnTo>
                    <a:lnTo>
                      <a:pt x="368" y="1381"/>
                    </a:lnTo>
                    <a:lnTo>
                      <a:pt x="381" y="1372"/>
                    </a:lnTo>
                    <a:lnTo>
                      <a:pt x="394" y="1372"/>
                    </a:lnTo>
                    <a:lnTo>
                      <a:pt x="406" y="1372"/>
                    </a:lnTo>
                    <a:lnTo>
                      <a:pt x="419" y="1372"/>
                    </a:lnTo>
                    <a:lnTo>
                      <a:pt x="419" y="1363"/>
                    </a:lnTo>
                    <a:lnTo>
                      <a:pt x="432" y="1363"/>
                    </a:lnTo>
                    <a:lnTo>
                      <a:pt x="444" y="1363"/>
                    </a:lnTo>
                    <a:lnTo>
                      <a:pt x="457" y="1363"/>
                    </a:lnTo>
                    <a:lnTo>
                      <a:pt x="457" y="1354"/>
                    </a:lnTo>
                    <a:lnTo>
                      <a:pt x="470" y="1354"/>
                    </a:lnTo>
                    <a:lnTo>
                      <a:pt x="483" y="1354"/>
                    </a:lnTo>
                    <a:lnTo>
                      <a:pt x="495" y="1346"/>
                    </a:lnTo>
                    <a:lnTo>
                      <a:pt x="508" y="1346"/>
                    </a:lnTo>
                    <a:lnTo>
                      <a:pt x="521" y="1346"/>
                    </a:lnTo>
                    <a:lnTo>
                      <a:pt x="521" y="1337"/>
                    </a:lnTo>
                    <a:lnTo>
                      <a:pt x="533" y="1337"/>
                    </a:lnTo>
                    <a:lnTo>
                      <a:pt x="546" y="1337"/>
                    </a:lnTo>
                    <a:lnTo>
                      <a:pt x="559" y="1337"/>
                    </a:lnTo>
                    <a:lnTo>
                      <a:pt x="559" y="1328"/>
                    </a:lnTo>
                    <a:lnTo>
                      <a:pt x="571" y="1328"/>
                    </a:lnTo>
                    <a:lnTo>
                      <a:pt x="584" y="1328"/>
                    </a:lnTo>
                    <a:lnTo>
                      <a:pt x="584" y="1319"/>
                    </a:lnTo>
                    <a:lnTo>
                      <a:pt x="597" y="1319"/>
                    </a:lnTo>
                    <a:lnTo>
                      <a:pt x="609" y="1319"/>
                    </a:lnTo>
                    <a:lnTo>
                      <a:pt x="622" y="1310"/>
                    </a:lnTo>
                    <a:lnTo>
                      <a:pt x="635" y="1310"/>
                    </a:lnTo>
                    <a:lnTo>
                      <a:pt x="648" y="1302"/>
                    </a:lnTo>
                    <a:lnTo>
                      <a:pt x="660" y="1302"/>
                    </a:lnTo>
                    <a:lnTo>
                      <a:pt x="673" y="1302"/>
                    </a:lnTo>
                    <a:lnTo>
                      <a:pt x="673" y="1293"/>
                    </a:lnTo>
                    <a:lnTo>
                      <a:pt x="686" y="1293"/>
                    </a:lnTo>
                    <a:lnTo>
                      <a:pt x="698" y="1293"/>
                    </a:lnTo>
                    <a:lnTo>
                      <a:pt x="698" y="1284"/>
                    </a:lnTo>
                    <a:lnTo>
                      <a:pt x="711" y="1284"/>
                    </a:lnTo>
                    <a:lnTo>
                      <a:pt x="724" y="1284"/>
                    </a:lnTo>
                    <a:lnTo>
                      <a:pt x="724" y="1275"/>
                    </a:lnTo>
                    <a:lnTo>
                      <a:pt x="736" y="1275"/>
                    </a:lnTo>
                    <a:lnTo>
                      <a:pt x="749" y="1275"/>
                    </a:lnTo>
                    <a:lnTo>
                      <a:pt x="749" y="1266"/>
                    </a:lnTo>
                    <a:lnTo>
                      <a:pt x="762" y="1266"/>
                    </a:lnTo>
                    <a:lnTo>
                      <a:pt x="774" y="1258"/>
                    </a:lnTo>
                    <a:lnTo>
                      <a:pt x="787" y="1258"/>
                    </a:lnTo>
                    <a:lnTo>
                      <a:pt x="800" y="1249"/>
                    </a:lnTo>
                    <a:lnTo>
                      <a:pt x="813" y="1249"/>
                    </a:lnTo>
                    <a:lnTo>
                      <a:pt x="813" y="1240"/>
                    </a:lnTo>
                    <a:lnTo>
                      <a:pt x="825" y="1240"/>
                    </a:lnTo>
                    <a:lnTo>
                      <a:pt x="838" y="1240"/>
                    </a:lnTo>
                    <a:lnTo>
                      <a:pt x="838" y="1231"/>
                    </a:lnTo>
                    <a:lnTo>
                      <a:pt x="851" y="1231"/>
                    </a:lnTo>
                    <a:lnTo>
                      <a:pt x="863" y="1222"/>
                    </a:lnTo>
                    <a:lnTo>
                      <a:pt x="876" y="1214"/>
                    </a:lnTo>
                    <a:lnTo>
                      <a:pt x="889" y="1214"/>
                    </a:lnTo>
                    <a:lnTo>
                      <a:pt x="901" y="1205"/>
                    </a:lnTo>
                    <a:lnTo>
                      <a:pt x="914" y="1205"/>
                    </a:lnTo>
                    <a:lnTo>
                      <a:pt x="914" y="1196"/>
                    </a:lnTo>
                    <a:lnTo>
                      <a:pt x="927" y="1196"/>
                    </a:lnTo>
                    <a:lnTo>
                      <a:pt x="927" y="1187"/>
                    </a:lnTo>
                    <a:lnTo>
                      <a:pt x="939" y="1187"/>
                    </a:lnTo>
                    <a:lnTo>
                      <a:pt x="952" y="1187"/>
                    </a:lnTo>
                    <a:lnTo>
                      <a:pt x="952" y="1178"/>
                    </a:lnTo>
                    <a:lnTo>
                      <a:pt x="965" y="1178"/>
                    </a:lnTo>
                    <a:lnTo>
                      <a:pt x="965" y="1170"/>
                    </a:lnTo>
                    <a:lnTo>
                      <a:pt x="977" y="1170"/>
                    </a:lnTo>
                    <a:lnTo>
                      <a:pt x="977" y="1161"/>
                    </a:lnTo>
                    <a:lnTo>
                      <a:pt x="990" y="1161"/>
                    </a:lnTo>
                    <a:lnTo>
                      <a:pt x="1003" y="1152"/>
                    </a:lnTo>
                    <a:lnTo>
                      <a:pt x="1016" y="1152"/>
                    </a:lnTo>
                    <a:lnTo>
                      <a:pt x="1016" y="1143"/>
                    </a:lnTo>
                    <a:lnTo>
                      <a:pt x="1028" y="1143"/>
                    </a:lnTo>
                    <a:lnTo>
                      <a:pt x="1028" y="1134"/>
                    </a:lnTo>
                    <a:lnTo>
                      <a:pt x="1041" y="1134"/>
                    </a:lnTo>
                    <a:lnTo>
                      <a:pt x="1041" y="1126"/>
                    </a:lnTo>
                    <a:lnTo>
                      <a:pt x="1054" y="1126"/>
                    </a:lnTo>
                    <a:lnTo>
                      <a:pt x="1066" y="1117"/>
                    </a:lnTo>
                    <a:lnTo>
                      <a:pt x="1079" y="1108"/>
                    </a:lnTo>
                    <a:lnTo>
                      <a:pt x="1092" y="1099"/>
                    </a:lnTo>
                    <a:lnTo>
                      <a:pt x="1104" y="1091"/>
                    </a:lnTo>
                    <a:lnTo>
                      <a:pt x="1117" y="1091"/>
                    </a:lnTo>
                    <a:lnTo>
                      <a:pt x="1117" y="1082"/>
                    </a:lnTo>
                    <a:lnTo>
                      <a:pt x="1130" y="1073"/>
                    </a:lnTo>
                    <a:lnTo>
                      <a:pt x="1142" y="1064"/>
                    </a:lnTo>
                    <a:lnTo>
                      <a:pt x="1155" y="1055"/>
                    </a:lnTo>
                    <a:lnTo>
                      <a:pt x="1168" y="1055"/>
                    </a:lnTo>
                    <a:lnTo>
                      <a:pt x="1168" y="1047"/>
                    </a:lnTo>
                    <a:lnTo>
                      <a:pt x="1181" y="1038"/>
                    </a:lnTo>
                    <a:lnTo>
                      <a:pt x="1193" y="1029"/>
                    </a:lnTo>
                    <a:lnTo>
                      <a:pt x="1206" y="1020"/>
                    </a:lnTo>
                    <a:lnTo>
                      <a:pt x="1206" y="1011"/>
                    </a:lnTo>
                    <a:lnTo>
                      <a:pt x="1219" y="1011"/>
                    </a:lnTo>
                    <a:lnTo>
                      <a:pt x="1231" y="1003"/>
                    </a:lnTo>
                    <a:lnTo>
                      <a:pt x="1231" y="994"/>
                    </a:lnTo>
                    <a:lnTo>
                      <a:pt x="1244" y="994"/>
                    </a:lnTo>
                    <a:lnTo>
                      <a:pt x="1244" y="985"/>
                    </a:lnTo>
                    <a:lnTo>
                      <a:pt x="1257" y="976"/>
                    </a:lnTo>
                    <a:lnTo>
                      <a:pt x="1269" y="967"/>
                    </a:lnTo>
                    <a:lnTo>
                      <a:pt x="1282" y="959"/>
                    </a:lnTo>
                    <a:lnTo>
                      <a:pt x="1282" y="950"/>
                    </a:lnTo>
                    <a:lnTo>
                      <a:pt x="1295" y="950"/>
                    </a:lnTo>
                    <a:lnTo>
                      <a:pt x="1295" y="941"/>
                    </a:lnTo>
                    <a:lnTo>
                      <a:pt x="1307" y="932"/>
                    </a:lnTo>
                    <a:lnTo>
                      <a:pt x="1307" y="923"/>
                    </a:lnTo>
                    <a:lnTo>
                      <a:pt x="1320" y="923"/>
                    </a:lnTo>
                    <a:lnTo>
                      <a:pt x="1333" y="915"/>
                    </a:lnTo>
                    <a:lnTo>
                      <a:pt x="1333" y="906"/>
                    </a:lnTo>
                    <a:lnTo>
                      <a:pt x="1346" y="897"/>
                    </a:lnTo>
                    <a:lnTo>
                      <a:pt x="1358" y="888"/>
                    </a:lnTo>
                    <a:lnTo>
                      <a:pt x="1358" y="879"/>
                    </a:lnTo>
                    <a:lnTo>
                      <a:pt x="1371" y="871"/>
                    </a:lnTo>
                    <a:lnTo>
                      <a:pt x="1371" y="862"/>
                    </a:lnTo>
                    <a:lnTo>
                      <a:pt x="1384" y="853"/>
                    </a:lnTo>
                    <a:lnTo>
                      <a:pt x="1396" y="853"/>
                    </a:lnTo>
                    <a:lnTo>
                      <a:pt x="1396" y="844"/>
                    </a:lnTo>
                    <a:lnTo>
                      <a:pt x="1409" y="836"/>
                    </a:lnTo>
                    <a:lnTo>
                      <a:pt x="1409" y="827"/>
                    </a:lnTo>
                    <a:lnTo>
                      <a:pt x="1422" y="818"/>
                    </a:lnTo>
                    <a:lnTo>
                      <a:pt x="1422" y="809"/>
                    </a:lnTo>
                    <a:lnTo>
                      <a:pt x="1434" y="800"/>
                    </a:lnTo>
                    <a:lnTo>
                      <a:pt x="1447" y="792"/>
                    </a:lnTo>
                    <a:lnTo>
                      <a:pt x="1460" y="783"/>
                    </a:lnTo>
                    <a:lnTo>
                      <a:pt x="1460" y="774"/>
                    </a:lnTo>
                    <a:lnTo>
                      <a:pt x="1472" y="765"/>
                    </a:lnTo>
                    <a:lnTo>
                      <a:pt x="1472" y="756"/>
                    </a:lnTo>
                    <a:lnTo>
                      <a:pt x="1485" y="748"/>
                    </a:lnTo>
                    <a:lnTo>
                      <a:pt x="1498" y="739"/>
                    </a:lnTo>
                    <a:lnTo>
                      <a:pt x="1498" y="730"/>
                    </a:lnTo>
                    <a:lnTo>
                      <a:pt x="1511" y="721"/>
                    </a:lnTo>
                    <a:lnTo>
                      <a:pt x="1511" y="712"/>
                    </a:lnTo>
                    <a:lnTo>
                      <a:pt x="1523" y="704"/>
                    </a:lnTo>
                    <a:lnTo>
                      <a:pt x="1523" y="695"/>
                    </a:lnTo>
                    <a:lnTo>
                      <a:pt x="1536" y="686"/>
                    </a:lnTo>
                    <a:lnTo>
                      <a:pt x="1536" y="677"/>
                    </a:lnTo>
                    <a:lnTo>
                      <a:pt x="1549" y="668"/>
                    </a:lnTo>
                    <a:lnTo>
                      <a:pt x="1561" y="660"/>
                    </a:lnTo>
                    <a:lnTo>
                      <a:pt x="1561" y="651"/>
                    </a:lnTo>
                    <a:lnTo>
                      <a:pt x="1574" y="633"/>
                    </a:lnTo>
                    <a:lnTo>
                      <a:pt x="1574" y="624"/>
                    </a:lnTo>
                    <a:lnTo>
                      <a:pt x="1587" y="616"/>
                    </a:lnTo>
                    <a:lnTo>
                      <a:pt x="1587" y="607"/>
                    </a:lnTo>
                    <a:lnTo>
                      <a:pt x="1599" y="598"/>
                    </a:lnTo>
                    <a:lnTo>
                      <a:pt x="1612" y="589"/>
                    </a:lnTo>
                    <a:lnTo>
                      <a:pt x="1612" y="581"/>
                    </a:lnTo>
                    <a:lnTo>
                      <a:pt x="1625" y="572"/>
                    </a:lnTo>
                    <a:lnTo>
                      <a:pt x="1625" y="563"/>
                    </a:lnTo>
                    <a:lnTo>
                      <a:pt x="1637" y="554"/>
                    </a:lnTo>
                    <a:lnTo>
                      <a:pt x="1637" y="537"/>
                    </a:lnTo>
                    <a:lnTo>
                      <a:pt x="1650" y="528"/>
                    </a:lnTo>
                    <a:lnTo>
                      <a:pt x="1663" y="519"/>
                    </a:lnTo>
                    <a:lnTo>
                      <a:pt x="1663" y="510"/>
                    </a:lnTo>
                    <a:lnTo>
                      <a:pt x="1676" y="501"/>
                    </a:lnTo>
                    <a:lnTo>
                      <a:pt x="1676" y="493"/>
                    </a:lnTo>
                    <a:lnTo>
                      <a:pt x="1688" y="475"/>
                    </a:lnTo>
                    <a:lnTo>
                      <a:pt x="1688" y="466"/>
                    </a:lnTo>
                    <a:lnTo>
                      <a:pt x="1701" y="457"/>
                    </a:lnTo>
                    <a:lnTo>
                      <a:pt x="1701" y="449"/>
                    </a:lnTo>
                    <a:lnTo>
                      <a:pt x="1714" y="440"/>
                    </a:lnTo>
                    <a:lnTo>
                      <a:pt x="1726" y="431"/>
                    </a:lnTo>
                    <a:lnTo>
                      <a:pt x="1726" y="413"/>
                    </a:lnTo>
                    <a:lnTo>
                      <a:pt x="1739" y="405"/>
                    </a:lnTo>
                    <a:lnTo>
                      <a:pt x="1739" y="396"/>
                    </a:lnTo>
                    <a:lnTo>
                      <a:pt x="1752" y="387"/>
                    </a:lnTo>
                    <a:lnTo>
                      <a:pt x="1752" y="378"/>
                    </a:lnTo>
                    <a:lnTo>
                      <a:pt x="1764" y="361"/>
                    </a:lnTo>
                    <a:lnTo>
                      <a:pt x="1777" y="352"/>
                    </a:lnTo>
                    <a:lnTo>
                      <a:pt x="1777" y="343"/>
                    </a:lnTo>
                    <a:lnTo>
                      <a:pt x="1790" y="334"/>
                    </a:lnTo>
                    <a:lnTo>
                      <a:pt x="1790" y="326"/>
                    </a:lnTo>
                    <a:lnTo>
                      <a:pt x="1802" y="317"/>
                    </a:lnTo>
                    <a:lnTo>
                      <a:pt x="1802" y="299"/>
                    </a:lnTo>
                    <a:lnTo>
                      <a:pt x="1815" y="290"/>
                    </a:lnTo>
                    <a:lnTo>
                      <a:pt x="1828" y="282"/>
                    </a:lnTo>
                    <a:lnTo>
                      <a:pt x="1828" y="273"/>
                    </a:lnTo>
                    <a:lnTo>
                      <a:pt x="1841" y="264"/>
                    </a:lnTo>
                    <a:lnTo>
                      <a:pt x="1841" y="255"/>
                    </a:lnTo>
                    <a:lnTo>
                      <a:pt x="1853" y="246"/>
                    </a:lnTo>
                    <a:lnTo>
                      <a:pt x="1853" y="238"/>
                    </a:lnTo>
                    <a:lnTo>
                      <a:pt x="1866" y="220"/>
                    </a:lnTo>
                    <a:lnTo>
                      <a:pt x="1866" y="211"/>
                    </a:lnTo>
                    <a:lnTo>
                      <a:pt x="1879" y="202"/>
                    </a:lnTo>
                    <a:lnTo>
                      <a:pt x="1891" y="194"/>
                    </a:lnTo>
                    <a:lnTo>
                      <a:pt x="1891" y="185"/>
                    </a:lnTo>
                    <a:lnTo>
                      <a:pt x="1904" y="176"/>
                    </a:lnTo>
                    <a:lnTo>
                      <a:pt x="1904" y="167"/>
                    </a:lnTo>
                    <a:lnTo>
                      <a:pt x="1917" y="158"/>
                    </a:lnTo>
                    <a:lnTo>
                      <a:pt x="1917" y="150"/>
                    </a:lnTo>
                    <a:lnTo>
                      <a:pt x="1929" y="141"/>
                    </a:lnTo>
                    <a:lnTo>
                      <a:pt x="1942" y="132"/>
                    </a:lnTo>
                    <a:lnTo>
                      <a:pt x="1942" y="123"/>
                    </a:lnTo>
                    <a:lnTo>
                      <a:pt x="1955" y="114"/>
                    </a:lnTo>
                    <a:lnTo>
                      <a:pt x="1967" y="106"/>
                    </a:lnTo>
                    <a:lnTo>
                      <a:pt x="1967" y="97"/>
                    </a:lnTo>
                    <a:lnTo>
                      <a:pt x="1980" y="88"/>
                    </a:lnTo>
                    <a:lnTo>
                      <a:pt x="1993" y="79"/>
                    </a:lnTo>
                    <a:lnTo>
                      <a:pt x="2006" y="71"/>
                    </a:lnTo>
                    <a:lnTo>
                      <a:pt x="2006" y="62"/>
                    </a:lnTo>
                    <a:lnTo>
                      <a:pt x="2018" y="53"/>
                    </a:lnTo>
                    <a:lnTo>
                      <a:pt x="2031" y="44"/>
                    </a:lnTo>
                    <a:lnTo>
                      <a:pt x="2044" y="35"/>
                    </a:lnTo>
                    <a:lnTo>
                      <a:pt x="2056" y="35"/>
                    </a:lnTo>
                    <a:lnTo>
                      <a:pt x="2056" y="27"/>
                    </a:lnTo>
                    <a:lnTo>
                      <a:pt x="2069" y="27"/>
                    </a:lnTo>
                    <a:lnTo>
                      <a:pt x="2069" y="18"/>
                    </a:lnTo>
                    <a:lnTo>
                      <a:pt x="2082" y="18"/>
                    </a:lnTo>
                    <a:lnTo>
                      <a:pt x="2082" y="9"/>
                    </a:lnTo>
                    <a:lnTo>
                      <a:pt x="2094" y="9"/>
                    </a:lnTo>
                    <a:lnTo>
                      <a:pt x="2107" y="9"/>
                    </a:lnTo>
                    <a:lnTo>
                      <a:pt x="2120" y="0"/>
                    </a:lnTo>
                    <a:lnTo>
                      <a:pt x="2132" y="0"/>
                    </a:lnTo>
                    <a:lnTo>
                      <a:pt x="2145" y="0"/>
                    </a:lnTo>
                    <a:lnTo>
                      <a:pt x="2158" y="0"/>
                    </a:lnTo>
                    <a:lnTo>
                      <a:pt x="2171" y="0"/>
                    </a:lnTo>
                    <a:lnTo>
                      <a:pt x="2183" y="0"/>
                    </a:lnTo>
                    <a:lnTo>
                      <a:pt x="2196" y="0"/>
                    </a:lnTo>
                    <a:lnTo>
                      <a:pt x="2196" y="9"/>
                    </a:lnTo>
                    <a:lnTo>
                      <a:pt x="2209" y="9"/>
                    </a:lnTo>
                    <a:lnTo>
                      <a:pt x="2221" y="9"/>
                    </a:lnTo>
                    <a:lnTo>
                      <a:pt x="2234" y="18"/>
                    </a:lnTo>
                    <a:lnTo>
                      <a:pt x="2247" y="27"/>
                    </a:lnTo>
                    <a:lnTo>
                      <a:pt x="2259" y="35"/>
                    </a:lnTo>
                    <a:lnTo>
                      <a:pt x="2272" y="35"/>
                    </a:lnTo>
                    <a:lnTo>
                      <a:pt x="2272" y="44"/>
                    </a:lnTo>
                    <a:lnTo>
                      <a:pt x="2285" y="44"/>
                    </a:lnTo>
                    <a:lnTo>
                      <a:pt x="2285" y="53"/>
                    </a:lnTo>
                    <a:lnTo>
                      <a:pt x="2297" y="53"/>
                    </a:lnTo>
                    <a:lnTo>
                      <a:pt x="2297" y="62"/>
                    </a:lnTo>
                    <a:lnTo>
                      <a:pt x="2310" y="71"/>
                    </a:lnTo>
                    <a:lnTo>
                      <a:pt x="2310" y="79"/>
                    </a:lnTo>
                    <a:lnTo>
                      <a:pt x="2323" y="79"/>
                    </a:lnTo>
                    <a:lnTo>
                      <a:pt x="2336" y="88"/>
                    </a:lnTo>
                    <a:lnTo>
                      <a:pt x="2336" y="97"/>
                    </a:lnTo>
                    <a:lnTo>
                      <a:pt x="2348" y="106"/>
                    </a:lnTo>
                    <a:lnTo>
                      <a:pt x="2348" y="114"/>
                    </a:lnTo>
                    <a:lnTo>
                      <a:pt x="2361" y="114"/>
                    </a:lnTo>
                    <a:lnTo>
                      <a:pt x="2361" y="123"/>
                    </a:lnTo>
                    <a:lnTo>
                      <a:pt x="2374" y="132"/>
                    </a:lnTo>
                    <a:lnTo>
                      <a:pt x="2386" y="141"/>
                    </a:lnTo>
                    <a:lnTo>
                      <a:pt x="2386" y="150"/>
                    </a:lnTo>
                    <a:lnTo>
                      <a:pt x="2399" y="158"/>
                    </a:lnTo>
                    <a:lnTo>
                      <a:pt x="2399" y="167"/>
                    </a:lnTo>
                    <a:lnTo>
                      <a:pt x="2412" y="176"/>
                    </a:lnTo>
                    <a:lnTo>
                      <a:pt x="2412" y="185"/>
                    </a:lnTo>
                    <a:lnTo>
                      <a:pt x="2424" y="194"/>
                    </a:lnTo>
                    <a:lnTo>
                      <a:pt x="2437" y="202"/>
                    </a:lnTo>
                    <a:lnTo>
                      <a:pt x="2437" y="211"/>
                    </a:lnTo>
                    <a:lnTo>
                      <a:pt x="2450" y="220"/>
                    </a:lnTo>
                    <a:lnTo>
                      <a:pt x="2450" y="238"/>
                    </a:lnTo>
                    <a:lnTo>
                      <a:pt x="2462" y="246"/>
                    </a:lnTo>
                    <a:lnTo>
                      <a:pt x="2462" y="255"/>
                    </a:lnTo>
                    <a:lnTo>
                      <a:pt x="2475" y="264"/>
                    </a:lnTo>
                    <a:lnTo>
                      <a:pt x="2475" y="273"/>
                    </a:lnTo>
                    <a:lnTo>
                      <a:pt x="2488" y="282"/>
                    </a:lnTo>
                    <a:lnTo>
                      <a:pt x="2501" y="290"/>
                    </a:lnTo>
                    <a:lnTo>
                      <a:pt x="2501" y="299"/>
                    </a:lnTo>
                    <a:lnTo>
                      <a:pt x="2513" y="317"/>
                    </a:lnTo>
                    <a:lnTo>
                      <a:pt x="2513" y="326"/>
                    </a:lnTo>
                    <a:lnTo>
                      <a:pt x="2526" y="334"/>
                    </a:lnTo>
                    <a:lnTo>
                      <a:pt x="2526" y="343"/>
                    </a:lnTo>
                    <a:lnTo>
                      <a:pt x="2539" y="352"/>
                    </a:lnTo>
                    <a:lnTo>
                      <a:pt x="2551" y="361"/>
                    </a:lnTo>
                    <a:lnTo>
                      <a:pt x="2551" y="378"/>
                    </a:lnTo>
                    <a:lnTo>
                      <a:pt x="2564" y="387"/>
                    </a:lnTo>
                    <a:lnTo>
                      <a:pt x="2564" y="396"/>
                    </a:lnTo>
                    <a:lnTo>
                      <a:pt x="2577" y="405"/>
                    </a:lnTo>
                    <a:lnTo>
                      <a:pt x="2577" y="413"/>
                    </a:lnTo>
                    <a:lnTo>
                      <a:pt x="2589" y="431"/>
                    </a:lnTo>
                    <a:lnTo>
                      <a:pt x="2602" y="440"/>
                    </a:lnTo>
                    <a:lnTo>
                      <a:pt x="2602" y="449"/>
                    </a:lnTo>
                    <a:lnTo>
                      <a:pt x="2615" y="457"/>
                    </a:lnTo>
                    <a:lnTo>
                      <a:pt x="2615" y="466"/>
                    </a:lnTo>
                    <a:lnTo>
                      <a:pt x="2627" y="475"/>
                    </a:lnTo>
                    <a:lnTo>
                      <a:pt x="2627" y="493"/>
                    </a:lnTo>
                    <a:lnTo>
                      <a:pt x="2640" y="501"/>
                    </a:lnTo>
                    <a:lnTo>
                      <a:pt x="2640" y="510"/>
                    </a:lnTo>
                    <a:lnTo>
                      <a:pt x="2653" y="519"/>
                    </a:lnTo>
                    <a:lnTo>
                      <a:pt x="2666" y="528"/>
                    </a:lnTo>
                    <a:lnTo>
                      <a:pt x="2666" y="537"/>
                    </a:lnTo>
                    <a:lnTo>
                      <a:pt x="2678" y="554"/>
                    </a:lnTo>
                    <a:lnTo>
                      <a:pt x="2678" y="563"/>
                    </a:lnTo>
                    <a:lnTo>
                      <a:pt x="2691" y="572"/>
                    </a:lnTo>
                    <a:lnTo>
                      <a:pt x="2691" y="581"/>
                    </a:lnTo>
                    <a:lnTo>
                      <a:pt x="2704" y="589"/>
                    </a:lnTo>
                    <a:lnTo>
                      <a:pt x="2716" y="598"/>
                    </a:lnTo>
                    <a:lnTo>
                      <a:pt x="2716" y="607"/>
                    </a:lnTo>
                    <a:lnTo>
                      <a:pt x="2729" y="616"/>
                    </a:lnTo>
                    <a:lnTo>
                      <a:pt x="2729" y="624"/>
                    </a:lnTo>
                    <a:lnTo>
                      <a:pt x="2742" y="633"/>
                    </a:lnTo>
                    <a:lnTo>
                      <a:pt x="2742" y="651"/>
                    </a:lnTo>
                    <a:lnTo>
                      <a:pt x="2754" y="660"/>
                    </a:lnTo>
                    <a:lnTo>
                      <a:pt x="2767" y="668"/>
                    </a:lnTo>
                    <a:lnTo>
                      <a:pt x="2767" y="677"/>
                    </a:lnTo>
                    <a:lnTo>
                      <a:pt x="2780" y="686"/>
                    </a:lnTo>
                    <a:lnTo>
                      <a:pt x="2780" y="695"/>
                    </a:lnTo>
                    <a:lnTo>
                      <a:pt x="2792" y="704"/>
                    </a:lnTo>
                    <a:lnTo>
                      <a:pt x="2792" y="712"/>
                    </a:lnTo>
                    <a:lnTo>
                      <a:pt x="2805" y="721"/>
                    </a:lnTo>
                    <a:lnTo>
                      <a:pt x="2805" y="730"/>
                    </a:lnTo>
                    <a:lnTo>
                      <a:pt x="2818" y="739"/>
                    </a:lnTo>
                    <a:lnTo>
                      <a:pt x="2831" y="748"/>
                    </a:lnTo>
                    <a:lnTo>
                      <a:pt x="2831" y="756"/>
                    </a:lnTo>
                    <a:lnTo>
                      <a:pt x="2843" y="765"/>
                    </a:lnTo>
                    <a:lnTo>
                      <a:pt x="2843" y="774"/>
                    </a:lnTo>
                    <a:lnTo>
                      <a:pt x="2856" y="783"/>
                    </a:lnTo>
                    <a:lnTo>
                      <a:pt x="2856" y="792"/>
                    </a:lnTo>
                    <a:lnTo>
                      <a:pt x="2869" y="792"/>
                    </a:lnTo>
                    <a:lnTo>
                      <a:pt x="2881" y="800"/>
                    </a:lnTo>
                    <a:lnTo>
                      <a:pt x="2881" y="809"/>
                    </a:lnTo>
                    <a:lnTo>
                      <a:pt x="2894" y="818"/>
                    </a:lnTo>
                    <a:lnTo>
                      <a:pt x="2894" y="827"/>
                    </a:lnTo>
                    <a:lnTo>
                      <a:pt x="2907" y="836"/>
                    </a:lnTo>
                    <a:lnTo>
                      <a:pt x="2907" y="844"/>
                    </a:lnTo>
                    <a:lnTo>
                      <a:pt x="2919" y="853"/>
                    </a:lnTo>
                    <a:lnTo>
                      <a:pt x="2932" y="853"/>
                    </a:lnTo>
                    <a:lnTo>
                      <a:pt x="2932" y="862"/>
                    </a:lnTo>
                    <a:lnTo>
                      <a:pt x="2945" y="871"/>
                    </a:lnTo>
                    <a:lnTo>
                      <a:pt x="2945" y="879"/>
                    </a:lnTo>
                    <a:lnTo>
                      <a:pt x="2957" y="888"/>
                    </a:lnTo>
                    <a:lnTo>
                      <a:pt x="2957" y="897"/>
                    </a:lnTo>
                    <a:lnTo>
                      <a:pt x="2970" y="897"/>
                    </a:lnTo>
                    <a:lnTo>
                      <a:pt x="2970" y="906"/>
                    </a:lnTo>
                    <a:lnTo>
                      <a:pt x="2983" y="915"/>
                    </a:lnTo>
                    <a:lnTo>
                      <a:pt x="2996" y="923"/>
                    </a:lnTo>
                    <a:lnTo>
                      <a:pt x="3008" y="932"/>
                    </a:lnTo>
                    <a:lnTo>
                      <a:pt x="3008" y="941"/>
                    </a:lnTo>
                    <a:lnTo>
                      <a:pt x="3021" y="950"/>
                    </a:lnTo>
                    <a:lnTo>
                      <a:pt x="3034" y="959"/>
                    </a:lnTo>
                    <a:lnTo>
                      <a:pt x="3046" y="967"/>
                    </a:lnTo>
                    <a:lnTo>
                      <a:pt x="3046" y="976"/>
                    </a:lnTo>
                    <a:lnTo>
                      <a:pt x="3059" y="976"/>
                    </a:lnTo>
                    <a:lnTo>
                      <a:pt x="3059" y="985"/>
                    </a:lnTo>
                    <a:lnTo>
                      <a:pt x="3072" y="994"/>
                    </a:lnTo>
                    <a:lnTo>
                      <a:pt x="3084" y="1003"/>
                    </a:lnTo>
                    <a:lnTo>
                      <a:pt x="3097" y="1011"/>
                    </a:lnTo>
                    <a:lnTo>
                      <a:pt x="3110" y="1020"/>
                    </a:lnTo>
                    <a:lnTo>
                      <a:pt x="3110" y="1029"/>
                    </a:lnTo>
                    <a:lnTo>
                      <a:pt x="3122" y="1029"/>
                    </a:lnTo>
                    <a:lnTo>
                      <a:pt x="3122" y="1038"/>
                    </a:lnTo>
                    <a:lnTo>
                      <a:pt x="3135" y="1038"/>
                    </a:lnTo>
                    <a:lnTo>
                      <a:pt x="3135" y="1047"/>
                    </a:lnTo>
                    <a:lnTo>
                      <a:pt x="3148" y="1055"/>
                    </a:lnTo>
                    <a:lnTo>
                      <a:pt x="3161" y="1055"/>
                    </a:lnTo>
                    <a:lnTo>
                      <a:pt x="3161" y="1064"/>
                    </a:lnTo>
                    <a:lnTo>
                      <a:pt x="3173" y="1064"/>
                    </a:lnTo>
                    <a:lnTo>
                      <a:pt x="3173" y="1073"/>
                    </a:lnTo>
                    <a:lnTo>
                      <a:pt x="3186" y="1073"/>
                    </a:lnTo>
                    <a:lnTo>
                      <a:pt x="3186" y="1082"/>
                    </a:lnTo>
                    <a:lnTo>
                      <a:pt x="3199" y="1091"/>
                    </a:lnTo>
                    <a:lnTo>
                      <a:pt x="3211" y="1091"/>
                    </a:lnTo>
                    <a:lnTo>
                      <a:pt x="3211" y="1099"/>
                    </a:lnTo>
                    <a:lnTo>
                      <a:pt x="3224" y="1099"/>
                    </a:lnTo>
                    <a:lnTo>
                      <a:pt x="3224" y="1108"/>
                    </a:lnTo>
                    <a:lnTo>
                      <a:pt x="3237" y="1108"/>
                    </a:lnTo>
                    <a:lnTo>
                      <a:pt x="3237" y="1117"/>
                    </a:lnTo>
                    <a:lnTo>
                      <a:pt x="3249" y="1117"/>
                    </a:lnTo>
                    <a:lnTo>
                      <a:pt x="3262" y="1126"/>
                    </a:lnTo>
                    <a:lnTo>
                      <a:pt x="3275" y="1134"/>
                    </a:lnTo>
                    <a:lnTo>
                      <a:pt x="3287" y="1143"/>
                    </a:lnTo>
                    <a:lnTo>
                      <a:pt x="3300" y="1152"/>
                    </a:lnTo>
                    <a:lnTo>
                      <a:pt x="3313" y="1152"/>
                    </a:lnTo>
                    <a:lnTo>
                      <a:pt x="3326" y="1161"/>
                    </a:lnTo>
                    <a:lnTo>
                      <a:pt x="3338" y="1170"/>
                    </a:lnTo>
                    <a:lnTo>
                      <a:pt x="3351" y="1178"/>
                    </a:lnTo>
                    <a:lnTo>
                      <a:pt x="3364" y="1187"/>
                    </a:lnTo>
                    <a:lnTo>
                      <a:pt x="3376" y="1187"/>
                    </a:lnTo>
                    <a:lnTo>
                      <a:pt x="3389" y="1196"/>
                    </a:lnTo>
                    <a:lnTo>
                      <a:pt x="3402" y="1205"/>
                    </a:lnTo>
                    <a:lnTo>
                      <a:pt x="3414" y="1205"/>
                    </a:lnTo>
                    <a:lnTo>
                      <a:pt x="3427" y="1214"/>
                    </a:lnTo>
                    <a:lnTo>
                      <a:pt x="3440" y="1214"/>
                    </a:lnTo>
                    <a:lnTo>
                      <a:pt x="3440" y="1222"/>
                    </a:lnTo>
                    <a:lnTo>
                      <a:pt x="3452" y="1222"/>
                    </a:lnTo>
                    <a:lnTo>
                      <a:pt x="3452" y="1231"/>
                    </a:lnTo>
                    <a:lnTo>
                      <a:pt x="3465" y="1231"/>
                    </a:lnTo>
                    <a:lnTo>
                      <a:pt x="3478" y="1240"/>
                    </a:lnTo>
                    <a:lnTo>
                      <a:pt x="3490" y="1240"/>
                    </a:lnTo>
                    <a:lnTo>
                      <a:pt x="3503" y="1249"/>
                    </a:lnTo>
                    <a:lnTo>
                      <a:pt x="3516" y="1249"/>
                    </a:lnTo>
                    <a:lnTo>
                      <a:pt x="3516" y="1258"/>
                    </a:lnTo>
                    <a:lnTo>
                      <a:pt x="3529" y="1258"/>
                    </a:lnTo>
                    <a:lnTo>
                      <a:pt x="3541" y="1258"/>
                    </a:lnTo>
                    <a:lnTo>
                      <a:pt x="3541" y="1266"/>
                    </a:lnTo>
                    <a:lnTo>
                      <a:pt x="3554" y="1266"/>
                    </a:lnTo>
                    <a:lnTo>
                      <a:pt x="3567" y="1275"/>
                    </a:lnTo>
                    <a:lnTo>
                      <a:pt x="3579" y="1275"/>
                    </a:lnTo>
                    <a:lnTo>
                      <a:pt x="3592" y="1275"/>
                    </a:lnTo>
                    <a:lnTo>
                      <a:pt x="3592" y="1284"/>
                    </a:lnTo>
                    <a:lnTo>
                      <a:pt x="3605" y="1284"/>
                    </a:lnTo>
                    <a:lnTo>
                      <a:pt x="3617" y="1293"/>
                    </a:lnTo>
                    <a:lnTo>
                      <a:pt x="3630" y="1293"/>
                    </a:lnTo>
                    <a:lnTo>
                      <a:pt x="3643" y="1302"/>
                    </a:lnTo>
                    <a:lnTo>
                      <a:pt x="3655" y="1302"/>
                    </a:lnTo>
                    <a:lnTo>
                      <a:pt x="3668" y="1302"/>
                    </a:lnTo>
                    <a:lnTo>
                      <a:pt x="3668" y="1310"/>
                    </a:lnTo>
                    <a:lnTo>
                      <a:pt x="3681" y="1310"/>
                    </a:lnTo>
                    <a:lnTo>
                      <a:pt x="3694" y="1310"/>
                    </a:lnTo>
                    <a:lnTo>
                      <a:pt x="3706" y="1319"/>
                    </a:lnTo>
                    <a:lnTo>
                      <a:pt x="3719" y="1319"/>
                    </a:lnTo>
                    <a:lnTo>
                      <a:pt x="3732" y="1328"/>
                    </a:lnTo>
                    <a:lnTo>
                      <a:pt x="3744" y="1328"/>
                    </a:lnTo>
                    <a:lnTo>
                      <a:pt x="3757" y="1337"/>
                    </a:lnTo>
                    <a:lnTo>
                      <a:pt x="3770" y="1337"/>
                    </a:lnTo>
                    <a:lnTo>
                      <a:pt x="3782" y="1337"/>
                    </a:lnTo>
                    <a:lnTo>
                      <a:pt x="3795" y="1346"/>
                    </a:lnTo>
                    <a:lnTo>
                      <a:pt x="3808" y="1346"/>
                    </a:lnTo>
                    <a:lnTo>
                      <a:pt x="3820" y="1346"/>
                    </a:lnTo>
                    <a:lnTo>
                      <a:pt x="3820" y="1354"/>
                    </a:lnTo>
                    <a:lnTo>
                      <a:pt x="3833" y="1354"/>
                    </a:lnTo>
                    <a:lnTo>
                      <a:pt x="3846" y="1354"/>
                    </a:lnTo>
                    <a:lnTo>
                      <a:pt x="3859" y="1363"/>
                    </a:lnTo>
                    <a:lnTo>
                      <a:pt x="3871" y="1363"/>
                    </a:lnTo>
                    <a:lnTo>
                      <a:pt x="3884" y="1363"/>
                    </a:lnTo>
                    <a:lnTo>
                      <a:pt x="3897" y="1372"/>
                    </a:lnTo>
                    <a:lnTo>
                      <a:pt x="3909" y="1372"/>
                    </a:lnTo>
                    <a:lnTo>
                      <a:pt x="3922" y="1372"/>
                    </a:lnTo>
                    <a:lnTo>
                      <a:pt x="3935" y="1372"/>
                    </a:lnTo>
                    <a:lnTo>
                      <a:pt x="3935" y="1381"/>
                    </a:lnTo>
                    <a:lnTo>
                      <a:pt x="3947" y="1381"/>
                    </a:lnTo>
                    <a:lnTo>
                      <a:pt x="3960" y="1381"/>
                    </a:lnTo>
                    <a:lnTo>
                      <a:pt x="3973" y="1381"/>
                    </a:lnTo>
                    <a:lnTo>
                      <a:pt x="3985" y="1389"/>
                    </a:lnTo>
                    <a:lnTo>
                      <a:pt x="3998" y="1389"/>
                    </a:lnTo>
                    <a:lnTo>
                      <a:pt x="4011" y="1389"/>
                    </a:lnTo>
                    <a:lnTo>
                      <a:pt x="4024" y="1398"/>
                    </a:lnTo>
                    <a:lnTo>
                      <a:pt x="4036" y="1398"/>
                    </a:lnTo>
                    <a:lnTo>
                      <a:pt x="4049" y="1398"/>
                    </a:lnTo>
                    <a:lnTo>
                      <a:pt x="4062" y="1398"/>
                    </a:lnTo>
                    <a:lnTo>
                      <a:pt x="4062" y="1407"/>
                    </a:lnTo>
                    <a:lnTo>
                      <a:pt x="4074" y="1407"/>
                    </a:lnTo>
                    <a:lnTo>
                      <a:pt x="4087" y="1407"/>
                    </a:lnTo>
                    <a:lnTo>
                      <a:pt x="4100" y="1407"/>
                    </a:lnTo>
                    <a:lnTo>
                      <a:pt x="4112" y="1407"/>
                    </a:lnTo>
                    <a:lnTo>
                      <a:pt x="4112" y="1416"/>
                    </a:lnTo>
                    <a:lnTo>
                      <a:pt x="4125" y="1416"/>
                    </a:lnTo>
                    <a:lnTo>
                      <a:pt x="4138" y="1416"/>
                    </a:lnTo>
                    <a:lnTo>
                      <a:pt x="4150" y="1416"/>
                    </a:lnTo>
                    <a:lnTo>
                      <a:pt x="4163" y="1416"/>
                    </a:lnTo>
                    <a:lnTo>
                      <a:pt x="4176" y="1425"/>
                    </a:lnTo>
                    <a:lnTo>
                      <a:pt x="4189" y="1425"/>
                    </a:lnTo>
                    <a:lnTo>
                      <a:pt x="4201" y="1425"/>
                    </a:lnTo>
                    <a:lnTo>
                      <a:pt x="4214" y="1425"/>
                    </a:lnTo>
                    <a:lnTo>
                      <a:pt x="4227" y="1425"/>
                    </a:lnTo>
                    <a:lnTo>
                      <a:pt x="4227" y="1433"/>
                    </a:lnTo>
                    <a:lnTo>
                      <a:pt x="4239" y="1433"/>
                    </a:lnTo>
                    <a:lnTo>
                      <a:pt x="4252" y="1433"/>
                    </a:lnTo>
                    <a:lnTo>
                      <a:pt x="4265" y="1433"/>
                    </a:lnTo>
                    <a:lnTo>
                      <a:pt x="4277" y="1433"/>
                    </a:lnTo>
                    <a:lnTo>
                      <a:pt x="4290" y="1442"/>
                    </a:lnTo>
                    <a:lnTo>
                      <a:pt x="4303" y="1442"/>
                    </a:lnTo>
                  </a:path>
                </a:pathLst>
              </a:custGeom>
              <a:noFill/>
              <a:ln w="50800" cap="rnd">
                <a:solidFill>
                  <a:srgbClr val="FF808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328" name="Freeform 15"/>
              <p:cNvSpPr>
                <a:spLocks/>
              </p:cNvSpPr>
              <p:nvPr/>
            </p:nvSpPr>
            <p:spPr bwMode="auto">
              <a:xfrm>
                <a:off x="722" y="1659"/>
                <a:ext cx="4304" cy="1988"/>
              </a:xfrm>
              <a:custGeom>
                <a:avLst/>
                <a:gdLst>
                  <a:gd name="T0" fmla="*/ 89 w 4304"/>
                  <a:gd name="T1" fmla="*/ 1969 h 1988"/>
                  <a:gd name="T2" fmla="*/ 191 w 4304"/>
                  <a:gd name="T3" fmla="*/ 1961 h 1988"/>
                  <a:gd name="T4" fmla="*/ 279 w 4304"/>
                  <a:gd name="T5" fmla="*/ 1943 h 1988"/>
                  <a:gd name="T6" fmla="*/ 381 w 4304"/>
                  <a:gd name="T7" fmla="*/ 1908 h 1988"/>
                  <a:gd name="T8" fmla="*/ 470 w 4304"/>
                  <a:gd name="T9" fmla="*/ 1881 h 1988"/>
                  <a:gd name="T10" fmla="*/ 559 w 4304"/>
                  <a:gd name="T11" fmla="*/ 1837 h 1988"/>
                  <a:gd name="T12" fmla="*/ 648 w 4304"/>
                  <a:gd name="T13" fmla="*/ 1785 h 1988"/>
                  <a:gd name="T14" fmla="*/ 749 w 4304"/>
                  <a:gd name="T15" fmla="*/ 1714 h 1988"/>
                  <a:gd name="T16" fmla="*/ 813 w 4304"/>
                  <a:gd name="T17" fmla="*/ 1662 h 1988"/>
                  <a:gd name="T18" fmla="*/ 876 w 4304"/>
                  <a:gd name="T19" fmla="*/ 1600 h 1988"/>
                  <a:gd name="T20" fmla="*/ 927 w 4304"/>
                  <a:gd name="T21" fmla="*/ 1538 h 1988"/>
                  <a:gd name="T22" fmla="*/ 990 w 4304"/>
                  <a:gd name="T23" fmla="*/ 1468 h 1988"/>
                  <a:gd name="T24" fmla="*/ 1041 w 4304"/>
                  <a:gd name="T25" fmla="*/ 1398 h 1988"/>
                  <a:gd name="T26" fmla="*/ 1104 w 4304"/>
                  <a:gd name="T27" fmla="*/ 1319 h 1988"/>
                  <a:gd name="T28" fmla="*/ 1168 w 4304"/>
                  <a:gd name="T29" fmla="*/ 1231 h 1988"/>
                  <a:gd name="T30" fmla="*/ 1219 w 4304"/>
                  <a:gd name="T31" fmla="*/ 1152 h 1988"/>
                  <a:gd name="T32" fmla="*/ 1282 w 4304"/>
                  <a:gd name="T33" fmla="*/ 1055 h 1988"/>
                  <a:gd name="T34" fmla="*/ 1333 w 4304"/>
                  <a:gd name="T35" fmla="*/ 958 h 1988"/>
                  <a:gd name="T36" fmla="*/ 1396 w 4304"/>
                  <a:gd name="T37" fmla="*/ 861 h 1988"/>
                  <a:gd name="T38" fmla="*/ 1447 w 4304"/>
                  <a:gd name="T39" fmla="*/ 765 h 1988"/>
                  <a:gd name="T40" fmla="*/ 1511 w 4304"/>
                  <a:gd name="T41" fmla="*/ 668 h 1988"/>
                  <a:gd name="T42" fmla="*/ 1561 w 4304"/>
                  <a:gd name="T43" fmla="*/ 571 h 1988"/>
                  <a:gd name="T44" fmla="*/ 1625 w 4304"/>
                  <a:gd name="T45" fmla="*/ 483 h 1988"/>
                  <a:gd name="T46" fmla="*/ 1676 w 4304"/>
                  <a:gd name="T47" fmla="*/ 395 h 1988"/>
                  <a:gd name="T48" fmla="*/ 1739 w 4304"/>
                  <a:gd name="T49" fmla="*/ 316 h 1988"/>
                  <a:gd name="T50" fmla="*/ 1790 w 4304"/>
                  <a:gd name="T51" fmla="*/ 237 h 1988"/>
                  <a:gd name="T52" fmla="*/ 1853 w 4304"/>
                  <a:gd name="T53" fmla="*/ 167 h 1988"/>
                  <a:gd name="T54" fmla="*/ 1904 w 4304"/>
                  <a:gd name="T55" fmla="*/ 114 h 1988"/>
                  <a:gd name="T56" fmla="*/ 1967 w 4304"/>
                  <a:gd name="T57" fmla="*/ 61 h 1988"/>
                  <a:gd name="T58" fmla="*/ 2031 w 4304"/>
                  <a:gd name="T59" fmla="*/ 26 h 1988"/>
                  <a:gd name="T60" fmla="*/ 2132 w 4304"/>
                  <a:gd name="T61" fmla="*/ 0 h 1988"/>
                  <a:gd name="T62" fmla="*/ 2221 w 4304"/>
                  <a:gd name="T63" fmla="*/ 8 h 1988"/>
                  <a:gd name="T64" fmla="*/ 2297 w 4304"/>
                  <a:gd name="T65" fmla="*/ 35 h 1988"/>
                  <a:gd name="T66" fmla="*/ 2374 w 4304"/>
                  <a:gd name="T67" fmla="*/ 88 h 1988"/>
                  <a:gd name="T68" fmla="*/ 2450 w 4304"/>
                  <a:gd name="T69" fmla="*/ 158 h 1988"/>
                  <a:gd name="T70" fmla="*/ 2513 w 4304"/>
                  <a:gd name="T71" fmla="*/ 228 h 1988"/>
                  <a:gd name="T72" fmla="*/ 2564 w 4304"/>
                  <a:gd name="T73" fmla="*/ 299 h 1988"/>
                  <a:gd name="T74" fmla="*/ 2627 w 4304"/>
                  <a:gd name="T75" fmla="*/ 387 h 1988"/>
                  <a:gd name="T76" fmla="*/ 2678 w 4304"/>
                  <a:gd name="T77" fmla="*/ 475 h 1988"/>
                  <a:gd name="T78" fmla="*/ 2742 w 4304"/>
                  <a:gd name="T79" fmla="*/ 562 h 1988"/>
                  <a:gd name="T80" fmla="*/ 2792 w 4304"/>
                  <a:gd name="T81" fmla="*/ 659 h 1988"/>
                  <a:gd name="T82" fmla="*/ 2856 w 4304"/>
                  <a:gd name="T83" fmla="*/ 756 h 1988"/>
                  <a:gd name="T84" fmla="*/ 2907 w 4304"/>
                  <a:gd name="T85" fmla="*/ 853 h 1988"/>
                  <a:gd name="T86" fmla="*/ 2970 w 4304"/>
                  <a:gd name="T87" fmla="*/ 949 h 1988"/>
                  <a:gd name="T88" fmla="*/ 3021 w 4304"/>
                  <a:gd name="T89" fmla="*/ 1046 h 1988"/>
                  <a:gd name="T90" fmla="*/ 3084 w 4304"/>
                  <a:gd name="T91" fmla="*/ 1134 h 1988"/>
                  <a:gd name="T92" fmla="*/ 3135 w 4304"/>
                  <a:gd name="T93" fmla="*/ 1222 h 1988"/>
                  <a:gd name="T94" fmla="*/ 3199 w 4304"/>
                  <a:gd name="T95" fmla="*/ 1310 h 1988"/>
                  <a:gd name="T96" fmla="*/ 3262 w 4304"/>
                  <a:gd name="T97" fmla="*/ 1389 h 1988"/>
                  <a:gd name="T98" fmla="*/ 3313 w 4304"/>
                  <a:gd name="T99" fmla="*/ 1459 h 1988"/>
                  <a:gd name="T100" fmla="*/ 3376 w 4304"/>
                  <a:gd name="T101" fmla="*/ 1530 h 1988"/>
                  <a:gd name="T102" fmla="*/ 3440 w 4304"/>
                  <a:gd name="T103" fmla="*/ 1600 h 1988"/>
                  <a:gd name="T104" fmla="*/ 3503 w 4304"/>
                  <a:gd name="T105" fmla="*/ 1662 h 1988"/>
                  <a:gd name="T106" fmla="*/ 3567 w 4304"/>
                  <a:gd name="T107" fmla="*/ 1723 h 1988"/>
                  <a:gd name="T108" fmla="*/ 3630 w 4304"/>
                  <a:gd name="T109" fmla="*/ 1767 h 1988"/>
                  <a:gd name="T110" fmla="*/ 3694 w 4304"/>
                  <a:gd name="T111" fmla="*/ 1802 h 1988"/>
                  <a:gd name="T112" fmla="*/ 3770 w 4304"/>
                  <a:gd name="T113" fmla="*/ 1846 h 1988"/>
                  <a:gd name="T114" fmla="*/ 3833 w 4304"/>
                  <a:gd name="T115" fmla="*/ 1873 h 1988"/>
                  <a:gd name="T116" fmla="*/ 3922 w 4304"/>
                  <a:gd name="T117" fmla="*/ 1908 h 1988"/>
                  <a:gd name="T118" fmla="*/ 3998 w 4304"/>
                  <a:gd name="T119" fmla="*/ 1925 h 1988"/>
                  <a:gd name="T120" fmla="*/ 4087 w 4304"/>
                  <a:gd name="T121" fmla="*/ 1952 h 1988"/>
                  <a:gd name="T122" fmla="*/ 4163 w 4304"/>
                  <a:gd name="T123" fmla="*/ 1969 h 1988"/>
                  <a:gd name="T124" fmla="*/ 4252 w 4304"/>
                  <a:gd name="T125" fmla="*/ 1978 h 1988"/>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4304"/>
                  <a:gd name="T190" fmla="*/ 0 h 1988"/>
                  <a:gd name="T191" fmla="*/ 4304 w 4304"/>
                  <a:gd name="T192" fmla="*/ 1988 h 1988"/>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4304" h="1988">
                    <a:moveTo>
                      <a:pt x="0" y="1987"/>
                    </a:moveTo>
                    <a:lnTo>
                      <a:pt x="13" y="1978"/>
                    </a:lnTo>
                    <a:lnTo>
                      <a:pt x="26" y="1978"/>
                    </a:lnTo>
                    <a:lnTo>
                      <a:pt x="38" y="1978"/>
                    </a:lnTo>
                    <a:lnTo>
                      <a:pt x="51" y="1978"/>
                    </a:lnTo>
                    <a:lnTo>
                      <a:pt x="64" y="1978"/>
                    </a:lnTo>
                    <a:lnTo>
                      <a:pt x="76" y="1978"/>
                    </a:lnTo>
                    <a:lnTo>
                      <a:pt x="89" y="1969"/>
                    </a:lnTo>
                    <a:lnTo>
                      <a:pt x="102" y="1969"/>
                    </a:lnTo>
                    <a:lnTo>
                      <a:pt x="114" y="1969"/>
                    </a:lnTo>
                    <a:lnTo>
                      <a:pt x="127" y="1969"/>
                    </a:lnTo>
                    <a:lnTo>
                      <a:pt x="140" y="1969"/>
                    </a:lnTo>
                    <a:lnTo>
                      <a:pt x="153" y="1961"/>
                    </a:lnTo>
                    <a:lnTo>
                      <a:pt x="165" y="1961"/>
                    </a:lnTo>
                    <a:lnTo>
                      <a:pt x="178" y="1961"/>
                    </a:lnTo>
                    <a:lnTo>
                      <a:pt x="191" y="1961"/>
                    </a:lnTo>
                    <a:lnTo>
                      <a:pt x="203" y="1952"/>
                    </a:lnTo>
                    <a:lnTo>
                      <a:pt x="216" y="1952"/>
                    </a:lnTo>
                    <a:lnTo>
                      <a:pt x="229" y="1952"/>
                    </a:lnTo>
                    <a:lnTo>
                      <a:pt x="241" y="1952"/>
                    </a:lnTo>
                    <a:lnTo>
                      <a:pt x="241" y="1943"/>
                    </a:lnTo>
                    <a:lnTo>
                      <a:pt x="254" y="1943"/>
                    </a:lnTo>
                    <a:lnTo>
                      <a:pt x="267" y="1943"/>
                    </a:lnTo>
                    <a:lnTo>
                      <a:pt x="279" y="1943"/>
                    </a:lnTo>
                    <a:lnTo>
                      <a:pt x="292" y="1934"/>
                    </a:lnTo>
                    <a:lnTo>
                      <a:pt x="305" y="1934"/>
                    </a:lnTo>
                    <a:lnTo>
                      <a:pt x="318" y="1925"/>
                    </a:lnTo>
                    <a:lnTo>
                      <a:pt x="330" y="1925"/>
                    </a:lnTo>
                    <a:lnTo>
                      <a:pt x="343" y="1925"/>
                    </a:lnTo>
                    <a:lnTo>
                      <a:pt x="356" y="1917"/>
                    </a:lnTo>
                    <a:lnTo>
                      <a:pt x="368" y="1917"/>
                    </a:lnTo>
                    <a:lnTo>
                      <a:pt x="381" y="1908"/>
                    </a:lnTo>
                    <a:lnTo>
                      <a:pt x="394" y="1908"/>
                    </a:lnTo>
                    <a:lnTo>
                      <a:pt x="406" y="1908"/>
                    </a:lnTo>
                    <a:lnTo>
                      <a:pt x="406" y="1899"/>
                    </a:lnTo>
                    <a:lnTo>
                      <a:pt x="419" y="1899"/>
                    </a:lnTo>
                    <a:lnTo>
                      <a:pt x="432" y="1890"/>
                    </a:lnTo>
                    <a:lnTo>
                      <a:pt x="444" y="1890"/>
                    </a:lnTo>
                    <a:lnTo>
                      <a:pt x="457" y="1881"/>
                    </a:lnTo>
                    <a:lnTo>
                      <a:pt x="470" y="1881"/>
                    </a:lnTo>
                    <a:lnTo>
                      <a:pt x="470" y="1873"/>
                    </a:lnTo>
                    <a:lnTo>
                      <a:pt x="483" y="1873"/>
                    </a:lnTo>
                    <a:lnTo>
                      <a:pt x="495" y="1864"/>
                    </a:lnTo>
                    <a:lnTo>
                      <a:pt x="508" y="1864"/>
                    </a:lnTo>
                    <a:lnTo>
                      <a:pt x="521" y="1855"/>
                    </a:lnTo>
                    <a:lnTo>
                      <a:pt x="533" y="1846"/>
                    </a:lnTo>
                    <a:lnTo>
                      <a:pt x="546" y="1846"/>
                    </a:lnTo>
                    <a:lnTo>
                      <a:pt x="559" y="1837"/>
                    </a:lnTo>
                    <a:lnTo>
                      <a:pt x="571" y="1829"/>
                    </a:lnTo>
                    <a:lnTo>
                      <a:pt x="584" y="1820"/>
                    </a:lnTo>
                    <a:lnTo>
                      <a:pt x="597" y="1820"/>
                    </a:lnTo>
                    <a:lnTo>
                      <a:pt x="597" y="1811"/>
                    </a:lnTo>
                    <a:lnTo>
                      <a:pt x="609" y="1811"/>
                    </a:lnTo>
                    <a:lnTo>
                      <a:pt x="622" y="1802"/>
                    </a:lnTo>
                    <a:lnTo>
                      <a:pt x="635" y="1793"/>
                    </a:lnTo>
                    <a:lnTo>
                      <a:pt x="648" y="1785"/>
                    </a:lnTo>
                    <a:lnTo>
                      <a:pt x="660" y="1776"/>
                    </a:lnTo>
                    <a:lnTo>
                      <a:pt x="673" y="1767"/>
                    </a:lnTo>
                    <a:lnTo>
                      <a:pt x="686" y="1758"/>
                    </a:lnTo>
                    <a:lnTo>
                      <a:pt x="698" y="1750"/>
                    </a:lnTo>
                    <a:lnTo>
                      <a:pt x="711" y="1741"/>
                    </a:lnTo>
                    <a:lnTo>
                      <a:pt x="724" y="1732"/>
                    </a:lnTo>
                    <a:lnTo>
                      <a:pt x="736" y="1723"/>
                    </a:lnTo>
                    <a:lnTo>
                      <a:pt x="749" y="1714"/>
                    </a:lnTo>
                    <a:lnTo>
                      <a:pt x="749" y="1706"/>
                    </a:lnTo>
                    <a:lnTo>
                      <a:pt x="762" y="1706"/>
                    </a:lnTo>
                    <a:lnTo>
                      <a:pt x="762" y="1697"/>
                    </a:lnTo>
                    <a:lnTo>
                      <a:pt x="774" y="1688"/>
                    </a:lnTo>
                    <a:lnTo>
                      <a:pt x="787" y="1679"/>
                    </a:lnTo>
                    <a:lnTo>
                      <a:pt x="800" y="1670"/>
                    </a:lnTo>
                    <a:lnTo>
                      <a:pt x="800" y="1662"/>
                    </a:lnTo>
                    <a:lnTo>
                      <a:pt x="813" y="1662"/>
                    </a:lnTo>
                    <a:lnTo>
                      <a:pt x="813" y="1653"/>
                    </a:lnTo>
                    <a:lnTo>
                      <a:pt x="825" y="1644"/>
                    </a:lnTo>
                    <a:lnTo>
                      <a:pt x="838" y="1635"/>
                    </a:lnTo>
                    <a:lnTo>
                      <a:pt x="851" y="1626"/>
                    </a:lnTo>
                    <a:lnTo>
                      <a:pt x="851" y="1618"/>
                    </a:lnTo>
                    <a:lnTo>
                      <a:pt x="863" y="1609"/>
                    </a:lnTo>
                    <a:lnTo>
                      <a:pt x="863" y="1600"/>
                    </a:lnTo>
                    <a:lnTo>
                      <a:pt x="876" y="1600"/>
                    </a:lnTo>
                    <a:lnTo>
                      <a:pt x="876" y="1591"/>
                    </a:lnTo>
                    <a:lnTo>
                      <a:pt x="889" y="1582"/>
                    </a:lnTo>
                    <a:lnTo>
                      <a:pt x="901" y="1574"/>
                    </a:lnTo>
                    <a:lnTo>
                      <a:pt x="901" y="1565"/>
                    </a:lnTo>
                    <a:lnTo>
                      <a:pt x="914" y="1556"/>
                    </a:lnTo>
                    <a:lnTo>
                      <a:pt x="914" y="1547"/>
                    </a:lnTo>
                    <a:lnTo>
                      <a:pt x="927" y="1547"/>
                    </a:lnTo>
                    <a:lnTo>
                      <a:pt x="927" y="1538"/>
                    </a:lnTo>
                    <a:lnTo>
                      <a:pt x="939" y="1530"/>
                    </a:lnTo>
                    <a:lnTo>
                      <a:pt x="952" y="1521"/>
                    </a:lnTo>
                    <a:lnTo>
                      <a:pt x="952" y="1512"/>
                    </a:lnTo>
                    <a:lnTo>
                      <a:pt x="965" y="1503"/>
                    </a:lnTo>
                    <a:lnTo>
                      <a:pt x="965" y="1495"/>
                    </a:lnTo>
                    <a:lnTo>
                      <a:pt x="977" y="1486"/>
                    </a:lnTo>
                    <a:lnTo>
                      <a:pt x="977" y="1477"/>
                    </a:lnTo>
                    <a:lnTo>
                      <a:pt x="990" y="1468"/>
                    </a:lnTo>
                    <a:lnTo>
                      <a:pt x="1003" y="1459"/>
                    </a:lnTo>
                    <a:lnTo>
                      <a:pt x="1003" y="1451"/>
                    </a:lnTo>
                    <a:lnTo>
                      <a:pt x="1016" y="1442"/>
                    </a:lnTo>
                    <a:lnTo>
                      <a:pt x="1016" y="1433"/>
                    </a:lnTo>
                    <a:lnTo>
                      <a:pt x="1028" y="1424"/>
                    </a:lnTo>
                    <a:lnTo>
                      <a:pt x="1028" y="1415"/>
                    </a:lnTo>
                    <a:lnTo>
                      <a:pt x="1041" y="1407"/>
                    </a:lnTo>
                    <a:lnTo>
                      <a:pt x="1041" y="1398"/>
                    </a:lnTo>
                    <a:lnTo>
                      <a:pt x="1054" y="1389"/>
                    </a:lnTo>
                    <a:lnTo>
                      <a:pt x="1066" y="1380"/>
                    </a:lnTo>
                    <a:lnTo>
                      <a:pt x="1066" y="1371"/>
                    </a:lnTo>
                    <a:lnTo>
                      <a:pt x="1079" y="1354"/>
                    </a:lnTo>
                    <a:lnTo>
                      <a:pt x="1079" y="1345"/>
                    </a:lnTo>
                    <a:lnTo>
                      <a:pt x="1092" y="1336"/>
                    </a:lnTo>
                    <a:lnTo>
                      <a:pt x="1092" y="1327"/>
                    </a:lnTo>
                    <a:lnTo>
                      <a:pt x="1104" y="1319"/>
                    </a:lnTo>
                    <a:lnTo>
                      <a:pt x="1117" y="1310"/>
                    </a:lnTo>
                    <a:lnTo>
                      <a:pt x="1117" y="1301"/>
                    </a:lnTo>
                    <a:lnTo>
                      <a:pt x="1130" y="1283"/>
                    </a:lnTo>
                    <a:lnTo>
                      <a:pt x="1130" y="1275"/>
                    </a:lnTo>
                    <a:lnTo>
                      <a:pt x="1142" y="1266"/>
                    </a:lnTo>
                    <a:lnTo>
                      <a:pt x="1142" y="1257"/>
                    </a:lnTo>
                    <a:lnTo>
                      <a:pt x="1155" y="1248"/>
                    </a:lnTo>
                    <a:lnTo>
                      <a:pt x="1168" y="1231"/>
                    </a:lnTo>
                    <a:lnTo>
                      <a:pt x="1168" y="1222"/>
                    </a:lnTo>
                    <a:lnTo>
                      <a:pt x="1181" y="1213"/>
                    </a:lnTo>
                    <a:lnTo>
                      <a:pt x="1181" y="1204"/>
                    </a:lnTo>
                    <a:lnTo>
                      <a:pt x="1193" y="1196"/>
                    </a:lnTo>
                    <a:lnTo>
                      <a:pt x="1193" y="1178"/>
                    </a:lnTo>
                    <a:lnTo>
                      <a:pt x="1206" y="1169"/>
                    </a:lnTo>
                    <a:lnTo>
                      <a:pt x="1206" y="1160"/>
                    </a:lnTo>
                    <a:lnTo>
                      <a:pt x="1219" y="1152"/>
                    </a:lnTo>
                    <a:lnTo>
                      <a:pt x="1231" y="1134"/>
                    </a:lnTo>
                    <a:lnTo>
                      <a:pt x="1231" y="1125"/>
                    </a:lnTo>
                    <a:lnTo>
                      <a:pt x="1244" y="1116"/>
                    </a:lnTo>
                    <a:lnTo>
                      <a:pt x="1244" y="1099"/>
                    </a:lnTo>
                    <a:lnTo>
                      <a:pt x="1257" y="1090"/>
                    </a:lnTo>
                    <a:lnTo>
                      <a:pt x="1257" y="1081"/>
                    </a:lnTo>
                    <a:lnTo>
                      <a:pt x="1269" y="1064"/>
                    </a:lnTo>
                    <a:lnTo>
                      <a:pt x="1282" y="1055"/>
                    </a:lnTo>
                    <a:lnTo>
                      <a:pt x="1282" y="1046"/>
                    </a:lnTo>
                    <a:lnTo>
                      <a:pt x="1295" y="1028"/>
                    </a:lnTo>
                    <a:lnTo>
                      <a:pt x="1295" y="1020"/>
                    </a:lnTo>
                    <a:lnTo>
                      <a:pt x="1307" y="1011"/>
                    </a:lnTo>
                    <a:lnTo>
                      <a:pt x="1307" y="993"/>
                    </a:lnTo>
                    <a:lnTo>
                      <a:pt x="1320" y="985"/>
                    </a:lnTo>
                    <a:lnTo>
                      <a:pt x="1333" y="976"/>
                    </a:lnTo>
                    <a:lnTo>
                      <a:pt x="1333" y="958"/>
                    </a:lnTo>
                    <a:lnTo>
                      <a:pt x="1346" y="949"/>
                    </a:lnTo>
                    <a:lnTo>
                      <a:pt x="1346" y="941"/>
                    </a:lnTo>
                    <a:lnTo>
                      <a:pt x="1358" y="923"/>
                    </a:lnTo>
                    <a:lnTo>
                      <a:pt x="1358" y="914"/>
                    </a:lnTo>
                    <a:lnTo>
                      <a:pt x="1371" y="905"/>
                    </a:lnTo>
                    <a:lnTo>
                      <a:pt x="1371" y="888"/>
                    </a:lnTo>
                    <a:lnTo>
                      <a:pt x="1384" y="879"/>
                    </a:lnTo>
                    <a:lnTo>
                      <a:pt x="1396" y="861"/>
                    </a:lnTo>
                    <a:lnTo>
                      <a:pt x="1396" y="853"/>
                    </a:lnTo>
                    <a:lnTo>
                      <a:pt x="1409" y="844"/>
                    </a:lnTo>
                    <a:lnTo>
                      <a:pt x="1409" y="826"/>
                    </a:lnTo>
                    <a:lnTo>
                      <a:pt x="1422" y="817"/>
                    </a:lnTo>
                    <a:lnTo>
                      <a:pt x="1422" y="809"/>
                    </a:lnTo>
                    <a:lnTo>
                      <a:pt x="1434" y="791"/>
                    </a:lnTo>
                    <a:lnTo>
                      <a:pt x="1447" y="782"/>
                    </a:lnTo>
                    <a:lnTo>
                      <a:pt x="1447" y="765"/>
                    </a:lnTo>
                    <a:lnTo>
                      <a:pt x="1460" y="756"/>
                    </a:lnTo>
                    <a:lnTo>
                      <a:pt x="1460" y="747"/>
                    </a:lnTo>
                    <a:lnTo>
                      <a:pt x="1472" y="730"/>
                    </a:lnTo>
                    <a:lnTo>
                      <a:pt x="1472" y="721"/>
                    </a:lnTo>
                    <a:lnTo>
                      <a:pt x="1485" y="703"/>
                    </a:lnTo>
                    <a:lnTo>
                      <a:pt x="1498" y="694"/>
                    </a:lnTo>
                    <a:lnTo>
                      <a:pt x="1498" y="686"/>
                    </a:lnTo>
                    <a:lnTo>
                      <a:pt x="1511" y="668"/>
                    </a:lnTo>
                    <a:lnTo>
                      <a:pt x="1511" y="659"/>
                    </a:lnTo>
                    <a:lnTo>
                      <a:pt x="1523" y="650"/>
                    </a:lnTo>
                    <a:lnTo>
                      <a:pt x="1523" y="633"/>
                    </a:lnTo>
                    <a:lnTo>
                      <a:pt x="1536" y="624"/>
                    </a:lnTo>
                    <a:lnTo>
                      <a:pt x="1536" y="615"/>
                    </a:lnTo>
                    <a:lnTo>
                      <a:pt x="1549" y="598"/>
                    </a:lnTo>
                    <a:lnTo>
                      <a:pt x="1561" y="589"/>
                    </a:lnTo>
                    <a:lnTo>
                      <a:pt x="1561" y="571"/>
                    </a:lnTo>
                    <a:lnTo>
                      <a:pt x="1574" y="562"/>
                    </a:lnTo>
                    <a:lnTo>
                      <a:pt x="1574" y="554"/>
                    </a:lnTo>
                    <a:lnTo>
                      <a:pt x="1587" y="536"/>
                    </a:lnTo>
                    <a:lnTo>
                      <a:pt x="1587" y="527"/>
                    </a:lnTo>
                    <a:lnTo>
                      <a:pt x="1599" y="518"/>
                    </a:lnTo>
                    <a:lnTo>
                      <a:pt x="1612" y="510"/>
                    </a:lnTo>
                    <a:lnTo>
                      <a:pt x="1612" y="492"/>
                    </a:lnTo>
                    <a:lnTo>
                      <a:pt x="1625" y="483"/>
                    </a:lnTo>
                    <a:lnTo>
                      <a:pt x="1625" y="475"/>
                    </a:lnTo>
                    <a:lnTo>
                      <a:pt x="1637" y="457"/>
                    </a:lnTo>
                    <a:lnTo>
                      <a:pt x="1637" y="448"/>
                    </a:lnTo>
                    <a:lnTo>
                      <a:pt x="1650" y="439"/>
                    </a:lnTo>
                    <a:lnTo>
                      <a:pt x="1663" y="431"/>
                    </a:lnTo>
                    <a:lnTo>
                      <a:pt x="1663" y="413"/>
                    </a:lnTo>
                    <a:lnTo>
                      <a:pt x="1676" y="404"/>
                    </a:lnTo>
                    <a:lnTo>
                      <a:pt x="1676" y="395"/>
                    </a:lnTo>
                    <a:lnTo>
                      <a:pt x="1688" y="387"/>
                    </a:lnTo>
                    <a:lnTo>
                      <a:pt x="1688" y="369"/>
                    </a:lnTo>
                    <a:lnTo>
                      <a:pt x="1701" y="360"/>
                    </a:lnTo>
                    <a:lnTo>
                      <a:pt x="1701" y="351"/>
                    </a:lnTo>
                    <a:lnTo>
                      <a:pt x="1714" y="343"/>
                    </a:lnTo>
                    <a:lnTo>
                      <a:pt x="1726" y="334"/>
                    </a:lnTo>
                    <a:lnTo>
                      <a:pt x="1726" y="325"/>
                    </a:lnTo>
                    <a:lnTo>
                      <a:pt x="1739" y="316"/>
                    </a:lnTo>
                    <a:lnTo>
                      <a:pt x="1739" y="299"/>
                    </a:lnTo>
                    <a:lnTo>
                      <a:pt x="1752" y="290"/>
                    </a:lnTo>
                    <a:lnTo>
                      <a:pt x="1752" y="281"/>
                    </a:lnTo>
                    <a:lnTo>
                      <a:pt x="1764" y="272"/>
                    </a:lnTo>
                    <a:lnTo>
                      <a:pt x="1777" y="263"/>
                    </a:lnTo>
                    <a:lnTo>
                      <a:pt x="1777" y="255"/>
                    </a:lnTo>
                    <a:lnTo>
                      <a:pt x="1790" y="246"/>
                    </a:lnTo>
                    <a:lnTo>
                      <a:pt x="1790" y="237"/>
                    </a:lnTo>
                    <a:lnTo>
                      <a:pt x="1802" y="228"/>
                    </a:lnTo>
                    <a:lnTo>
                      <a:pt x="1802" y="220"/>
                    </a:lnTo>
                    <a:lnTo>
                      <a:pt x="1815" y="211"/>
                    </a:lnTo>
                    <a:lnTo>
                      <a:pt x="1828" y="202"/>
                    </a:lnTo>
                    <a:lnTo>
                      <a:pt x="1828" y="193"/>
                    </a:lnTo>
                    <a:lnTo>
                      <a:pt x="1841" y="184"/>
                    </a:lnTo>
                    <a:lnTo>
                      <a:pt x="1841" y="176"/>
                    </a:lnTo>
                    <a:lnTo>
                      <a:pt x="1853" y="167"/>
                    </a:lnTo>
                    <a:lnTo>
                      <a:pt x="1853" y="158"/>
                    </a:lnTo>
                    <a:lnTo>
                      <a:pt x="1866" y="158"/>
                    </a:lnTo>
                    <a:lnTo>
                      <a:pt x="1866" y="149"/>
                    </a:lnTo>
                    <a:lnTo>
                      <a:pt x="1879" y="140"/>
                    </a:lnTo>
                    <a:lnTo>
                      <a:pt x="1891" y="132"/>
                    </a:lnTo>
                    <a:lnTo>
                      <a:pt x="1891" y="123"/>
                    </a:lnTo>
                    <a:lnTo>
                      <a:pt x="1904" y="123"/>
                    </a:lnTo>
                    <a:lnTo>
                      <a:pt x="1904" y="114"/>
                    </a:lnTo>
                    <a:lnTo>
                      <a:pt x="1917" y="105"/>
                    </a:lnTo>
                    <a:lnTo>
                      <a:pt x="1917" y="96"/>
                    </a:lnTo>
                    <a:lnTo>
                      <a:pt x="1929" y="96"/>
                    </a:lnTo>
                    <a:lnTo>
                      <a:pt x="1942" y="88"/>
                    </a:lnTo>
                    <a:lnTo>
                      <a:pt x="1942" y="79"/>
                    </a:lnTo>
                    <a:lnTo>
                      <a:pt x="1955" y="79"/>
                    </a:lnTo>
                    <a:lnTo>
                      <a:pt x="1955" y="70"/>
                    </a:lnTo>
                    <a:lnTo>
                      <a:pt x="1967" y="61"/>
                    </a:lnTo>
                    <a:lnTo>
                      <a:pt x="1980" y="52"/>
                    </a:lnTo>
                    <a:lnTo>
                      <a:pt x="1993" y="52"/>
                    </a:lnTo>
                    <a:lnTo>
                      <a:pt x="1993" y="44"/>
                    </a:lnTo>
                    <a:lnTo>
                      <a:pt x="2006" y="44"/>
                    </a:lnTo>
                    <a:lnTo>
                      <a:pt x="2006" y="35"/>
                    </a:lnTo>
                    <a:lnTo>
                      <a:pt x="2018" y="35"/>
                    </a:lnTo>
                    <a:lnTo>
                      <a:pt x="2018" y="26"/>
                    </a:lnTo>
                    <a:lnTo>
                      <a:pt x="2031" y="26"/>
                    </a:lnTo>
                    <a:lnTo>
                      <a:pt x="2044" y="17"/>
                    </a:lnTo>
                    <a:lnTo>
                      <a:pt x="2056" y="17"/>
                    </a:lnTo>
                    <a:lnTo>
                      <a:pt x="2069" y="8"/>
                    </a:lnTo>
                    <a:lnTo>
                      <a:pt x="2082" y="8"/>
                    </a:lnTo>
                    <a:lnTo>
                      <a:pt x="2094" y="0"/>
                    </a:lnTo>
                    <a:lnTo>
                      <a:pt x="2107" y="0"/>
                    </a:lnTo>
                    <a:lnTo>
                      <a:pt x="2120" y="0"/>
                    </a:lnTo>
                    <a:lnTo>
                      <a:pt x="2132" y="0"/>
                    </a:lnTo>
                    <a:lnTo>
                      <a:pt x="2145" y="0"/>
                    </a:lnTo>
                    <a:lnTo>
                      <a:pt x="2158" y="0"/>
                    </a:lnTo>
                    <a:lnTo>
                      <a:pt x="2171" y="0"/>
                    </a:lnTo>
                    <a:lnTo>
                      <a:pt x="2183" y="0"/>
                    </a:lnTo>
                    <a:lnTo>
                      <a:pt x="2196" y="0"/>
                    </a:lnTo>
                    <a:lnTo>
                      <a:pt x="2209" y="0"/>
                    </a:lnTo>
                    <a:lnTo>
                      <a:pt x="2221" y="0"/>
                    </a:lnTo>
                    <a:lnTo>
                      <a:pt x="2221" y="8"/>
                    </a:lnTo>
                    <a:lnTo>
                      <a:pt x="2234" y="8"/>
                    </a:lnTo>
                    <a:lnTo>
                      <a:pt x="2247" y="8"/>
                    </a:lnTo>
                    <a:lnTo>
                      <a:pt x="2247" y="17"/>
                    </a:lnTo>
                    <a:lnTo>
                      <a:pt x="2259" y="17"/>
                    </a:lnTo>
                    <a:lnTo>
                      <a:pt x="2272" y="17"/>
                    </a:lnTo>
                    <a:lnTo>
                      <a:pt x="2272" y="26"/>
                    </a:lnTo>
                    <a:lnTo>
                      <a:pt x="2285" y="26"/>
                    </a:lnTo>
                    <a:lnTo>
                      <a:pt x="2297" y="35"/>
                    </a:lnTo>
                    <a:lnTo>
                      <a:pt x="2310" y="44"/>
                    </a:lnTo>
                    <a:lnTo>
                      <a:pt x="2323" y="52"/>
                    </a:lnTo>
                    <a:lnTo>
                      <a:pt x="2336" y="52"/>
                    </a:lnTo>
                    <a:lnTo>
                      <a:pt x="2336" y="61"/>
                    </a:lnTo>
                    <a:lnTo>
                      <a:pt x="2348" y="61"/>
                    </a:lnTo>
                    <a:lnTo>
                      <a:pt x="2348" y="70"/>
                    </a:lnTo>
                    <a:lnTo>
                      <a:pt x="2361" y="79"/>
                    </a:lnTo>
                    <a:lnTo>
                      <a:pt x="2374" y="88"/>
                    </a:lnTo>
                    <a:lnTo>
                      <a:pt x="2386" y="96"/>
                    </a:lnTo>
                    <a:lnTo>
                      <a:pt x="2399" y="105"/>
                    </a:lnTo>
                    <a:lnTo>
                      <a:pt x="2399" y="114"/>
                    </a:lnTo>
                    <a:lnTo>
                      <a:pt x="2412" y="123"/>
                    </a:lnTo>
                    <a:lnTo>
                      <a:pt x="2424" y="132"/>
                    </a:lnTo>
                    <a:lnTo>
                      <a:pt x="2437" y="140"/>
                    </a:lnTo>
                    <a:lnTo>
                      <a:pt x="2437" y="149"/>
                    </a:lnTo>
                    <a:lnTo>
                      <a:pt x="2450" y="158"/>
                    </a:lnTo>
                    <a:lnTo>
                      <a:pt x="2462" y="167"/>
                    </a:lnTo>
                    <a:lnTo>
                      <a:pt x="2462" y="176"/>
                    </a:lnTo>
                    <a:lnTo>
                      <a:pt x="2475" y="184"/>
                    </a:lnTo>
                    <a:lnTo>
                      <a:pt x="2475" y="193"/>
                    </a:lnTo>
                    <a:lnTo>
                      <a:pt x="2488" y="202"/>
                    </a:lnTo>
                    <a:lnTo>
                      <a:pt x="2501" y="211"/>
                    </a:lnTo>
                    <a:lnTo>
                      <a:pt x="2501" y="220"/>
                    </a:lnTo>
                    <a:lnTo>
                      <a:pt x="2513" y="228"/>
                    </a:lnTo>
                    <a:lnTo>
                      <a:pt x="2513" y="237"/>
                    </a:lnTo>
                    <a:lnTo>
                      <a:pt x="2526" y="246"/>
                    </a:lnTo>
                    <a:lnTo>
                      <a:pt x="2526" y="255"/>
                    </a:lnTo>
                    <a:lnTo>
                      <a:pt x="2539" y="263"/>
                    </a:lnTo>
                    <a:lnTo>
                      <a:pt x="2551" y="272"/>
                    </a:lnTo>
                    <a:lnTo>
                      <a:pt x="2551" y="281"/>
                    </a:lnTo>
                    <a:lnTo>
                      <a:pt x="2564" y="290"/>
                    </a:lnTo>
                    <a:lnTo>
                      <a:pt x="2564" y="299"/>
                    </a:lnTo>
                    <a:lnTo>
                      <a:pt x="2577" y="316"/>
                    </a:lnTo>
                    <a:lnTo>
                      <a:pt x="2577" y="325"/>
                    </a:lnTo>
                    <a:lnTo>
                      <a:pt x="2589" y="334"/>
                    </a:lnTo>
                    <a:lnTo>
                      <a:pt x="2602" y="343"/>
                    </a:lnTo>
                    <a:lnTo>
                      <a:pt x="2602" y="351"/>
                    </a:lnTo>
                    <a:lnTo>
                      <a:pt x="2615" y="360"/>
                    </a:lnTo>
                    <a:lnTo>
                      <a:pt x="2615" y="369"/>
                    </a:lnTo>
                    <a:lnTo>
                      <a:pt x="2627" y="387"/>
                    </a:lnTo>
                    <a:lnTo>
                      <a:pt x="2627" y="395"/>
                    </a:lnTo>
                    <a:lnTo>
                      <a:pt x="2640" y="404"/>
                    </a:lnTo>
                    <a:lnTo>
                      <a:pt x="2640" y="413"/>
                    </a:lnTo>
                    <a:lnTo>
                      <a:pt x="2653" y="431"/>
                    </a:lnTo>
                    <a:lnTo>
                      <a:pt x="2666" y="439"/>
                    </a:lnTo>
                    <a:lnTo>
                      <a:pt x="2666" y="448"/>
                    </a:lnTo>
                    <a:lnTo>
                      <a:pt x="2678" y="457"/>
                    </a:lnTo>
                    <a:lnTo>
                      <a:pt x="2678" y="475"/>
                    </a:lnTo>
                    <a:lnTo>
                      <a:pt x="2691" y="483"/>
                    </a:lnTo>
                    <a:lnTo>
                      <a:pt x="2691" y="492"/>
                    </a:lnTo>
                    <a:lnTo>
                      <a:pt x="2704" y="510"/>
                    </a:lnTo>
                    <a:lnTo>
                      <a:pt x="2716" y="518"/>
                    </a:lnTo>
                    <a:lnTo>
                      <a:pt x="2716" y="527"/>
                    </a:lnTo>
                    <a:lnTo>
                      <a:pt x="2729" y="536"/>
                    </a:lnTo>
                    <a:lnTo>
                      <a:pt x="2729" y="554"/>
                    </a:lnTo>
                    <a:lnTo>
                      <a:pt x="2742" y="562"/>
                    </a:lnTo>
                    <a:lnTo>
                      <a:pt x="2742" y="571"/>
                    </a:lnTo>
                    <a:lnTo>
                      <a:pt x="2754" y="589"/>
                    </a:lnTo>
                    <a:lnTo>
                      <a:pt x="2767" y="598"/>
                    </a:lnTo>
                    <a:lnTo>
                      <a:pt x="2767" y="615"/>
                    </a:lnTo>
                    <a:lnTo>
                      <a:pt x="2780" y="624"/>
                    </a:lnTo>
                    <a:lnTo>
                      <a:pt x="2780" y="633"/>
                    </a:lnTo>
                    <a:lnTo>
                      <a:pt x="2792" y="650"/>
                    </a:lnTo>
                    <a:lnTo>
                      <a:pt x="2792" y="659"/>
                    </a:lnTo>
                    <a:lnTo>
                      <a:pt x="2805" y="668"/>
                    </a:lnTo>
                    <a:lnTo>
                      <a:pt x="2805" y="686"/>
                    </a:lnTo>
                    <a:lnTo>
                      <a:pt x="2818" y="694"/>
                    </a:lnTo>
                    <a:lnTo>
                      <a:pt x="2831" y="703"/>
                    </a:lnTo>
                    <a:lnTo>
                      <a:pt x="2831" y="721"/>
                    </a:lnTo>
                    <a:lnTo>
                      <a:pt x="2843" y="730"/>
                    </a:lnTo>
                    <a:lnTo>
                      <a:pt x="2843" y="747"/>
                    </a:lnTo>
                    <a:lnTo>
                      <a:pt x="2856" y="756"/>
                    </a:lnTo>
                    <a:lnTo>
                      <a:pt x="2856" y="765"/>
                    </a:lnTo>
                    <a:lnTo>
                      <a:pt x="2869" y="782"/>
                    </a:lnTo>
                    <a:lnTo>
                      <a:pt x="2881" y="791"/>
                    </a:lnTo>
                    <a:lnTo>
                      <a:pt x="2881" y="809"/>
                    </a:lnTo>
                    <a:lnTo>
                      <a:pt x="2894" y="817"/>
                    </a:lnTo>
                    <a:lnTo>
                      <a:pt x="2894" y="826"/>
                    </a:lnTo>
                    <a:lnTo>
                      <a:pt x="2907" y="844"/>
                    </a:lnTo>
                    <a:lnTo>
                      <a:pt x="2907" y="853"/>
                    </a:lnTo>
                    <a:lnTo>
                      <a:pt x="2919" y="861"/>
                    </a:lnTo>
                    <a:lnTo>
                      <a:pt x="2932" y="879"/>
                    </a:lnTo>
                    <a:lnTo>
                      <a:pt x="2932" y="888"/>
                    </a:lnTo>
                    <a:lnTo>
                      <a:pt x="2945" y="905"/>
                    </a:lnTo>
                    <a:lnTo>
                      <a:pt x="2945" y="914"/>
                    </a:lnTo>
                    <a:lnTo>
                      <a:pt x="2957" y="923"/>
                    </a:lnTo>
                    <a:lnTo>
                      <a:pt x="2957" y="941"/>
                    </a:lnTo>
                    <a:lnTo>
                      <a:pt x="2970" y="949"/>
                    </a:lnTo>
                    <a:lnTo>
                      <a:pt x="2970" y="958"/>
                    </a:lnTo>
                    <a:lnTo>
                      <a:pt x="2983" y="976"/>
                    </a:lnTo>
                    <a:lnTo>
                      <a:pt x="2996" y="985"/>
                    </a:lnTo>
                    <a:lnTo>
                      <a:pt x="2996" y="993"/>
                    </a:lnTo>
                    <a:lnTo>
                      <a:pt x="3008" y="1011"/>
                    </a:lnTo>
                    <a:lnTo>
                      <a:pt x="3008" y="1020"/>
                    </a:lnTo>
                    <a:lnTo>
                      <a:pt x="3021" y="1028"/>
                    </a:lnTo>
                    <a:lnTo>
                      <a:pt x="3021" y="1046"/>
                    </a:lnTo>
                    <a:lnTo>
                      <a:pt x="3034" y="1055"/>
                    </a:lnTo>
                    <a:lnTo>
                      <a:pt x="3046" y="1064"/>
                    </a:lnTo>
                    <a:lnTo>
                      <a:pt x="3046" y="1081"/>
                    </a:lnTo>
                    <a:lnTo>
                      <a:pt x="3059" y="1090"/>
                    </a:lnTo>
                    <a:lnTo>
                      <a:pt x="3059" y="1099"/>
                    </a:lnTo>
                    <a:lnTo>
                      <a:pt x="3072" y="1116"/>
                    </a:lnTo>
                    <a:lnTo>
                      <a:pt x="3072" y="1125"/>
                    </a:lnTo>
                    <a:lnTo>
                      <a:pt x="3084" y="1134"/>
                    </a:lnTo>
                    <a:lnTo>
                      <a:pt x="3097" y="1152"/>
                    </a:lnTo>
                    <a:lnTo>
                      <a:pt x="3097" y="1160"/>
                    </a:lnTo>
                    <a:lnTo>
                      <a:pt x="3110" y="1169"/>
                    </a:lnTo>
                    <a:lnTo>
                      <a:pt x="3110" y="1178"/>
                    </a:lnTo>
                    <a:lnTo>
                      <a:pt x="3122" y="1196"/>
                    </a:lnTo>
                    <a:lnTo>
                      <a:pt x="3122" y="1204"/>
                    </a:lnTo>
                    <a:lnTo>
                      <a:pt x="3135" y="1213"/>
                    </a:lnTo>
                    <a:lnTo>
                      <a:pt x="3135" y="1222"/>
                    </a:lnTo>
                    <a:lnTo>
                      <a:pt x="3148" y="1231"/>
                    </a:lnTo>
                    <a:lnTo>
                      <a:pt x="3161" y="1248"/>
                    </a:lnTo>
                    <a:lnTo>
                      <a:pt x="3161" y="1257"/>
                    </a:lnTo>
                    <a:lnTo>
                      <a:pt x="3173" y="1266"/>
                    </a:lnTo>
                    <a:lnTo>
                      <a:pt x="3173" y="1275"/>
                    </a:lnTo>
                    <a:lnTo>
                      <a:pt x="3186" y="1283"/>
                    </a:lnTo>
                    <a:lnTo>
                      <a:pt x="3186" y="1301"/>
                    </a:lnTo>
                    <a:lnTo>
                      <a:pt x="3199" y="1310"/>
                    </a:lnTo>
                    <a:lnTo>
                      <a:pt x="3211" y="1319"/>
                    </a:lnTo>
                    <a:lnTo>
                      <a:pt x="3211" y="1327"/>
                    </a:lnTo>
                    <a:lnTo>
                      <a:pt x="3224" y="1336"/>
                    </a:lnTo>
                    <a:lnTo>
                      <a:pt x="3224" y="1345"/>
                    </a:lnTo>
                    <a:lnTo>
                      <a:pt x="3237" y="1354"/>
                    </a:lnTo>
                    <a:lnTo>
                      <a:pt x="3237" y="1371"/>
                    </a:lnTo>
                    <a:lnTo>
                      <a:pt x="3249" y="1380"/>
                    </a:lnTo>
                    <a:lnTo>
                      <a:pt x="3262" y="1389"/>
                    </a:lnTo>
                    <a:lnTo>
                      <a:pt x="3262" y="1398"/>
                    </a:lnTo>
                    <a:lnTo>
                      <a:pt x="3275" y="1407"/>
                    </a:lnTo>
                    <a:lnTo>
                      <a:pt x="3275" y="1415"/>
                    </a:lnTo>
                    <a:lnTo>
                      <a:pt x="3287" y="1424"/>
                    </a:lnTo>
                    <a:lnTo>
                      <a:pt x="3287" y="1433"/>
                    </a:lnTo>
                    <a:lnTo>
                      <a:pt x="3300" y="1442"/>
                    </a:lnTo>
                    <a:lnTo>
                      <a:pt x="3300" y="1451"/>
                    </a:lnTo>
                    <a:lnTo>
                      <a:pt x="3313" y="1459"/>
                    </a:lnTo>
                    <a:lnTo>
                      <a:pt x="3326" y="1468"/>
                    </a:lnTo>
                    <a:lnTo>
                      <a:pt x="3326" y="1477"/>
                    </a:lnTo>
                    <a:lnTo>
                      <a:pt x="3338" y="1486"/>
                    </a:lnTo>
                    <a:lnTo>
                      <a:pt x="3338" y="1495"/>
                    </a:lnTo>
                    <a:lnTo>
                      <a:pt x="3351" y="1503"/>
                    </a:lnTo>
                    <a:lnTo>
                      <a:pt x="3351" y="1512"/>
                    </a:lnTo>
                    <a:lnTo>
                      <a:pt x="3364" y="1521"/>
                    </a:lnTo>
                    <a:lnTo>
                      <a:pt x="3376" y="1530"/>
                    </a:lnTo>
                    <a:lnTo>
                      <a:pt x="3376" y="1538"/>
                    </a:lnTo>
                    <a:lnTo>
                      <a:pt x="3389" y="1547"/>
                    </a:lnTo>
                    <a:lnTo>
                      <a:pt x="3402" y="1556"/>
                    </a:lnTo>
                    <a:lnTo>
                      <a:pt x="3402" y="1565"/>
                    </a:lnTo>
                    <a:lnTo>
                      <a:pt x="3414" y="1574"/>
                    </a:lnTo>
                    <a:lnTo>
                      <a:pt x="3427" y="1582"/>
                    </a:lnTo>
                    <a:lnTo>
                      <a:pt x="3427" y="1591"/>
                    </a:lnTo>
                    <a:lnTo>
                      <a:pt x="3440" y="1600"/>
                    </a:lnTo>
                    <a:lnTo>
                      <a:pt x="3452" y="1609"/>
                    </a:lnTo>
                    <a:lnTo>
                      <a:pt x="3452" y="1618"/>
                    </a:lnTo>
                    <a:lnTo>
                      <a:pt x="3465" y="1626"/>
                    </a:lnTo>
                    <a:lnTo>
                      <a:pt x="3465" y="1635"/>
                    </a:lnTo>
                    <a:lnTo>
                      <a:pt x="3478" y="1635"/>
                    </a:lnTo>
                    <a:lnTo>
                      <a:pt x="3490" y="1644"/>
                    </a:lnTo>
                    <a:lnTo>
                      <a:pt x="3490" y="1653"/>
                    </a:lnTo>
                    <a:lnTo>
                      <a:pt x="3503" y="1662"/>
                    </a:lnTo>
                    <a:lnTo>
                      <a:pt x="3516" y="1670"/>
                    </a:lnTo>
                    <a:lnTo>
                      <a:pt x="3516" y="1679"/>
                    </a:lnTo>
                    <a:lnTo>
                      <a:pt x="3529" y="1679"/>
                    </a:lnTo>
                    <a:lnTo>
                      <a:pt x="3541" y="1688"/>
                    </a:lnTo>
                    <a:lnTo>
                      <a:pt x="3541" y="1697"/>
                    </a:lnTo>
                    <a:lnTo>
                      <a:pt x="3554" y="1706"/>
                    </a:lnTo>
                    <a:lnTo>
                      <a:pt x="3567" y="1714"/>
                    </a:lnTo>
                    <a:lnTo>
                      <a:pt x="3567" y="1723"/>
                    </a:lnTo>
                    <a:lnTo>
                      <a:pt x="3579" y="1723"/>
                    </a:lnTo>
                    <a:lnTo>
                      <a:pt x="3592" y="1732"/>
                    </a:lnTo>
                    <a:lnTo>
                      <a:pt x="3605" y="1741"/>
                    </a:lnTo>
                    <a:lnTo>
                      <a:pt x="3605" y="1750"/>
                    </a:lnTo>
                    <a:lnTo>
                      <a:pt x="3617" y="1750"/>
                    </a:lnTo>
                    <a:lnTo>
                      <a:pt x="3617" y="1758"/>
                    </a:lnTo>
                    <a:lnTo>
                      <a:pt x="3630" y="1758"/>
                    </a:lnTo>
                    <a:lnTo>
                      <a:pt x="3630" y="1767"/>
                    </a:lnTo>
                    <a:lnTo>
                      <a:pt x="3643" y="1767"/>
                    </a:lnTo>
                    <a:lnTo>
                      <a:pt x="3655" y="1776"/>
                    </a:lnTo>
                    <a:lnTo>
                      <a:pt x="3655" y="1785"/>
                    </a:lnTo>
                    <a:lnTo>
                      <a:pt x="3668" y="1785"/>
                    </a:lnTo>
                    <a:lnTo>
                      <a:pt x="3668" y="1793"/>
                    </a:lnTo>
                    <a:lnTo>
                      <a:pt x="3681" y="1793"/>
                    </a:lnTo>
                    <a:lnTo>
                      <a:pt x="3681" y="1802"/>
                    </a:lnTo>
                    <a:lnTo>
                      <a:pt x="3694" y="1802"/>
                    </a:lnTo>
                    <a:lnTo>
                      <a:pt x="3706" y="1811"/>
                    </a:lnTo>
                    <a:lnTo>
                      <a:pt x="3719" y="1820"/>
                    </a:lnTo>
                    <a:lnTo>
                      <a:pt x="3732" y="1820"/>
                    </a:lnTo>
                    <a:lnTo>
                      <a:pt x="3732" y="1829"/>
                    </a:lnTo>
                    <a:lnTo>
                      <a:pt x="3744" y="1829"/>
                    </a:lnTo>
                    <a:lnTo>
                      <a:pt x="3744" y="1837"/>
                    </a:lnTo>
                    <a:lnTo>
                      <a:pt x="3757" y="1837"/>
                    </a:lnTo>
                    <a:lnTo>
                      <a:pt x="3770" y="1846"/>
                    </a:lnTo>
                    <a:lnTo>
                      <a:pt x="3782" y="1846"/>
                    </a:lnTo>
                    <a:lnTo>
                      <a:pt x="3782" y="1855"/>
                    </a:lnTo>
                    <a:lnTo>
                      <a:pt x="3795" y="1855"/>
                    </a:lnTo>
                    <a:lnTo>
                      <a:pt x="3795" y="1864"/>
                    </a:lnTo>
                    <a:lnTo>
                      <a:pt x="3808" y="1864"/>
                    </a:lnTo>
                    <a:lnTo>
                      <a:pt x="3820" y="1864"/>
                    </a:lnTo>
                    <a:lnTo>
                      <a:pt x="3820" y="1873"/>
                    </a:lnTo>
                    <a:lnTo>
                      <a:pt x="3833" y="1873"/>
                    </a:lnTo>
                    <a:lnTo>
                      <a:pt x="3846" y="1881"/>
                    </a:lnTo>
                    <a:lnTo>
                      <a:pt x="3859" y="1881"/>
                    </a:lnTo>
                    <a:lnTo>
                      <a:pt x="3871" y="1890"/>
                    </a:lnTo>
                    <a:lnTo>
                      <a:pt x="3884" y="1890"/>
                    </a:lnTo>
                    <a:lnTo>
                      <a:pt x="3884" y="1899"/>
                    </a:lnTo>
                    <a:lnTo>
                      <a:pt x="3897" y="1899"/>
                    </a:lnTo>
                    <a:lnTo>
                      <a:pt x="3909" y="1908"/>
                    </a:lnTo>
                    <a:lnTo>
                      <a:pt x="3922" y="1908"/>
                    </a:lnTo>
                    <a:lnTo>
                      <a:pt x="3935" y="1908"/>
                    </a:lnTo>
                    <a:lnTo>
                      <a:pt x="3935" y="1917"/>
                    </a:lnTo>
                    <a:lnTo>
                      <a:pt x="3947" y="1917"/>
                    </a:lnTo>
                    <a:lnTo>
                      <a:pt x="3960" y="1917"/>
                    </a:lnTo>
                    <a:lnTo>
                      <a:pt x="3960" y="1925"/>
                    </a:lnTo>
                    <a:lnTo>
                      <a:pt x="3973" y="1925"/>
                    </a:lnTo>
                    <a:lnTo>
                      <a:pt x="3985" y="1925"/>
                    </a:lnTo>
                    <a:lnTo>
                      <a:pt x="3998" y="1925"/>
                    </a:lnTo>
                    <a:lnTo>
                      <a:pt x="3998" y="1934"/>
                    </a:lnTo>
                    <a:lnTo>
                      <a:pt x="4011" y="1934"/>
                    </a:lnTo>
                    <a:lnTo>
                      <a:pt x="4024" y="1934"/>
                    </a:lnTo>
                    <a:lnTo>
                      <a:pt x="4036" y="1943"/>
                    </a:lnTo>
                    <a:lnTo>
                      <a:pt x="4049" y="1943"/>
                    </a:lnTo>
                    <a:lnTo>
                      <a:pt x="4062" y="1943"/>
                    </a:lnTo>
                    <a:lnTo>
                      <a:pt x="4074" y="1952"/>
                    </a:lnTo>
                    <a:lnTo>
                      <a:pt x="4087" y="1952"/>
                    </a:lnTo>
                    <a:lnTo>
                      <a:pt x="4100" y="1952"/>
                    </a:lnTo>
                    <a:lnTo>
                      <a:pt x="4112" y="1952"/>
                    </a:lnTo>
                    <a:lnTo>
                      <a:pt x="4112" y="1961"/>
                    </a:lnTo>
                    <a:lnTo>
                      <a:pt x="4125" y="1961"/>
                    </a:lnTo>
                    <a:lnTo>
                      <a:pt x="4138" y="1961"/>
                    </a:lnTo>
                    <a:lnTo>
                      <a:pt x="4150" y="1961"/>
                    </a:lnTo>
                    <a:lnTo>
                      <a:pt x="4163" y="1961"/>
                    </a:lnTo>
                    <a:lnTo>
                      <a:pt x="4163" y="1969"/>
                    </a:lnTo>
                    <a:lnTo>
                      <a:pt x="4176" y="1969"/>
                    </a:lnTo>
                    <a:lnTo>
                      <a:pt x="4189" y="1969"/>
                    </a:lnTo>
                    <a:lnTo>
                      <a:pt x="4201" y="1969"/>
                    </a:lnTo>
                    <a:lnTo>
                      <a:pt x="4214" y="1969"/>
                    </a:lnTo>
                    <a:lnTo>
                      <a:pt x="4227" y="1969"/>
                    </a:lnTo>
                    <a:lnTo>
                      <a:pt x="4227" y="1978"/>
                    </a:lnTo>
                    <a:lnTo>
                      <a:pt x="4239" y="1978"/>
                    </a:lnTo>
                    <a:lnTo>
                      <a:pt x="4252" y="1978"/>
                    </a:lnTo>
                    <a:lnTo>
                      <a:pt x="4265" y="1978"/>
                    </a:lnTo>
                    <a:lnTo>
                      <a:pt x="4277" y="1978"/>
                    </a:lnTo>
                    <a:lnTo>
                      <a:pt x="4290" y="1978"/>
                    </a:lnTo>
                    <a:lnTo>
                      <a:pt x="4303" y="1978"/>
                    </a:lnTo>
                  </a:path>
                </a:pathLst>
              </a:custGeom>
              <a:noFill/>
              <a:ln w="50800" cap="rnd">
                <a:solidFill>
                  <a:srgbClr val="00008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329" name="Rectangle 16"/>
              <p:cNvSpPr>
                <a:spLocks noChangeArrowheads="1"/>
              </p:cNvSpPr>
              <p:nvPr/>
            </p:nvSpPr>
            <p:spPr bwMode="auto">
              <a:xfrm>
                <a:off x="602" y="3737"/>
                <a:ext cx="213"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wrap="none" lIns="90488" tIns="44450" rIns="90488" bIns="4445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sz="1400" b="1" i="0">
                    <a:solidFill>
                      <a:srgbClr val="000000"/>
                    </a:solidFill>
                  </a:rPr>
                  <a:t>-3</a:t>
                </a:r>
              </a:p>
            </p:txBody>
          </p:sp>
          <p:sp>
            <p:nvSpPr>
              <p:cNvPr id="12330" name="Rectangle 17"/>
              <p:cNvSpPr>
                <a:spLocks noChangeArrowheads="1"/>
              </p:cNvSpPr>
              <p:nvPr/>
            </p:nvSpPr>
            <p:spPr bwMode="auto">
              <a:xfrm>
                <a:off x="1325" y="3737"/>
                <a:ext cx="213"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wrap="none" lIns="90488" tIns="44450" rIns="90488" bIns="4445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sz="1400" b="1" i="0">
                    <a:solidFill>
                      <a:srgbClr val="000000"/>
                    </a:solidFill>
                  </a:rPr>
                  <a:t>-2</a:t>
                </a:r>
              </a:p>
            </p:txBody>
          </p:sp>
          <p:sp>
            <p:nvSpPr>
              <p:cNvPr id="12331" name="Rectangle 18"/>
              <p:cNvSpPr>
                <a:spLocks noChangeArrowheads="1"/>
              </p:cNvSpPr>
              <p:nvPr/>
            </p:nvSpPr>
            <p:spPr bwMode="auto">
              <a:xfrm>
                <a:off x="2036" y="3737"/>
                <a:ext cx="213"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wrap="none" lIns="90488" tIns="44450" rIns="90488" bIns="4445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sz="1400" b="1" i="0">
                    <a:solidFill>
                      <a:srgbClr val="000000"/>
                    </a:solidFill>
                  </a:rPr>
                  <a:t>-1</a:t>
                </a:r>
              </a:p>
            </p:txBody>
          </p:sp>
          <p:sp>
            <p:nvSpPr>
              <p:cNvPr id="12332" name="Rectangle 19"/>
              <p:cNvSpPr>
                <a:spLocks noChangeArrowheads="1"/>
              </p:cNvSpPr>
              <p:nvPr/>
            </p:nvSpPr>
            <p:spPr bwMode="auto">
              <a:xfrm>
                <a:off x="2785" y="3737"/>
                <a:ext cx="176"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wrap="none" lIns="90488" tIns="44450" rIns="90488" bIns="4445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sz="1400" b="1" i="0">
                    <a:solidFill>
                      <a:srgbClr val="000000"/>
                    </a:solidFill>
                  </a:rPr>
                  <a:t>0</a:t>
                </a:r>
              </a:p>
            </p:txBody>
          </p:sp>
          <p:sp>
            <p:nvSpPr>
              <p:cNvPr id="12333" name="Rectangle 20"/>
              <p:cNvSpPr>
                <a:spLocks noChangeArrowheads="1"/>
              </p:cNvSpPr>
              <p:nvPr/>
            </p:nvSpPr>
            <p:spPr bwMode="auto">
              <a:xfrm>
                <a:off x="3496" y="3737"/>
                <a:ext cx="176"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wrap="none" lIns="90488" tIns="44450" rIns="90488" bIns="4445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sz="1400" b="1" i="0">
                    <a:solidFill>
                      <a:srgbClr val="000000"/>
                    </a:solidFill>
                  </a:rPr>
                  <a:t>1</a:t>
                </a:r>
              </a:p>
            </p:txBody>
          </p:sp>
          <p:sp>
            <p:nvSpPr>
              <p:cNvPr id="12334" name="Rectangle 21"/>
              <p:cNvSpPr>
                <a:spLocks noChangeArrowheads="1"/>
              </p:cNvSpPr>
              <p:nvPr/>
            </p:nvSpPr>
            <p:spPr bwMode="auto">
              <a:xfrm>
                <a:off x="4219" y="3737"/>
                <a:ext cx="176"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wrap="none" lIns="90488" tIns="44450" rIns="90488" bIns="4445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sz="1400" b="1" i="0">
                    <a:solidFill>
                      <a:srgbClr val="000000"/>
                    </a:solidFill>
                  </a:rPr>
                  <a:t>2</a:t>
                </a:r>
              </a:p>
            </p:txBody>
          </p:sp>
          <p:sp>
            <p:nvSpPr>
              <p:cNvPr id="12335" name="Rectangle 22"/>
              <p:cNvSpPr>
                <a:spLocks noChangeArrowheads="1"/>
              </p:cNvSpPr>
              <p:nvPr/>
            </p:nvSpPr>
            <p:spPr bwMode="auto">
              <a:xfrm>
                <a:off x="4930" y="3737"/>
                <a:ext cx="176"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wrap="none" lIns="90488" tIns="44450" rIns="90488" bIns="4445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sz="1400" b="1" i="0">
                    <a:solidFill>
                      <a:srgbClr val="000000"/>
                    </a:solidFill>
                  </a:rPr>
                  <a:t>3</a:t>
                </a:r>
              </a:p>
            </p:txBody>
          </p:sp>
        </p:grpSp>
        <p:grpSp>
          <p:nvGrpSpPr>
            <p:cNvPr id="12302" name="Group 23"/>
            <p:cNvGrpSpPr>
              <a:grpSpLocks/>
            </p:cNvGrpSpPr>
            <p:nvPr/>
          </p:nvGrpSpPr>
          <p:grpSpPr bwMode="auto">
            <a:xfrm>
              <a:off x="3483" y="1758"/>
              <a:ext cx="600" cy="403"/>
              <a:chOff x="3483" y="1758"/>
              <a:chExt cx="600" cy="403"/>
            </a:xfrm>
          </p:grpSpPr>
          <p:sp>
            <p:nvSpPr>
              <p:cNvPr id="12315" name="Arc 24"/>
              <p:cNvSpPr>
                <a:spLocks/>
              </p:cNvSpPr>
              <p:nvPr/>
            </p:nvSpPr>
            <p:spPr bwMode="auto">
              <a:xfrm>
                <a:off x="3483" y="1973"/>
                <a:ext cx="332" cy="18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600"/>
                    </a:moveTo>
                    <a:cubicBezTo>
                      <a:pt x="0" y="9696"/>
                      <a:pt x="9631" y="35"/>
                      <a:pt x="21535" y="0"/>
                    </a:cubicBezTo>
                  </a:path>
                  <a:path w="21600" h="21600" stroke="0" extrusionOk="0">
                    <a:moveTo>
                      <a:pt x="0" y="21600"/>
                    </a:moveTo>
                    <a:cubicBezTo>
                      <a:pt x="0" y="9696"/>
                      <a:pt x="9631" y="35"/>
                      <a:pt x="21535" y="0"/>
                    </a:cubicBezTo>
                    <a:lnTo>
                      <a:pt x="21600" y="21600"/>
                    </a:lnTo>
                    <a:lnTo>
                      <a:pt x="0" y="21600"/>
                    </a:lnTo>
                    <a:close/>
                  </a:path>
                </a:pathLst>
              </a:custGeom>
              <a:noFill/>
              <a:ln w="12700" cap="rnd">
                <a:solidFill>
                  <a:schemeClr val="bg2"/>
                </a:solidFill>
                <a:round/>
                <a:headEnd type="triangle" w="med" len="me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2316" name="Rectangle 25"/>
              <p:cNvSpPr>
                <a:spLocks noChangeArrowheads="1"/>
              </p:cNvSpPr>
              <p:nvPr/>
            </p:nvSpPr>
            <p:spPr bwMode="auto">
              <a:xfrm>
                <a:off x="3813" y="1758"/>
                <a:ext cx="270"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wrap="none" lIns="90488" tIns="44450" rIns="90488" bIns="4445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i="0">
                    <a:solidFill>
                      <a:schemeClr val="bg2"/>
                    </a:solidFill>
                    <a:latin typeface="Times New Roman" pitchFamily="18" charset="0"/>
                  </a:rPr>
                  <a:t>Z</a:t>
                </a:r>
              </a:p>
            </p:txBody>
          </p:sp>
        </p:grpSp>
        <p:grpSp>
          <p:nvGrpSpPr>
            <p:cNvPr id="12303" name="Group 26"/>
            <p:cNvGrpSpPr>
              <a:grpSpLocks/>
            </p:cNvGrpSpPr>
            <p:nvPr/>
          </p:nvGrpSpPr>
          <p:grpSpPr bwMode="auto">
            <a:xfrm>
              <a:off x="3509" y="2286"/>
              <a:ext cx="591" cy="403"/>
              <a:chOff x="3509" y="2286"/>
              <a:chExt cx="591" cy="403"/>
            </a:xfrm>
          </p:grpSpPr>
          <p:sp>
            <p:nvSpPr>
              <p:cNvPr id="12313" name="Rectangle 27"/>
              <p:cNvSpPr>
                <a:spLocks noChangeArrowheads="1"/>
              </p:cNvSpPr>
              <p:nvPr/>
            </p:nvSpPr>
            <p:spPr bwMode="auto">
              <a:xfrm>
                <a:off x="3831" y="2286"/>
                <a:ext cx="269"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wrap="none" lIns="90488" tIns="44450" rIns="90488" bIns="4445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i="0">
                    <a:solidFill>
                      <a:schemeClr val="bg2"/>
                    </a:solidFill>
                    <a:latin typeface="Times New Roman" pitchFamily="18" charset="0"/>
                  </a:rPr>
                  <a:t>t</a:t>
                </a:r>
                <a:r>
                  <a:rPr lang="en-US" altLang="en-US" b="1" i="0" baseline="-25000">
                    <a:solidFill>
                      <a:schemeClr val="hlink"/>
                    </a:solidFill>
                    <a:latin typeface="Times New Roman" pitchFamily="18" charset="0"/>
                  </a:rPr>
                  <a:t>1</a:t>
                </a:r>
                <a:endParaRPr lang="en-US" altLang="en-US" i="0" baseline="-25000">
                  <a:solidFill>
                    <a:schemeClr val="bg2"/>
                  </a:solidFill>
                  <a:latin typeface="Times New Roman" pitchFamily="18" charset="0"/>
                </a:endParaRPr>
              </a:p>
            </p:txBody>
          </p:sp>
          <p:sp>
            <p:nvSpPr>
              <p:cNvPr id="12314" name="Arc 28"/>
              <p:cNvSpPr>
                <a:spLocks/>
              </p:cNvSpPr>
              <p:nvPr/>
            </p:nvSpPr>
            <p:spPr bwMode="auto">
              <a:xfrm>
                <a:off x="3509" y="2501"/>
                <a:ext cx="284" cy="18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600"/>
                    </a:moveTo>
                    <a:cubicBezTo>
                      <a:pt x="0" y="9700"/>
                      <a:pt x="9624" y="42"/>
                      <a:pt x="21524" y="0"/>
                    </a:cubicBezTo>
                  </a:path>
                  <a:path w="21600" h="21600" stroke="0" extrusionOk="0">
                    <a:moveTo>
                      <a:pt x="0" y="21600"/>
                    </a:moveTo>
                    <a:cubicBezTo>
                      <a:pt x="0" y="9700"/>
                      <a:pt x="9624" y="42"/>
                      <a:pt x="21524" y="0"/>
                    </a:cubicBezTo>
                    <a:lnTo>
                      <a:pt x="21600" y="21600"/>
                    </a:lnTo>
                    <a:lnTo>
                      <a:pt x="0" y="21600"/>
                    </a:lnTo>
                    <a:close/>
                  </a:path>
                </a:pathLst>
              </a:custGeom>
              <a:noFill/>
              <a:ln w="12700" cap="rnd">
                <a:solidFill>
                  <a:schemeClr val="bg2"/>
                </a:solidFill>
                <a:round/>
                <a:headEnd type="triangle" w="med" len="me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sp>
          <p:nvSpPr>
            <p:cNvPr id="12304" name="Line 29"/>
            <p:cNvSpPr>
              <a:spLocks noChangeShapeType="1"/>
            </p:cNvSpPr>
            <p:nvPr/>
          </p:nvSpPr>
          <p:spPr bwMode="auto">
            <a:xfrm>
              <a:off x="2891" y="1688"/>
              <a:ext cx="0" cy="2000"/>
            </a:xfrm>
            <a:prstGeom prst="line">
              <a:avLst/>
            </a:prstGeom>
            <a:noFill/>
            <a:ln w="25400">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2305" name="Rectangle 30"/>
            <p:cNvSpPr>
              <a:spLocks noChangeArrowheads="1"/>
            </p:cNvSpPr>
            <p:nvPr/>
          </p:nvSpPr>
          <p:spPr bwMode="auto">
            <a:xfrm>
              <a:off x="624" y="3748"/>
              <a:ext cx="4512" cy="192"/>
            </a:xfrm>
            <a:prstGeom prst="rect">
              <a:avLst/>
            </a:prstGeom>
            <a:solidFill>
              <a:schemeClr val="tx1"/>
            </a:solidFill>
            <a:ln>
              <a:noFill/>
            </a:ln>
            <a:extLst>
              <a:ext uri="{91240B29-F687-4F45-9708-019B960494DF}">
                <a14:hiddenLine xmlns:a14="http://schemas.microsoft.com/office/drawing/2010/main" w="76200">
                  <a:solidFill>
                    <a:srgbClr val="000000"/>
                  </a:solidFill>
                  <a:miter lim="800000"/>
                  <a:headEnd/>
                  <a:tailEnd/>
                </a14:hiddenLine>
              </a:ext>
            </a:extLst>
          </p:spPr>
          <p:txBody>
            <a:bodyPr wrap="none" anchor="ct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endParaRPr lang="en-US" altLang="en-US" sz="2400"/>
            </a:p>
          </p:txBody>
        </p:sp>
        <p:sp>
          <p:nvSpPr>
            <p:cNvPr id="12306" name="Rectangle 31"/>
            <p:cNvSpPr>
              <a:spLocks noChangeArrowheads="1"/>
            </p:cNvSpPr>
            <p:nvPr/>
          </p:nvSpPr>
          <p:spPr bwMode="auto">
            <a:xfrm>
              <a:off x="2779" y="3655"/>
              <a:ext cx="242"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wrap="none" lIns="90488" tIns="44450" rIns="90488" bIns="4445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i="0">
                  <a:solidFill>
                    <a:schemeClr val="bg2"/>
                  </a:solidFill>
                  <a:latin typeface="Times New Roman" pitchFamily="18" charset="0"/>
                </a:rPr>
                <a:t>0</a:t>
              </a:r>
            </a:p>
          </p:txBody>
        </p:sp>
        <p:sp>
          <p:nvSpPr>
            <p:cNvPr id="12307" name="Rectangle 32"/>
            <p:cNvSpPr>
              <a:spLocks noChangeArrowheads="1"/>
            </p:cNvSpPr>
            <p:nvPr/>
          </p:nvSpPr>
          <p:spPr bwMode="auto">
            <a:xfrm>
              <a:off x="3473" y="3655"/>
              <a:ext cx="242"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wrap="none" lIns="90488" tIns="44450" rIns="90488" bIns="4445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i="0">
                  <a:solidFill>
                    <a:schemeClr val="bg2"/>
                  </a:solidFill>
                  <a:latin typeface="Times New Roman" pitchFamily="18" charset="0"/>
                </a:rPr>
                <a:t>1</a:t>
              </a:r>
            </a:p>
          </p:txBody>
        </p:sp>
        <p:sp>
          <p:nvSpPr>
            <p:cNvPr id="12308" name="Rectangle 33"/>
            <p:cNvSpPr>
              <a:spLocks noChangeArrowheads="1"/>
            </p:cNvSpPr>
            <p:nvPr/>
          </p:nvSpPr>
          <p:spPr bwMode="auto">
            <a:xfrm>
              <a:off x="4200" y="3655"/>
              <a:ext cx="242"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wrap="none" lIns="90488" tIns="44450" rIns="90488" bIns="4445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i="0">
                  <a:solidFill>
                    <a:schemeClr val="bg2"/>
                  </a:solidFill>
                  <a:latin typeface="Times New Roman" pitchFamily="18" charset="0"/>
                </a:rPr>
                <a:t>2</a:t>
              </a:r>
            </a:p>
          </p:txBody>
        </p:sp>
        <p:sp>
          <p:nvSpPr>
            <p:cNvPr id="12309" name="Rectangle 34"/>
            <p:cNvSpPr>
              <a:spLocks noChangeArrowheads="1"/>
            </p:cNvSpPr>
            <p:nvPr/>
          </p:nvSpPr>
          <p:spPr bwMode="auto">
            <a:xfrm>
              <a:off x="4912" y="3655"/>
              <a:ext cx="242"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wrap="none" lIns="90488" tIns="44450" rIns="90488" bIns="4445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i="0">
                  <a:solidFill>
                    <a:schemeClr val="bg2"/>
                  </a:solidFill>
                  <a:latin typeface="Times New Roman" pitchFamily="18" charset="0"/>
                </a:rPr>
                <a:t>3</a:t>
              </a:r>
            </a:p>
          </p:txBody>
        </p:sp>
        <p:sp>
          <p:nvSpPr>
            <p:cNvPr id="12310" name="Rectangle 35"/>
            <p:cNvSpPr>
              <a:spLocks noChangeArrowheads="1"/>
            </p:cNvSpPr>
            <p:nvPr/>
          </p:nvSpPr>
          <p:spPr bwMode="auto">
            <a:xfrm>
              <a:off x="1975" y="3655"/>
              <a:ext cx="327"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wrap="none" lIns="90488" tIns="44450" rIns="90488" bIns="4445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i="0">
                  <a:solidFill>
                    <a:schemeClr val="bg2"/>
                  </a:solidFill>
                  <a:latin typeface="Times New Roman" pitchFamily="18" charset="0"/>
                </a:rPr>
                <a:t>-1</a:t>
              </a:r>
            </a:p>
          </p:txBody>
        </p:sp>
        <p:sp>
          <p:nvSpPr>
            <p:cNvPr id="12311" name="Rectangle 36"/>
            <p:cNvSpPr>
              <a:spLocks noChangeArrowheads="1"/>
            </p:cNvSpPr>
            <p:nvPr/>
          </p:nvSpPr>
          <p:spPr bwMode="auto">
            <a:xfrm>
              <a:off x="1248" y="3655"/>
              <a:ext cx="327"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wrap="none" lIns="90488" tIns="44450" rIns="90488" bIns="4445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i="0">
                  <a:solidFill>
                    <a:schemeClr val="bg2"/>
                  </a:solidFill>
                  <a:latin typeface="Times New Roman" pitchFamily="18" charset="0"/>
                </a:rPr>
                <a:t>-2</a:t>
              </a:r>
            </a:p>
          </p:txBody>
        </p:sp>
        <p:sp>
          <p:nvSpPr>
            <p:cNvPr id="12312" name="Rectangle 37"/>
            <p:cNvSpPr>
              <a:spLocks noChangeArrowheads="1"/>
            </p:cNvSpPr>
            <p:nvPr/>
          </p:nvSpPr>
          <p:spPr bwMode="auto">
            <a:xfrm>
              <a:off x="536" y="3655"/>
              <a:ext cx="327"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wrap="none" lIns="90488" tIns="44450" rIns="90488" bIns="4445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i="0">
                  <a:solidFill>
                    <a:schemeClr val="bg2"/>
                  </a:solidFill>
                  <a:latin typeface="Times New Roman" pitchFamily="18" charset="0"/>
                </a:rPr>
                <a:t>-3</a:t>
              </a:r>
            </a:p>
          </p:txBody>
        </p:sp>
      </p:grpSp>
      <p:sp>
        <p:nvSpPr>
          <p:cNvPr id="12292" name="Rectangle 41"/>
          <p:cNvSpPr>
            <a:spLocks noGrp="1" noChangeArrowheads="1"/>
          </p:cNvSpPr>
          <p:nvPr>
            <p:ph type="title"/>
          </p:nvPr>
        </p:nvSpPr>
        <p:spPr>
          <a:xfrm>
            <a:off x="533400" y="0"/>
            <a:ext cx="8001000" cy="914400"/>
          </a:xfrm>
          <a:noFill/>
        </p:spPr>
        <p:txBody>
          <a:bodyPr/>
          <a:lstStyle/>
          <a:p>
            <a:r>
              <a:rPr lang="en-US" altLang="en-US" dirty="0" smtClean="0">
                <a:solidFill>
                  <a:srgbClr val="FF0000"/>
                </a:solidFill>
              </a:rPr>
              <a:t>Student’s t Distribution </a:t>
            </a:r>
          </a:p>
        </p:txBody>
      </p:sp>
      <p:sp>
        <p:nvSpPr>
          <p:cNvPr id="12293" name="Rectangle 42"/>
          <p:cNvSpPr>
            <a:spLocks noChangeArrowheads="1"/>
          </p:cNvSpPr>
          <p:nvPr/>
        </p:nvSpPr>
        <p:spPr bwMode="auto">
          <a:xfrm>
            <a:off x="6642100" y="6542088"/>
            <a:ext cx="1746250"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wrap="none" lIns="90488" tIns="44450" rIns="90488" bIns="4445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sz="1400" i="0">
                <a:latin typeface="Times New Roman" pitchFamily="18" charset="0"/>
              </a:rPr>
              <a:t>Figure 11.3, Page 372</a:t>
            </a:r>
          </a:p>
        </p:txBody>
      </p:sp>
      <p:grpSp>
        <p:nvGrpSpPr>
          <p:cNvPr id="12294" name="Group 43"/>
          <p:cNvGrpSpPr>
            <a:grpSpLocks/>
          </p:cNvGrpSpPr>
          <p:nvPr/>
        </p:nvGrpSpPr>
        <p:grpSpPr bwMode="auto">
          <a:xfrm>
            <a:off x="55563" y="849313"/>
            <a:ext cx="3678237" cy="2538412"/>
            <a:chOff x="35" y="535"/>
            <a:chExt cx="2212" cy="1599"/>
          </a:xfrm>
        </p:grpSpPr>
        <p:sp>
          <p:nvSpPr>
            <p:cNvPr id="12296" name="Rectangle 44"/>
            <p:cNvSpPr>
              <a:spLocks noChangeArrowheads="1"/>
            </p:cNvSpPr>
            <p:nvPr/>
          </p:nvSpPr>
          <p:spPr bwMode="auto">
            <a:xfrm>
              <a:off x="35" y="535"/>
              <a:ext cx="2212" cy="1599"/>
            </a:xfrm>
            <a:prstGeom prst="rect">
              <a:avLst/>
            </a:prstGeom>
            <a:solidFill>
              <a:srgbClr val="FDE3BA"/>
            </a:solidFill>
            <a:ln w="12700">
              <a:solidFill>
                <a:schemeClr val="tx2"/>
              </a:solidFill>
              <a:miter lim="800000"/>
              <a:headEnd/>
              <a:tailEnd/>
            </a:ln>
          </p:spPr>
          <p:txBody>
            <a:bodyPr lIns="90488" tIns="44450" rIns="90488" bIns="4445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b="1" i="0" dirty="0">
                  <a:latin typeface="Times New Roman" pitchFamily="18" charset="0"/>
                </a:rPr>
                <a:t>Degrees of Freedom</a:t>
              </a:r>
            </a:p>
            <a:p>
              <a:pPr>
                <a:spcBef>
                  <a:spcPct val="0"/>
                </a:spcBef>
                <a:buClrTx/>
                <a:buSzTx/>
                <a:buFontTx/>
                <a:buNone/>
              </a:pPr>
              <a:endParaRPr lang="en-US" altLang="en-US" i="0" dirty="0">
                <a:solidFill>
                  <a:schemeClr val="bg2"/>
                </a:solidFill>
                <a:latin typeface="Times New Roman" pitchFamily="18" charset="0"/>
              </a:endParaRPr>
            </a:p>
            <a:p>
              <a:pPr>
                <a:spcBef>
                  <a:spcPct val="0"/>
                </a:spcBef>
                <a:buClrTx/>
                <a:buSzTx/>
                <a:buFontTx/>
                <a:buNone/>
              </a:pPr>
              <a:endParaRPr lang="en-US" altLang="en-US" i="0" dirty="0">
                <a:solidFill>
                  <a:schemeClr val="bg2"/>
                </a:solidFill>
                <a:latin typeface="Times New Roman" pitchFamily="18" charset="0"/>
              </a:endParaRPr>
            </a:p>
            <a:p>
              <a:pPr>
                <a:spcBef>
                  <a:spcPct val="0"/>
                </a:spcBef>
                <a:buClrTx/>
                <a:buSzTx/>
                <a:buFontTx/>
                <a:buNone/>
              </a:pPr>
              <a:endParaRPr lang="en-US" altLang="en-US" i="0" dirty="0">
                <a:solidFill>
                  <a:schemeClr val="bg2"/>
                </a:solidFill>
                <a:latin typeface="Times New Roman" pitchFamily="18" charset="0"/>
              </a:endParaRPr>
            </a:p>
            <a:p>
              <a:pPr latinLnBrk="1">
                <a:spcBef>
                  <a:spcPct val="0"/>
                </a:spcBef>
                <a:buClrTx/>
                <a:buSzTx/>
                <a:buFontTx/>
                <a:buNone/>
              </a:pPr>
              <a:endParaRPr lang="en-US" altLang="en-US" i="0" dirty="0">
                <a:solidFill>
                  <a:schemeClr val="bg2"/>
                </a:solidFill>
                <a:latin typeface="Times New Roman" pitchFamily="18" charset="0"/>
              </a:endParaRPr>
            </a:p>
          </p:txBody>
        </p:sp>
        <p:graphicFrame>
          <p:nvGraphicFramePr>
            <p:cNvPr id="12297" name="Object 45">
              <a:hlinkClick r:id="" action="ppaction://ole?verb=0"/>
            </p:cNvPr>
            <p:cNvGraphicFramePr>
              <a:graphicFrameLocks/>
            </p:cNvGraphicFramePr>
            <p:nvPr>
              <p:extLst>
                <p:ext uri="{D42A27DB-BD31-4B8C-83A1-F6EECF244321}">
                  <p14:modId xmlns:p14="http://schemas.microsoft.com/office/powerpoint/2010/main" val="988009549"/>
                </p:ext>
              </p:extLst>
            </p:nvPr>
          </p:nvGraphicFramePr>
          <p:xfrm>
            <a:off x="338" y="932"/>
            <a:ext cx="728" cy="337"/>
          </p:xfrm>
          <a:graphic>
            <a:graphicData uri="http://schemas.openxmlformats.org/presentationml/2006/ole">
              <mc:AlternateContent xmlns:mc="http://schemas.openxmlformats.org/markup-compatibility/2006">
                <mc:Choice xmlns:v="urn:schemas-microsoft-com:vml" Requires="v">
                  <p:oleObj spid="_x0000_s12395" name="Equation" r:id="rId3" imgW="533160" imgH="253800" progId="Equation.DSMT4">
                    <p:embed/>
                  </p:oleObj>
                </mc:Choice>
                <mc:Fallback>
                  <p:oleObj name="Equation" r:id="rId3" imgW="533160" imgH="253800" progId="Equation.DSMT4">
                    <p:embed/>
                    <p:pic>
                      <p:nvPicPr>
                        <p:cNvPr id="0" name="Object 45"/>
                        <p:cNvPicPr>
                          <a:picLocks noChangeArrowheads="1"/>
                        </p:cNvPicPr>
                        <p:nvPr/>
                      </p:nvPicPr>
                      <p:blipFill>
                        <a:blip r:embed="rId4"/>
                        <a:srcRect/>
                        <a:stretch>
                          <a:fillRect/>
                        </a:stretch>
                      </p:blipFill>
                      <p:spPr bwMode="auto">
                        <a:xfrm>
                          <a:off x="338" y="932"/>
                          <a:ext cx="728" cy="337"/>
                        </a:xfrm>
                        <a:prstGeom prst="rect">
                          <a:avLst/>
                        </a:prstGeom>
                        <a:solidFill>
                          <a:srgbClr val="FDE3BA"/>
                        </a:solidFill>
                        <a:ln>
                          <a:noFill/>
                        </a:ln>
                        <a:effectLst/>
                        <a:extLst>
                          <a:ext uri="{91240B29-F687-4F45-9708-019B960494DF}">
                            <a14:hiddenLine xmlns:a14="http://schemas.microsoft.com/office/drawing/2010/main" w="762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2298" name="Object 46">
              <a:hlinkClick r:id="" action="ppaction://ole?verb=0"/>
            </p:cNvPr>
            <p:cNvGraphicFramePr>
              <a:graphicFrameLocks/>
            </p:cNvGraphicFramePr>
            <p:nvPr>
              <p:extLst>
                <p:ext uri="{D42A27DB-BD31-4B8C-83A1-F6EECF244321}">
                  <p14:modId xmlns:p14="http://schemas.microsoft.com/office/powerpoint/2010/main" val="1010461136"/>
                </p:ext>
              </p:extLst>
            </p:nvPr>
          </p:nvGraphicFramePr>
          <p:xfrm>
            <a:off x="422" y="1230"/>
            <a:ext cx="1527" cy="855"/>
          </p:xfrm>
          <a:graphic>
            <a:graphicData uri="http://schemas.openxmlformats.org/presentationml/2006/ole">
              <mc:AlternateContent xmlns:mc="http://schemas.openxmlformats.org/markup-compatibility/2006">
                <mc:Choice xmlns:v="urn:schemas-microsoft-com:vml" Requires="v">
                  <p:oleObj spid="_x0000_s12396" name="Equation" r:id="rId5" imgW="1079280" imgH="609480" progId="Equation.DSMT4">
                    <p:embed/>
                  </p:oleObj>
                </mc:Choice>
                <mc:Fallback>
                  <p:oleObj name="Equation" r:id="rId5" imgW="1079280" imgH="609480" progId="Equation.DSMT4">
                    <p:embed/>
                    <p:pic>
                      <p:nvPicPr>
                        <p:cNvPr id="0" name="Object 46"/>
                        <p:cNvPicPr>
                          <a:picLocks noChangeArrowheads="1"/>
                        </p:cNvPicPr>
                        <p:nvPr/>
                      </p:nvPicPr>
                      <p:blipFill>
                        <a:blip r:embed="rId6"/>
                        <a:srcRect/>
                        <a:stretch>
                          <a:fillRect/>
                        </a:stretch>
                      </p:blipFill>
                      <p:spPr bwMode="auto">
                        <a:xfrm>
                          <a:off x="422" y="1230"/>
                          <a:ext cx="1527" cy="855"/>
                        </a:xfrm>
                        <a:prstGeom prst="rect">
                          <a:avLst/>
                        </a:prstGeom>
                        <a:solidFill>
                          <a:srgbClr val="FDE3BA"/>
                        </a:solidFill>
                        <a:ln>
                          <a:noFill/>
                        </a:ln>
                        <a:effectLst/>
                        <a:extLst>
                          <a:ext uri="{91240B29-F687-4F45-9708-019B960494DF}">
                            <a14:hiddenLine xmlns:a14="http://schemas.microsoft.com/office/drawing/2010/main" w="762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12295" name="Rectangle 47"/>
          <p:cNvSpPr>
            <a:spLocks noChangeArrowheads="1"/>
          </p:cNvSpPr>
          <p:nvPr/>
        </p:nvSpPr>
        <p:spPr bwMode="auto">
          <a:xfrm>
            <a:off x="1790700" y="2951163"/>
            <a:ext cx="1219200" cy="381000"/>
          </a:xfrm>
          <a:prstGeom prst="rect">
            <a:avLst/>
          </a:prstGeom>
          <a:noFill/>
          <a:ln w="76200">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endParaRPr lang="en-US" altLang="en-US" sz="2400"/>
          </a:p>
        </p:txBody>
      </p:sp>
      <p:graphicFrame>
        <p:nvGraphicFramePr>
          <p:cNvPr id="2" name="Object 1">
            <a:hlinkClick r:id="" action="ppaction://ole?verb=0"/>
          </p:cNvPr>
          <p:cNvGraphicFramePr>
            <a:graphicFrameLocks/>
          </p:cNvGraphicFramePr>
          <p:nvPr>
            <p:extLst>
              <p:ext uri="{D42A27DB-BD31-4B8C-83A1-F6EECF244321}">
                <p14:modId xmlns:p14="http://schemas.microsoft.com/office/powerpoint/2010/main" val="2143849171"/>
              </p:ext>
            </p:extLst>
          </p:nvPr>
        </p:nvGraphicFramePr>
        <p:xfrm>
          <a:off x="5246688" y="860425"/>
          <a:ext cx="1673225" cy="1384300"/>
        </p:xfrm>
        <a:graphic>
          <a:graphicData uri="http://schemas.openxmlformats.org/presentationml/2006/ole">
            <mc:AlternateContent xmlns:mc="http://schemas.openxmlformats.org/markup-compatibility/2006">
              <mc:Choice xmlns:v="urn:schemas-microsoft-com:vml" Requires="v">
                <p:oleObj spid="_x0000_s12397" name="Equation" r:id="rId7" imgW="634680" imgH="533160" progId="Equation.DSMT4">
                  <p:embed/>
                </p:oleObj>
              </mc:Choice>
              <mc:Fallback>
                <p:oleObj name="Equation" r:id="rId7" imgW="634680" imgH="533160" progId="Equation.DSMT4">
                  <p:embed/>
                  <p:pic>
                    <p:nvPicPr>
                      <p:cNvPr id="0" name="Object 43"/>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246688" y="860425"/>
                        <a:ext cx="1673225" cy="1384300"/>
                      </a:xfrm>
                      <a:prstGeom prst="rect">
                        <a:avLst/>
                      </a:prstGeom>
                      <a:solidFill>
                        <a:schemeClr val="bg1"/>
                      </a:solidFill>
                      <a:ln w="19050">
                        <a:solidFill>
                          <a:srgbClr val="FF0000"/>
                        </a:solidFill>
                        <a:miter lim="800000"/>
                        <a:headEnd/>
                        <a:tailEnd/>
                      </a:ln>
                    </p:spPr>
                  </p:pic>
                </p:oleObj>
              </mc:Fallback>
            </mc:AlternateContent>
          </a:graphicData>
        </a:graphic>
      </p:graphicFrame>
    </p:spTree>
  </p:cSld>
  <p:clrMapOvr>
    <a:masterClrMapping/>
  </p:clrMapOvr>
  <p:transition>
    <p:wipe dir="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314" name="Group 2"/>
          <p:cNvGrpSpPr>
            <a:grpSpLocks/>
          </p:cNvGrpSpPr>
          <p:nvPr/>
        </p:nvGrpSpPr>
        <p:grpSpPr bwMode="auto">
          <a:xfrm>
            <a:off x="766763" y="2473325"/>
            <a:ext cx="7600950" cy="3925888"/>
            <a:chOff x="483" y="1558"/>
            <a:chExt cx="4788" cy="2473"/>
          </a:xfrm>
        </p:grpSpPr>
        <p:grpSp>
          <p:nvGrpSpPr>
            <p:cNvPr id="13328" name="Group 3"/>
            <p:cNvGrpSpPr>
              <a:grpSpLocks/>
            </p:cNvGrpSpPr>
            <p:nvPr/>
          </p:nvGrpSpPr>
          <p:grpSpPr bwMode="auto">
            <a:xfrm>
              <a:off x="483" y="1558"/>
              <a:ext cx="4788" cy="2473"/>
              <a:chOff x="483" y="1558"/>
              <a:chExt cx="4788" cy="2473"/>
            </a:xfrm>
          </p:grpSpPr>
          <p:grpSp>
            <p:nvGrpSpPr>
              <p:cNvPr id="13330" name="Group 4"/>
              <p:cNvGrpSpPr>
                <a:grpSpLocks/>
              </p:cNvGrpSpPr>
              <p:nvPr/>
            </p:nvGrpSpPr>
            <p:grpSpPr bwMode="auto">
              <a:xfrm>
                <a:off x="483" y="1558"/>
                <a:ext cx="4788" cy="2473"/>
                <a:chOff x="483" y="1558"/>
                <a:chExt cx="4788" cy="2473"/>
              </a:xfrm>
            </p:grpSpPr>
            <p:sp>
              <p:nvSpPr>
                <p:cNvPr id="13346" name="Rectangle 5"/>
                <p:cNvSpPr>
                  <a:spLocks noChangeArrowheads="1"/>
                </p:cNvSpPr>
                <p:nvPr/>
              </p:nvSpPr>
              <p:spPr bwMode="auto">
                <a:xfrm>
                  <a:off x="483" y="1558"/>
                  <a:ext cx="4788" cy="2473"/>
                </a:xfrm>
                <a:prstGeom prst="rect">
                  <a:avLst/>
                </a:prstGeom>
                <a:solidFill>
                  <a:srgbClr val="FFFFFF"/>
                </a:solidFill>
                <a:ln w="127000">
                  <a:solidFill>
                    <a:schemeClr val="tx2"/>
                  </a:solidFill>
                  <a:miter lim="800000"/>
                  <a:headEnd/>
                  <a:tailEnd/>
                </a:ln>
              </p:spPr>
              <p:txBody>
                <a:bodyPr wrap="none" anchor="ct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endParaRPr lang="en-US" altLang="en-US" sz="2400"/>
                </a:p>
              </p:txBody>
            </p:sp>
            <p:sp>
              <p:nvSpPr>
                <p:cNvPr id="13347" name="Freeform 6"/>
                <p:cNvSpPr>
                  <a:spLocks/>
                </p:cNvSpPr>
                <p:nvPr/>
              </p:nvSpPr>
              <p:spPr bwMode="auto">
                <a:xfrm>
                  <a:off x="722" y="1650"/>
                  <a:ext cx="4298" cy="2009"/>
                </a:xfrm>
                <a:custGeom>
                  <a:avLst/>
                  <a:gdLst>
                    <a:gd name="T0" fmla="*/ 0 w 4298"/>
                    <a:gd name="T1" fmla="*/ 0 h 2009"/>
                    <a:gd name="T2" fmla="*/ 4297 w 4298"/>
                    <a:gd name="T3" fmla="*/ 0 h 2009"/>
                    <a:gd name="T4" fmla="*/ 4297 w 4298"/>
                    <a:gd name="T5" fmla="*/ 2008 h 2009"/>
                    <a:gd name="T6" fmla="*/ 0 w 4298"/>
                    <a:gd name="T7" fmla="*/ 2008 h 2009"/>
                    <a:gd name="T8" fmla="*/ 0 w 4298"/>
                    <a:gd name="T9" fmla="*/ 0 h 2009"/>
                    <a:gd name="T10" fmla="*/ 0 60000 65536"/>
                    <a:gd name="T11" fmla="*/ 0 60000 65536"/>
                    <a:gd name="T12" fmla="*/ 0 60000 65536"/>
                    <a:gd name="T13" fmla="*/ 0 60000 65536"/>
                    <a:gd name="T14" fmla="*/ 0 60000 65536"/>
                    <a:gd name="T15" fmla="*/ 0 w 4298"/>
                    <a:gd name="T16" fmla="*/ 0 h 2009"/>
                    <a:gd name="T17" fmla="*/ 4298 w 4298"/>
                    <a:gd name="T18" fmla="*/ 2009 h 2009"/>
                  </a:gdLst>
                  <a:ahLst/>
                  <a:cxnLst>
                    <a:cxn ang="T10">
                      <a:pos x="T0" y="T1"/>
                    </a:cxn>
                    <a:cxn ang="T11">
                      <a:pos x="T2" y="T3"/>
                    </a:cxn>
                    <a:cxn ang="T12">
                      <a:pos x="T4" y="T5"/>
                    </a:cxn>
                    <a:cxn ang="T13">
                      <a:pos x="T6" y="T7"/>
                    </a:cxn>
                    <a:cxn ang="T14">
                      <a:pos x="T8" y="T9"/>
                    </a:cxn>
                  </a:cxnLst>
                  <a:rect l="T15" t="T16" r="T17" b="T18"/>
                  <a:pathLst>
                    <a:path w="4298" h="2009">
                      <a:moveTo>
                        <a:pt x="0" y="0"/>
                      </a:moveTo>
                      <a:lnTo>
                        <a:pt x="4297" y="0"/>
                      </a:lnTo>
                      <a:lnTo>
                        <a:pt x="4297" y="2008"/>
                      </a:lnTo>
                      <a:lnTo>
                        <a:pt x="0" y="2008"/>
                      </a:lnTo>
                      <a:lnTo>
                        <a:pt x="0" y="0"/>
                      </a:lnTo>
                    </a:path>
                  </a:pathLst>
                </a:custGeom>
                <a:solidFill>
                  <a:srgbClr val="FFFFFF"/>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en-US"/>
                </a:p>
              </p:txBody>
            </p:sp>
            <p:sp>
              <p:nvSpPr>
                <p:cNvPr id="13348" name="Line 7"/>
                <p:cNvSpPr>
                  <a:spLocks noChangeShapeType="1"/>
                </p:cNvSpPr>
                <p:nvPr/>
              </p:nvSpPr>
              <p:spPr bwMode="auto">
                <a:xfrm>
                  <a:off x="726" y="3664"/>
                  <a:ext cx="4295"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349" name="Line 8"/>
                <p:cNvSpPr>
                  <a:spLocks noChangeShapeType="1"/>
                </p:cNvSpPr>
                <p:nvPr/>
              </p:nvSpPr>
              <p:spPr bwMode="auto">
                <a:xfrm flipV="1">
                  <a:off x="722" y="3624"/>
                  <a:ext cx="0" cy="79"/>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350" name="Line 9"/>
                <p:cNvSpPr>
                  <a:spLocks noChangeShapeType="1"/>
                </p:cNvSpPr>
                <p:nvPr/>
              </p:nvSpPr>
              <p:spPr bwMode="auto">
                <a:xfrm flipV="1">
                  <a:off x="1446" y="3624"/>
                  <a:ext cx="0" cy="79"/>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351" name="Line 10"/>
                <p:cNvSpPr>
                  <a:spLocks noChangeShapeType="1"/>
                </p:cNvSpPr>
                <p:nvPr/>
              </p:nvSpPr>
              <p:spPr bwMode="auto">
                <a:xfrm flipV="1">
                  <a:off x="2156" y="3624"/>
                  <a:ext cx="0" cy="79"/>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352" name="Line 11"/>
                <p:cNvSpPr>
                  <a:spLocks noChangeShapeType="1"/>
                </p:cNvSpPr>
                <p:nvPr/>
              </p:nvSpPr>
              <p:spPr bwMode="auto">
                <a:xfrm flipV="1">
                  <a:off x="2880" y="3624"/>
                  <a:ext cx="0" cy="79"/>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353" name="Line 12"/>
                <p:cNvSpPr>
                  <a:spLocks noChangeShapeType="1"/>
                </p:cNvSpPr>
                <p:nvPr/>
              </p:nvSpPr>
              <p:spPr bwMode="auto">
                <a:xfrm flipV="1">
                  <a:off x="3591" y="3624"/>
                  <a:ext cx="0" cy="79"/>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354" name="Line 13"/>
                <p:cNvSpPr>
                  <a:spLocks noChangeShapeType="1"/>
                </p:cNvSpPr>
                <p:nvPr/>
              </p:nvSpPr>
              <p:spPr bwMode="auto">
                <a:xfrm flipV="1">
                  <a:off x="4314" y="3624"/>
                  <a:ext cx="0" cy="79"/>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355" name="Line 14"/>
                <p:cNvSpPr>
                  <a:spLocks noChangeShapeType="1"/>
                </p:cNvSpPr>
                <p:nvPr/>
              </p:nvSpPr>
              <p:spPr bwMode="auto">
                <a:xfrm flipV="1">
                  <a:off x="5025" y="3624"/>
                  <a:ext cx="0" cy="79"/>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356" name="Freeform 15"/>
                <p:cNvSpPr>
                  <a:spLocks/>
                </p:cNvSpPr>
                <p:nvPr/>
              </p:nvSpPr>
              <p:spPr bwMode="auto">
                <a:xfrm>
                  <a:off x="722" y="2063"/>
                  <a:ext cx="4304" cy="1443"/>
                </a:xfrm>
                <a:custGeom>
                  <a:avLst/>
                  <a:gdLst>
                    <a:gd name="T0" fmla="*/ 76 w 4304"/>
                    <a:gd name="T1" fmla="*/ 1433 h 1443"/>
                    <a:gd name="T2" fmla="*/ 165 w 4304"/>
                    <a:gd name="T3" fmla="*/ 1416 h 1443"/>
                    <a:gd name="T4" fmla="*/ 267 w 4304"/>
                    <a:gd name="T5" fmla="*/ 1398 h 1443"/>
                    <a:gd name="T6" fmla="*/ 356 w 4304"/>
                    <a:gd name="T7" fmla="*/ 1381 h 1443"/>
                    <a:gd name="T8" fmla="*/ 444 w 4304"/>
                    <a:gd name="T9" fmla="*/ 1363 h 1443"/>
                    <a:gd name="T10" fmla="*/ 521 w 4304"/>
                    <a:gd name="T11" fmla="*/ 1337 h 1443"/>
                    <a:gd name="T12" fmla="*/ 597 w 4304"/>
                    <a:gd name="T13" fmla="*/ 1319 h 1443"/>
                    <a:gd name="T14" fmla="*/ 686 w 4304"/>
                    <a:gd name="T15" fmla="*/ 1293 h 1443"/>
                    <a:gd name="T16" fmla="*/ 749 w 4304"/>
                    <a:gd name="T17" fmla="*/ 1266 h 1443"/>
                    <a:gd name="T18" fmla="*/ 838 w 4304"/>
                    <a:gd name="T19" fmla="*/ 1240 h 1443"/>
                    <a:gd name="T20" fmla="*/ 914 w 4304"/>
                    <a:gd name="T21" fmla="*/ 1196 h 1443"/>
                    <a:gd name="T22" fmla="*/ 977 w 4304"/>
                    <a:gd name="T23" fmla="*/ 1170 h 1443"/>
                    <a:gd name="T24" fmla="*/ 1041 w 4304"/>
                    <a:gd name="T25" fmla="*/ 1134 h 1443"/>
                    <a:gd name="T26" fmla="*/ 1117 w 4304"/>
                    <a:gd name="T27" fmla="*/ 1082 h 1443"/>
                    <a:gd name="T28" fmla="*/ 1206 w 4304"/>
                    <a:gd name="T29" fmla="*/ 1020 h 1443"/>
                    <a:gd name="T30" fmla="*/ 1269 w 4304"/>
                    <a:gd name="T31" fmla="*/ 967 h 1443"/>
                    <a:gd name="T32" fmla="*/ 1333 w 4304"/>
                    <a:gd name="T33" fmla="*/ 915 h 1443"/>
                    <a:gd name="T34" fmla="*/ 1396 w 4304"/>
                    <a:gd name="T35" fmla="*/ 853 h 1443"/>
                    <a:gd name="T36" fmla="*/ 1460 w 4304"/>
                    <a:gd name="T37" fmla="*/ 783 h 1443"/>
                    <a:gd name="T38" fmla="*/ 1511 w 4304"/>
                    <a:gd name="T39" fmla="*/ 712 h 1443"/>
                    <a:gd name="T40" fmla="*/ 1574 w 4304"/>
                    <a:gd name="T41" fmla="*/ 633 h 1443"/>
                    <a:gd name="T42" fmla="*/ 1625 w 4304"/>
                    <a:gd name="T43" fmla="*/ 563 h 1443"/>
                    <a:gd name="T44" fmla="*/ 1688 w 4304"/>
                    <a:gd name="T45" fmla="*/ 475 h 1443"/>
                    <a:gd name="T46" fmla="*/ 1739 w 4304"/>
                    <a:gd name="T47" fmla="*/ 396 h 1443"/>
                    <a:gd name="T48" fmla="*/ 1802 w 4304"/>
                    <a:gd name="T49" fmla="*/ 317 h 1443"/>
                    <a:gd name="T50" fmla="*/ 1853 w 4304"/>
                    <a:gd name="T51" fmla="*/ 238 h 1443"/>
                    <a:gd name="T52" fmla="*/ 1917 w 4304"/>
                    <a:gd name="T53" fmla="*/ 158 h 1443"/>
                    <a:gd name="T54" fmla="*/ 1980 w 4304"/>
                    <a:gd name="T55" fmla="*/ 88 h 1443"/>
                    <a:gd name="T56" fmla="*/ 2056 w 4304"/>
                    <a:gd name="T57" fmla="*/ 27 h 1443"/>
                    <a:gd name="T58" fmla="*/ 2132 w 4304"/>
                    <a:gd name="T59" fmla="*/ 0 h 1443"/>
                    <a:gd name="T60" fmla="*/ 2221 w 4304"/>
                    <a:gd name="T61" fmla="*/ 9 h 1443"/>
                    <a:gd name="T62" fmla="*/ 2297 w 4304"/>
                    <a:gd name="T63" fmla="*/ 53 h 1443"/>
                    <a:gd name="T64" fmla="*/ 2348 w 4304"/>
                    <a:gd name="T65" fmla="*/ 114 h 1443"/>
                    <a:gd name="T66" fmla="*/ 2412 w 4304"/>
                    <a:gd name="T67" fmla="*/ 176 h 1443"/>
                    <a:gd name="T68" fmla="*/ 2462 w 4304"/>
                    <a:gd name="T69" fmla="*/ 255 h 1443"/>
                    <a:gd name="T70" fmla="*/ 2526 w 4304"/>
                    <a:gd name="T71" fmla="*/ 334 h 1443"/>
                    <a:gd name="T72" fmla="*/ 2577 w 4304"/>
                    <a:gd name="T73" fmla="*/ 413 h 1443"/>
                    <a:gd name="T74" fmla="*/ 2640 w 4304"/>
                    <a:gd name="T75" fmla="*/ 501 h 1443"/>
                    <a:gd name="T76" fmla="*/ 2691 w 4304"/>
                    <a:gd name="T77" fmla="*/ 581 h 1443"/>
                    <a:gd name="T78" fmla="*/ 2754 w 4304"/>
                    <a:gd name="T79" fmla="*/ 660 h 1443"/>
                    <a:gd name="T80" fmla="*/ 2805 w 4304"/>
                    <a:gd name="T81" fmla="*/ 730 h 1443"/>
                    <a:gd name="T82" fmla="*/ 2869 w 4304"/>
                    <a:gd name="T83" fmla="*/ 792 h 1443"/>
                    <a:gd name="T84" fmla="*/ 2932 w 4304"/>
                    <a:gd name="T85" fmla="*/ 853 h 1443"/>
                    <a:gd name="T86" fmla="*/ 2983 w 4304"/>
                    <a:gd name="T87" fmla="*/ 915 h 1443"/>
                    <a:gd name="T88" fmla="*/ 3059 w 4304"/>
                    <a:gd name="T89" fmla="*/ 976 h 1443"/>
                    <a:gd name="T90" fmla="*/ 3122 w 4304"/>
                    <a:gd name="T91" fmla="*/ 1038 h 1443"/>
                    <a:gd name="T92" fmla="*/ 3186 w 4304"/>
                    <a:gd name="T93" fmla="*/ 1073 h 1443"/>
                    <a:gd name="T94" fmla="*/ 3237 w 4304"/>
                    <a:gd name="T95" fmla="*/ 1117 h 1443"/>
                    <a:gd name="T96" fmla="*/ 3338 w 4304"/>
                    <a:gd name="T97" fmla="*/ 1170 h 1443"/>
                    <a:gd name="T98" fmla="*/ 3440 w 4304"/>
                    <a:gd name="T99" fmla="*/ 1214 h 1443"/>
                    <a:gd name="T100" fmla="*/ 3516 w 4304"/>
                    <a:gd name="T101" fmla="*/ 1249 h 1443"/>
                    <a:gd name="T102" fmla="*/ 3592 w 4304"/>
                    <a:gd name="T103" fmla="*/ 1275 h 1443"/>
                    <a:gd name="T104" fmla="*/ 3668 w 4304"/>
                    <a:gd name="T105" fmla="*/ 1310 h 1443"/>
                    <a:gd name="T106" fmla="*/ 3770 w 4304"/>
                    <a:gd name="T107" fmla="*/ 1337 h 1443"/>
                    <a:gd name="T108" fmla="*/ 3859 w 4304"/>
                    <a:gd name="T109" fmla="*/ 1363 h 1443"/>
                    <a:gd name="T110" fmla="*/ 3947 w 4304"/>
                    <a:gd name="T111" fmla="*/ 1381 h 1443"/>
                    <a:gd name="T112" fmla="*/ 4049 w 4304"/>
                    <a:gd name="T113" fmla="*/ 1398 h 1443"/>
                    <a:gd name="T114" fmla="*/ 4125 w 4304"/>
                    <a:gd name="T115" fmla="*/ 1416 h 1443"/>
                    <a:gd name="T116" fmla="*/ 4227 w 4304"/>
                    <a:gd name="T117" fmla="*/ 1425 h 1443"/>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4304"/>
                    <a:gd name="T178" fmla="*/ 0 h 1443"/>
                    <a:gd name="T179" fmla="*/ 4304 w 4304"/>
                    <a:gd name="T180" fmla="*/ 1443 h 1443"/>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4304" h="1443">
                      <a:moveTo>
                        <a:pt x="0" y="1442"/>
                      </a:moveTo>
                      <a:lnTo>
                        <a:pt x="13" y="1442"/>
                      </a:lnTo>
                      <a:lnTo>
                        <a:pt x="26" y="1442"/>
                      </a:lnTo>
                      <a:lnTo>
                        <a:pt x="26" y="1433"/>
                      </a:lnTo>
                      <a:lnTo>
                        <a:pt x="38" y="1433"/>
                      </a:lnTo>
                      <a:lnTo>
                        <a:pt x="51" y="1433"/>
                      </a:lnTo>
                      <a:lnTo>
                        <a:pt x="64" y="1433"/>
                      </a:lnTo>
                      <a:lnTo>
                        <a:pt x="76" y="1433"/>
                      </a:lnTo>
                      <a:lnTo>
                        <a:pt x="89" y="1425"/>
                      </a:lnTo>
                      <a:lnTo>
                        <a:pt x="102" y="1425"/>
                      </a:lnTo>
                      <a:lnTo>
                        <a:pt x="114" y="1425"/>
                      </a:lnTo>
                      <a:lnTo>
                        <a:pt x="127" y="1425"/>
                      </a:lnTo>
                      <a:lnTo>
                        <a:pt x="140" y="1425"/>
                      </a:lnTo>
                      <a:lnTo>
                        <a:pt x="140" y="1416"/>
                      </a:lnTo>
                      <a:lnTo>
                        <a:pt x="153" y="1416"/>
                      </a:lnTo>
                      <a:lnTo>
                        <a:pt x="165" y="1416"/>
                      </a:lnTo>
                      <a:lnTo>
                        <a:pt x="178" y="1416"/>
                      </a:lnTo>
                      <a:lnTo>
                        <a:pt x="191" y="1416"/>
                      </a:lnTo>
                      <a:lnTo>
                        <a:pt x="203" y="1407"/>
                      </a:lnTo>
                      <a:lnTo>
                        <a:pt x="216" y="1407"/>
                      </a:lnTo>
                      <a:lnTo>
                        <a:pt x="229" y="1407"/>
                      </a:lnTo>
                      <a:lnTo>
                        <a:pt x="241" y="1407"/>
                      </a:lnTo>
                      <a:lnTo>
                        <a:pt x="254" y="1398"/>
                      </a:lnTo>
                      <a:lnTo>
                        <a:pt x="267" y="1398"/>
                      </a:lnTo>
                      <a:lnTo>
                        <a:pt x="279" y="1398"/>
                      </a:lnTo>
                      <a:lnTo>
                        <a:pt x="292" y="1398"/>
                      </a:lnTo>
                      <a:lnTo>
                        <a:pt x="292" y="1389"/>
                      </a:lnTo>
                      <a:lnTo>
                        <a:pt x="305" y="1389"/>
                      </a:lnTo>
                      <a:lnTo>
                        <a:pt x="318" y="1389"/>
                      </a:lnTo>
                      <a:lnTo>
                        <a:pt x="330" y="1389"/>
                      </a:lnTo>
                      <a:lnTo>
                        <a:pt x="343" y="1381"/>
                      </a:lnTo>
                      <a:lnTo>
                        <a:pt x="356" y="1381"/>
                      </a:lnTo>
                      <a:lnTo>
                        <a:pt x="368" y="1381"/>
                      </a:lnTo>
                      <a:lnTo>
                        <a:pt x="381" y="1372"/>
                      </a:lnTo>
                      <a:lnTo>
                        <a:pt x="394" y="1372"/>
                      </a:lnTo>
                      <a:lnTo>
                        <a:pt x="406" y="1372"/>
                      </a:lnTo>
                      <a:lnTo>
                        <a:pt x="419" y="1372"/>
                      </a:lnTo>
                      <a:lnTo>
                        <a:pt x="419" y="1363"/>
                      </a:lnTo>
                      <a:lnTo>
                        <a:pt x="432" y="1363"/>
                      </a:lnTo>
                      <a:lnTo>
                        <a:pt x="444" y="1363"/>
                      </a:lnTo>
                      <a:lnTo>
                        <a:pt x="457" y="1363"/>
                      </a:lnTo>
                      <a:lnTo>
                        <a:pt x="457" y="1354"/>
                      </a:lnTo>
                      <a:lnTo>
                        <a:pt x="470" y="1354"/>
                      </a:lnTo>
                      <a:lnTo>
                        <a:pt x="483" y="1354"/>
                      </a:lnTo>
                      <a:lnTo>
                        <a:pt x="495" y="1346"/>
                      </a:lnTo>
                      <a:lnTo>
                        <a:pt x="508" y="1346"/>
                      </a:lnTo>
                      <a:lnTo>
                        <a:pt x="521" y="1346"/>
                      </a:lnTo>
                      <a:lnTo>
                        <a:pt x="521" y="1337"/>
                      </a:lnTo>
                      <a:lnTo>
                        <a:pt x="533" y="1337"/>
                      </a:lnTo>
                      <a:lnTo>
                        <a:pt x="546" y="1337"/>
                      </a:lnTo>
                      <a:lnTo>
                        <a:pt x="559" y="1337"/>
                      </a:lnTo>
                      <a:lnTo>
                        <a:pt x="559" y="1328"/>
                      </a:lnTo>
                      <a:lnTo>
                        <a:pt x="571" y="1328"/>
                      </a:lnTo>
                      <a:lnTo>
                        <a:pt x="584" y="1328"/>
                      </a:lnTo>
                      <a:lnTo>
                        <a:pt x="584" y="1319"/>
                      </a:lnTo>
                      <a:lnTo>
                        <a:pt x="597" y="1319"/>
                      </a:lnTo>
                      <a:lnTo>
                        <a:pt x="609" y="1319"/>
                      </a:lnTo>
                      <a:lnTo>
                        <a:pt x="622" y="1310"/>
                      </a:lnTo>
                      <a:lnTo>
                        <a:pt x="635" y="1310"/>
                      </a:lnTo>
                      <a:lnTo>
                        <a:pt x="648" y="1302"/>
                      </a:lnTo>
                      <a:lnTo>
                        <a:pt x="660" y="1302"/>
                      </a:lnTo>
                      <a:lnTo>
                        <a:pt x="673" y="1302"/>
                      </a:lnTo>
                      <a:lnTo>
                        <a:pt x="673" y="1293"/>
                      </a:lnTo>
                      <a:lnTo>
                        <a:pt x="686" y="1293"/>
                      </a:lnTo>
                      <a:lnTo>
                        <a:pt x="698" y="1293"/>
                      </a:lnTo>
                      <a:lnTo>
                        <a:pt x="698" y="1284"/>
                      </a:lnTo>
                      <a:lnTo>
                        <a:pt x="711" y="1284"/>
                      </a:lnTo>
                      <a:lnTo>
                        <a:pt x="724" y="1284"/>
                      </a:lnTo>
                      <a:lnTo>
                        <a:pt x="724" y="1275"/>
                      </a:lnTo>
                      <a:lnTo>
                        <a:pt x="736" y="1275"/>
                      </a:lnTo>
                      <a:lnTo>
                        <a:pt x="749" y="1275"/>
                      </a:lnTo>
                      <a:lnTo>
                        <a:pt x="749" y="1266"/>
                      </a:lnTo>
                      <a:lnTo>
                        <a:pt x="762" y="1266"/>
                      </a:lnTo>
                      <a:lnTo>
                        <a:pt x="774" y="1258"/>
                      </a:lnTo>
                      <a:lnTo>
                        <a:pt x="787" y="1258"/>
                      </a:lnTo>
                      <a:lnTo>
                        <a:pt x="800" y="1249"/>
                      </a:lnTo>
                      <a:lnTo>
                        <a:pt x="813" y="1249"/>
                      </a:lnTo>
                      <a:lnTo>
                        <a:pt x="813" y="1240"/>
                      </a:lnTo>
                      <a:lnTo>
                        <a:pt x="825" y="1240"/>
                      </a:lnTo>
                      <a:lnTo>
                        <a:pt x="838" y="1240"/>
                      </a:lnTo>
                      <a:lnTo>
                        <a:pt x="838" y="1231"/>
                      </a:lnTo>
                      <a:lnTo>
                        <a:pt x="851" y="1231"/>
                      </a:lnTo>
                      <a:lnTo>
                        <a:pt x="863" y="1222"/>
                      </a:lnTo>
                      <a:lnTo>
                        <a:pt x="876" y="1214"/>
                      </a:lnTo>
                      <a:lnTo>
                        <a:pt x="889" y="1214"/>
                      </a:lnTo>
                      <a:lnTo>
                        <a:pt x="901" y="1205"/>
                      </a:lnTo>
                      <a:lnTo>
                        <a:pt x="914" y="1205"/>
                      </a:lnTo>
                      <a:lnTo>
                        <a:pt x="914" y="1196"/>
                      </a:lnTo>
                      <a:lnTo>
                        <a:pt x="927" y="1196"/>
                      </a:lnTo>
                      <a:lnTo>
                        <a:pt x="927" y="1187"/>
                      </a:lnTo>
                      <a:lnTo>
                        <a:pt x="939" y="1187"/>
                      </a:lnTo>
                      <a:lnTo>
                        <a:pt x="952" y="1187"/>
                      </a:lnTo>
                      <a:lnTo>
                        <a:pt x="952" y="1178"/>
                      </a:lnTo>
                      <a:lnTo>
                        <a:pt x="965" y="1178"/>
                      </a:lnTo>
                      <a:lnTo>
                        <a:pt x="965" y="1170"/>
                      </a:lnTo>
                      <a:lnTo>
                        <a:pt x="977" y="1170"/>
                      </a:lnTo>
                      <a:lnTo>
                        <a:pt x="977" y="1161"/>
                      </a:lnTo>
                      <a:lnTo>
                        <a:pt x="990" y="1161"/>
                      </a:lnTo>
                      <a:lnTo>
                        <a:pt x="1003" y="1152"/>
                      </a:lnTo>
                      <a:lnTo>
                        <a:pt x="1016" y="1152"/>
                      </a:lnTo>
                      <a:lnTo>
                        <a:pt x="1016" y="1143"/>
                      </a:lnTo>
                      <a:lnTo>
                        <a:pt x="1028" y="1143"/>
                      </a:lnTo>
                      <a:lnTo>
                        <a:pt x="1028" y="1134"/>
                      </a:lnTo>
                      <a:lnTo>
                        <a:pt x="1041" y="1134"/>
                      </a:lnTo>
                      <a:lnTo>
                        <a:pt x="1041" y="1126"/>
                      </a:lnTo>
                      <a:lnTo>
                        <a:pt x="1054" y="1126"/>
                      </a:lnTo>
                      <a:lnTo>
                        <a:pt x="1066" y="1117"/>
                      </a:lnTo>
                      <a:lnTo>
                        <a:pt x="1079" y="1108"/>
                      </a:lnTo>
                      <a:lnTo>
                        <a:pt x="1092" y="1099"/>
                      </a:lnTo>
                      <a:lnTo>
                        <a:pt x="1104" y="1091"/>
                      </a:lnTo>
                      <a:lnTo>
                        <a:pt x="1117" y="1091"/>
                      </a:lnTo>
                      <a:lnTo>
                        <a:pt x="1117" y="1082"/>
                      </a:lnTo>
                      <a:lnTo>
                        <a:pt x="1130" y="1073"/>
                      </a:lnTo>
                      <a:lnTo>
                        <a:pt x="1142" y="1064"/>
                      </a:lnTo>
                      <a:lnTo>
                        <a:pt x="1155" y="1055"/>
                      </a:lnTo>
                      <a:lnTo>
                        <a:pt x="1168" y="1055"/>
                      </a:lnTo>
                      <a:lnTo>
                        <a:pt x="1168" y="1047"/>
                      </a:lnTo>
                      <a:lnTo>
                        <a:pt x="1181" y="1038"/>
                      </a:lnTo>
                      <a:lnTo>
                        <a:pt x="1193" y="1029"/>
                      </a:lnTo>
                      <a:lnTo>
                        <a:pt x="1206" y="1020"/>
                      </a:lnTo>
                      <a:lnTo>
                        <a:pt x="1206" y="1011"/>
                      </a:lnTo>
                      <a:lnTo>
                        <a:pt x="1219" y="1011"/>
                      </a:lnTo>
                      <a:lnTo>
                        <a:pt x="1231" y="1003"/>
                      </a:lnTo>
                      <a:lnTo>
                        <a:pt x="1231" y="994"/>
                      </a:lnTo>
                      <a:lnTo>
                        <a:pt x="1244" y="994"/>
                      </a:lnTo>
                      <a:lnTo>
                        <a:pt x="1244" y="985"/>
                      </a:lnTo>
                      <a:lnTo>
                        <a:pt x="1257" y="976"/>
                      </a:lnTo>
                      <a:lnTo>
                        <a:pt x="1269" y="967"/>
                      </a:lnTo>
                      <a:lnTo>
                        <a:pt x="1282" y="959"/>
                      </a:lnTo>
                      <a:lnTo>
                        <a:pt x="1282" y="950"/>
                      </a:lnTo>
                      <a:lnTo>
                        <a:pt x="1295" y="950"/>
                      </a:lnTo>
                      <a:lnTo>
                        <a:pt x="1295" y="941"/>
                      </a:lnTo>
                      <a:lnTo>
                        <a:pt x="1307" y="932"/>
                      </a:lnTo>
                      <a:lnTo>
                        <a:pt x="1307" y="923"/>
                      </a:lnTo>
                      <a:lnTo>
                        <a:pt x="1320" y="923"/>
                      </a:lnTo>
                      <a:lnTo>
                        <a:pt x="1333" y="915"/>
                      </a:lnTo>
                      <a:lnTo>
                        <a:pt x="1333" y="906"/>
                      </a:lnTo>
                      <a:lnTo>
                        <a:pt x="1346" y="897"/>
                      </a:lnTo>
                      <a:lnTo>
                        <a:pt x="1358" y="888"/>
                      </a:lnTo>
                      <a:lnTo>
                        <a:pt x="1358" y="879"/>
                      </a:lnTo>
                      <a:lnTo>
                        <a:pt x="1371" y="871"/>
                      </a:lnTo>
                      <a:lnTo>
                        <a:pt x="1371" y="862"/>
                      </a:lnTo>
                      <a:lnTo>
                        <a:pt x="1384" y="853"/>
                      </a:lnTo>
                      <a:lnTo>
                        <a:pt x="1396" y="853"/>
                      </a:lnTo>
                      <a:lnTo>
                        <a:pt x="1396" y="844"/>
                      </a:lnTo>
                      <a:lnTo>
                        <a:pt x="1409" y="836"/>
                      </a:lnTo>
                      <a:lnTo>
                        <a:pt x="1409" y="827"/>
                      </a:lnTo>
                      <a:lnTo>
                        <a:pt x="1422" y="818"/>
                      </a:lnTo>
                      <a:lnTo>
                        <a:pt x="1422" y="809"/>
                      </a:lnTo>
                      <a:lnTo>
                        <a:pt x="1434" y="800"/>
                      </a:lnTo>
                      <a:lnTo>
                        <a:pt x="1447" y="792"/>
                      </a:lnTo>
                      <a:lnTo>
                        <a:pt x="1460" y="783"/>
                      </a:lnTo>
                      <a:lnTo>
                        <a:pt x="1460" y="774"/>
                      </a:lnTo>
                      <a:lnTo>
                        <a:pt x="1472" y="765"/>
                      </a:lnTo>
                      <a:lnTo>
                        <a:pt x="1472" y="756"/>
                      </a:lnTo>
                      <a:lnTo>
                        <a:pt x="1485" y="748"/>
                      </a:lnTo>
                      <a:lnTo>
                        <a:pt x="1498" y="739"/>
                      </a:lnTo>
                      <a:lnTo>
                        <a:pt x="1498" y="730"/>
                      </a:lnTo>
                      <a:lnTo>
                        <a:pt x="1511" y="721"/>
                      </a:lnTo>
                      <a:lnTo>
                        <a:pt x="1511" y="712"/>
                      </a:lnTo>
                      <a:lnTo>
                        <a:pt x="1523" y="704"/>
                      </a:lnTo>
                      <a:lnTo>
                        <a:pt x="1523" y="695"/>
                      </a:lnTo>
                      <a:lnTo>
                        <a:pt x="1536" y="686"/>
                      </a:lnTo>
                      <a:lnTo>
                        <a:pt x="1536" y="677"/>
                      </a:lnTo>
                      <a:lnTo>
                        <a:pt x="1549" y="668"/>
                      </a:lnTo>
                      <a:lnTo>
                        <a:pt x="1561" y="660"/>
                      </a:lnTo>
                      <a:lnTo>
                        <a:pt x="1561" y="651"/>
                      </a:lnTo>
                      <a:lnTo>
                        <a:pt x="1574" y="633"/>
                      </a:lnTo>
                      <a:lnTo>
                        <a:pt x="1574" y="624"/>
                      </a:lnTo>
                      <a:lnTo>
                        <a:pt x="1587" y="616"/>
                      </a:lnTo>
                      <a:lnTo>
                        <a:pt x="1587" y="607"/>
                      </a:lnTo>
                      <a:lnTo>
                        <a:pt x="1599" y="598"/>
                      </a:lnTo>
                      <a:lnTo>
                        <a:pt x="1612" y="589"/>
                      </a:lnTo>
                      <a:lnTo>
                        <a:pt x="1612" y="581"/>
                      </a:lnTo>
                      <a:lnTo>
                        <a:pt x="1625" y="572"/>
                      </a:lnTo>
                      <a:lnTo>
                        <a:pt x="1625" y="563"/>
                      </a:lnTo>
                      <a:lnTo>
                        <a:pt x="1637" y="554"/>
                      </a:lnTo>
                      <a:lnTo>
                        <a:pt x="1637" y="537"/>
                      </a:lnTo>
                      <a:lnTo>
                        <a:pt x="1650" y="528"/>
                      </a:lnTo>
                      <a:lnTo>
                        <a:pt x="1663" y="519"/>
                      </a:lnTo>
                      <a:lnTo>
                        <a:pt x="1663" y="510"/>
                      </a:lnTo>
                      <a:lnTo>
                        <a:pt x="1676" y="501"/>
                      </a:lnTo>
                      <a:lnTo>
                        <a:pt x="1676" y="493"/>
                      </a:lnTo>
                      <a:lnTo>
                        <a:pt x="1688" y="475"/>
                      </a:lnTo>
                      <a:lnTo>
                        <a:pt x="1688" y="466"/>
                      </a:lnTo>
                      <a:lnTo>
                        <a:pt x="1701" y="457"/>
                      </a:lnTo>
                      <a:lnTo>
                        <a:pt x="1701" y="449"/>
                      </a:lnTo>
                      <a:lnTo>
                        <a:pt x="1714" y="440"/>
                      </a:lnTo>
                      <a:lnTo>
                        <a:pt x="1726" y="431"/>
                      </a:lnTo>
                      <a:lnTo>
                        <a:pt x="1726" y="413"/>
                      </a:lnTo>
                      <a:lnTo>
                        <a:pt x="1739" y="405"/>
                      </a:lnTo>
                      <a:lnTo>
                        <a:pt x="1739" y="396"/>
                      </a:lnTo>
                      <a:lnTo>
                        <a:pt x="1752" y="387"/>
                      </a:lnTo>
                      <a:lnTo>
                        <a:pt x="1752" y="378"/>
                      </a:lnTo>
                      <a:lnTo>
                        <a:pt x="1764" y="361"/>
                      </a:lnTo>
                      <a:lnTo>
                        <a:pt x="1777" y="352"/>
                      </a:lnTo>
                      <a:lnTo>
                        <a:pt x="1777" y="343"/>
                      </a:lnTo>
                      <a:lnTo>
                        <a:pt x="1790" y="334"/>
                      </a:lnTo>
                      <a:lnTo>
                        <a:pt x="1790" y="326"/>
                      </a:lnTo>
                      <a:lnTo>
                        <a:pt x="1802" y="317"/>
                      </a:lnTo>
                      <a:lnTo>
                        <a:pt x="1802" y="299"/>
                      </a:lnTo>
                      <a:lnTo>
                        <a:pt x="1815" y="290"/>
                      </a:lnTo>
                      <a:lnTo>
                        <a:pt x="1828" y="282"/>
                      </a:lnTo>
                      <a:lnTo>
                        <a:pt x="1828" y="273"/>
                      </a:lnTo>
                      <a:lnTo>
                        <a:pt x="1841" y="264"/>
                      </a:lnTo>
                      <a:lnTo>
                        <a:pt x="1841" y="255"/>
                      </a:lnTo>
                      <a:lnTo>
                        <a:pt x="1853" y="246"/>
                      </a:lnTo>
                      <a:lnTo>
                        <a:pt x="1853" y="238"/>
                      </a:lnTo>
                      <a:lnTo>
                        <a:pt x="1866" y="220"/>
                      </a:lnTo>
                      <a:lnTo>
                        <a:pt x="1866" y="211"/>
                      </a:lnTo>
                      <a:lnTo>
                        <a:pt x="1879" y="202"/>
                      </a:lnTo>
                      <a:lnTo>
                        <a:pt x="1891" y="194"/>
                      </a:lnTo>
                      <a:lnTo>
                        <a:pt x="1891" y="185"/>
                      </a:lnTo>
                      <a:lnTo>
                        <a:pt x="1904" y="176"/>
                      </a:lnTo>
                      <a:lnTo>
                        <a:pt x="1904" y="167"/>
                      </a:lnTo>
                      <a:lnTo>
                        <a:pt x="1917" y="158"/>
                      </a:lnTo>
                      <a:lnTo>
                        <a:pt x="1917" y="150"/>
                      </a:lnTo>
                      <a:lnTo>
                        <a:pt x="1929" y="141"/>
                      </a:lnTo>
                      <a:lnTo>
                        <a:pt x="1942" y="132"/>
                      </a:lnTo>
                      <a:lnTo>
                        <a:pt x="1942" y="123"/>
                      </a:lnTo>
                      <a:lnTo>
                        <a:pt x="1955" y="114"/>
                      </a:lnTo>
                      <a:lnTo>
                        <a:pt x="1967" y="106"/>
                      </a:lnTo>
                      <a:lnTo>
                        <a:pt x="1967" y="97"/>
                      </a:lnTo>
                      <a:lnTo>
                        <a:pt x="1980" y="88"/>
                      </a:lnTo>
                      <a:lnTo>
                        <a:pt x="1993" y="79"/>
                      </a:lnTo>
                      <a:lnTo>
                        <a:pt x="2006" y="71"/>
                      </a:lnTo>
                      <a:lnTo>
                        <a:pt x="2006" y="62"/>
                      </a:lnTo>
                      <a:lnTo>
                        <a:pt x="2018" y="53"/>
                      </a:lnTo>
                      <a:lnTo>
                        <a:pt x="2031" y="44"/>
                      </a:lnTo>
                      <a:lnTo>
                        <a:pt x="2044" y="35"/>
                      </a:lnTo>
                      <a:lnTo>
                        <a:pt x="2056" y="35"/>
                      </a:lnTo>
                      <a:lnTo>
                        <a:pt x="2056" y="27"/>
                      </a:lnTo>
                      <a:lnTo>
                        <a:pt x="2069" y="27"/>
                      </a:lnTo>
                      <a:lnTo>
                        <a:pt x="2069" y="18"/>
                      </a:lnTo>
                      <a:lnTo>
                        <a:pt x="2082" y="18"/>
                      </a:lnTo>
                      <a:lnTo>
                        <a:pt x="2082" y="9"/>
                      </a:lnTo>
                      <a:lnTo>
                        <a:pt x="2094" y="9"/>
                      </a:lnTo>
                      <a:lnTo>
                        <a:pt x="2107" y="9"/>
                      </a:lnTo>
                      <a:lnTo>
                        <a:pt x="2120" y="0"/>
                      </a:lnTo>
                      <a:lnTo>
                        <a:pt x="2132" y="0"/>
                      </a:lnTo>
                      <a:lnTo>
                        <a:pt x="2145" y="0"/>
                      </a:lnTo>
                      <a:lnTo>
                        <a:pt x="2158" y="0"/>
                      </a:lnTo>
                      <a:lnTo>
                        <a:pt x="2171" y="0"/>
                      </a:lnTo>
                      <a:lnTo>
                        <a:pt x="2183" y="0"/>
                      </a:lnTo>
                      <a:lnTo>
                        <a:pt x="2196" y="0"/>
                      </a:lnTo>
                      <a:lnTo>
                        <a:pt x="2196" y="9"/>
                      </a:lnTo>
                      <a:lnTo>
                        <a:pt x="2209" y="9"/>
                      </a:lnTo>
                      <a:lnTo>
                        <a:pt x="2221" y="9"/>
                      </a:lnTo>
                      <a:lnTo>
                        <a:pt x="2234" y="18"/>
                      </a:lnTo>
                      <a:lnTo>
                        <a:pt x="2247" y="27"/>
                      </a:lnTo>
                      <a:lnTo>
                        <a:pt x="2259" y="35"/>
                      </a:lnTo>
                      <a:lnTo>
                        <a:pt x="2272" y="35"/>
                      </a:lnTo>
                      <a:lnTo>
                        <a:pt x="2272" y="44"/>
                      </a:lnTo>
                      <a:lnTo>
                        <a:pt x="2285" y="44"/>
                      </a:lnTo>
                      <a:lnTo>
                        <a:pt x="2285" y="53"/>
                      </a:lnTo>
                      <a:lnTo>
                        <a:pt x="2297" y="53"/>
                      </a:lnTo>
                      <a:lnTo>
                        <a:pt x="2297" y="62"/>
                      </a:lnTo>
                      <a:lnTo>
                        <a:pt x="2310" y="71"/>
                      </a:lnTo>
                      <a:lnTo>
                        <a:pt x="2310" y="79"/>
                      </a:lnTo>
                      <a:lnTo>
                        <a:pt x="2323" y="79"/>
                      </a:lnTo>
                      <a:lnTo>
                        <a:pt x="2336" y="88"/>
                      </a:lnTo>
                      <a:lnTo>
                        <a:pt x="2336" y="97"/>
                      </a:lnTo>
                      <a:lnTo>
                        <a:pt x="2348" y="106"/>
                      </a:lnTo>
                      <a:lnTo>
                        <a:pt x="2348" y="114"/>
                      </a:lnTo>
                      <a:lnTo>
                        <a:pt x="2361" y="114"/>
                      </a:lnTo>
                      <a:lnTo>
                        <a:pt x="2361" y="123"/>
                      </a:lnTo>
                      <a:lnTo>
                        <a:pt x="2374" y="132"/>
                      </a:lnTo>
                      <a:lnTo>
                        <a:pt x="2386" y="141"/>
                      </a:lnTo>
                      <a:lnTo>
                        <a:pt x="2386" y="150"/>
                      </a:lnTo>
                      <a:lnTo>
                        <a:pt x="2399" y="158"/>
                      </a:lnTo>
                      <a:lnTo>
                        <a:pt x="2399" y="167"/>
                      </a:lnTo>
                      <a:lnTo>
                        <a:pt x="2412" y="176"/>
                      </a:lnTo>
                      <a:lnTo>
                        <a:pt x="2412" y="185"/>
                      </a:lnTo>
                      <a:lnTo>
                        <a:pt x="2424" y="194"/>
                      </a:lnTo>
                      <a:lnTo>
                        <a:pt x="2437" y="202"/>
                      </a:lnTo>
                      <a:lnTo>
                        <a:pt x="2437" y="211"/>
                      </a:lnTo>
                      <a:lnTo>
                        <a:pt x="2450" y="220"/>
                      </a:lnTo>
                      <a:lnTo>
                        <a:pt x="2450" y="238"/>
                      </a:lnTo>
                      <a:lnTo>
                        <a:pt x="2462" y="246"/>
                      </a:lnTo>
                      <a:lnTo>
                        <a:pt x="2462" y="255"/>
                      </a:lnTo>
                      <a:lnTo>
                        <a:pt x="2475" y="264"/>
                      </a:lnTo>
                      <a:lnTo>
                        <a:pt x="2475" y="273"/>
                      </a:lnTo>
                      <a:lnTo>
                        <a:pt x="2488" y="282"/>
                      </a:lnTo>
                      <a:lnTo>
                        <a:pt x="2501" y="290"/>
                      </a:lnTo>
                      <a:lnTo>
                        <a:pt x="2501" y="299"/>
                      </a:lnTo>
                      <a:lnTo>
                        <a:pt x="2513" y="317"/>
                      </a:lnTo>
                      <a:lnTo>
                        <a:pt x="2513" y="326"/>
                      </a:lnTo>
                      <a:lnTo>
                        <a:pt x="2526" y="334"/>
                      </a:lnTo>
                      <a:lnTo>
                        <a:pt x="2526" y="343"/>
                      </a:lnTo>
                      <a:lnTo>
                        <a:pt x="2539" y="352"/>
                      </a:lnTo>
                      <a:lnTo>
                        <a:pt x="2551" y="361"/>
                      </a:lnTo>
                      <a:lnTo>
                        <a:pt x="2551" y="378"/>
                      </a:lnTo>
                      <a:lnTo>
                        <a:pt x="2564" y="387"/>
                      </a:lnTo>
                      <a:lnTo>
                        <a:pt x="2564" y="396"/>
                      </a:lnTo>
                      <a:lnTo>
                        <a:pt x="2577" y="405"/>
                      </a:lnTo>
                      <a:lnTo>
                        <a:pt x="2577" y="413"/>
                      </a:lnTo>
                      <a:lnTo>
                        <a:pt x="2589" y="431"/>
                      </a:lnTo>
                      <a:lnTo>
                        <a:pt x="2602" y="440"/>
                      </a:lnTo>
                      <a:lnTo>
                        <a:pt x="2602" y="449"/>
                      </a:lnTo>
                      <a:lnTo>
                        <a:pt x="2615" y="457"/>
                      </a:lnTo>
                      <a:lnTo>
                        <a:pt x="2615" y="466"/>
                      </a:lnTo>
                      <a:lnTo>
                        <a:pt x="2627" y="475"/>
                      </a:lnTo>
                      <a:lnTo>
                        <a:pt x="2627" y="493"/>
                      </a:lnTo>
                      <a:lnTo>
                        <a:pt x="2640" y="501"/>
                      </a:lnTo>
                      <a:lnTo>
                        <a:pt x="2640" y="510"/>
                      </a:lnTo>
                      <a:lnTo>
                        <a:pt x="2653" y="519"/>
                      </a:lnTo>
                      <a:lnTo>
                        <a:pt x="2666" y="528"/>
                      </a:lnTo>
                      <a:lnTo>
                        <a:pt x="2666" y="537"/>
                      </a:lnTo>
                      <a:lnTo>
                        <a:pt x="2678" y="554"/>
                      </a:lnTo>
                      <a:lnTo>
                        <a:pt x="2678" y="563"/>
                      </a:lnTo>
                      <a:lnTo>
                        <a:pt x="2691" y="572"/>
                      </a:lnTo>
                      <a:lnTo>
                        <a:pt x="2691" y="581"/>
                      </a:lnTo>
                      <a:lnTo>
                        <a:pt x="2704" y="589"/>
                      </a:lnTo>
                      <a:lnTo>
                        <a:pt x="2716" y="598"/>
                      </a:lnTo>
                      <a:lnTo>
                        <a:pt x="2716" y="607"/>
                      </a:lnTo>
                      <a:lnTo>
                        <a:pt x="2729" y="616"/>
                      </a:lnTo>
                      <a:lnTo>
                        <a:pt x="2729" y="624"/>
                      </a:lnTo>
                      <a:lnTo>
                        <a:pt x="2742" y="633"/>
                      </a:lnTo>
                      <a:lnTo>
                        <a:pt x="2742" y="651"/>
                      </a:lnTo>
                      <a:lnTo>
                        <a:pt x="2754" y="660"/>
                      </a:lnTo>
                      <a:lnTo>
                        <a:pt x="2767" y="668"/>
                      </a:lnTo>
                      <a:lnTo>
                        <a:pt x="2767" y="677"/>
                      </a:lnTo>
                      <a:lnTo>
                        <a:pt x="2780" y="686"/>
                      </a:lnTo>
                      <a:lnTo>
                        <a:pt x="2780" y="695"/>
                      </a:lnTo>
                      <a:lnTo>
                        <a:pt x="2792" y="704"/>
                      </a:lnTo>
                      <a:lnTo>
                        <a:pt x="2792" y="712"/>
                      </a:lnTo>
                      <a:lnTo>
                        <a:pt x="2805" y="721"/>
                      </a:lnTo>
                      <a:lnTo>
                        <a:pt x="2805" y="730"/>
                      </a:lnTo>
                      <a:lnTo>
                        <a:pt x="2818" y="739"/>
                      </a:lnTo>
                      <a:lnTo>
                        <a:pt x="2831" y="748"/>
                      </a:lnTo>
                      <a:lnTo>
                        <a:pt x="2831" y="756"/>
                      </a:lnTo>
                      <a:lnTo>
                        <a:pt x="2843" y="765"/>
                      </a:lnTo>
                      <a:lnTo>
                        <a:pt x="2843" y="774"/>
                      </a:lnTo>
                      <a:lnTo>
                        <a:pt x="2856" y="783"/>
                      </a:lnTo>
                      <a:lnTo>
                        <a:pt x="2856" y="792"/>
                      </a:lnTo>
                      <a:lnTo>
                        <a:pt x="2869" y="792"/>
                      </a:lnTo>
                      <a:lnTo>
                        <a:pt x="2881" y="800"/>
                      </a:lnTo>
                      <a:lnTo>
                        <a:pt x="2881" y="809"/>
                      </a:lnTo>
                      <a:lnTo>
                        <a:pt x="2894" y="818"/>
                      </a:lnTo>
                      <a:lnTo>
                        <a:pt x="2894" y="827"/>
                      </a:lnTo>
                      <a:lnTo>
                        <a:pt x="2907" y="836"/>
                      </a:lnTo>
                      <a:lnTo>
                        <a:pt x="2907" y="844"/>
                      </a:lnTo>
                      <a:lnTo>
                        <a:pt x="2919" y="853"/>
                      </a:lnTo>
                      <a:lnTo>
                        <a:pt x="2932" y="853"/>
                      </a:lnTo>
                      <a:lnTo>
                        <a:pt x="2932" y="862"/>
                      </a:lnTo>
                      <a:lnTo>
                        <a:pt x="2945" y="871"/>
                      </a:lnTo>
                      <a:lnTo>
                        <a:pt x="2945" y="879"/>
                      </a:lnTo>
                      <a:lnTo>
                        <a:pt x="2957" y="888"/>
                      </a:lnTo>
                      <a:lnTo>
                        <a:pt x="2957" y="897"/>
                      </a:lnTo>
                      <a:lnTo>
                        <a:pt x="2970" y="897"/>
                      </a:lnTo>
                      <a:lnTo>
                        <a:pt x="2970" y="906"/>
                      </a:lnTo>
                      <a:lnTo>
                        <a:pt x="2983" y="915"/>
                      </a:lnTo>
                      <a:lnTo>
                        <a:pt x="2996" y="923"/>
                      </a:lnTo>
                      <a:lnTo>
                        <a:pt x="3008" y="932"/>
                      </a:lnTo>
                      <a:lnTo>
                        <a:pt x="3008" y="941"/>
                      </a:lnTo>
                      <a:lnTo>
                        <a:pt x="3021" y="950"/>
                      </a:lnTo>
                      <a:lnTo>
                        <a:pt x="3034" y="959"/>
                      </a:lnTo>
                      <a:lnTo>
                        <a:pt x="3046" y="967"/>
                      </a:lnTo>
                      <a:lnTo>
                        <a:pt x="3046" y="976"/>
                      </a:lnTo>
                      <a:lnTo>
                        <a:pt x="3059" y="976"/>
                      </a:lnTo>
                      <a:lnTo>
                        <a:pt x="3059" y="985"/>
                      </a:lnTo>
                      <a:lnTo>
                        <a:pt x="3072" y="994"/>
                      </a:lnTo>
                      <a:lnTo>
                        <a:pt x="3084" y="1003"/>
                      </a:lnTo>
                      <a:lnTo>
                        <a:pt x="3097" y="1011"/>
                      </a:lnTo>
                      <a:lnTo>
                        <a:pt x="3110" y="1020"/>
                      </a:lnTo>
                      <a:lnTo>
                        <a:pt x="3110" y="1029"/>
                      </a:lnTo>
                      <a:lnTo>
                        <a:pt x="3122" y="1029"/>
                      </a:lnTo>
                      <a:lnTo>
                        <a:pt x="3122" y="1038"/>
                      </a:lnTo>
                      <a:lnTo>
                        <a:pt x="3135" y="1038"/>
                      </a:lnTo>
                      <a:lnTo>
                        <a:pt x="3135" y="1047"/>
                      </a:lnTo>
                      <a:lnTo>
                        <a:pt x="3148" y="1055"/>
                      </a:lnTo>
                      <a:lnTo>
                        <a:pt x="3161" y="1055"/>
                      </a:lnTo>
                      <a:lnTo>
                        <a:pt x="3161" y="1064"/>
                      </a:lnTo>
                      <a:lnTo>
                        <a:pt x="3173" y="1064"/>
                      </a:lnTo>
                      <a:lnTo>
                        <a:pt x="3173" y="1073"/>
                      </a:lnTo>
                      <a:lnTo>
                        <a:pt x="3186" y="1073"/>
                      </a:lnTo>
                      <a:lnTo>
                        <a:pt x="3186" y="1082"/>
                      </a:lnTo>
                      <a:lnTo>
                        <a:pt x="3199" y="1091"/>
                      </a:lnTo>
                      <a:lnTo>
                        <a:pt x="3211" y="1091"/>
                      </a:lnTo>
                      <a:lnTo>
                        <a:pt x="3211" y="1099"/>
                      </a:lnTo>
                      <a:lnTo>
                        <a:pt x="3224" y="1099"/>
                      </a:lnTo>
                      <a:lnTo>
                        <a:pt x="3224" y="1108"/>
                      </a:lnTo>
                      <a:lnTo>
                        <a:pt x="3237" y="1108"/>
                      </a:lnTo>
                      <a:lnTo>
                        <a:pt x="3237" y="1117"/>
                      </a:lnTo>
                      <a:lnTo>
                        <a:pt x="3249" y="1117"/>
                      </a:lnTo>
                      <a:lnTo>
                        <a:pt x="3262" y="1126"/>
                      </a:lnTo>
                      <a:lnTo>
                        <a:pt x="3275" y="1134"/>
                      </a:lnTo>
                      <a:lnTo>
                        <a:pt x="3287" y="1143"/>
                      </a:lnTo>
                      <a:lnTo>
                        <a:pt x="3300" y="1152"/>
                      </a:lnTo>
                      <a:lnTo>
                        <a:pt x="3313" y="1152"/>
                      </a:lnTo>
                      <a:lnTo>
                        <a:pt x="3326" y="1161"/>
                      </a:lnTo>
                      <a:lnTo>
                        <a:pt x="3338" y="1170"/>
                      </a:lnTo>
                      <a:lnTo>
                        <a:pt x="3351" y="1178"/>
                      </a:lnTo>
                      <a:lnTo>
                        <a:pt x="3364" y="1187"/>
                      </a:lnTo>
                      <a:lnTo>
                        <a:pt x="3376" y="1187"/>
                      </a:lnTo>
                      <a:lnTo>
                        <a:pt x="3389" y="1196"/>
                      </a:lnTo>
                      <a:lnTo>
                        <a:pt x="3402" y="1205"/>
                      </a:lnTo>
                      <a:lnTo>
                        <a:pt x="3414" y="1205"/>
                      </a:lnTo>
                      <a:lnTo>
                        <a:pt x="3427" y="1214"/>
                      </a:lnTo>
                      <a:lnTo>
                        <a:pt x="3440" y="1214"/>
                      </a:lnTo>
                      <a:lnTo>
                        <a:pt x="3440" y="1222"/>
                      </a:lnTo>
                      <a:lnTo>
                        <a:pt x="3452" y="1222"/>
                      </a:lnTo>
                      <a:lnTo>
                        <a:pt x="3452" y="1231"/>
                      </a:lnTo>
                      <a:lnTo>
                        <a:pt x="3465" y="1231"/>
                      </a:lnTo>
                      <a:lnTo>
                        <a:pt x="3478" y="1240"/>
                      </a:lnTo>
                      <a:lnTo>
                        <a:pt x="3490" y="1240"/>
                      </a:lnTo>
                      <a:lnTo>
                        <a:pt x="3503" y="1249"/>
                      </a:lnTo>
                      <a:lnTo>
                        <a:pt x="3516" y="1249"/>
                      </a:lnTo>
                      <a:lnTo>
                        <a:pt x="3516" y="1258"/>
                      </a:lnTo>
                      <a:lnTo>
                        <a:pt x="3529" y="1258"/>
                      </a:lnTo>
                      <a:lnTo>
                        <a:pt x="3541" y="1258"/>
                      </a:lnTo>
                      <a:lnTo>
                        <a:pt x="3541" y="1266"/>
                      </a:lnTo>
                      <a:lnTo>
                        <a:pt x="3554" y="1266"/>
                      </a:lnTo>
                      <a:lnTo>
                        <a:pt x="3567" y="1275"/>
                      </a:lnTo>
                      <a:lnTo>
                        <a:pt x="3579" y="1275"/>
                      </a:lnTo>
                      <a:lnTo>
                        <a:pt x="3592" y="1275"/>
                      </a:lnTo>
                      <a:lnTo>
                        <a:pt x="3592" y="1284"/>
                      </a:lnTo>
                      <a:lnTo>
                        <a:pt x="3605" y="1284"/>
                      </a:lnTo>
                      <a:lnTo>
                        <a:pt x="3617" y="1293"/>
                      </a:lnTo>
                      <a:lnTo>
                        <a:pt x="3630" y="1293"/>
                      </a:lnTo>
                      <a:lnTo>
                        <a:pt x="3643" y="1302"/>
                      </a:lnTo>
                      <a:lnTo>
                        <a:pt x="3655" y="1302"/>
                      </a:lnTo>
                      <a:lnTo>
                        <a:pt x="3668" y="1302"/>
                      </a:lnTo>
                      <a:lnTo>
                        <a:pt x="3668" y="1310"/>
                      </a:lnTo>
                      <a:lnTo>
                        <a:pt x="3681" y="1310"/>
                      </a:lnTo>
                      <a:lnTo>
                        <a:pt x="3694" y="1310"/>
                      </a:lnTo>
                      <a:lnTo>
                        <a:pt x="3706" y="1319"/>
                      </a:lnTo>
                      <a:lnTo>
                        <a:pt x="3719" y="1319"/>
                      </a:lnTo>
                      <a:lnTo>
                        <a:pt x="3732" y="1328"/>
                      </a:lnTo>
                      <a:lnTo>
                        <a:pt x="3744" y="1328"/>
                      </a:lnTo>
                      <a:lnTo>
                        <a:pt x="3757" y="1337"/>
                      </a:lnTo>
                      <a:lnTo>
                        <a:pt x="3770" y="1337"/>
                      </a:lnTo>
                      <a:lnTo>
                        <a:pt x="3782" y="1337"/>
                      </a:lnTo>
                      <a:lnTo>
                        <a:pt x="3795" y="1346"/>
                      </a:lnTo>
                      <a:lnTo>
                        <a:pt x="3808" y="1346"/>
                      </a:lnTo>
                      <a:lnTo>
                        <a:pt x="3820" y="1346"/>
                      </a:lnTo>
                      <a:lnTo>
                        <a:pt x="3820" y="1354"/>
                      </a:lnTo>
                      <a:lnTo>
                        <a:pt x="3833" y="1354"/>
                      </a:lnTo>
                      <a:lnTo>
                        <a:pt x="3846" y="1354"/>
                      </a:lnTo>
                      <a:lnTo>
                        <a:pt x="3859" y="1363"/>
                      </a:lnTo>
                      <a:lnTo>
                        <a:pt x="3871" y="1363"/>
                      </a:lnTo>
                      <a:lnTo>
                        <a:pt x="3884" y="1363"/>
                      </a:lnTo>
                      <a:lnTo>
                        <a:pt x="3897" y="1372"/>
                      </a:lnTo>
                      <a:lnTo>
                        <a:pt x="3909" y="1372"/>
                      </a:lnTo>
                      <a:lnTo>
                        <a:pt x="3922" y="1372"/>
                      </a:lnTo>
                      <a:lnTo>
                        <a:pt x="3935" y="1372"/>
                      </a:lnTo>
                      <a:lnTo>
                        <a:pt x="3935" y="1381"/>
                      </a:lnTo>
                      <a:lnTo>
                        <a:pt x="3947" y="1381"/>
                      </a:lnTo>
                      <a:lnTo>
                        <a:pt x="3960" y="1381"/>
                      </a:lnTo>
                      <a:lnTo>
                        <a:pt x="3973" y="1381"/>
                      </a:lnTo>
                      <a:lnTo>
                        <a:pt x="3985" y="1389"/>
                      </a:lnTo>
                      <a:lnTo>
                        <a:pt x="3998" y="1389"/>
                      </a:lnTo>
                      <a:lnTo>
                        <a:pt x="4011" y="1389"/>
                      </a:lnTo>
                      <a:lnTo>
                        <a:pt x="4024" y="1398"/>
                      </a:lnTo>
                      <a:lnTo>
                        <a:pt x="4036" y="1398"/>
                      </a:lnTo>
                      <a:lnTo>
                        <a:pt x="4049" y="1398"/>
                      </a:lnTo>
                      <a:lnTo>
                        <a:pt x="4062" y="1398"/>
                      </a:lnTo>
                      <a:lnTo>
                        <a:pt x="4062" y="1407"/>
                      </a:lnTo>
                      <a:lnTo>
                        <a:pt x="4074" y="1407"/>
                      </a:lnTo>
                      <a:lnTo>
                        <a:pt x="4087" y="1407"/>
                      </a:lnTo>
                      <a:lnTo>
                        <a:pt x="4100" y="1407"/>
                      </a:lnTo>
                      <a:lnTo>
                        <a:pt x="4112" y="1407"/>
                      </a:lnTo>
                      <a:lnTo>
                        <a:pt x="4112" y="1416"/>
                      </a:lnTo>
                      <a:lnTo>
                        <a:pt x="4125" y="1416"/>
                      </a:lnTo>
                      <a:lnTo>
                        <a:pt x="4138" y="1416"/>
                      </a:lnTo>
                      <a:lnTo>
                        <a:pt x="4150" y="1416"/>
                      </a:lnTo>
                      <a:lnTo>
                        <a:pt x="4163" y="1416"/>
                      </a:lnTo>
                      <a:lnTo>
                        <a:pt x="4176" y="1425"/>
                      </a:lnTo>
                      <a:lnTo>
                        <a:pt x="4189" y="1425"/>
                      </a:lnTo>
                      <a:lnTo>
                        <a:pt x="4201" y="1425"/>
                      </a:lnTo>
                      <a:lnTo>
                        <a:pt x="4214" y="1425"/>
                      </a:lnTo>
                      <a:lnTo>
                        <a:pt x="4227" y="1425"/>
                      </a:lnTo>
                      <a:lnTo>
                        <a:pt x="4227" y="1433"/>
                      </a:lnTo>
                      <a:lnTo>
                        <a:pt x="4239" y="1433"/>
                      </a:lnTo>
                      <a:lnTo>
                        <a:pt x="4252" y="1433"/>
                      </a:lnTo>
                      <a:lnTo>
                        <a:pt x="4265" y="1433"/>
                      </a:lnTo>
                      <a:lnTo>
                        <a:pt x="4277" y="1433"/>
                      </a:lnTo>
                      <a:lnTo>
                        <a:pt x="4290" y="1442"/>
                      </a:lnTo>
                      <a:lnTo>
                        <a:pt x="4303" y="1442"/>
                      </a:lnTo>
                    </a:path>
                  </a:pathLst>
                </a:custGeom>
                <a:noFill/>
                <a:ln w="50800" cap="rnd">
                  <a:solidFill>
                    <a:srgbClr val="FF808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357" name="Freeform 16"/>
                <p:cNvSpPr>
                  <a:spLocks/>
                </p:cNvSpPr>
                <p:nvPr/>
              </p:nvSpPr>
              <p:spPr bwMode="auto">
                <a:xfrm>
                  <a:off x="722" y="1659"/>
                  <a:ext cx="4304" cy="1988"/>
                </a:xfrm>
                <a:custGeom>
                  <a:avLst/>
                  <a:gdLst>
                    <a:gd name="T0" fmla="*/ 89 w 4304"/>
                    <a:gd name="T1" fmla="*/ 1969 h 1988"/>
                    <a:gd name="T2" fmla="*/ 191 w 4304"/>
                    <a:gd name="T3" fmla="*/ 1961 h 1988"/>
                    <a:gd name="T4" fmla="*/ 279 w 4304"/>
                    <a:gd name="T5" fmla="*/ 1943 h 1988"/>
                    <a:gd name="T6" fmla="*/ 381 w 4304"/>
                    <a:gd name="T7" fmla="*/ 1908 h 1988"/>
                    <a:gd name="T8" fmla="*/ 470 w 4304"/>
                    <a:gd name="T9" fmla="*/ 1881 h 1988"/>
                    <a:gd name="T10" fmla="*/ 559 w 4304"/>
                    <a:gd name="T11" fmla="*/ 1837 h 1988"/>
                    <a:gd name="T12" fmla="*/ 648 w 4304"/>
                    <a:gd name="T13" fmla="*/ 1785 h 1988"/>
                    <a:gd name="T14" fmla="*/ 749 w 4304"/>
                    <a:gd name="T15" fmla="*/ 1714 h 1988"/>
                    <a:gd name="T16" fmla="*/ 813 w 4304"/>
                    <a:gd name="T17" fmla="*/ 1662 h 1988"/>
                    <a:gd name="T18" fmla="*/ 876 w 4304"/>
                    <a:gd name="T19" fmla="*/ 1600 h 1988"/>
                    <a:gd name="T20" fmla="*/ 927 w 4304"/>
                    <a:gd name="T21" fmla="*/ 1538 h 1988"/>
                    <a:gd name="T22" fmla="*/ 990 w 4304"/>
                    <a:gd name="T23" fmla="*/ 1468 h 1988"/>
                    <a:gd name="T24" fmla="*/ 1041 w 4304"/>
                    <a:gd name="T25" fmla="*/ 1398 h 1988"/>
                    <a:gd name="T26" fmla="*/ 1104 w 4304"/>
                    <a:gd name="T27" fmla="*/ 1319 h 1988"/>
                    <a:gd name="T28" fmla="*/ 1168 w 4304"/>
                    <a:gd name="T29" fmla="*/ 1231 h 1988"/>
                    <a:gd name="T30" fmla="*/ 1219 w 4304"/>
                    <a:gd name="T31" fmla="*/ 1152 h 1988"/>
                    <a:gd name="T32" fmla="*/ 1282 w 4304"/>
                    <a:gd name="T33" fmla="*/ 1055 h 1988"/>
                    <a:gd name="T34" fmla="*/ 1333 w 4304"/>
                    <a:gd name="T35" fmla="*/ 958 h 1988"/>
                    <a:gd name="T36" fmla="*/ 1396 w 4304"/>
                    <a:gd name="T37" fmla="*/ 861 h 1988"/>
                    <a:gd name="T38" fmla="*/ 1447 w 4304"/>
                    <a:gd name="T39" fmla="*/ 765 h 1988"/>
                    <a:gd name="T40" fmla="*/ 1511 w 4304"/>
                    <a:gd name="T41" fmla="*/ 668 h 1988"/>
                    <a:gd name="T42" fmla="*/ 1561 w 4304"/>
                    <a:gd name="T43" fmla="*/ 571 h 1988"/>
                    <a:gd name="T44" fmla="*/ 1625 w 4304"/>
                    <a:gd name="T45" fmla="*/ 483 h 1988"/>
                    <a:gd name="T46" fmla="*/ 1676 w 4304"/>
                    <a:gd name="T47" fmla="*/ 395 h 1988"/>
                    <a:gd name="T48" fmla="*/ 1739 w 4304"/>
                    <a:gd name="T49" fmla="*/ 316 h 1988"/>
                    <a:gd name="T50" fmla="*/ 1790 w 4304"/>
                    <a:gd name="T51" fmla="*/ 237 h 1988"/>
                    <a:gd name="T52" fmla="*/ 1853 w 4304"/>
                    <a:gd name="T53" fmla="*/ 167 h 1988"/>
                    <a:gd name="T54" fmla="*/ 1904 w 4304"/>
                    <a:gd name="T55" fmla="*/ 114 h 1988"/>
                    <a:gd name="T56" fmla="*/ 1967 w 4304"/>
                    <a:gd name="T57" fmla="*/ 61 h 1988"/>
                    <a:gd name="T58" fmla="*/ 2031 w 4304"/>
                    <a:gd name="T59" fmla="*/ 26 h 1988"/>
                    <a:gd name="T60" fmla="*/ 2132 w 4304"/>
                    <a:gd name="T61" fmla="*/ 0 h 1988"/>
                    <a:gd name="T62" fmla="*/ 2221 w 4304"/>
                    <a:gd name="T63" fmla="*/ 8 h 1988"/>
                    <a:gd name="T64" fmla="*/ 2297 w 4304"/>
                    <a:gd name="T65" fmla="*/ 35 h 1988"/>
                    <a:gd name="T66" fmla="*/ 2374 w 4304"/>
                    <a:gd name="T67" fmla="*/ 88 h 1988"/>
                    <a:gd name="T68" fmla="*/ 2450 w 4304"/>
                    <a:gd name="T69" fmla="*/ 158 h 1988"/>
                    <a:gd name="T70" fmla="*/ 2513 w 4304"/>
                    <a:gd name="T71" fmla="*/ 228 h 1988"/>
                    <a:gd name="T72" fmla="*/ 2564 w 4304"/>
                    <a:gd name="T73" fmla="*/ 299 h 1988"/>
                    <a:gd name="T74" fmla="*/ 2627 w 4304"/>
                    <a:gd name="T75" fmla="*/ 387 h 1988"/>
                    <a:gd name="T76" fmla="*/ 2678 w 4304"/>
                    <a:gd name="T77" fmla="*/ 475 h 1988"/>
                    <a:gd name="T78" fmla="*/ 2742 w 4304"/>
                    <a:gd name="T79" fmla="*/ 562 h 1988"/>
                    <a:gd name="T80" fmla="*/ 2792 w 4304"/>
                    <a:gd name="T81" fmla="*/ 659 h 1988"/>
                    <a:gd name="T82" fmla="*/ 2856 w 4304"/>
                    <a:gd name="T83" fmla="*/ 756 h 1988"/>
                    <a:gd name="T84" fmla="*/ 2907 w 4304"/>
                    <a:gd name="T85" fmla="*/ 853 h 1988"/>
                    <a:gd name="T86" fmla="*/ 2970 w 4304"/>
                    <a:gd name="T87" fmla="*/ 949 h 1988"/>
                    <a:gd name="T88" fmla="*/ 3021 w 4304"/>
                    <a:gd name="T89" fmla="*/ 1046 h 1988"/>
                    <a:gd name="T90" fmla="*/ 3084 w 4304"/>
                    <a:gd name="T91" fmla="*/ 1134 h 1988"/>
                    <a:gd name="T92" fmla="*/ 3135 w 4304"/>
                    <a:gd name="T93" fmla="*/ 1222 h 1988"/>
                    <a:gd name="T94" fmla="*/ 3199 w 4304"/>
                    <a:gd name="T95" fmla="*/ 1310 h 1988"/>
                    <a:gd name="T96" fmla="*/ 3262 w 4304"/>
                    <a:gd name="T97" fmla="*/ 1389 h 1988"/>
                    <a:gd name="T98" fmla="*/ 3313 w 4304"/>
                    <a:gd name="T99" fmla="*/ 1459 h 1988"/>
                    <a:gd name="T100" fmla="*/ 3376 w 4304"/>
                    <a:gd name="T101" fmla="*/ 1530 h 1988"/>
                    <a:gd name="T102" fmla="*/ 3440 w 4304"/>
                    <a:gd name="T103" fmla="*/ 1600 h 1988"/>
                    <a:gd name="T104" fmla="*/ 3503 w 4304"/>
                    <a:gd name="T105" fmla="*/ 1662 h 1988"/>
                    <a:gd name="T106" fmla="*/ 3567 w 4304"/>
                    <a:gd name="T107" fmla="*/ 1723 h 1988"/>
                    <a:gd name="T108" fmla="*/ 3630 w 4304"/>
                    <a:gd name="T109" fmla="*/ 1767 h 1988"/>
                    <a:gd name="T110" fmla="*/ 3694 w 4304"/>
                    <a:gd name="T111" fmla="*/ 1802 h 1988"/>
                    <a:gd name="T112" fmla="*/ 3770 w 4304"/>
                    <a:gd name="T113" fmla="*/ 1846 h 1988"/>
                    <a:gd name="T114" fmla="*/ 3833 w 4304"/>
                    <a:gd name="T115" fmla="*/ 1873 h 1988"/>
                    <a:gd name="T116" fmla="*/ 3922 w 4304"/>
                    <a:gd name="T117" fmla="*/ 1908 h 1988"/>
                    <a:gd name="T118" fmla="*/ 3998 w 4304"/>
                    <a:gd name="T119" fmla="*/ 1925 h 1988"/>
                    <a:gd name="T120" fmla="*/ 4087 w 4304"/>
                    <a:gd name="T121" fmla="*/ 1952 h 1988"/>
                    <a:gd name="T122" fmla="*/ 4163 w 4304"/>
                    <a:gd name="T123" fmla="*/ 1969 h 1988"/>
                    <a:gd name="T124" fmla="*/ 4252 w 4304"/>
                    <a:gd name="T125" fmla="*/ 1978 h 1988"/>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4304"/>
                    <a:gd name="T190" fmla="*/ 0 h 1988"/>
                    <a:gd name="T191" fmla="*/ 4304 w 4304"/>
                    <a:gd name="T192" fmla="*/ 1988 h 1988"/>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4304" h="1988">
                      <a:moveTo>
                        <a:pt x="0" y="1987"/>
                      </a:moveTo>
                      <a:lnTo>
                        <a:pt x="13" y="1978"/>
                      </a:lnTo>
                      <a:lnTo>
                        <a:pt x="26" y="1978"/>
                      </a:lnTo>
                      <a:lnTo>
                        <a:pt x="38" y="1978"/>
                      </a:lnTo>
                      <a:lnTo>
                        <a:pt x="51" y="1978"/>
                      </a:lnTo>
                      <a:lnTo>
                        <a:pt x="64" y="1978"/>
                      </a:lnTo>
                      <a:lnTo>
                        <a:pt x="76" y="1978"/>
                      </a:lnTo>
                      <a:lnTo>
                        <a:pt x="89" y="1969"/>
                      </a:lnTo>
                      <a:lnTo>
                        <a:pt x="102" y="1969"/>
                      </a:lnTo>
                      <a:lnTo>
                        <a:pt x="114" y="1969"/>
                      </a:lnTo>
                      <a:lnTo>
                        <a:pt x="127" y="1969"/>
                      </a:lnTo>
                      <a:lnTo>
                        <a:pt x="140" y="1969"/>
                      </a:lnTo>
                      <a:lnTo>
                        <a:pt x="153" y="1961"/>
                      </a:lnTo>
                      <a:lnTo>
                        <a:pt x="165" y="1961"/>
                      </a:lnTo>
                      <a:lnTo>
                        <a:pt x="178" y="1961"/>
                      </a:lnTo>
                      <a:lnTo>
                        <a:pt x="191" y="1961"/>
                      </a:lnTo>
                      <a:lnTo>
                        <a:pt x="203" y="1952"/>
                      </a:lnTo>
                      <a:lnTo>
                        <a:pt x="216" y="1952"/>
                      </a:lnTo>
                      <a:lnTo>
                        <a:pt x="229" y="1952"/>
                      </a:lnTo>
                      <a:lnTo>
                        <a:pt x="241" y="1952"/>
                      </a:lnTo>
                      <a:lnTo>
                        <a:pt x="241" y="1943"/>
                      </a:lnTo>
                      <a:lnTo>
                        <a:pt x="254" y="1943"/>
                      </a:lnTo>
                      <a:lnTo>
                        <a:pt x="267" y="1943"/>
                      </a:lnTo>
                      <a:lnTo>
                        <a:pt x="279" y="1943"/>
                      </a:lnTo>
                      <a:lnTo>
                        <a:pt x="292" y="1934"/>
                      </a:lnTo>
                      <a:lnTo>
                        <a:pt x="305" y="1934"/>
                      </a:lnTo>
                      <a:lnTo>
                        <a:pt x="318" y="1925"/>
                      </a:lnTo>
                      <a:lnTo>
                        <a:pt x="330" y="1925"/>
                      </a:lnTo>
                      <a:lnTo>
                        <a:pt x="343" y="1925"/>
                      </a:lnTo>
                      <a:lnTo>
                        <a:pt x="356" y="1917"/>
                      </a:lnTo>
                      <a:lnTo>
                        <a:pt x="368" y="1917"/>
                      </a:lnTo>
                      <a:lnTo>
                        <a:pt x="381" y="1908"/>
                      </a:lnTo>
                      <a:lnTo>
                        <a:pt x="394" y="1908"/>
                      </a:lnTo>
                      <a:lnTo>
                        <a:pt x="406" y="1908"/>
                      </a:lnTo>
                      <a:lnTo>
                        <a:pt x="406" y="1899"/>
                      </a:lnTo>
                      <a:lnTo>
                        <a:pt x="419" y="1899"/>
                      </a:lnTo>
                      <a:lnTo>
                        <a:pt x="432" y="1890"/>
                      </a:lnTo>
                      <a:lnTo>
                        <a:pt x="444" y="1890"/>
                      </a:lnTo>
                      <a:lnTo>
                        <a:pt x="457" y="1881"/>
                      </a:lnTo>
                      <a:lnTo>
                        <a:pt x="470" y="1881"/>
                      </a:lnTo>
                      <a:lnTo>
                        <a:pt x="470" y="1873"/>
                      </a:lnTo>
                      <a:lnTo>
                        <a:pt x="483" y="1873"/>
                      </a:lnTo>
                      <a:lnTo>
                        <a:pt x="495" y="1864"/>
                      </a:lnTo>
                      <a:lnTo>
                        <a:pt x="508" y="1864"/>
                      </a:lnTo>
                      <a:lnTo>
                        <a:pt x="521" y="1855"/>
                      </a:lnTo>
                      <a:lnTo>
                        <a:pt x="533" y="1846"/>
                      </a:lnTo>
                      <a:lnTo>
                        <a:pt x="546" y="1846"/>
                      </a:lnTo>
                      <a:lnTo>
                        <a:pt x="559" y="1837"/>
                      </a:lnTo>
                      <a:lnTo>
                        <a:pt x="571" y="1829"/>
                      </a:lnTo>
                      <a:lnTo>
                        <a:pt x="584" y="1820"/>
                      </a:lnTo>
                      <a:lnTo>
                        <a:pt x="597" y="1820"/>
                      </a:lnTo>
                      <a:lnTo>
                        <a:pt x="597" y="1811"/>
                      </a:lnTo>
                      <a:lnTo>
                        <a:pt x="609" y="1811"/>
                      </a:lnTo>
                      <a:lnTo>
                        <a:pt x="622" y="1802"/>
                      </a:lnTo>
                      <a:lnTo>
                        <a:pt x="635" y="1793"/>
                      </a:lnTo>
                      <a:lnTo>
                        <a:pt x="648" y="1785"/>
                      </a:lnTo>
                      <a:lnTo>
                        <a:pt x="660" y="1776"/>
                      </a:lnTo>
                      <a:lnTo>
                        <a:pt x="673" y="1767"/>
                      </a:lnTo>
                      <a:lnTo>
                        <a:pt x="686" y="1758"/>
                      </a:lnTo>
                      <a:lnTo>
                        <a:pt x="698" y="1750"/>
                      </a:lnTo>
                      <a:lnTo>
                        <a:pt x="711" y="1741"/>
                      </a:lnTo>
                      <a:lnTo>
                        <a:pt x="724" y="1732"/>
                      </a:lnTo>
                      <a:lnTo>
                        <a:pt x="736" y="1723"/>
                      </a:lnTo>
                      <a:lnTo>
                        <a:pt x="749" y="1714"/>
                      </a:lnTo>
                      <a:lnTo>
                        <a:pt x="749" y="1706"/>
                      </a:lnTo>
                      <a:lnTo>
                        <a:pt x="762" y="1706"/>
                      </a:lnTo>
                      <a:lnTo>
                        <a:pt x="762" y="1697"/>
                      </a:lnTo>
                      <a:lnTo>
                        <a:pt x="774" y="1688"/>
                      </a:lnTo>
                      <a:lnTo>
                        <a:pt x="787" y="1679"/>
                      </a:lnTo>
                      <a:lnTo>
                        <a:pt x="800" y="1670"/>
                      </a:lnTo>
                      <a:lnTo>
                        <a:pt x="800" y="1662"/>
                      </a:lnTo>
                      <a:lnTo>
                        <a:pt x="813" y="1662"/>
                      </a:lnTo>
                      <a:lnTo>
                        <a:pt x="813" y="1653"/>
                      </a:lnTo>
                      <a:lnTo>
                        <a:pt x="825" y="1644"/>
                      </a:lnTo>
                      <a:lnTo>
                        <a:pt x="838" y="1635"/>
                      </a:lnTo>
                      <a:lnTo>
                        <a:pt x="851" y="1626"/>
                      </a:lnTo>
                      <a:lnTo>
                        <a:pt x="851" y="1618"/>
                      </a:lnTo>
                      <a:lnTo>
                        <a:pt x="863" y="1609"/>
                      </a:lnTo>
                      <a:lnTo>
                        <a:pt x="863" y="1600"/>
                      </a:lnTo>
                      <a:lnTo>
                        <a:pt x="876" y="1600"/>
                      </a:lnTo>
                      <a:lnTo>
                        <a:pt x="876" y="1591"/>
                      </a:lnTo>
                      <a:lnTo>
                        <a:pt x="889" y="1582"/>
                      </a:lnTo>
                      <a:lnTo>
                        <a:pt x="901" y="1574"/>
                      </a:lnTo>
                      <a:lnTo>
                        <a:pt x="901" y="1565"/>
                      </a:lnTo>
                      <a:lnTo>
                        <a:pt x="914" y="1556"/>
                      </a:lnTo>
                      <a:lnTo>
                        <a:pt x="914" y="1547"/>
                      </a:lnTo>
                      <a:lnTo>
                        <a:pt x="927" y="1547"/>
                      </a:lnTo>
                      <a:lnTo>
                        <a:pt x="927" y="1538"/>
                      </a:lnTo>
                      <a:lnTo>
                        <a:pt x="939" y="1530"/>
                      </a:lnTo>
                      <a:lnTo>
                        <a:pt x="952" y="1521"/>
                      </a:lnTo>
                      <a:lnTo>
                        <a:pt x="952" y="1512"/>
                      </a:lnTo>
                      <a:lnTo>
                        <a:pt x="965" y="1503"/>
                      </a:lnTo>
                      <a:lnTo>
                        <a:pt x="965" y="1495"/>
                      </a:lnTo>
                      <a:lnTo>
                        <a:pt x="977" y="1486"/>
                      </a:lnTo>
                      <a:lnTo>
                        <a:pt x="977" y="1477"/>
                      </a:lnTo>
                      <a:lnTo>
                        <a:pt x="990" y="1468"/>
                      </a:lnTo>
                      <a:lnTo>
                        <a:pt x="1003" y="1459"/>
                      </a:lnTo>
                      <a:lnTo>
                        <a:pt x="1003" y="1451"/>
                      </a:lnTo>
                      <a:lnTo>
                        <a:pt x="1016" y="1442"/>
                      </a:lnTo>
                      <a:lnTo>
                        <a:pt x="1016" y="1433"/>
                      </a:lnTo>
                      <a:lnTo>
                        <a:pt x="1028" y="1424"/>
                      </a:lnTo>
                      <a:lnTo>
                        <a:pt x="1028" y="1415"/>
                      </a:lnTo>
                      <a:lnTo>
                        <a:pt x="1041" y="1407"/>
                      </a:lnTo>
                      <a:lnTo>
                        <a:pt x="1041" y="1398"/>
                      </a:lnTo>
                      <a:lnTo>
                        <a:pt x="1054" y="1389"/>
                      </a:lnTo>
                      <a:lnTo>
                        <a:pt x="1066" y="1380"/>
                      </a:lnTo>
                      <a:lnTo>
                        <a:pt x="1066" y="1371"/>
                      </a:lnTo>
                      <a:lnTo>
                        <a:pt x="1079" y="1354"/>
                      </a:lnTo>
                      <a:lnTo>
                        <a:pt x="1079" y="1345"/>
                      </a:lnTo>
                      <a:lnTo>
                        <a:pt x="1092" y="1336"/>
                      </a:lnTo>
                      <a:lnTo>
                        <a:pt x="1092" y="1327"/>
                      </a:lnTo>
                      <a:lnTo>
                        <a:pt x="1104" y="1319"/>
                      </a:lnTo>
                      <a:lnTo>
                        <a:pt x="1117" y="1310"/>
                      </a:lnTo>
                      <a:lnTo>
                        <a:pt x="1117" y="1301"/>
                      </a:lnTo>
                      <a:lnTo>
                        <a:pt x="1130" y="1283"/>
                      </a:lnTo>
                      <a:lnTo>
                        <a:pt x="1130" y="1275"/>
                      </a:lnTo>
                      <a:lnTo>
                        <a:pt x="1142" y="1266"/>
                      </a:lnTo>
                      <a:lnTo>
                        <a:pt x="1142" y="1257"/>
                      </a:lnTo>
                      <a:lnTo>
                        <a:pt x="1155" y="1248"/>
                      </a:lnTo>
                      <a:lnTo>
                        <a:pt x="1168" y="1231"/>
                      </a:lnTo>
                      <a:lnTo>
                        <a:pt x="1168" y="1222"/>
                      </a:lnTo>
                      <a:lnTo>
                        <a:pt x="1181" y="1213"/>
                      </a:lnTo>
                      <a:lnTo>
                        <a:pt x="1181" y="1204"/>
                      </a:lnTo>
                      <a:lnTo>
                        <a:pt x="1193" y="1196"/>
                      </a:lnTo>
                      <a:lnTo>
                        <a:pt x="1193" y="1178"/>
                      </a:lnTo>
                      <a:lnTo>
                        <a:pt x="1206" y="1169"/>
                      </a:lnTo>
                      <a:lnTo>
                        <a:pt x="1206" y="1160"/>
                      </a:lnTo>
                      <a:lnTo>
                        <a:pt x="1219" y="1152"/>
                      </a:lnTo>
                      <a:lnTo>
                        <a:pt x="1231" y="1134"/>
                      </a:lnTo>
                      <a:lnTo>
                        <a:pt x="1231" y="1125"/>
                      </a:lnTo>
                      <a:lnTo>
                        <a:pt x="1244" y="1116"/>
                      </a:lnTo>
                      <a:lnTo>
                        <a:pt x="1244" y="1099"/>
                      </a:lnTo>
                      <a:lnTo>
                        <a:pt x="1257" y="1090"/>
                      </a:lnTo>
                      <a:lnTo>
                        <a:pt x="1257" y="1081"/>
                      </a:lnTo>
                      <a:lnTo>
                        <a:pt x="1269" y="1064"/>
                      </a:lnTo>
                      <a:lnTo>
                        <a:pt x="1282" y="1055"/>
                      </a:lnTo>
                      <a:lnTo>
                        <a:pt x="1282" y="1046"/>
                      </a:lnTo>
                      <a:lnTo>
                        <a:pt x="1295" y="1028"/>
                      </a:lnTo>
                      <a:lnTo>
                        <a:pt x="1295" y="1020"/>
                      </a:lnTo>
                      <a:lnTo>
                        <a:pt x="1307" y="1011"/>
                      </a:lnTo>
                      <a:lnTo>
                        <a:pt x="1307" y="993"/>
                      </a:lnTo>
                      <a:lnTo>
                        <a:pt x="1320" y="985"/>
                      </a:lnTo>
                      <a:lnTo>
                        <a:pt x="1333" y="976"/>
                      </a:lnTo>
                      <a:lnTo>
                        <a:pt x="1333" y="958"/>
                      </a:lnTo>
                      <a:lnTo>
                        <a:pt x="1346" y="949"/>
                      </a:lnTo>
                      <a:lnTo>
                        <a:pt x="1346" y="941"/>
                      </a:lnTo>
                      <a:lnTo>
                        <a:pt x="1358" y="923"/>
                      </a:lnTo>
                      <a:lnTo>
                        <a:pt x="1358" y="914"/>
                      </a:lnTo>
                      <a:lnTo>
                        <a:pt x="1371" y="905"/>
                      </a:lnTo>
                      <a:lnTo>
                        <a:pt x="1371" y="888"/>
                      </a:lnTo>
                      <a:lnTo>
                        <a:pt x="1384" y="879"/>
                      </a:lnTo>
                      <a:lnTo>
                        <a:pt x="1396" y="861"/>
                      </a:lnTo>
                      <a:lnTo>
                        <a:pt x="1396" y="853"/>
                      </a:lnTo>
                      <a:lnTo>
                        <a:pt x="1409" y="844"/>
                      </a:lnTo>
                      <a:lnTo>
                        <a:pt x="1409" y="826"/>
                      </a:lnTo>
                      <a:lnTo>
                        <a:pt x="1422" y="817"/>
                      </a:lnTo>
                      <a:lnTo>
                        <a:pt x="1422" y="809"/>
                      </a:lnTo>
                      <a:lnTo>
                        <a:pt x="1434" y="791"/>
                      </a:lnTo>
                      <a:lnTo>
                        <a:pt x="1447" y="782"/>
                      </a:lnTo>
                      <a:lnTo>
                        <a:pt x="1447" y="765"/>
                      </a:lnTo>
                      <a:lnTo>
                        <a:pt x="1460" y="756"/>
                      </a:lnTo>
                      <a:lnTo>
                        <a:pt x="1460" y="747"/>
                      </a:lnTo>
                      <a:lnTo>
                        <a:pt x="1472" y="730"/>
                      </a:lnTo>
                      <a:lnTo>
                        <a:pt x="1472" y="721"/>
                      </a:lnTo>
                      <a:lnTo>
                        <a:pt x="1485" y="703"/>
                      </a:lnTo>
                      <a:lnTo>
                        <a:pt x="1498" y="694"/>
                      </a:lnTo>
                      <a:lnTo>
                        <a:pt x="1498" y="686"/>
                      </a:lnTo>
                      <a:lnTo>
                        <a:pt x="1511" y="668"/>
                      </a:lnTo>
                      <a:lnTo>
                        <a:pt x="1511" y="659"/>
                      </a:lnTo>
                      <a:lnTo>
                        <a:pt x="1523" y="650"/>
                      </a:lnTo>
                      <a:lnTo>
                        <a:pt x="1523" y="633"/>
                      </a:lnTo>
                      <a:lnTo>
                        <a:pt x="1536" y="624"/>
                      </a:lnTo>
                      <a:lnTo>
                        <a:pt x="1536" y="615"/>
                      </a:lnTo>
                      <a:lnTo>
                        <a:pt x="1549" y="598"/>
                      </a:lnTo>
                      <a:lnTo>
                        <a:pt x="1561" y="589"/>
                      </a:lnTo>
                      <a:lnTo>
                        <a:pt x="1561" y="571"/>
                      </a:lnTo>
                      <a:lnTo>
                        <a:pt x="1574" y="562"/>
                      </a:lnTo>
                      <a:lnTo>
                        <a:pt x="1574" y="554"/>
                      </a:lnTo>
                      <a:lnTo>
                        <a:pt x="1587" y="536"/>
                      </a:lnTo>
                      <a:lnTo>
                        <a:pt x="1587" y="527"/>
                      </a:lnTo>
                      <a:lnTo>
                        <a:pt x="1599" y="518"/>
                      </a:lnTo>
                      <a:lnTo>
                        <a:pt x="1612" y="510"/>
                      </a:lnTo>
                      <a:lnTo>
                        <a:pt x="1612" y="492"/>
                      </a:lnTo>
                      <a:lnTo>
                        <a:pt x="1625" y="483"/>
                      </a:lnTo>
                      <a:lnTo>
                        <a:pt x="1625" y="475"/>
                      </a:lnTo>
                      <a:lnTo>
                        <a:pt x="1637" y="457"/>
                      </a:lnTo>
                      <a:lnTo>
                        <a:pt x="1637" y="448"/>
                      </a:lnTo>
                      <a:lnTo>
                        <a:pt x="1650" y="439"/>
                      </a:lnTo>
                      <a:lnTo>
                        <a:pt x="1663" y="431"/>
                      </a:lnTo>
                      <a:lnTo>
                        <a:pt x="1663" y="413"/>
                      </a:lnTo>
                      <a:lnTo>
                        <a:pt x="1676" y="404"/>
                      </a:lnTo>
                      <a:lnTo>
                        <a:pt x="1676" y="395"/>
                      </a:lnTo>
                      <a:lnTo>
                        <a:pt x="1688" y="387"/>
                      </a:lnTo>
                      <a:lnTo>
                        <a:pt x="1688" y="369"/>
                      </a:lnTo>
                      <a:lnTo>
                        <a:pt x="1701" y="360"/>
                      </a:lnTo>
                      <a:lnTo>
                        <a:pt x="1701" y="351"/>
                      </a:lnTo>
                      <a:lnTo>
                        <a:pt x="1714" y="343"/>
                      </a:lnTo>
                      <a:lnTo>
                        <a:pt x="1726" y="334"/>
                      </a:lnTo>
                      <a:lnTo>
                        <a:pt x="1726" y="325"/>
                      </a:lnTo>
                      <a:lnTo>
                        <a:pt x="1739" y="316"/>
                      </a:lnTo>
                      <a:lnTo>
                        <a:pt x="1739" y="299"/>
                      </a:lnTo>
                      <a:lnTo>
                        <a:pt x="1752" y="290"/>
                      </a:lnTo>
                      <a:lnTo>
                        <a:pt x="1752" y="281"/>
                      </a:lnTo>
                      <a:lnTo>
                        <a:pt x="1764" y="272"/>
                      </a:lnTo>
                      <a:lnTo>
                        <a:pt x="1777" y="263"/>
                      </a:lnTo>
                      <a:lnTo>
                        <a:pt x="1777" y="255"/>
                      </a:lnTo>
                      <a:lnTo>
                        <a:pt x="1790" y="246"/>
                      </a:lnTo>
                      <a:lnTo>
                        <a:pt x="1790" y="237"/>
                      </a:lnTo>
                      <a:lnTo>
                        <a:pt x="1802" y="228"/>
                      </a:lnTo>
                      <a:lnTo>
                        <a:pt x="1802" y="220"/>
                      </a:lnTo>
                      <a:lnTo>
                        <a:pt x="1815" y="211"/>
                      </a:lnTo>
                      <a:lnTo>
                        <a:pt x="1828" y="202"/>
                      </a:lnTo>
                      <a:lnTo>
                        <a:pt x="1828" y="193"/>
                      </a:lnTo>
                      <a:lnTo>
                        <a:pt x="1841" y="184"/>
                      </a:lnTo>
                      <a:lnTo>
                        <a:pt x="1841" y="176"/>
                      </a:lnTo>
                      <a:lnTo>
                        <a:pt x="1853" y="167"/>
                      </a:lnTo>
                      <a:lnTo>
                        <a:pt x="1853" y="158"/>
                      </a:lnTo>
                      <a:lnTo>
                        <a:pt x="1866" y="158"/>
                      </a:lnTo>
                      <a:lnTo>
                        <a:pt x="1866" y="149"/>
                      </a:lnTo>
                      <a:lnTo>
                        <a:pt x="1879" y="140"/>
                      </a:lnTo>
                      <a:lnTo>
                        <a:pt x="1891" y="132"/>
                      </a:lnTo>
                      <a:lnTo>
                        <a:pt x="1891" y="123"/>
                      </a:lnTo>
                      <a:lnTo>
                        <a:pt x="1904" y="123"/>
                      </a:lnTo>
                      <a:lnTo>
                        <a:pt x="1904" y="114"/>
                      </a:lnTo>
                      <a:lnTo>
                        <a:pt x="1917" y="105"/>
                      </a:lnTo>
                      <a:lnTo>
                        <a:pt x="1917" y="96"/>
                      </a:lnTo>
                      <a:lnTo>
                        <a:pt x="1929" y="96"/>
                      </a:lnTo>
                      <a:lnTo>
                        <a:pt x="1942" y="88"/>
                      </a:lnTo>
                      <a:lnTo>
                        <a:pt x="1942" y="79"/>
                      </a:lnTo>
                      <a:lnTo>
                        <a:pt x="1955" y="79"/>
                      </a:lnTo>
                      <a:lnTo>
                        <a:pt x="1955" y="70"/>
                      </a:lnTo>
                      <a:lnTo>
                        <a:pt x="1967" y="61"/>
                      </a:lnTo>
                      <a:lnTo>
                        <a:pt x="1980" y="52"/>
                      </a:lnTo>
                      <a:lnTo>
                        <a:pt x="1993" y="52"/>
                      </a:lnTo>
                      <a:lnTo>
                        <a:pt x="1993" y="44"/>
                      </a:lnTo>
                      <a:lnTo>
                        <a:pt x="2006" y="44"/>
                      </a:lnTo>
                      <a:lnTo>
                        <a:pt x="2006" y="35"/>
                      </a:lnTo>
                      <a:lnTo>
                        <a:pt x="2018" y="35"/>
                      </a:lnTo>
                      <a:lnTo>
                        <a:pt x="2018" y="26"/>
                      </a:lnTo>
                      <a:lnTo>
                        <a:pt x="2031" y="26"/>
                      </a:lnTo>
                      <a:lnTo>
                        <a:pt x="2044" y="17"/>
                      </a:lnTo>
                      <a:lnTo>
                        <a:pt x="2056" y="17"/>
                      </a:lnTo>
                      <a:lnTo>
                        <a:pt x="2069" y="8"/>
                      </a:lnTo>
                      <a:lnTo>
                        <a:pt x="2082" y="8"/>
                      </a:lnTo>
                      <a:lnTo>
                        <a:pt x="2094" y="0"/>
                      </a:lnTo>
                      <a:lnTo>
                        <a:pt x="2107" y="0"/>
                      </a:lnTo>
                      <a:lnTo>
                        <a:pt x="2120" y="0"/>
                      </a:lnTo>
                      <a:lnTo>
                        <a:pt x="2132" y="0"/>
                      </a:lnTo>
                      <a:lnTo>
                        <a:pt x="2145" y="0"/>
                      </a:lnTo>
                      <a:lnTo>
                        <a:pt x="2158" y="0"/>
                      </a:lnTo>
                      <a:lnTo>
                        <a:pt x="2171" y="0"/>
                      </a:lnTo>
                      <a:lnTo>
                        <a:pt x="2183" y="0"/>
                      </a:lnTo>
                      <a:lnTo>
                        <a:pt x="2196" y="0"/>
                      </a:lnTo>
                      <a:lnTo>
                        <a:pt x="2209" y="0"/>
                      </a:lnTo>
                      <a:lnTo>
                        <a:pt x="2221" y="0"/>
                      </a:lnTo>
                      <a:lnTo>
                        <a:pt x="2221" y="8"/>
                      </a:lnTo>
                      <a:lnTo>
                        <a:pt x="2234" y="8"/>
                      </a:lnTo>
                      <a:lnTo>
                        <a:pt x="2247" y="8"/>
                      </a:lnTo>
                      <a:lnTo>
                        <a:pt x="2247" y="17"/>
                      </a:lnTo>
                      <a:lnTo>
                        <a:pt x="2259" y="17"/>
                      </a:lnTo>
                      <a:lnTo>
                        <a:pt x="2272" y="17"/>
                      </a:lnTo>
                      <a:lnTo>
                        <a:pt x="2272" y="26"/>
                      </a:lnTo>
                      <a:lnTo>
                        <a:pt x="2285" y="26"/>
                      </a:lnTo>
                      <a:lnTo>
                        <a:pt x="2297" y="35"/>
                      </a:lnTo>
                      <a:lnTo>
                        <a:pt x="2310" y="44"/>
                      </a:lnTo>
                      <a:lnTo>
                        <a:pt x="2323" y="52"/>
                      </a:lnTo>
                      <a:lnTo>
                        <a:pt x="2336" y="52"/>
                      </a:lnTo>
                      <a:lnTo>
                        <a:pt x="2336" y="61"/>
                      </a:lnTo>
                      <a:lnTo>
                        <a:pt x="2348" y="61"/>
                      </a:lnTo>
                      <a:lnTo>
                        <a:pt x="2348" y="70"/>
                      </a:lnTo>
                      <a:lnTo>
                        <a:pt x="2361" y="79"/>
                      </a:lnTo>
                      <a:lnTo>
                        <a:pt x="2374" y="88"/>
                      </a:lnTo>
                      <a:lnTo>
                        <a:pt x="2386" y="96"/>
                      </a:lnTo>
                      <a:lnTo>
                        <a:pt x="2399" y="105"/>
                      </a:lnTo>
                      <a:lnTo>
                        <a:pt x="2399" y="114"/>
                      </a:lnTo>
                      <a:lnTo>
                        <a:pt x="2412" y="123"/>
                      </a:lnTo>
                      <a:lnTo>
                        <a:pt x="2424" y="132"/>
                      </a:lnTo>
                      <a:lnTo>
                        <a:pt x="2437" y="140"/>
                      </a:lnTo>
                      <a:lnTo>
                        <a:pt x="2437" y="149"/>
                      </a:lnTo>
                      <a:lnTo>
                        <a:pt x="2450" y="158"/>
                      </a:lnTo>
                      <a:lnTo>
                        <a:pt x="2462" y="167"/>
                      </a:lnTo>
                      <a:lnTo>
                        <a:pt x="2462" y="176"/>
                      </a:lnTo>
                      <a:lnTo>
                        <a:pt x="2475" y="184"/>
                      </a:lnTo>
                      <a:lnTo>
                        <a:pt x="2475" y="193"/>
                      </a:lnTo>
                      <a:lnTo>
                        <a:pt x="2488" y="202"/>
                      </a:lnTo>
                      <a:lnTo>
                        <a:pt x="2501" y="211"/>
                      </a:lnTo>
                      <a:lnTo>
                        <a:pt x="2501" y="220"/>
                      </a:lnTo>
                      <a:lnTo>
                        <a:pt x="2513" y="228"/>
                      </a:lnTo>
                      <a:lnTo>
                        <a:pt x="2513" y="237"/>
                      </a:lnTo>
                      <a:lnTo>
                        <a:pt x="2526" y="246"/>
                      </a:lnTo>
                      <a:lnTo>
                        <a:pt x="2526" y="255"/>
                      </a:lnTo>
                      <a:lnTo>
                        <a:pt x="2539" y="263"/>
                      </a:lnTo>
                      <a:lnTo>
                        <a:pt x="2551" y="272"/>
                      </a:lnTo>
                      <a:lnTo>
                        <a:pt x="2551" y="281"/>
                      </a:lnTo>
                      <a:lnTo>
                        <a:pt x="2564" y="290"/>
                      </a:lnTo>
                      <a:lnTo>
                        <a:pt x="2564" y="299"/>
                      </a:lnTo>
                      <a:lnTo>
                        <a:pt x="2577" y="316"/>
                      </a:lnTo>
                      <a:lnTo>
                        <a:pt x="2577" y="325"/>
                      </a:lnTo>
                      <a:lnTo>
                        <a:pt x="2589" y="334"/>
                      </a:lnTo>
                      <a:lnTo>
                        <a:pt x="2602" y="343"/>
                      </a:lnTo>
                      <a:lnTo>
                        <a:pt x="2602" y="351"/>
                      </a:lnTo>
                      <a:lnTo>
                        <a:pt x="2615" y="360"/>
                      </a:lnTo>
                      <a:lnTo>
                        <a:pt x="2615" y="369"/>
                      </a:lnTo>
                      <a:lnTo>
                        <a:pt x="2627" y="387"/>
                      </a:lnTo>
                      <a:lnTo>
                        <a:pt x="2627" y="395"/>
                      </a:lnTo>
                      <a:lnTo>
                        <a:pt x="2640" y="404"/>
                      </a:lnTo>
                      <a:lnTo>
                        <a:pt x="2640" y="413"/>
                      </a:lnTo>
                      <a:lnTo>
                        <a:pt x="2653" y="431"/>
                      </a:lnTo>
                      <a:lnTo>
                        <a:pt x="2666" y="439"/>
                      </a:lnTo>
                      <a:lnTo>
                        <a:pt x="2666" y="448"/>
                      </a:lnTo>
                      <a:lnTo>
                        <a:pt x="2678" y="457"/>
                      </a:lnTo>
                      <a:lnTo>
                        <a:pt x="2678" y="475"/>
                      </a:lnTo>
                      <a:lnTo>
                        <a:pt x="2691" y="483"/>
                      </a:lnTo>
                      <a:lnTo>
                        <a:pt x="2691" y="492"/>
                      </a:lnTo>
                      <a:lnTo>
                        <a:pt x="2704" y="510"/>
                      </a:lnTo>
                      <a:lnTo>
                        <a:pt x="2716" y="518"/>
                      </a:lnTo>
                      <a:lnTo>
                        <a:pt x="2716" y="527"/>
                      </a:lnTo>
                      <a:lnTo>
                        <a:pt x="2729" y="536"/>
                      </a:lnTo>
                      <a:lnTo>
                        <a:pt x="2729" y="554"/>
                      </a:lnTo>
                      <a:lnTo>
                        <a:pt x="2742" y="562"/>
                      </a:lnTo>
                      <a:lnTo>
                        <a:pt x="2742" y="571"/>
                      </a:lnTo>
                      <a:lnTo>
                        <a:pt x="2754" y="589"/>
                      </a:lnTo>
                      <a:lnTo>
                        <a:pt x="2767" y="598"/>
                      </a:lnTo>
                      <a:lnTo>
                        <a:pt x="2767" y="615"/>
                      </a:lnTo>
                      <a:lnTo>
                        <a:pt x="2780" y="624"/>
                      </a:lnTo>
                      <a:lnTo>
                        <a:pt x="2780" y="633"/>
                      </a:lnTo>
                      <a:lnTo>
                        <a:pt x="2792" y="650"/>
                      </a:lnTo>
                      <a:lnTo>
                        <a:pt x="2792" y="659"/>
                      </a:lnTo>
                      <a:lnTo>
                        <a:pt x="2805" y="668"/>
                      </a:lnTo>
                      <a:lnTo>
                        <a:pt x="2805" y="686"/>
                      </a:lnTo>
                      <a:lnTo>
                        <a:pt x="2818" y="694"/>
                      </a:lnTo>
                      <a:lnTo>
                        <a:pt x="2831" y="703"/>
                      </a:lnTo>
                      <a:lnTo>
                        <a:pt x="2831" y="721"/>
                      </a:lnTo>
                      <a:lnTo>
                        <a:pt x="2843" y="730"/>
                      </a:lnTo>
                      <a:lnTo>
                        <a:pt x="2843" y="747"/>
                      </a:lnTo>
                      <a:lnTo>
                        <a:pt x="2856" y="756"/>
                      </a:lnTo>
                      <a:lnTo>
                        <a:pt x="2856" y="765"/>
                      </a:lnTo>
                      <a:lnTo>
                        <a:pt x="2869" y="782"/>
                      </a:lnTo>
                      <a:lnTo>
                        <a:pt x="2881" y="791"/>
                      </a:lnTo>
                      <a:lnTo>
                        <a:pt x="2881" y="809"/>
                      </a:lnTo>
                      <a:lnTo>
                        <a:pt x="2894" y="817"/>
                      </a:lnTo>
                      <a:lnTo>
                        <a:pt x="2894" y="826"/>
                      </a:lnTo>
                      <a:lnTo>
                        <a:pt x="2907" y="844"/>
                      </a:lnTo>
                      <a:lnTo>
                        <a:pt x="2907" y="853"/>
                      </a:lnTo>
                      <a:lnTo>
                        <a:pt x="2919" y="861"/>
                      </a:lnTo>
                      <a:lnTo>
                        <a:pt x="2932" y="879"/>
                      </a:lnTo>
                      <a:lnTo>
                        <a:pt x="2932" y="888"/>
                      </a:lnTo>
                      <a:lnTo>
                        <a:pt x="2945" y="905"/>
                      </a:lnTo>
                      <a:lnTo>
                        <a:pt x="2945" y="914"/>
                      </a:lnTo>
                      <a:lnTo>
                        <a:pt x="2957" y="923"/>
                      </a:lnTo>
                      <a:lnTo>
                        <a:pt x="2957" y="941"/>
                      </a:lnTo>
                      <a:lnTo>
                        <a:pt x="2970" y="949"/>
                      </a:lnTo>
                      <a:lnTo>
                        <a:pt x="2970" y="958"/>
                      </a:lnTo>
                      <a:lnTo>
                        <a:pt x="2983" y="976"/>
                      </a:lnTo>
                      <a:lnTo>
                        <a:pt x="2996" y="985"/>
                      </a:lnTo>
                      <a:lnTo>
                        <a:pt x="2996" y="993"/>
                      </a:lnTo>
                      <a:lnTo>
                        <a:pt x="3008" y="1011"/>
                      </a:lnTo>
                      <a:lnTo>
                        <a:pt x="3008" y="1020"/>
                      </a:lnTo>
                      <a:lnTo>
                        <a:pt x="3021" y="1028"/>
                      </a:lnTo>
                      <a:lnTo>
                        <a:pt x="3021" y="1046"/>
                      </a:lnTo>
                      <a:lnTo>
                        <a:pt x="3034" y="1055"/>
                      </a:lnTo>
                      <a:lnTo>
                        <a:pt x="3046" y="1064"/>
                      </a:lnTo>
                      <a:lnTo>
                        <a:pt x="3046" y="1081"/>
                      </a:lnTo>
                      <a:lnTo>
                        <a:pt x="3059" y="1090"/>
                      </a:lnTo>
                      <a:lnTo>
                        <a:pt x="3059" y="1099"/>
                      </a:lnTo>
                      <a:lnTo>
                        <a:pt x="3072" y="1116"/>
                      </a:lnTo>
                      <a:lnTo>
                        <a:pt x="3072" y="1125"/>
                      </a:lnTo>
                      <a:lnTo>
                        <a:pt x="3084" y="1134"/>
                      </a:lnTo>
                      <a:lnTo>
                        <a:pt x="3097" y="1152"/>
                      </a:lnTo>
                      <a:lnTo>
                        <a:pt x="3097" y="1160"/>
                      </a:lnTo>
                      <a:lnTo>
                        <a:pt x="3110" y="1169"/>
                      </a:lnTo>
                      <a:lnTo>
                        <a:pt x="3110" y="1178"/>
                      </a:lnTo>
                      <a:lnTo>
                        <a:pt x="3122" y="1196"/>
                      </a:lnTo>
                      <a:lnTo>
                        <a:pt x="3122" y="1204"/>
                      </a:lnTo>
                      <a:lnTo>
                        <a:pt x="3135" y="1213"/>
                      </a:lnTo>
                      <a:lnTo>
                        <a:pt x="3135" y="1222"/>
                      </a:lnTo>
                      <a:lnTo>
                        <a:pt x="3148" y="1231"/>
                      </a:lnTo>
                      <a:lnTo>
                        <a:pt x="3161" y="1248"/>
                      </a:lnTo>
                      <a:lnTo>
                        <a:pt x="3161" y="1257"/>
                      </a:lnTo>
                      <a:lnTo>
                        <a:pt x="3173" y="1266"/>
                      </a:lnTo>
                      <a:lnTo>
                        <a:pt x="3173" y="1275"/>
                      </a:lnTo>
                      <a:lnTo>
                        <a:pt x="3186" y="1283"/>
                      </a:lnTo>
                      <a:lnTo>
                        <a:pt x="3186" y="1301"/>
                      </a:lnTo>
                      <a:lnTo>
                        <a:pt x="3199" y="1310"/>
                      </a:lnTo>
                      <a:lnTo>
                        <a:pt x="3211" y="1319"/>
                      </a:lnTo>
                      <a:lnTo>
                        <a:pt x="3211" y="1327"/>
                      </a:lnTo>
                      <a:lnTo>
                        <a:pt x="3224" y="1336"/>
                      </a:lnTo>
                      <a:lnTo>
                        <a:pt x="3224" y="1345"/>
                      </a:lnTo>
                      <a:lnTo>
                        <a:pt x="3237" y="1354"/>
                      </a:lnTo>
                      <a:lnTo>
                        <a:pt x="3237" y="1371"/>
                      </a:lnTo>
                      <a:lnTo>
                        <a:pt x="3249" y="1380"/>
                      </a:lnTo>
                      <a:lnTo>
                        <a:pt x="3262" y="1389"/>
                      </a:lnTo>
                      <a:lnTo>
                        <a:pt x="3262" y="1398"/>
                      </a:lnTo>
                      <a:lnTo>
                        <a:pt x="3275" y="1407"/>
                      </a:lnTo>
                      <a:lnTo>
                        <a:pt x="3275" y="1415"/>
                      </a:lnTo>
                      <a:lnTo>
                        <a:pt x="3287" y="1424"/>
                      </a:lnTo>
                      <a:lnTo>
                        <a:pt x="3287" y="1433"/>
                      </a:lnTo>
                      <a:lnTo>
                        <a:pt x="3300" y="1442"/>
                      </a:lnTo>
                      <a:lnTo>
                        <a:pt x="3300" y="1451"/>
                      </a:lnTo>
                      <a:lnTo>
                        <a:pt x="3313" y="1459"/>
                      </a:lnTo>
                      <a:lnTo>
                        <a:pt x="3326" y="1468"/>
                      </a:lnTo>
                      <a:lnTo>
                        <a:pt x="3326" y="1477"/>
                      </a:lnTo>
                      <a:lnTo>
                        <a:pt x="3338" y="1486"/>
                      </a:lnTo>
                      <a:lnTo>
                        <a:pt x="3338" y="1495"/>
                      </a:lnTo>
                      <a:lnTo>
                        <a:pt x="3351" y="1503"/>
                      </a:lnTo>
                      <a:lnTo>
                        <a:pt x="3351" y="1512"/>
                      </a:lnTo>
                      <a:lnTo>
                        <a:pt x="3364" y="1521"/>
                      </a:lnTo>
                      <a:lnTo>
                        <a:pt x="3376" y="1530"/>
                      </a:lnTo>
                      <a:lnTo>
                        <a:pt x="3376" y="1538"/>
                      </a:lnTo>
                      <a:lnTo>
                        <a:pt x="3389" y="1547"/>
                      </a:lnTo>
                      <a:lnTo>
                        <a:pt x="3402" y="1556"/>
                      </a:lnTo>
                      <a:lnTo>
                        <a:pt x="3402" y="1565"/>
                      </a:lnTo>
                      <a:lnTo>
                        <a:pt x="3414" y="1574"/>
                      </a:lnTo>
                      <a:lnTo>
                        <a:pt x="3427" y="1582"/>
                      </a:lnTo>
                      <a:lnTo>
                        <a:pt x="3427" y="1591"/>
                      </a:lnTo>
                      <a:lnTo>
                        <a:pt x="3440" y="1600"/>
                      </a:lnTo>
                      <a:lnTo>
                        <a:pt x="3452" y="1609"/>
                      </a:lnTo>
                      <a:lnTo>
                        <a:pt x="3452" y="1618"/>
                      </a:lnTo>
                      <a:lnTo>
                        <a:pt x="3465" y="1626"/>
                      </a:lnTo>
                      <a:lnTo>
                        <a:pt x="3465" y="1635"/>
                      </a:lnTo>
                      <a:lnTo>
                        <a:pt x="3478" y="1635"/>
                      </a:lnTo>
                      <a:lnTo>
                        <a:pt x="3490" y="1644"/>
                      </a:lnTo>
                      <a:lnTo>
                        <a:pt x="3490" y="1653"/>
                      </a:lnTo>
                      <a:lnTo>
                        <a:pt x="3503" y="1662"/>
                      </a:lnTo>
                      <a:lnTo>
                        <a:pt x="3516" y="1670"/>
                      </a:lnTo>
                      <a:lnTo>
                        <a:pt x="3516" y="1679"/>
                      </a:lnTo>
                      <a:lnTo>
                        <a:pt x="3529" y="1679"/>
                      </a:lnTo>
                      <a:lnTo>
                        <a:pt x="3541" y="1688"/>
                      </a:lnTo>
                      <a:lnTo>
                        <a:pt x="3541" y="1697"/>
                      </a:lnTo>
                      <a:lnTo>
                        <a:pt x="3554" y="1706"/>
                      </a:lnTo>
                      <a:lnTo>
                        <a:pt x="3567" y="1714"/>
                      </a:lnTo>
                      <a:lnTo>
                        <a:pt x="3567" y="1723"/>
                      </a:lnTo>
                      <a:lnTo>
                        <a:pt x="3579" y="1723"/>
                      </a:lnTo>
                      <a:lnTo>
                        <a:pt x="3592" y="1732"/>
                      </a:lnTo>
                      <a:lnTo>
                        <a:pt x="3605" y="1741"/>
                      </a:lnTo>
                      <a:lnTo>
                        <a:pt x="3605" y="1750"/>
                      </a:lnTo>
                      <a:lnTo>
                        <a:pt x="3617" y="1750"/>
                      </a:lnTo>
                      <a:lnTo>
                        <a:pt x="3617" y="1758"/>
                      </a:lnTo>
                      <a:lnTo>
                        <a:pt x="3630" y="1758"/>
                      </a:lnTo>
                      <a:lnTo>
                        <a:pt x="3630" y="1767"/>
                      </a:lnTo>
                      <a:lnTo>
                        <a:pt x="3643" y="1767"/>
                      </a:lnTo>
                      <a:lnTo>
                        <a:pt x="3655" y="1776"/>
                      </a:lnTo>
                      <a:lnTo>
                        <a:pt x="3655" y="1785"/>
                      </a:lnTo>
                      <a:lnTo>
                        <a:pt x="3668" y="1785"/>
                      </a:lnTo>
                      <a:lnTo>
                        <a:pt x="3668" y="1793"/>
                      </a:lnTo>
                      <a:lnTo>
                        <a:pt x="3681" y="1793"/>
                      </a:lnTo>
                      <a:lnTo>
                        <a:pt x="3681" y="1802"/>
                      </a:lnTo>
                      <a:lnTo>
                        <a:pt x="3694" y="1802"/>
                      </a:lnTo>
                      <a:lnTo>
                        <a:pt x="3706" y="1811"/>
                      </a:lnTo>
                      <a:lnTo>
                        <a:pt x="3719" y="1820"/>
                      </a:lnTo>
                      <a:lnTo>
                        <a:pt x="3732" y="1820"/>
                      </a:lnTo>
                      <a:lnTo>
                        <a:pt x="3732" y="1829"/>
                      </a:lnTo>
                      <a:lnTo>
                        <a:pt x="3744" y="1829"/>
                      </a:lnTo>
                      <a:lnTo>
                        <a:pt x="3744" y="1837"/>
                      </a:lnTo>
                      <a:lnTo>
                        <a:pt x="3757" y="1837"/>
                      </a:lnTo>
                      <a:lnTo>
                        <a:pt x="3770" y="1846"/>
                      </a:lnTo>
                      <a:lnTo>
                        <a:pt x="3782" y="1846"/>
                      </a:lnTo>
                      <a:lnTo>
                        <a:pt x="3782" y="1855"/>
                      </a:lnTo>
                      <a:lnTo>
                        <a:pt x="3795" y="1855"/>
                      </a:lnTo>
                      <a:lnTo>
                        <a:pt x="3795" y="1864"/>
                      </a:lnTo>
                      <a:lnTo>
                        <a:pt x="3808" y="1864"/>
                      </a:lnTo>
                      <a:lnTo>
                        <a:pt x="3820" y="1864"/>
                      </a:lnTo>
                      <a:lnTo>
                        <a:pt x="3820" y="1873"/>
                      </a:lnTo>
                      <a:lnTo>
                        <a:pt x="3833" y="1873"/>
                      </a:lnTo>
                      <a:lnTo>
                        <a:pt x="3846" y="1881"/>
                      </a:lnTo>
                      <a:lnTo>
                        <a:pt x="3859" y="1881"/>
                      </a:lnTo>
                      <a:lnTo>
                        <a:pt x="3871" y="1890"/>
                      </a:lnTo>
                      <a:lnTo>
                        <a:pt x="3884" y="1890"/>
                      </a:lnTo>
                      <a:lnTo>
                        <a:pt x="3884" y="1899"/>
                      </a:lnTo>
                      <a:lnTo>
                        <a:pt x="3897" y="1899"/>
                      </a:lnTo>
                      <a:lnTo>
                        <a:pt x="3909" y="1908"/>
                      </a:lnTo>
                      <a:lnTo>
                        <a:pt x="3922" y="1908"/>
                      </a:lnTo>
                      <a:lnTo>
                        <a:pt x="3935" y="1908"/>
                      </a:lnTo>
                      <a:lnTo>
                        <a:pt x="3935" y="1917"/>
                      </a:lnTo>
                      <a:lnTo>
                        <a:pt x="3947" y="1917"/>
                      </a:lnTo>
                      <a:lnTo>
                        <a:pt x="3960" y="1917"/>
                      </a:lnTo>
                      <a:lnTo>
                        <a:pt x="3960" y="1925"/>
                      </a:lnTo>
                      <a:lnTo>
                        <a:pt x="3973" y="1925"/>
                      </a:lnTo>
                      <a:lnTo>
                        <a:pt x="3985" y="1925"/>
                      </a:lnTo>
                      <a:lnTo>
                        <a:pt x="3998" y="1925"/>
                      </a:lnTo>
                      <a:lnTo>
                        <a:pt x="3998" y="1934"/>
                      </a:lnTo>
                      <a:lnTo>
                        <a:pt x="4011" y="1934"/>
                      </a:lnTo>
                      <a:lnTo>
                        <a:pt x="4024" y="1934"/>
                      </a:lnTo>
                      <a:lnTo>
                        <a:pt x="4036" y="1943"/>
                      </a:lnTo>
                      <a:lnTo>
                        <a:pt x="4049" y="1943"/>
                      </a:lnTo>
                      <a:lnTo>
                        <a:pt x="4062" y="1943"/>
                      </a:lnTo>
                      <a:lnTo>
                        <a:pt x="4074" y="1952"/>
                      </a:lnTo>
                      <a:lnTo>
                        <a:pt x="4087" y="1952"/>
                      </a:lnTo>
                      <a:lnTo>
                        <a:pt x="4100" y="1952"/>
                      </a:lnTo>
                      <a:lnTo>
                        <a:pt x="4112" y="1952"/>
                      </a:lnTo>
                      <a:lnTo>
                        <a:pt x="4112" y="1961"/>
                      </a:lnTo>
                      <a:lnTo>
                        <a:pt x="4125" y="1961"/>
                      </a:lnTo>
                      <a:lnTo>
                        <a:pt x="4138" y="1961"/>
                      </a:lnTo>
                      <a:lnTo>
                        <a:pt x="4150" y="1961"/>
                      </a:lnTo>
                      <a:lnTo>
                        <a:pt x="4163" y="1961"/>
                      </a:lnTo>
                      <a:lnTo>
                        <a:pt x="4163" y="1969"/>
                      </a:lnTo>
                      <a:lnTo>
                        <a:pt x="4176" y="1969"/>
                      </a:lnTo>
                      <a:lnTo>
                        <a:pt x="4189" y="1969"/>
                      </a:lnTo>
                      <a:lnTo>
                        <a:pt x="4201" y="1969"/>
                      </a:lnTo>
                      <a:lnTo>
                        <a:pt x="4214" y="1969"/>
                      </a:lnTo>
                      <a:lnTo>
                        <a:pt x="4227" y="1969"/>
                      </a:lnTo>
                      <a:lnTo>
                        <a:pt x="4227" y="1978"/>
                      </a:lnTo>
                      <a:lnTo>
                        <a:pt x="4239" y="1978"/>
                      </a:lnTo>
                      <a:lnTo>
                        <a:pt x="4252" y="1978"/>
                      </a:lnTo>
                      <a:lnTo>
                        <a:pt x="4265" y="1978"/>
                      </a:lnTo>
                      <a:lnTo>
                        <a:pt x="4277" y="1978"/>
                      </a:lnTo>
                      <a:lnTo>
                        <a:pt x="4290" y="1978"/>
                      </a:lnTo>
                      <a:lnTo>
                        <a:pt x="4303" y="1978"/>
                      </a:lnTo>
                    </a:path>
                  </a:pathLst>
                </a:custGeom>
                <a:noFill/>
                <a:ln w="50800" cap="rnd">
                  <a:solidFill>
                    <a:srgbClr val="00008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358" name="Rectangle 17"/>
                <p:cNvSpPr>
                  <a:spLocks noChangeArrowheads="1"/>
                </p:cNvSpPr>
                <p:nvPr/>
              </p:nvSpPr>
              <p:spPr bwMode="auto">
                <a:xfrm>
                  <a:off x="602" y="3737"/>
                  <a:ext cx="213"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wrap="none" lIns="90488" tIns="44450" rIns="90488" bIns="4445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sz="1400" b="1" i="0">
                      <a:solidFill>
                        <a:srgbClr val="000000"/>
                      </a:solidFill>
                    </a:rPr>
                    <a:t>-3</a:t>
                  </a:r>
                </a:p>
              </p:txBody>
            </p:sp>
            <p:sp>
              <p:nvSpPr>
                <p:cNvPr id="13359" name="Rectangle 18"/>
                <p:cNvSpPr>
                  <a:spLocks noChangeArrowheads="1"/>
                </p:cNvSpPr>
                <p:nvPr/>
              </p:nvSpPr>
              <p:spPr bwMode="auto">
                <a:xfrm>
                  <a:off x="1325" y="3737"/>
                  <a:ext cx="213"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wrap="none" lIns="90488" tIns="44450" rIns="90488" bIns="4445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sz="1400" b="1" i="0">
                      <a:solidFill>
                        <a:srgbClr val="000000"/>
                      </a:solidFill>
                    </a:rPr>
                    <a:t>-2</a:t>
                  </a:r>
                </a:p>
              </p:txBody>
            </p:sp>
            <p:sp>
              <p:nvSpPr>
                <p:cNvPr id="13360" name="Rectangle 19"/>
                <p:cNvSpPr>
                  <a:spLocks noChangeArrowheads="1"/>
                </p:cNvSpPr>
                <p:nvPr/>
              </p:nvSpPr>
              <p:spPr bwMode="auto">
                <a:xfrm>
                  <a:off x="2036" y="3737"/>
                  <a:ext cx="213"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wrap="none" lIns="90488" tIns="44450" rIns="90488" bIns="4445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sz="1400" b="1" i="0">
                      <a:solidFill>
                        <a:srgbClr val="000000"/>
                      </a:solidFill>
                    </a:rPr>
                    <a:t>-1</a:t>
                  </a:r>
                </a:p>
              </p:txBody>
            </p:sp>
            <p:sp>
              <p:nvSpPr>
                <p:cNvPr id="13361" name="Rectangle 20"/>
                <p:cNvSpPr>
                  <a:spLocks noChangeArrowheads="1"/>
                </p:cNvSpPr>
                <p:nvPr/>
              </p:nvSpPr>
              <p:spPr bwMode="auto">
                <a:xfrm>
                  <a:off x="2785" y="3737"/>
                  <a:ext cx="176"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wrap="none" lIns="90488" tIns="44450" rIns="90488" bIns="4445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sz="1400" b="1" i="0">
                      <a:solidFill>
                        <a:srgbClr val="000000"/>
                      </a:solidFill>
                    </a:rPr>
                    <a:t>0</a:t>
                  </a:r>
                </a:p>
              </p:txBody>
            </p:sp>
            <p:sp>
              <p:nvSpPr>
                <p:cNvPr id="13362" name="Rectangle 21"/>
                <p:cNvSpPr>
                  <a:spLocks noChangeArrowheads="1"/>
                </p:cNvSpPr>
                <p:nvPr/>
              </p:nvSpPr>
              <p:spPr bwMode="auto">
                <a:xfrm>
                  <a:off x="3496" y="3737"/>
                  <a:ext cx="176"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wrap="none" lIns="90488" tIns="44450" rIns="90488" bIns="4445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sz="1400" b="1" i="0">
                      <a:solidFill>
                        <a:srgbClr val="000000"/>
                      </a:solidFill>
                    </a:rPr>
                    <a:t>1</a:t>
                  </a:r>
                </a:p>
              </p:txBody>
            </p:sp>
            <p:sp>
              <p:nvSpPr>
                <p:cNvPr id="13363" name="Rectangle 22"/>
                <p:cNvSpPr>
                  <a:spLocks noChangeArrowheads="1"/>
                </p:cNvSpPr>
                <p:nvPr/>
              </p:nvSpPr>
              <p:spPr bwMode="auto">
                <a:xfrm>
                  <a:off x="4219" y="3737"/>
                  <a:ext cx="176"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wrap="none" lIns="90488" tIns="44450" rIns="90488" bIns="4445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sz="1400" b="1" i="0">
                      <a:solidFill>
                        <a:srgbClr val="000000"/>
                      </a:solidFill>
                    </a:rPr>
                    <a:t>2</a:t>
                  </a:r>
                </a:p>
              </p:txBody>
            </p:sp>
            <p:sp>
              <p:nvSpPr>
                <p:cNvPr id="13364" name="Rectangle 23"/>
                <p:cNvSpPr>
                  <a:spLocks noChangeArrowheads="1"/>
                </p:cNvSpPr>
                <p:nvPr/>
              </p:nvSpPr>
              <p:spPr bwMode="auto">
                <a:xfrm>
                  <a:off x="4930" y="3737"/>
                  <a:ext cx="176"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wrap="none" lIns="90488" tIns="44450" rIns="90488" bIns="4445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sz="1400" b="1" i="0">
                      <a:solidFill>
                        <a:srgbClr val="000000"/>
                      </a:solidFill>
                    </a:rPr>
                    <a:t>3</a:t>
                  </a:r>
                </a:p>
              </p:txBody>
            </p:sp>
          </p:grpSp>
          <p:grpSp>
            <p:nvGrpSpPr>
              <p:cNvPr id="13331" name="Group 24"/>
              <p:cNvGrpSpPr>
                <a:grpSpLocks/>
              </p:cNvGrpSpPr>
              <p:nvPr/>
            </p:nvGrpSpPr>
            <p:grpSpPr bwMode="auto">
              <a:xfrm>
                <a:off x="3483" y="1758"/>
                <a:ext cx="600" cy="403"/>
                <a:chOff x="3483" y="1758"/>
                <a:chExt cx="600" cy="403"/>
              </a:xfrm>
            </p:grpSpPr>
            <p:sp>
              <p:nvSpPr>
                <p:cNvPr id="13344" name="Arc 25"/>
                <p:cNvSpPr>
                  <a:spLocks/>
                </p:cNvSpPr>
                <p:nvPr/>
              </p:nvSpPr>
              <p:spPr bwMode="auto">
                <a:xfrm>
                  <a:off x="3483" y="1973"/>
                  <a:ext cx="332" cy="18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600"/>
                      </a:moveTo>
                      <a:cubicBezTo>
                        <a:pt x="0" y="9696"/>
                        <a:pt x="9631" y="35"/>
                        <a:pt x="21535" y="0"/>
                      </a:cubicBezTo>
                    </a:path>
                    <a:path w="21600" h="21600" stroke="0" extrusionOk="0">
                      <a:moveTo>
                        <a:pt x="0" y="21600"/>
                      </a:moveTo>
                      <a:cubicBezTo>
                        <a:pt x="0" y="9696"/>
                        <a:pt x="9631" y="35"/>
                        <a:pt x="21535" y="0"/>
                      </a:cubicBezTo>
                      <a:lnTo>
                        <a:pt x="21600" y="21600"/>
                      </a:lnTo>
                      <a:lnTo>
                        <a:pt x="0" y="21600"/>
                      </a:lnTo>
                      <a:close/>
                    </a:path>
                  </a:pathLst>
                </a:custGeom>
                <a:noFill/>
                <a:ln w="12700" cap="rnd">
                  <a:solidFill>
                    <a:schemeClr val="bg2"/>
                  </a:solidFill>
                  <a:round/>
                  <a:headEnd type="triangle" w="med" len="me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3345" name="Rectangle 26"/>
                <p:cNvSpPr>
                  <a:spLocks noChangeArrowheads="1"/>
                </p:cNvSpPr>
                <p:nvPr/>
              </p:nvSpPr>
              <p:spPr bwMode="auto">
                <a:xfrm>
                  <a:off x="3813" y="1758"/>
                  <a:ext cx="270"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wrap="none" lIns="90488" tIns="44450" rIns="90488" bIns="4445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i="0">
                      <a:solidFill>
                        <a:schemeClr val="bg2"/>
                      </a:solidFill>
                      <a:latin typeface="Times New Roman" pitchFamily="18" charset="0"/>
                    </a:rPr>
                    <a:t>Z</a:t>
                  </a:r>
                </a:p>
              </p:txBody>
            </p:sp>
          </p:grpSp>
          <p:grpSp>
            <p:nvGrpSpPr>
              <p:cNvPr id="13332" name="Group 27"/>
              <p:cNvGrpSpPr>
                <a:grpSpLocks/>
              </p:cNvGrpSpPr>
              <p:nvPr/>
            </p:nvGrpSpPr>
            <p:grpSpPr bwMode="auto">
              <a:xfrm>
                <a:off x="3509" y="2286"/>
                <a:ext cx="591" cy="403"/>
                <a:chOff x="3509" y="2286"/>
                <a:chExt cx="591" cy="403"/>
              </a:xfrm>
            </p:grpSpPr>
            <p:sp>
              <p:nvSpPr>
                <p:cNvPr id="13342" name="Rectangle 28"/>
                <p:cNvSpPr>
                  <a:spLocks noChangeArrowheads="1"/>
                </p:cNvSpPr>
                <p:nvPr/>
              </p:nvSpPr>
              <p:spPr bwMode="auto">
                <a:xfrm>
                  <a:off x="3831" y="2286"/>
                  <a:ext cx="269"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wrap="none" lIns="90488" tIns="44450" rIns="90488" bIns="4445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i="0">
                      <a:solidFill>
                        <a:schemeClr val="bg2"/>
                      </a:solidFill>
                      <a:latin typeface="Times New Roman" pitchFamily="18" charset="0"/>
                    </a:rPr>
                    <a:t>t</a:t>
                  </a:r>
                  <a:r>
                    <a:rPr lang="en-US" altLang="en-US" b="1" i="0" baseline="-25000">
                      <a:solidFill>
                        <a:schemeClr val="hlink"/>
                      </a:solidFill>
                      <a:latin typeface="Times New Roman" pitchFamily="18" charset="0"/>
                    </a:rPr>
                    <a:t>1</a:t>
                  </a:r>
                  <a:endParaRPr lang="en-US" altLang="en-US" i="0" baseline="-25000">
                    <a:solidFill>
                      <a:schemeClr val="bg2"/>
                    </a:solidFill>
                    <a:latin typeface="Times New Roman" pitchFamily="18" charset="0"/>
                  </a:endParaRPr>
                </a:p>
              </p:txBody>
            </p:sp>
            <p:sp>
              <p:nvSpPr>
                <p:cNvPr id="13343" name="Arc 29"/>
                <p:cNvSpPr>
                  <a:spLocks/>
                </p:cNvSpPr>
                <p:nvPr/>
              </p:nvSpPr>
              <p:spPr bwMode="auto">
                <a:xfrm>
                  <a:off x="3509" y="2501"/>
                  <a:ext cx="284" cy="18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600"/>
                      </a:moveTo>
                      <a:cubicBezTo>
                        <a:pt x="0" y="9700"/>
                        <a:pt x="9624" y="42"/>
                        <a:pt x="21524" y="0"/>
                      </a:cubicBezTo>
                    </a:path>
                    <a:path w="21600" h="21600" stroke="0" extrusionOk="0">
                      <a:moveTo>
                        <a:pt x="0" y="21600"/>
                      </a:moveTo>
                      <a:cubicBezTo>
                        <a:pt x="0" y="9700"/>
                        <a:pt x="9624" y="42"/>
                        <a:pt x="21524" y="0"/>
                      </a:cubicBezTo>
                      <a:lnTo>
                        <a:pt x="21600" y="21600"/>
                      </a:lnTo>
                      <a:lnTo>
                        <a:pt x="0" y="21600"/>
                      </a:lnTo>
                      <a:close/>
                    </a:path>
                  </a:pathLst>
                </a:custGeom>
                <a:noFill/>
                <a:ln w="12700" cap="rnd">
                  <a:solidFill>
                    <a:schemeClr val="bg2"/>
                  </a:solidFill>
                  <a:round/>
                  <a:headEnd type="triangle" w="med" len="me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sp>
            <p:nvSpPr>
              <p:cNvPr id="13333" name="Line 30"/>
              <p:cNvSpPr>
                <a:spLocks noChangeShapeType="1"/>
              </p:cNvSpPr>
              <p:nvPr/>
            </p:nvSpPr>
            <p:spPr bwMode="auto">
              <a:xfrm>
                <a:off x="2891" y="1688"/>
                <a:ext cx="0" cy="2000"/>
              </a:xfrm>
              <a:prstGeom prst="line">
                <a:avLst/>
              </a:prstGeom>
              <a:noFill/>
              <a:ln w="25400">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334" name="Rectangle 31"/>
              <p:cNvSpPr>
                <a:spLocks noChangeArrowheads="1"/>
              </p:cNvSpPr>
              <p:nvPr/>
            </p:nvSpPr>
            <p:spPr bwMode="auto">
              <a:xfrm>
                <a:off x="624" y="3748"/>
                <a:ext cx="4512" cy="192"/>
              </a:xfrm>
              <a:prstGeom prst="rect">
                <a:avLst/>
              </a:prstGeom>
              <a:solidFill>
                <a:schemeClr val="tx1"/>
              </a:solidFill>
              <a:ln>
                <a:noFill/>
              </a:ln>
              <a:extLst>
                <a:ext uri="{91240B29-F687-4F45-9708-019B960494DF}">
                  <a14:hiddenLine xmlns:a14="http://schemas.microsoft.com/office/drawing/2010/main" w="76200">
                    <a:solidFill>
                      <a:srgbClr val="000000"/>
                    </a:solidFill>
                    <a:miter lim="800000"/>
                    <a:headEnd/>
                    <a:tailEnd/>
                  </a14:hiddenLine>
                </a:ext>
              </a:extLst>
            </p:spPr>
            <p:txBody>
              <a:bodyPr wrap="none" anchor="ct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endParaRPr lang="en-US" altLang="en-US" sz="2400"/>
              </a:p>
            </p:txBody>
          </p:sp>
          <p:sp>
            <p:nvSpPr>
              <p:cNvPr id="13335" name="Rectangle 32"/>
              <p:cNvSpPr>
                <a:spLocks noChangeArrowheads="1"/>
              </p:cNvSpPr>
              <p:nvPr/>
            </p:nvSpPr>
            <p:spPr bwMode="auto">
              <a:xfrm>
                <a:off x="2779" y="3655"/>
                <a:ext cx="242"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wrap="none" lIns="90488" tIns="44450" rIns="90488" bIns="4445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i="0">
                    <a:solidFill>
                      <a:schemeClr val="bg2"/>
                    </a:solidFill>
                    <a:latin typeface="Times New Roman" pitchFamily="18" charset="0"/>
                  </a:rPr>
                  <a:t>0</a:t>
                </a:r>
              </a:p>
            </p:txBody>
          </p:sp>
          <p:sp>
            <p:nvSpPr>
              <p:cNvPr id="13336" name="Rectangle 33"/>
              <p:cNvSpPr>
                <a:spLocks noChangeArrowheads="1"/>
              </p:cNvSpPr>
              <p:nvPr/>
            </p:nvSpPr>
            <p:spPr bwMode="auto">
              <a:xfrm>
                <a:off x="3473" y="3655"/>
                <a:ext cx="242"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wrap="none" lIns="90488" tIns="44450" rIns="90488" bIns="4445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i="0">
                    <a:solidFill>
                      <a:schemeClr val="bg2"/>
                    </a:solidFill>
                    <a:latin typeface="Times New Roman" pitchFamily="18" charset="0"/>
                  </a:rPr>
                  <a:t>1</a:t>
                </a:r>
              </a:p>
            </p:txBody>
          </p:sp>
          <p:sp>
            <p:nvSpPr>
              <p:cNvPr id="13337" name="Rectangle 34"/>
              <p:cNvSpPr>
                <a:spLocks noChangeArrowheads="1"/>
              </p:cNvSpPr>
              <p:nvPr/>
            </p:nvSpPr>
            <p:spPr bwMode="auto">
              <a:xfrm>
                <a:off x="4200" y="3655"/>
                <a:ext cx="242"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wrap="none" lIns="90488" tIns="44450" rIns="90488" bIns="4445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i="0">
                    <a:solidFill>
                      <a:schemeClr val="bg2"/>
                    </a:solidFill>
                    <a:latin typeface="Times New Roman" pitchFamily="18" charset="0"/>
                  </a:rPr>
                  <a:t>2</a:t>
                </a:r>
              </a:p>
            </p:txBody>
          </p:sp>
          <p:sp>
            <p:nvSpPr>
              <p:cNvPr id="13338" name="Rectangle 35"/>
              <p:cNvSpPr>
                <a:spLocks noChangeArrowheads="1"/>
              </p:cNvSpPr>
              <p:nvPr/>
            </p:nvSpPr>
            <p:spPr bwMode="auto">
              <a:xfrm>
                <a:off x="4912" y="3655"/>
                <a:ext cx="242"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wrap="none" lIns="90488" tIns="44450" rIns="90488" bIns="4445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i="0">
                    <a:solidFill>
                      <a:schemeClr val="bg2"/>
                    </a:solidFill>
                    <a:latin typeface="Times New Roman" pitchFamily="18" charset="0"/>
                  </a:rPr>
                  <a:t>3</a:t>
                </a:r>
              </a:p>
            </p:txBody>
          </p:sp>
          <p:sp>
            <p:nvSpPr>
              <p:cNvPr id="13339" name="Rectangle 36"/>
              <p:cNvSpPr>
                <a:spLocks noChangeArrowheads="1"/>
              </p:cNvSpPr>
              <p:nvPr/>
            </p:nvSpPr>
            <p:spPr bwMode="auto">
              <a:xfrm>
                <a:off x="1975" y="3655"/>
                <a:ext cx="327"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wrap="none" lIns="90488" tIns="44450" rIns="90488" bIns="4445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i="0">
                    <a:solidFill>
                      <a:schemeClr val="bg2"/>
                    </a:solidFill>
                    <a:latin typeface="Times New Roman" pitchFamily="18" charset="0"/>
                  </a:rPr>
                  <a:t>-1</a:t>
                </a:r>
              </a:p>
            </p:txBody>
          </p:sp>
          <p:sp>
            <p:nvSpPr>
              <p:cNvPr id="13340" name="Rectangle 37"/>
              <p:cNvSpPr>
                <a:spLocks noChangeArrowheads="1"/>
              </p:cNvSpPr>
              <p:nvPr/>
            </p:nvSpPr>
            <p:spPr bwMode="auto">
              <a:xfrm>
                <a:off x="1248" y="3655"/>
                <a:ext cx="327"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wrap="none" lIns="90488" tIns="44450" rIns="90488" bIns="4445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i="0">
                    <a:solidFill>
                      <a:schemeClr val="bg2"/>
                    </a:solidFill>
                    <a:latin typeface="Times New Roman" pitchFamily="18" charset="0"/>
                  </a:rPr>
                  <a:t>-2</a:t>
                </a:r>
              </a:p>
            </p:txBody>
          </p:sp>
          <p:sp>
            <p:nvSpPr>
              <p:cNvPr id="13341" name="Rectangle 38"/>
              <p:cNvSpPr>
                <a:spLocks noChangeArrowheads="1"/>
              </p:cNvSpPr>
              <p:nvPr/>
            </p:nvSpPr>
            <p:spPr bwMode="auto">
              <a:xfrm>
                <a:off x="536" y="3655"/>
                <a:ext cx="327"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wrap="none" lIns="90488" tIns="44450" rIns="90488" bIns="4445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i="0">
                    <a:solidFill>
                      <a:schemeClr val="bg2"/>
                    </a:solidFill>
                    <a:latin typeface="Times New Roman" pitchFamily="18" charset="0"/>
                  </a:rPr>
                  <a:t>-3</a:t>
                </a:r>
              </a:p>
            </p:txBody>
          </p:sp>
        </p:grpSp>
        <p:sp>
          <p:nvSpPr>
            <p:cNvPr id="13329" name="Freeform 39"/>
            <p:cNvSpPr>
              <a:spLocks/>
            </p:cNvSpPr>
            <p:nvPr/>
          </p:nvSpPr>
          <p:spPr bwMode="auto">
            <a:xfrm>
              <a:off x="722" y="1729"/>
              <a:ext cx="4304" cy="1865"/>
            </a:xfrm>
            <a:custGeom>
              <a:avLst/>
              <a:gdLst>
                <a:gd name="T0" fmla="*/ 76 w 4304"/>
                <a:gd name="T1" fmla="*/ 1855 h 1865"/>
                <a:gd name="T2" fmla="*/ 165 w 4304"/>
                <a:gd name="T3" fmla="*/ 1838 h 1865"/>
                <a:gd name="T4" fmla="*/ 267 w 4304"/>
                <a:gd name="T5" fmla="*/ 1811 h 1865"/>
                <a:gd name="T6" fmla="*/ 356 w 4304"/>
                <a:gd name="T7" fmla="*/ 1785 h 1865"/>
                <a:gd name="T8" fmla="*/ 432 w 4304"/>
                <a:gd name="T9" fmla="*/ 1759 h 1865"/>
                <a:gd name="T10" fmla="*/ 521 w 4304"/>
                <a:gd name="T11" fmla="*/ 1723 h 1865"/>
                <a:gd name="T12" fmla="*/ 584 w 4304"/>
                <a:gd name="T13" fmla="*/ 1688 h 1865"/>
                <a:gd name="T14" fmla="*/ 660 w 4304"/>
                <a:gd name="T15" fmla="*/ 1653 h 1865"/>
                <a:gd name="T16" fmla="*/ 724 w 4304"/>
                <a:gd name="T17" fmla="*/ 1618 h 1865"/>
                <a:gd name="T18" fmla="*/ 800 w 4304"/>
                <a:gd name="T19" fmla="*/ 1565 h 1865"/>
                <a:gd name="T20" fmla="*/ 851 w 4304"/>
                <a:gd name="T21" fmla="*/ 1521 h 1865"/>
                <a:gd name="T22" fmla="*/ 927 w 4304"/>
                <a:gd name="T23" fmla="*/ 1460 h 1865"/>
                <a:gd name="T24" fmla="*/ 990 w 4304"/>
                <a:gd name="T25" fmla="*/ 1398 h 1865"/>
                <a:gd name="T26" fmla="*/ 1054 w 4304"/>
                <a:gd name="T27" fmla="*/ 1328 h 1865"/>
                <a:gd name="T28" fmla="*/ 1117 w 4304"/>
                <a:gd name="T29" fmla="*/ 1257 h 1865"/>
                <a:gd name="T30" fmla="*/ 1168 w 4304"/>
                <a:gd name="T31" fmla="*/ 1187 h 1865"/>
                <a:gd name="T32" fmla="*/ 1231 w 4304"/>
                <a:gd name="T33" fmla="*/ 1117 h 1865"/>
                <a:gd name="T34" fmla="*/ 1282 w 4304"/>
                <a:gd name="T35" fmla="*/ 1029 h 1865"/>
                <a:gd name="T36" fmla="*/ 1346 w 4304"/>
                <a:gd name="T37" fmla="*/ 950 h 1865"/>
                <a:gd name="T38" fmla="*/ 1396 w 4304"/>
                <a:gd name="T39" fmla="*/ 862 h 1865"/>
                <a:gd name="T40" fmla="*/ 1460 w 4304"/>
                <a:gd name="T41" fmla="*/ 774 h 1865"/>
                <a:gd name="T42" fmla="*/ 1511 w 4304"/>
                <a:gd name="T43" fmla="*/ 677 h 1865"/>
                <a:gd name="T44" fmla="*/ 1574 w 4304"/>
                <a:gd name="T45" fmla="*/ 589 h 1865"/>
                <a:gd name="T46" fmla="*/ 1625 w 4304"/>
                <a:gd name="T47" fmla="*/ 492 h 1865"/>
                <a:gd name="T48" fmla="*/ 1688 w 4304"/>
                <a:gd name="T49" fmla="*/ 405 h 1865"/>
                <a:gd name="T50" fmla="*/ 1739 w 4304"/>
                <a:gd name="T51" fmla="*/ 325 h 1865"/>
                <a:gd name="T52" fmla="*/ 1802 w 4304"/>
                <a:gd name="T53" fmla="*/ 246 h 1865"/>
                <a:gd name="T54" fmla="*/ 1853 w 4304"/>
                <a:gd name="T55" fmla="*/ 176 h 1865"/>
                <a:gd name="T56" fmla="*/ 1917 w 4304"/>
                <a:gd name="T57" fmla="*/ 106 h 1865"/>
                <a:gd name="T58" fmla="*/ 1993 w 4304"/>
                <a:gd name="T59" fmla="*/ 53 h 1865"/>
                <a:gd name="T60" fmla="*/ 2082 w 4304"/>
                <a:gd name="T61" fmla="*/ 9 h 1865"/>
                <a:gd name="T62" fmla="*/ 2183 w 4304"/>
                <a:gd name="T63" fmla="*/ 0 h 1865"/>
                <a:gd name="T64" fmla="*/ 2285 w 4304"/>
                <a:gd name="T65" fmla="*/ 26 h 1865"/>
                <a:gd name="T66" fmla="*/ 2336 w 4304"/>
                <a:gd name="T67" fmla="*/ 70 h 1865"/>
                <a:gd name="T68" fmla="*/ 2412 w 4304"/>
                <a:gd name="T69" fmla="*/ 132 h 1865"/>
                <a:gd name="T70" fmla="*/ 2462 w 4304"/>
                <a:gd name="T71" fmla="*/ 193 h 1865"/>
                <a:gd name="T72" fmla="*/ 2526 w 4304"/>
                <a:gd name="T73" fmla="*/ 264 h 1865"/>
                <a:gd name="T74" fmla="*/ 2577 w 4304"/>
                <a:gd name="T75" fmla="*/ 343 h 1865"/>
                <a:gd name="T76" fmla="*/ 2640 w 4304"/>
                <a:gd name="T77" fmla="*/ 431 h 1865"/>
                <a:gd name="T78" fmla="*/ 2691 w 4304"/>
                <a:gd name="T79" fmla="*/ 519 h 1865"/>
                <a:gd name="T80" fmla="*/ 2754 w 4304"/>
                <a:gd name="T81" fmla="*/ 607 h 1865"/>
                <a:gd name="T82" fmla="*/ 2805 w 4304"/>
                <a:gd name="T83" fmla="*/ 703 h 1865"/>
                <a:gd name="T84" fmla="*/ 2869 w 4304"/>
                <a:gd name="T85" fmla="*/ 791 h 1865"/>
                <a:gd name="T86" fmla="*/ 2932 w 4304"/>
                <a:gd name="T87" fmla="*/ 879 h 1865"/>
                <a:gd name="T88" fmla="*/ 2983 w 4304"/>
                <a:gd name="T89" fmla="*/ 967 h 1865"/>
                <a:gd name="T90" fmla="*/ 3046 w 4304"/>
                <a:gd name="T91" fmla="*/ 1055 h 1865"/>
                <a:gd name="T92" fmla="*/ 3097 w 4304"/>
                <a:gd name="T93" fmla="*/ 1134 h 1865"/>
                <a:gd name="T94" fmla="*/ 3161 w 4304"/>
                <a:gd name="T95" fmla="*/ 1205 h 1865"/>
                <a:gd name="T96" fmla="*/ 3211 w 4304"/>
                <a:gd name="T97" fmla="*/ 1275 h 1865"/>
                <a:gd name="T98" fmla="*/ 3275 w 4304"/>
                <a:gd name="T99" fmla="*/ 1345 h 1865"/>
                <a:gd name="T100" fmla="*/ 3326 w 4304"/>
                <a:gd name="T101" fmla="*/ 1407 h 1865"/>
                <a:gd name="T102" fmla="*/ 3389 w 4304"/>
                <a:gd name="T103" fmla="*/ 1460 h 1865"/>
                <a:gd name="T104" fmla="*/ 3440 w 4304"/>
                <a:gd name="T105" fmla="*/ 1512 h 1865"/>
                <a:gd name="T106" fmla="*/ 3516 w 4304"/>
                <a:gd name="T107" fmla="*/ 1565 h 1865"/>
                <a:gd name="T108" fmla="*/ 3592 w 4304"/>
                <a:gd name="T109" fmla="*/ 1618 h 1865"/>
                <a:gd name="T110" fmla="*/ 3681 w 4304"/>
                <a:gd name="T111" fmla="*/ 1671 h 1865"/>
                <a:gd name="T112" fmla="*/ 3770 w 4304"/>
                <a:gd name="T113" fmla="*/ 1715 h 1865"/>
                <a:gd name="T114" fmla="*/ 3846 w 4304"/>
                <a:gd name="T115" fmla="*/ 1750 h 1865"/>
                <a:gd name="T116" fmla="*/ 3935 w 4304"/>
                <a:gd name="T117" fmla="*/ 1776 h 1865"/>
                <a:gd name="T118" fmla="*/ 4024 w 4304"/>
                <a:gd name="T119" fmla="*/ 1803 h 1865"/>
                <a:gd name="T120" fmla="*/ 4100 w 4304"/>
                <a:gd name="T121" fmla="*/ 1829 h 1865"/>
                <a:gd name="T122" fmla="*/ 4201 w 4304"/>
                <a:gd name="T123" fmla="*/ 1847 h 1865"/>
                <a:gd name="T124" fmla="*/ 4290 w 4304"/>
                <a:gd name="T125" fmla="*/ 1864 h 1865"/>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4304"/>
                <a:gd name="T190" fmla="*/ 0 h 1865"/>
                <a:gd name="T191" fmla="*/ 4304 w 4304"/>
                <a:gd name="T192" fmla="*/ 1865 h 1865"/>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4304" h="1865">
                  <a:moveTo>
                    <a:pt x="0" y="1864"/>
                  </a:moveTo>
                  <a:lnTo>
                    <a:pt x="13" y="1864"/>
                  </a:lnTo>
                  <a:lnTo>
                    <a:pt x="26" y="1864"/>
                  </a:lnTo>
                  <a:lnTo>
                    <a:pt x="26" y="1855"/>
                  </a:lnTo>
                  <a:lnTo>
                    <a:pt x="38" y="1855"/>
                  </a:lnTo>
                  <a:lnTo>
                    <a:pt x="51" y="1855"/>
                  </a:lnTo>
                  <a:lnTo>
                    <a:pt x="64" y="1855"/>
                  </a:lnTo>
                  <a:lnTo>
                    <a:pt x="76" y="1855"/>
                  </a:lnTo>
                  <a:lnTo>
                    <a:pt x="89" y="1847"/>
                  </a:lnTo>
                  <a:lnTo>
                    <a:pt x="102" y="1847"/>
                  </a:lnTo>
                  <a:lnTo>
                    <a:pt x="114" y="1847"/>
                  </a:lnTo>
                  <a:lnTo>
                    <a:pt x="127" y="1847"/>
                  </a:lnTo>
                  <a:lnTo>
                    <a:pt x="127" y="1838"/>
                  </a:lnTo>
                  <a:lnTo>
                    <a:pt x="140" y="1838"/>
                  </a:lnTo>
                  <a:lnTo>
                    <a:pt x="153" y="1838"/>
                  </a:lnTo>
                  <a:lnTo>
                    <a:pt x="165" y="1838"/>
                  </a:lnTo>
                  <a:lnTo>
                    <a:pt x="178" y="1829"/>
                  </a:lnTo>
                  <a:lnTo>
                    <a:pt x="191" y="1829"/>
                  </a:lnTo>
                  <a:lnTo>
                    <a:pt x="203" y="1829"/>
                  </a:lnTo>
                  <a:lnTo>
                    <a:pt x="216" y="1820"/>
                  </a:lnTo>
                  <a:lnTo>
                    <a:pt x="229" y="1820"/>
                  </a:lnTo>
                  <a:lnTo>
                    <a:pt x="241" y="1820"/>
                  </a:lnTo>
                  <a:lnTo>
                    <a:pt x="254" y="1811"/>
                  </a:lnTo>
                  <a:lnTo>
                    <a:pt x="267" y="1811"/>
                  </a:lnTo>
                  <a:lnTo>
                    <a:pt x="279" y="1811"/>
                  </a:lnTo>
                  <a:lnTo>
                    <a:pt x="292" y="1803"/>
                  </a:lnTo>
                  <a:lnTo>
                    <a:pt x="305" y="1803"/>
                  </a:lnTo>
                  <a:lnTo>
                    <a:pt x="318" y="1794"/>
                  </a:lnTo>
                  <a:lnTo>
                    <a:pt x="330" y="1794"/>
                  </a:lnTo>
                  <a:lnTo>
                    <a:pt x="343" y="1794"/>
                  </a:lnTo>
                  <a:lnTo>
                    <a:pt x="343" y="1785"/>
                  </a:lnTo>
                  <a:lnTo>
                    <a:pt x="356" y="1785"/>
                  </a:lnTo>
                  <a:lnTo>
                    <a:pt x="368" y="1785"/>
                  </a:lnTo>
                  <a:lnTo>
                    <a:pt x="368" y="1776"/>
                  </a:lnTo>
                  <a:lnTo>
                    <a:pt x="381" y="1776"/>
                  </a:lnTo>
                  <a:lnTo>
                    <a:pt x="394" y="1776"/>
                  </a:lnTo>
                  <a:lnTo>
                    <a:pt x="406" y="1767"/>
                  </a:lnTo>
                  <a:lnTo>
                    <a:pt x="419" y="1767"/>
                  </a:lnTo>
                  <a:lnTo>
                    <a:pt x="419" y="1759"/>
                  </a:lnTo>
                  <a:lnTo>
                    <a:pt x="432" y="1759"/>
                  </a:lnTo>
                  <a:lnTo>
                    <a:pt x="444" y="1759"/>
                  </a:lnTo>
                  <a:lnTo>
                    <a:pt x="457" y="1750"/>
                  </a:lnTo>
                  <a:lnTo>
                    <a:pt x="470" y="1750"/>
                  </a:lnTo>
                  <a:lnTo>
                    <a:pt x="470" y="1741"/>
                  </a:lnTo>
                  <a:lnTo>
                    <a:pt x="483" y="1741"/>
                  </a:lnTo>
                  <a:lnTo>
                    <a:pt x="495" y="1732"/>
                  </a:lnTo>
                  <a:lnTo>
                    <a:pt x="508" y="1732"/>
                  </a:lnTo>
                  <a:lnTo>
                    <a:pt x="521" y="1723"/>
                  </a:lnTo>
                  <a:lnTo>
                    <a:pt x="533" y="1723"/>
                  </a:lnTo>
                  <a:lnTo>
                    <a:pt x="533" y="1715"/>
                  </a:lnTo>
                  <a:lnTo>
                    <a:pt x="546" y="1715"/>
                  </a:lnTo>
                  <a:lnTo>
                    <a:pt x="559" y="1706"/>
                  </a:lnTo>
                  <a:lnTo>
                    <a:pt x="571" y="1706"/>
                  </a:lnTo>
                  <a:lnTo>
                    <a:pt x="571" y="1697"/>
                  </a:lnTo>
                  <a:lnTo>
                    <a:pt x="584" y="1697"/>
                  </a:lnTo>
                  <a:lnTo>
                    <a:pt x="584" y="1688"/>
                  </a:lnTo>
                  <a:lnTo>
                    <a:pt x="597" y="1688"/>
                  </a:lnTo>
                  <a:lnTo>
                    <a:pt x="609" y="1680"/>
                  </a:lnTo>
                  <a:lnTo>
                    <a:pt x="622" y="1680"/>
                  </a:lnTo>
                  <a:lnTo>
                    <a:pt x="622" y="1671"/>
                  </a:lnTo>
                  <a:lnTo>
                    <a:pt x="635" y="1671"/>
                  </a:lnTo>
                  <a:lnTo>
                    <a:pt x="635" y="1662"/>
                  </a:lnTo>
                  <a:lnTo>
                    <a:pt x="648" y="1662"/>
                  </a:lnTo>
                  <a:lnTo>
                    <a:pt x="660" y="1653"/>
                  </a:lnTo>
                  <a:lnTo>
                    <a:pt x="673" y="1653"/>
                  </a:lnTo>
                  <a:lnTo>
                    <a:pt x="673" y="1644"/>
                  </a:lnTo>
                  <a:lnTo>
                    <a:pt x="686" y="1644"/>
                  </a:lnTo>
                  <a:lnTo>
                    <a:pt x="686" y="1636"/>
                  </a:lnTo>
                  <a:lnTo>
                    <a:pt x="698" y="1636"/>
                  </a:lnTo>
                  <a:lnTo>
                    <a:pt x="698" y="1627"/>
                  </a:lnTo>
                  <a:lnTo>
                    <a:pt x="711" y="1627"/>
                  </a:lnTo>
                  <a:lnTo>
                    <a:pt x="724" y="1618"/>
                  </a:lnTo>
                  <a:lnTo>
                    <a:pt x="736" y="1609"/>
                  </a:lnTo>
                  <a:lnTo>
                    <a:pt x="749" y="1600"/>
                  </a:lnTo>
                  <a:lnTo>
                    <a:pt x="749" y="1592"/>
                  </a:lnTo>
                  <a:lnTo>
                    <a:pt x="762" y="1592"/>
                  </a:lnTo>
                  <a:lnTo>
                    <a:pt x="762" y="1583"/>
                  </a:lnTo>
                  <a:lnTo>
                    <a:pt x="774" y="1583"/>
                  </a:lnTo>
                  <a:lnTo>
                    <a:pt x="787" y="1574"/>
                  </a:lnTo>
                  <a:lnTo>
                    <a:pt x="800" y="1565"/>
                  </a:lnTo>
                  <a:lnTo>
                    <a:pt x="800" y="1556"/>
                  </a:lnTo>
                  <a:lnTo>
                    <a:pt x="813" y="1556"/>
                  </a:lnTo>
                  <a:lnTo>
                    <a:pt x="813" y="1548"/>
                  </a:lnTo>
                  <a:lnTo>
                    <a:pt x="825" y="1539"/>
                  </a:lnTo>
                  <a:lnTo>
                    <a:pt x="838" y="1539"/>
                  </a:lnTo>
                  <a:lnTo>
                    <a:pt x="838" y="1530"/>
                  </a:lnTo>
                  <a:lnTo>
                    <a:pt x="851" y="1530"/>
                  </a:lnTo>
                  <a:lnTo>
                    <a:pt x="851" y="1521"/>
                  </a:lnTo>
                  <a:lnTo>
                    <a:pt x="863" y="1512"/>
                  </a:lnTo>
                  <a:lnTo>
                    <a:pt x="876" y="1504"/>
                  </a:lnTo>
                  <a:lnTo>
                    <a:pt x="876" y="1495"/>
                  </a:lnTo>
                  <a:lnTo>
                    <a:pt x="889" y="1486"/>
                  </a:lnTo>
                  <a:lnTo>
                    <a:pt x="901" y="1486"/>
                  </a:lnTo>
                  <a:lnTo>
                    <a:pt x="901" y="1477"/>
                  </a:lnTo>
                  <a:lnTo>
                    <a:pt x="914" y="1468"/>
                  </a:lnTo>
                  <a:lnTo>
                    <a:pt x="927" y="1460"/>
                  </a:lnTo>
                  <a:lnTo>
                    <a:pt x="927" y="1451"/>
                  </a:lnTo>
                  <a:lnTo>
                    <a:pt x="939" y="1442"/>
                  </a:lnTo>
                  <a:lnTo>
                    <a:pt x="952" y="1442"/>
                  </a:lnTo>
                  <a:lnTo>
                    <a:pt x="952" y="1433"/>
                  </a:lnTo>
                  <a:lnTo>
                    <a:pt x="965" y="1425"/>
                  </a:lnTo>
                  <a:lnTo>
                    <a:pt x="965" y="1416"/>
                  </a:lnTo>
                  <a:lnTo>
                    <a:pt x="977" y="1407"/>
                  </a:lnTo>
                  <a:lnTo>
                    <a:pt x="990" y="1398"/>
                  </a:lnTo>
                  <a:lnTo>
                    <a:pt x="1003" y="1389"/>
                  </a:lnTo>
                  <a:lnTo>
                    <a:pt x="1003" y="1381"/>
                  </a:lnTo>
                  <a:lnTo>
                    <a:pt x="1016" y="1372"/>
                  </a:lnTo>
                  <a:lnTo>
                    <a:pt x="1016" y="1363"/>
                  </a:lnTo>
                  <a:lnTo>
                    <a:pt x="1028" y="1354"/>
                  </a:lnTo>
                  <a:lnTo>
                    <a:pt x="1041" y="1345"/>
                  </a:lnTo>
                  <a:lnTo>
                    <a:pt x="1041" y="1337"/>
                  </a:lnTo>
                  <a:lnTo>
                    <a:pt x="1054" y="1328"/>
                  </a:lnTo>
                  <a:lnTo>
                    <a:pt x="1066" y="1319"/>
                  </a:lnTo>
                  <a:lnTo>
                    <a:pt x="1066" y="1310"/>
                  </a:lnTo>
                  <a:lnTo>
                    <a:pt x="1079" y="1301"/>
                  </a:lnTo>
                  <a:lnTo>
                    <a:pt x="1079" y="1293"/>
                  </a:lnTo>
                  <a:lnTo>
                    <a:pt x="1092" y="1284"/>
                  </a:lnTo>
                  <a:lnTo>
                    <a:pt x="1092" y="1275"/>
                  </a:lnTo>
                  <a:lnTo>
                    <a:pt x="1104" y="1266"/>
                  </a:lnTo>
                  <a:lnTo>
                    <a:pt x="1117" y="1257"/>
                  </a:lnTo>
                  <a:lnTo>
                    <a:pt x="1117" y="1249"/>
                  </a:lnTo>
                  <a:lnTo>
                    <a:pt x="1130" y="1240"/>
                  </a:lnTo>
                  <a:lnTo>
                    <a:pt x="1130" y="1231"/>
                  </a:lnTo>
                  <a:lnTo>
                    <a:pt x="1142" y="1222"/>
                  </a:lnTo>
                  <a:lnTo>
                    <a:pt x="1142" y="1213"/>
                  </a:lnTo>
                  <a:lnTo>
                    <a:pt x="1155" y="1205"/>
                  </a:lnTo>
                  <a:lnTo>
                    <a:pt x="1168" y="1196"/>
                  </a:lnTo>
                  <a:lnTo>
                    <a:pt x="1168" y="1187"/>
                  </a:lnTo>
                  <a:lnTo>
                    <a:pt x="1181" y="1178"/>
                  </a:lnTo>
                  <a:lnTo>
                    <a:pt x="1181" y="1170"/>
                  </a:lnTo>
                  <a:lnTo>
                    <a:pt x="1193" y="1161"/>
                  </a:lnTo>
                  <a:lnTo>
                    <a:pt x="1193" y="1152"/>
                  </a:lnTo>
                  <a:lnTo>
                    <a:pt x="1206" y="1143"/>
                  </a:lnTo>
                  <a:lnTo>
                    <a:pt x="1206" y="1134"/>
                  </a:lnTo>
                  <a:lnTo>
                    <a:pt x="1219" y="1126"/>
                  </a:lnTo>
                  <a:lnTo>
                    <a:pt x="1231" y="1117"/>
                  </a:lnTo>
                  <a:lnTo>
                    <a:pt x="1231" y="1108"/>
                  </a:lnTo>
                  <a:lnTo>
                    <a:pt x="1244" y="1090"/>
                  </a:lnTo>
                  <a:lnTo>
                    <a:pt x="1244" y="1082"/>
                  </a:lnTo>
                  <a:lnTo>
                    <a:pt x="1257" y="1073"/>
                  </a:lnTo>
                  <a:lnTo>
                    <a:pt x="1257" y="1064"/>
                  </a:lnTo>
                  <a:lnTo>
                    <a:pt x="1269" y="1055"/>
                  </a:lnTo>
                  <a:lnTo>
                    <a:pt x="1282" y="1046"/>
                  </a:lnTo>
                  <a:lnTo>
                    <a:pt x="1282" y="1029"/>
                  </a:lnTo>
                  <a:lnTo>
                    <a:pt x="1295" y="1020"/>
                  </a:lnTo>
                  <a:lnTo>
                    <a:pt x="1295" y="1011"/>
                  </a:lnTo>
                  <a:lnTo>
                    <a:pt x="1307" y="1002"/>
                  </a:lnTo>
                  <a:lnTo>
                    <a:pt x="1307" y="994"/>
                  </a:lnTo>
                  <a:lnTo>
                    <a:pt x="1320" y="985"/>
                  </a:lnTo>
                  <a:lnTo>
                    <a:pt x="1333" y="967"/>
                  </a:lnTo>
                  <a:lnTo>
                    <a:pt x="1333" y="958"/>
                  </a:lnTo>
                  <a:lnTo>
                    <a:pt x="1346" y="950"/>
                  </a:lnTo>
                  <a:lnTo>
                    <a:pt x="1346" y="941"/>
                  </a:lnTo>
                  <a:lnTo>
                    <a:pt x="1358" y="923"/>
                  </a:lnTo>
                  <a:lnTo>
                    <a:pt x="1358" y="915"/>
                  </a:lnTo>
                  <a:lnTo>
                    <a:pt x="1371" y="906"/>
                  </a:lnTo>
                  <a:lnTo>
                    <a:pt x="1371" y="897"/>
                  </a:lnTo>
                  <a:lnTo>
                    <a:pt x="1384" y="879"/>
                  </a:lnTo>
                  <a:lnTo>
                    <a:pt x="1396" y="871"/>
                  </a:lnTo>
                  <a:lnTo>
                    <a:pt x="1396" y="862"/>
                  </a:lnTo>
                  <a:lnTo>
                    <a:pt x="1409" y="853"/>
                  </a:lnTo>
                  <a:lnTo>
                    <a:pt x="1409" y="835"/>
                  </a:lnTo>
                  <a:lnTo>
                    <a:pt x="1422" y="827"/>
                  </a:lnTo>
                  <a:lnTo>
                    <a:pt x="1422" y="818"/>
                  </a:lnTo>
                  <a:lnTo>
                    <a:pt x="1434" y="800"/>
                  </a:lnTo>
                  <a:lnTo>
                    <a:pt x="1447" y="791"/>
                  </a:lnTo>
                  <a:lnTo>
                    <a:pt x="1447" y="783"/>
                  </a:lnTo>
                  <a:lnTo>
                    <a:pt x="1460" y="774"/>
                  </a:lnTo>
                  <a:lnTo>
                    <a:pt x="1460" y="756"/>
                  </a:lnTo>
                  <a:lnTo>
                    <a:pt x="1472" y="747"/>
                  </a:lnTo>
                  <a:lnTo>
                    <a:pt x="1472" y="739"/>
                  </a:lnTo>
                  <a:lnTo>
                    <a:pt x="1485" y="721"/>
                  </a:lnTo>
                  <a:lnTo>
                    <a:pt x="1498" y="712"/>
                  </a:lnTo>
                  <a:lnTo>
                    <a:pt x="1498" y="703"/>
                  </a:lnTo>
                  <a:lnTo>
                    <a:pt x="1511" y="686"/>
                  </a:lnTo>
                  <a:lnTo>
                    <a:pt x="1511" y="677"/>
                  </a:lnTo>
                  <a:lnTo>
                    <a:pt x="1523" y="668"/>
                  </a:lnTo>
                  <a:lnTo>
                    <a:pt x="1523" y="651"/>
                  </a:lnTo>
                  <a:lnTo>
                    <a:pt x="1536" y="642"/>
                  </a:lnTo>
                  <a:lnTo>
                    <a:pt x="1536" y="633"/>
                  </a:lnTo>
                  <a:lnTo>
                    <a:pt x="1549" y="624"/>
                  </a:lnTo>
                  <a:lnTo>
                    <a:pt x="1561" y="607"/>
                  </a:lnTo>
                  <a:lnTo>
                    <a:pt x="1561" y="598"/>
                  </a:lnTo>
                  <a:lnTo>
                    <a:pt x="1574" y="589"/>
                  </a:lnTo>
                  <a:lnTo>
                    <a:pt x="1574" y="572"/>
                  </a:lnTo>
                  <a:lnTo>
                    <a:pt x="1587" y="563"/>
                  </a:lnTo>
                  <a:lnTo>
                    <a:pt x="1587" y="554"/>
                  </a:lnTo>
                  <a:lnTo>
                    <a:pt x="1599" y="536"/>
                  </a:lnTo>
                  <a:lnTo>
                    <a:pt x="1612" y="528"/>
                  </a:lnTo>
                  <a:lnTo>
                    <a:pt x="1612" y="519"/>
                  </a:lnTo>
                  <a:lnTo>
                    <a:pt x="1625" y="510"/>
                  </a:lnTo>
                  <a:lnTo>
                    <a:pt x="1625" y="492"/>
                  </a:lnTo>
                  <a:lnTo>
                    <a:pt x="1637" y="484"/>
                  </a:lnTo>
                  <a:lnTo>
                    <a:pt x="1637" y="475"/>
                  </a:lnTo>
                  <a:lnTo>
                    <a:pt x="1650" y="457"/>
                  </a:lnTo>
                  <a:lnTo>
                    <a:pt x="1663" y="448"/>
                  </a:lnTo>
                  <a:lnTo>
                    <a:pt x="1663" y="440"/>
                  </a:lnTo>
                  <a:lnTo>
                    <a:pt x="1676" y="431"/>
                  </a:lnTo>
                  <a:lnTo>
                    <a:pt x="1676" y="413"/>
                  </a:lnTo>
                  <a:lnTo>
                    <a:pt x="1688" y="405"/>
                  </a:lnTo>
                  <a:lnTo>
                    <a:pt x="1688" y="396"/>
                  </a:lnTo>
                  <a:lnTo>
                    <a:pt x="1701" y="387"/>
                  </a:lnTo>
                  <a:lnTo>
                    <a:pt x="1701" y="378"/>
                  </a:lnTo>
                  <a:lnTo>
                    <a:pt x="1714" y="361"/>
                  </a:lnTo>
                  <a:lnTo>
                    <a:pt x="1726" y="352"/>
                  </a:lnTo>
                  <a:lnTo>
                    <a:pt x="1726" y="343"/>
                  </a:lnTo>
                  <a:lnTo>
                    <a:pt x="1739" y="334"/>
                  </a:lnTo>
                  <a:lnTo>
                    <a:pt x="1739" y="325"/>
                  </a:lnTo>
                  <a:lnTo>
                    <a:pt x="1752" y="317"/>
                  </a:lnTo>
                  <a:lnTo>
                    <a:pt x="1752" y="299"/>
                  </a:lnTo>
                  <a:lnTo>
                    <a:pt x="1764" y="290"/>
                  </a:lnTo>
                  <a:lnTo>
                    <a:pt x="1777" y="281"/>
                  </a:lnTo>
                  <a:lnTo>
                    <a:pt x="1777" y="273"/>
                  </a:lnTo>
                  <a:lnTo>
                    <a:pt x="1790" y="264"/>
                  </a:lnTo>
                  <a:lnTo>
                    <a:pt x="1790" y="255"/>
                  </a:lnTo>
                  <a:lnTo>
                    <a:pt x="1802" y="246"/>
                  </a:lnTo>
                  <a:lnTo>
                    <a:pt x="1802" y="237"/>
                  </a:lnTo>
                  <a:lnTo>
                    <a:pt x="1815" y="229"/>
                  </a:lnTo>
                  <a:lnTo>
                    <a:pt x="1828" y="220"/>
                  </a:lnTo>
                  <a:lnTo>
                    <a:pt x="1828" y="211"/>
                  </a:lnTo>
                  <a:lnTo>
                    <a:pt x="1841" y="202"/>
                  </a:lnTo>
                  <a:lnTo>
                    <a:pt x="1841" y="193"/>
                  </a:lnTo>
                  <a:lnTo>
                    <a:pt x="1853" y="185"/>
                  </a:lnTo>
                  <a:lnTo>
                    <a:pt x="1853" y="176"/>
                  </a:lnTo>
                  <a:lnTo>
                    <a:pt x="1866" y="167"/>
                  </a:lnTo>
                  <a:lnTo>
                    <a:pt x="1866" y="158"/>
                  </a:lnTo>
                  <a:lnTo>
                    <a:pt x="1879" y="150"/>
                  </a:lnTo>
                  <a:lnTo>
                    <a:pt x="1891" y="141"/>
                  </a:lnTo>
                  <a:lnTo>
                    <a:pt x="1904" y="132"/>
                  </a:lnTo>
                  <a:lnTo>
                    <a:pt x="1904" y="123"/>
                  </a:lnTo>
                  <a:lnTo>
                    <a:pt x="1917" y="114"/>
                  </a:lnTo>
                  <a:lnTo>
                    <a:pt x="1917" y="106"/>
                  </a:lnTo>
                  <a:lnTo>
                    <a:pt x="1929" y="106"/>
                  </a:lnTo>
                  <a:lnTo>
                    <a:pt x="1942" y="97"/>
                  </a:lnTo>
                  <a:lnTo>
                    <a:pt x="1942" y="88"/>
                  </a:lnTo>
                  <a:lnTo>
                    <a:pt x="1955" y="88"/>
                  </a:lnTo>
                  <a:lnTo>
                    <a:pt x="1955" y="79"/>
                  </a:lnTo>
                  <a:lnTo>
                    <a:pt x="1967" y="70"/>
                  </a:lnTo>
                  <a:lnTo>
                    <a:pt x="1980" y="62"/>
                  </a:lnTo>
                  <a:lnTo>
                    <a:pt x="1993" y="53"/>
                  </a:lnTo>
                  <a:lnTo>
                    <a:pt x="2006" y="44"/>
                  </a:lnTo>
                  <a:lnTo>
                    <a:pt x="2018" y="35"/>
                  </a:lnTo>
                  <a:lnTo>
                    <a:pt x="2031" y="26"/>
                  </a:lnTo>
                  <a:lnTo>
                    <a:pt x="2044" y="26"/>
                  </a:lnTo>
                  <a:lnTo>
                    <a:pt x="2056" y="18"/>
                  </a:lnTo>
                  <a:lnTo>
                    <a:pt x="2069" y="18"/>
                  </a:lnTo>
                  <a:lnTo>
                    <a:pt x="2069" y="9"/>
                  </a:lnTo>
                  <a:lnTo>
                    <a:pt x="2082" y="9"/>
                  </a:lnTo>
                  <a:lnTo>
                    <a:pt x="2094" y="9"/>
                  </a:lnTo>
                  <a:lnTo>
                    <a:pt x="2107" y="0"/>
                  </a:lnTo>
                  <a:lnTo>
                    <a:pt x="2120" y="0"/>
                  </a:lnTo>
                  <a:lnTo>
                    <a:pt x="2132" y="0"/>
                  </a:lnTo>
                  <a:lnTo>
                    <a:pt x="2145" y="0"/>
                  </a:lnTo>
                  <a:lnTo>
                    <a:pt x="2158" y="0"/>
                  </a:lnTo>
                  <a:lnTo>
                    <a:pt x="2171" y="0"/>
                  </a:lnTo>
                  <a:lnTo>
                    <a:pt x="2183" y="0"/>
                  </a:lnTo>
                  <a:lnTo>
                    <a:pt x="2196" y="0"/>
                  </a:lnTo>
                  <a:lnTo>
                    <a:pt x="2209" y="0"/>
                  </a:lnTo>
                  <a:lnTo>
                    <a:pt x="2221" y="9"/>
                  </a:lnTo>
                  <a:lnTo>
                    <a:pt x="2234" y="9"/>
                  </a:lnTo>
                  <a:lnTo>
                    <a:pt x="2247" y="18"/>
                  </a:lnTo>
                  <a:lnTo>
                    <a:pt x="2259" y="18"/>
                  </a:lnTo>
                  <a:lnTo>
                    <a:pt x="2272" y="26"/>
                  </a:lnTo>
                  <a:lnTo>
                    <a:pt x="2285" y="26"/>
                  </a:lnTo>
                  <a:lnTo>
                    <a:pt x="2285" y="35"/>
                  </a:lnTo>
                  <a:lnTo>
                    <a:pt x="2297" y="35"/>
                  </a:lnTo>
                  <a:lnTo>
                    <a:pt x="2297" y="44"/>
                  </a:lnTo>
                  <a:lnTo>
                    <a:pt x="2310" y="44"/>
                  </a:lnTo>
                  <a:lnTo>
                    <a:pt x="2310" y="53"/>
                  </a:lnTo>
                  <a:lnTo>
                    <a:pt x="2323" y="53"/>
                  </a:lnTo>
                  <a:lnTo>
                    <a:pt x="2336" y="62"/>
                  </a:lnTo>
                  <a:lnTo>
                    <a:pt x="2336" y="70"/>
                  </a:lnTo>
                  <a:lnTo>
                    <a:pt x="2348" y="70"/>
                  </a:lnTo>
                  <a:lnTo>
                    <a:pt x="2348" y="79"/>
                  </a:lnTo>
                  <a:lnTo>
                    <a:pt x="2361" y="88"/>
                  </a:lnTo>
                  <a:lnTo>
                    <a:pt x="2374" y="97"/>
                  </a:lnTo>
                  <a:lnTo>
                    <a:pt x="2386" y="106"/>
                  </a:lnTo>
                  <a:lnTo>
                    <a:pt x="2399" y="114"/>
                  </a:lnTo>
                  <a:lnTo>
                    <a:pt x="2399" y="123"/>
                  </a:lnTo>
                  <a:lnTo>
                    <a:pt x="2412" y="132"/>
                  </a:lnTo>
                  <a:lnTo>
                    <a:pt x="2412" y="141"/>
                  </a:lnTo>
                  <a:lnTo>
                    <a:pt x="2424" y="141"/>
                  </a:lnTo>
                  <a:lnTo>
                    <a:pt x="2437" y="150"/>
                  </a:lnTo>
                  <a:lnTo>
                    <a:pt x="2437" y="158"/>
                  </a:lnTo>
                  <a:lnTo>
                    <a:pt x="2450" y="167"/>
                  </a:lnTo>
                  <a:lnTo>
                    <a:pt x="2450" y="176"/>
                  </a:lnTo>
                  <a:lnTo>
                    <a:pt x="2462" y="185"/>
                  </a:lnTo>
                  <a:lnTo>
                    <a:pt x="2462" y="193"/>
                  </a:lnTo>
                  <a:lnTo>
                    <a:pt x="2475" y="202"/>
                  </a:lnTo>
                  <a:lnTo>
                    <a:pt x="2475" y="211"/>
                  </a:lnTo>
                  <a:lnTo>
                    <a:pt x="2488" y="220"/>
                  </a:lnTo>
                  <a:lnTo>
                    <a:pt x="2501" y="229"/>
                  </a:lnTo>
                  <a:lnTo>
                    <a:pt x="2501" y="237"/>
                  </a:lnTo>
                  <a:lnTo>
                    <a:pt x="2513" y="246"/>
                  </a:lnTo>
                  <a:lnTo>
                    <a:pt x="2513" y="255"/>
                  </a:lnTo>
                  <a:lnTo>
                    <a:pt x="2526" y="264"/>
                  </a:lnTo>
                  <a:lnTo>
                    <a:pt x="2526" y="273"/>
                  </a:lnTo>
                  <a:lnTo>
                    <a:pt x="2539" y="281"/>
                  </a:lnTo>
                  <a:lnTo>
                    <a:pt x="2551" y="290"/>
                  </a:lnTo>
                  <a:lnTo>
                    <a:pt x="2551" y="299"/>
                  </a:lnTo>
                  <a:lnTo>
                    <a:pt x="2564" y="317"/>
                  </a:lnTo>
                  <a:lnTo>
                    <a:pt x="2564" y="325"/>
                  </a:lnTo>
                  <a:lnTo>
                    <a:pt x="2577" y="334"/>
                  </a:lnTo>
                  <a:lnTo>
                    <a:pt x="2577" y="343"/>
                  </a:lnTo>
                  <a:lnTo>
                    <a:pt x="2589" y="352"/>
                  </a:lnTo>
                  <a:lnTo>
                    <a:pt x="2602" y="361"/>
                  </a:lnTo>
                  <a:lnTo>
                    <a:pt x="2602" y="378"/>
                  </a:lnTo>
                  <a:lnTo>
                    <a:pt x="2615" y="387"/>
                  </a:lnTo>
                  <a:lnTo>
                    <a:pt x="2615" y="396"/>
                  </a:lnTo>
                  <a:lnTo>
                    <a:pt x="2627" y="405"/>
                  </a:lnTo>
                  <a:lnTo>
                    <a:pt x="2627" y="413"/>
                  </a:lnTo>
                  <a:lnTo>
                    <a:pt x="2640" y="431"/>
                  </a:lnTo>
                  <a:lnTo>
                    <a:pt x="2640" y="440"/>
                  </a:lnTo>
                  <a:lnTo>
                    <a:pt x="2653" y="448"/>
                  </a:lnTo>
                  <a:lnTo>
                    <a:pt x="2666" y="457"/>
                  </a:lnTo>
                  <a:lnTo>
                    <a:pt x="2666" y="475"/>
                  </a:lnTo>
                  <a:lnTo>
                    <a:pt x="2678" y="484"/>
                  </a:lnTo>
                  <a:lnTo>
                    <a:pt x="2678" y="492"/>
                  </a:lnTo>
                  <a:lnTo>
                    <a:pt x="2691" y="510"/>
                  </a:lnTo>
                  <a:lnTo>
                    <a:pt x="2691" y="519"/>
                  </a:lnTo>
                  <a:lnTo>
                    <a:pt x="2704" y="528"/>
                  </a:lnTo>
                  <a:lnTo>
                    <a:pt x="2716" y="536"/>
                  </a:lnTo>
                  <a:lnTo>
                    <a:pt x="2716" y="554"/>
                  </a:lnTo>
                  <a:lnTo>
                    <a:pt x="2729" y="563"/>
                  </a:lnTo>
                  <a:lnTo>
                    <a:pt x="2729" y="572"/>
                  </a:lnTo>
                  <a:lnTo>
                    <a:pt x="2742" y="589"/>
                  </a:lnTo>
                  <a:lnTo>
                    <a:pt x="2742" y="598"/>
                  </a:lnTo>
                  <a:lnTo>
                    <a:pt x="2754" y="607"/>
                  </a:lnTo>
                  <a:lnTo>
                    <a:pt x="2767" y="624"/>
                  </a:lnTo>
                  <a:lnTo>
                    <a:pt x="2767" y="633"/>
                  </a:lnTo>
                  <a:lnTo>
                    <a:pt x="2780" y="642"/>
                  </a:lnTo>
                  <a:lnTo>
                    <a:pt x="2780" y="651"/>
                  </a:lnTo>
                  <a:lnTo>
                    <a:pt x="2792" y="668"/>
                  </a:lnTo>
                  <a:lnTo>
                    <a:pt x="2792" y="677"/>
                  </a:lnTo>
                  <a:lnTo>
                    <a:pt x="2805" y="686"/>
                  </a:lnTo>
                  <a:lnTo>
                    <a:pt x="2805" y="703"/>
                  </a:lnTo>
                  <a:lnTo>
                    <a:pt x="2818" y="712"/>
                  </a:lnTo>
                  <a:lnTo>
                    <a:pt x="2831" y="721"/>
                  </a:lnTo>
                  <a:lnTo>
                    <a:pt x="2831" y="739"/>
                  </a:lnTo>
                  <a:lnTo>
                    <a:pt x="2843" y="747"/>
                  </a:lnTo>
                  <a:lnTo>
                    <a:pt x="2843" y="756"/>
                  </a:lnTo>
                  <a:lnTo>
                    <a:pt x="2856" y="774"/>
                  </a:lnTo>
                  <a:lnTo>
                    <a:pt x="2856" y="783"/>
                  </a:lnTo>
                  <a:lnTo>
                    <a:pt x="2869" y="791"/>
                  </a:lnTo>
                  <a:lnTo>
                    <a:pt x="2881" y="800"/>
                  </a:lnTo>
                  <a:lnTo>
                    <a:pt x="2881" y="818"/>
                  </a:lnTo>
                  <a:lnTo>
                    <a:pt x="2894" y="827"/>
                  </a:lnTo>
                  <a:lnTo>
                    <a:pt x="2894" y="835"/>
                  </a:lnTo>
                  <a:lnTo>
                    <a:pt x="2907" y="853"/>
                  </a:lnTo>
                  <a:lnTo>
                    <a:pt x="2907" y="862"/>
                  </a:lnTo>
                  <a:lnTo>
                    <a:pt x="2919" y="871"/>
                  </a:lnTo>
                  <a:lnTo>
                    <a:pt x="2932" y="879"/>
                  </a:lnTo>
                  <a:lnTo>
                    <a:pt x="2932" y="897"/>
                  </a:lnTo>
                  <a:lnTo>
                    <a:pt x="2945" y="906"/>
                  </a:lnTo>
                  <a:lnTo>
                    <a:pt x="2945" y="915"/>
                  </a:lnTo>
                  <a:lnTo>
                    <a:pt x="2957" y="923"/>
                  </a:lnTo>
                  <a:lnTo>
                    <a:pt x="2957" y="941"/>
                  </a:lnTo>
                  <a:lnTo>
                    <a:pt x="2970" y="950"/>
                  </a:lnTo>
                  <a:lnTo>
                    <a:pt x="2970" y="958"/>
                  </a:lnTo>
                  <a:lnTo>
                    <a:pt x="2983" y="967"/>
                  </a:lnTo>
                  <a:lnTo>
                    <a:pt x="2996" y="985"/>
                  </a:lnTo>
                  <a:lnTo>
                    <a:pt x="2996" y="994"/>
                  </a:lnTo>
                  <a:lnTo>
                    <a:pt x="3008" y="1002"/>
                  </a:lnTo>
                  <a:lnTo>
                    <a:pt x="3008" y="1011"/>
                  </a:lnTo>
                  <a:lnTo>
                    <a:pt x="3021" y="1020"/>
                  </a:lnTo>
                  <a:lnTo>
                    <a:pt x="3021" y="1029"/>
                  </a:lnTo>
                  <a:lnTo>
                    <a:pt x="3034" y="1046"/>
                  </a:lnTo>
                  <a:lnTo>
                    <a:pt x="3046" y="1055"/>
                  </a:lnTo>
                  <a:lnTo>
                    <a:pt x="3046" y="1064"/>
                  </a:lnTo>
                  <a:lnTo>
                    <a:pt x="3059" y="1073"/>
                  </a:lnTo>
                  <a:lnTo>
                    <a:pt x="3059" y="1082"/>
                  </a:lnTo>
                  <a:lnTo>
                    <a:pt x="3072" y="1090"/>
                  </a:lnTo>
                  <a:lnTo>
                    <a:pt x="3072" y="1108"/>
                  </a:lnTo>
                  <a:lnTo>
                    <a:pt x="3084" y="1117"/>
                  </a:lnTo>
                  <a:lnTo>
                    <a:pt x="3097" y="1126"/>
                  </a:lnTo>
                  <a:lnTo>
                    <a:pt x="3097" y="1134"/>
                  </a:lnTo>
                  <a:lnTo>
                    <a:pt x="3110" y="1143"/>
                  </a:lnTo>
                  <a:lnTo>
                    <a:pt x="3110" y="1152"/>
                  </a:lnTo>
                  <a:lnTo>
                    <a:pt x="3122" y="1161"/>
                  </a:lnTo>
                  <a:lnTo>
                    <a:pt x="3122" y="1170"/>
                  </a:lnTo>
                  <a:lnTo>
                    <a:pt x="3135" y="1178"/>
                  </a:lnTo>
                  <a:lnTo>
                    <a:pt x="3135" y="1187"/>
                  </a:lnTo>
                  <a:lnTo>
                    <a:pt x="3148" y="1196"/>
                  </a:lnTo>
                  <a:lnTo>
                    <a:pt x="3161" y="1205"/>
                  </a:lnTo>
                  <a:lnTo>
                    <a:pt x="3161" y="1213"/>
                  </a:lnTo>
                  <a:lnTo>
                    <a:pt x="3173" y="1222"/>
                  </a:lnTo>
                  <a:lnTo>
                    <a:pt x="3173" y="1231"/>
                  </a:lnTo>
                  <a:lnTo>
                    <a:pt x="3186" y="1240"/>
                  </a:lnTo>
                  <a:lnTo>
                    <a:pt x="3186" y="1249"/>
                  </a:lnTo>
                  <a:lnTo>
                    <a:pt x="3199" y="1257"/>
                  </a:lnTo>
                  <a:lnTo>
                    <a:pt x="3211" y="1266"/>
                  </a:lnTo>
                  <a:lnTo>
                    <a:pt x="3211" y="1275"/>
                  </a:lnTo>
                  <a:lnTo>
                    <a:pt x="3224" y="1284"/>
                  </a:lnTo>
                  <a:lnTo>
                    <a:pt x="3224" y="1293"/>
                  </a:lnTo>
                  <a:lnTo>
                    <a:pt x="3237" y="1301"/>
                  </a:lnTo>
                  <a:lnTo>
                    <a:pt x="3237" y="1310"/>
                  </a:lnTo>
                  <a:lnTo>
                    <a:pt x="3249" y="1319"/>
                  </a:lnTo>
                  <a:lnTo>
                    <a:pt x="3262" y="1328"/>
                  </a:lnTo>
                  <a:lnTo>
                    <a:pt x="3262" y="1337"/>
                  </a:lnTo>
                  <a:lnTo>
                    <a:pt x="3275" y="1345"/>
                  </a:lnTo>
                  <a:lnTo>
                    <a:pt x="3275" y="1354"/>
                  </a:lnTo>
                  <a:lnTo>
                    <a:pt x="3287" y="1354"/>
                  </a:lnTo>
                  <a:lnTo>
                    <a:pt x="3287" y="1363"/>
                  </a:lnTo>
                  <a:lnTo>
                    <a:pt x="3300" y="1372"/>
                  </a:lnTo>
                  <a:lnTo>
                    <a:pt x="3300" y="1381"/>
                  </a:lnTo>
                  <a:lnTo>
                    <a:pt x="3313" y="1389"/>
                  </a:lnTo>
                  <a:lnTo>
                    <a:pt x="3326" y="1398"/>
                  </a:lnTo>
                  <a:lnTo>
                    <a:pt x="3326" y="1407"/>
                  </a:lnTo>
                  <a:lnTo>
                    <a:pt x="3338" y="1407"/>
                  </a:lnTo>
                  <a:lnTo>
                    <a:pt x="3338" y="1416"/>
                  </a:lnTo>
                  <a:lnTo>
                    <a:pt x="3351" y="1425"/>
                  </a:lnTo>
                  <a:lnTo>
                    <a:pt x="3351" y="1433"/>
                  </a:lnTo>
                  <a:lnTo>
                    <a:pt x="3364" y="1442"/>
                  </a:lnTo>
                  <a:lnTo>
                    <a:pt x="3376" y="1442"/>
                  </a:lnTo>
                  <a:lnTo>
                    <a:pt x="3376" y="1451"/>
                  </a:lnTo>
                  <a:lnTo>
                    <a:pt x="3389" y="1460"/>
                  </a:lnTo>
                  <a:lnTo>
                    <a:pt x="3389" y="1468"/>
                  </a:lnTo>
                  <a:lnTo>
                    <a:pt x="3402" y="1468"/>
                  </a:lnTo>
                  <a:lnTo>
                    <a:pt x="3402" y="1477"/>
                  </a:lnTo>
                  <a:lnTo>
                    <a:pt x="3414" y="1486"/>
                  </a:lnTo>
                  <a:lnTo>
                    <a:pt x="3427" y="1486"/>
                  </a:lnTo>
                  <a:lnTo>
                    <a:pt x="3427" y="1495"/>
                  </a:lnTo>
                  <a:lnTo>
                    <a:pt x="3440" y="1504"/>
                  </a:lnTo>
                  <a:lnTo>
                    <a:pt x="3440" y="1512"/>
                  </a:lnTo>
                  <a:lnTo>
                    <a:pt x="3452" y="1512"/>
                  </a:lnTo>
                  <a:lnTo>
                    <a:pt x="3452" y="1521"/>
                  </a:lnTo>
                  <a:lnTo>
                    <a:pt x="3465" y="1530"/>
                  </a:lnTo>
                  <a:lnTo>
                    <a:pt x="3478" y="1539"/>
                  </a:lnTo>
                  <a:lnTo>
                    <a:pt x="3490" y="1539"/>
                  </a:lnTo>
                  <a:lnTo>
                    <a:pt x="3490" y="1548"/>
                  </a:lnTo>
                  <a:lnTo>
                    <a:pt x="3503" y="1556"/>
                  </a:lnTo>
                  <a:lnTo>
                    <a:pt x="3516" y="1565"/>
                  </a:lnTo>
                  <a:lnTo>
                    <a:pt x="3516" y="1574"/>
                  </a:lnTo>
                  <a:lnTo>
                    <a:pt x="3529" y="1574"/>
                  </a:lnTo>
                  <a:lnTo>
                    <a:pt x="3541" y="1583"/>
                  </a:lnTo>
                  <a:lnTo>
                    <a:pt x="3554" y="1592"/>
                  </a:lnTo>
                  <a:lnTo>
                    <a:pt x="3567" y="1600"/>
                  </a:lnTo>
                  <a:lnTo>
                    <a:pt x="3567" y="1609"/>
                  </a:lnTo>
                  <a:lnTo>
                    <a:pt x="3579" y="1609"/>
                  </a:lnTo>
                  <a:lnTo>
                    <a:pt x="3592" y="1618"/>
                  </a:lnTo>
                  <a:lnTo>
                    <a:pt x="3605" y="1627"/>
                  </a:lnTo>
                  <a:lnTo>
                    <a:pt x="3617" y="1636"/>
                  </a:lnTo>
                  <a:lnTo>
                    <a:pt x="3630" y="1644"/>
                  </a:lnTo>
                  <a:lnTo>
                    <a:pt x="3643" y="1653"/>
                  </a:lnTo>
                  <a:lnTo>
                    <a:pt x="3655" y="1653"/>
                  </a:lnTo>
                  <a:lnTo>
                    <a:pt x="3655" y="1662"/>
                  </a:lnTo>
                  <a:lnTo>
                    <a:pt x="3668" y="1662"/>
                  </a:lnTo>
                  <a:lnTo>
                    <a:pt x="3681" y="1671"/>
                  </a:lnTo>
                  <a:lnTo>
                    <a:pt x="3694" y="1680"/>
                  </a:lnTo>
                  <a:lnTo>
                    <a:pt x="3706" y="1680"/>
                  </a:lnTo>
                  <a:lnTo>
                    <a:pt x="3706" y="1688"/>
                  </a:lnTo>
                  <a:lnTo>
                    <a:pt x="3719" y="1688"/>
                  </a:lnTo>
                  <a:lnTo>
                    <a:pt x="3732" y="1697"/>
                  </a:lnTo>
                  <a:lnTo>
                    <a:pt x="3744" y="1706"/>
                  </a:lnTo>
                  <a:lnTo>
                    <a:pt x="3757" y="1706"/>
                  </a:lnTo>
                  <a:lnTo>
                    <a:pt x="3770" y="1715"/>
                  </a:lnTo>
                  <a:lnTo>
                    <a:pt x="3782" y="1723"/>
                  </a:lnTo>
                  <a:lnTo>
                    <a:pt x="3795" y="1723"/>
                  </a:lnTo>
                  <a:lnTo>
                    <a:pt x="3795" y="1732"/>
                  </a:lnTo>
                  <a:lnTo>
                    <a:pt x="3808" y="1732"/>
                  </a:lnTo>
                  <a:lnTo>
                    <a:pt x="3820" y="1732"/>
                  </a:lnTo>
                  <a:lnTo>
                    <a:pt x="3820" y="1741"/>
                  </a:lnTo>
                  <a:lnTo>
                    <a:pt x="3833" y="1741"/>
                  </a:lnTo>
                  <a:lnTo>
                    <a:pt x="3846" y="1750"/>
                  </a:lnTo>
                  <a:lnTo>
                    <a:pt x="3859" y="1750"/>
                  </a:lnTo>
                  <a:lnTo>
                    <a:pt x="3871" y="1759"/>
                  </a:lnTo>
                  <a:lnTo>
                    <a:pt x="3884" y="1759"/>
                  </a:lnTo>
                  <a:lnTo>
                    <a:pt x="3897" y="1767"/>
                  </a:lnTo>
                  <a:lnTo>
                    <a:pt x="3909" y="1767"/>
                  </a:lnTo>
                  <a:lnTo>
                    <a:pt x="3909" y="1776"/>
                  </a:lnTo>
                  <a:lnTo>
                    <a:pt x="3922" y="1776"/>
                  </a:lnTo>
                  <a:lnTo>
                    <a:pt x="3935" y="1776"/>
                  </a:lnTo>
                  <a:lnTo>
                    <a:pt x="3947" y="1785"/>
                  </a:lnTo>
                  <a:lnTo>
                    <a:pt x="3960" y="1785"/>
                  </a:lnTo>
                  <a:lnTo>
                    <a:pt x="3973" y="1794"/>
                  </a:lnTo>
                  <a:lnTo>
                    <a:pt x="3985" y="1794"/>
                  </a:lnTo>
                  <a:lnTo>
                    <a:pt x="3998" y="1794"/>
                  </a:lnTo>
                  <a:lnTo>
                    <a:pt x="3998" y="1803"/>
                  </a:lnTo>
                  <a:lnTo>
                    <a:pt x="4011" y="1803"/>
                  </a:lnTo>
                  <a:lnTo>
                    <a:pt x="4024" y="1803"/>
                  </a:lnTo>
                  <a:lnTo>
                    <a:pt x="4036" y="1811"/>
                  </a:lnTo>
                  <a:lnTo>
                    <a:pt x="4049" y="1811"/>
                  </a:lnTo>
                  <a:lnTo>
                    <a:pt x="4062" y="1811"/>
                  </a:lnTo>
                  <a:lnTo>
                    <a:pt x="4062" y="1820"/>
                  </a:lnTo>
                  <a:lnTo>
                    <a:pt x="4074" y="1820"/>
                  </a:lnTo>
                  <a:lnTo>
                    <a:pt x="4087" y="1820"/>
                  </a:lnTo>
                  <a:lnTo>
                    <a:pt x="4100" y="1820"/>
                  </a:lnTo>
                  <a:lnTo>
                    <a:pt x="4100" y="1829"/>
                  </a:lnTo>
                  <a:lnTo>
                    <a:pt x="4112" y="1829"/>
                  </a:lnTo>
                  <a:lnTo>
                    <a:pt x="4125" y="1829"/>
                  </a:lnTo>
                  <a:lnTo>
                    <a:pt x="4138" y="1829"/>
                  </a:lnTo>
                  <a:lnTo>
                    <a:pt x="4150" y="1838"/>
                  </a:lnTo>
                  <a:lnTo>
                    <a:pt x="4163" y="1838"/>
                  </a:lnTo>
                  <a:lnTo>
                    <a:pt x="4176" y="1838"/>
                  </a:lnTo>
                  <a:lnTo>
                    <a:pt x="4189" y="1847"/>
                  </a:lnTo>
                  <a:lnTo>
                    <a:pt x="4201" y="1847"/>
                  </a:lnTo>
                  <a:lnTo>
                    <a:pt x="4214" y="1847"/>
                  </a:lnTo>
                  <a:lnTo>
                    <a:pt x="4227" y="1847"/>
                  </a:lnTo>
                  <a:lnTo>
                    <a:pt x="4227" y="1855"/>
                  </a:lnTo>
                  <a:lnTo>
                    <a:pt x="4239" y="1855"/>
                  </a:lnTo>
                  <a:lnTo>
                    <a:pt x="4252" y="1855"/>
                  </a:lnTo>
                  <a:lnTo>
                    <a:pt x="4265" y="1855"/>
                  </a:lnTo>
                  <a:lnTo>
                    <a:pt x="4277" y="1855"/>
                  </a:lnTo>
                  <a:lnTo>
                    <a:pt x="4290" y="1864"/>
                  </a:lnTo>
                  <a:lnTo>
                    <a:pt x="4303" y="1864"/>
                  </a:lnTo>
                </a:path>
              </a:pathLst>
            </a:custGeom>
            <a:noFill/>
            <a:ln w="50800" cap="rnd">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13315" name="Group 40"/>
          <p:cNvGrpSpPr>
            <a:grpSpLocks/>
          </p:cNvGrpSpPr>
          <p:nvPr/>
        </p:nvGrpSpPr>
        <p:grpSpPr bwMode="auto">
          <a:xfrm>
            <a:off x="7580313" y="4760913"/>
            <a:ext cx="750887" cy="833437"/>
            <a:chOff x="4775" y="2999"/>
            <a:chExt cx="473" cy="525"/>
          </a:xfrm>
        </p:grpSpPr>
        <p:sp>
          <p:nvSpPr>
            <p:cNvPr id="13326" name="Rectangle 41"/>
            <p:cNvSpPr>
              <a:spLocks noChangeArrowheads="1"/>
            </p:cNvSpPr>
            <p:nvPr/>
          </p:nvSpPr>
          <p:spPr bwMode="auto">
            <a:xfrm>
              <a:off x="4979" y="2999"/>
              <a:ext cx="269"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wrap="none" lIns="90488" tIns="44450" rIns="90488" bIns="4445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i="0">
                  <a:solidFill>
                    <a:schemeClr val="bg2"/>
                  </a:solidFill>
                  <a:latin typeface="Times New Roman" pitchFamily="18" charset="0"/>
                </a:rPr>
                <a:t>t</a:t>
              </a:r>
              <a:r>
                <a:rPr lang="en-US" altLang="en-US" b="1" i="0" baseline="-25000">
                  <a:solidFill>
                    <a:schemeClr val="hlink"/>
                  </a:solidFill>
                  <a:latin typeface="Times New Roman" pitchFamily="18" charset="0"/>
                </a:rPr>
                <a:t>7</a:t>
              </a:r>
              <a:endParaRPr lang="en-US" altLang="en-US" i="0" baseline="-25000">
                <a:solidFill>
                  <a:schemeClr val="bg2"/>
                </a:solidFill>
                <a:latin typeface="Times New Roman" pitchFamily="18" charset="0"/>
              </a:endParaRPr>
            </a:p>
          </p:txBody>
        </p:sp>
        <p:sp>
          <p:nvSpPr>
            <p:cNvPr id="13327" name="Arc 42"/>
            <p:cNvSpPr>
              <a:spLocks/>
            </p:cNvSpPr>
            <p:nvPr/>
          </p:nvSpPr>
          <p:spPr bwMode="auto">
            <a:xfrm>
              <a:off x="4775" y="3192"/>
              <a:ext cx="284" cy="332"/>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600"/>
                  </a:moveTo>
                  <a:cubicBezTo>
                    <a:pt x="0" y="9700"/>
                    <a:pt x="9624" y="42"/>
                    <a:pt x="21524" y="0"/>
                  </a:cubicBezTo>
                </a:path>
                <a:path w="21600" h="21600" stroke="0" extrusionOk="0">
                  <a:moveTo>
                    <a:pt x="0" y="21600"/>
                  </a:moveTo>
                  <a:cubicBezTo>
                    <a:pt x="0" y="9700"/>
                    <a:pt x="9624" y="42"/>
                    <a:pt x="21524" y="0"/>
                  </a:cubicBezTo>
                  <a:lnTo>
                    <a:pt x="21600" y="21600"/>
                  </a:lnTo>
                  <a:lnTo>
                    <a:pt x="0" y="21600"/>
                  </a:lnTo>
                  <a:close/>
                </a:path>
              </a:pathLst>
            </a:custGeom>
            <a:noFill/>
            <a:ln w="12700" cap="rnd">
              <a:solidFill>
                <a:schemeClr val="bg2"/>
              </a:solidFill>
              <a:round/>
              <a:headEnd type="triangle" w="med" len="me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sp>
        <p:nvSpPr>
          <p:cNvPr id="13316" name="Rectangle 43"/>
          <p:cNvSpPr>
            <a:spLocks noGrp="1" noChangeArrowheads="1"/>
          </p:cNvSpPr>
          <p:nvPr>
            <p:ph type="title"/>
          </p:nvPr>
        </p:nvSpPr>
        <p:spPr>
          <a:xfrm>
            <a:off x="533400" y="0"/>
            <a:ext cx="8001000" cy="1143000"/>
          </a:xfrm>
          <a:noFill/>
        </p:spPr>
        <p:txBody>
          <a:bodyPr/>
          <a:lstStyle/>
          <a:p>
            <a:r>
              <a:rPr lang="en-US" altLang="en-US" dirty="0" smtClean="0">
                <a:solidFill>
                  <a:srgbClr val="FF0000"/>
                </a:solidFill>
              </a:rPr>
              <a:t>Student’s t Distribution </a:t>
            </a:r>
          </a:p>
        </p:txBody>
      </p:sp>
      <p:sp>
        <p:nvSpPr>
          <p:cNvPr id="13317" name="Rectangle 44"/>
          <p:cNvSpPr>
            <a:spLocks noChangeArrowheads="1"/>
          </p:cNvSpPr>
          <p:nvPr/>
        </p:nvSpPr>
        <p:spPr bwMode="auto">
          <a:xfrm>
            <a:off x="6642100" y="6542088"/>
            <a:ext cx="1746250"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wrap="none" lIns="90488" tIns="44450" rIns="90488" bIns="4445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sz="1400" i="0">
                <a:latin typeface="Times New Roman" pitchFamily="18" charset="0"/>
              </a:rPr>
              <a:t>Figure 11.3, Page 372</a:t>
            </a:r>
          </a:p>
        </p:txBody>
      </p:sp>
      <p:graphicFrame>
        <p:nvGraphicFramePr>
          <p:cNvPr id="53" name="Object 45">
            <a:hlinkClick r:id="" action="ppaction://ole?verb=0"/>
          </p:cNvPr>
          <p:cNvGraphicFramePr>
            <a:graphicFrameLocks/>
          </p:cNvGraphicFramePr>
          <p:nvPr>
            <p:extLst>
              <p:ext uri="{D42A27DB-BD31-4B8C-83A1-F6EECF244321}">
                <p14:modId xmlns:p14="http://schemas.microsoft.com/office/powerpoint/2010/main" val="2261453462"/>
              </p:ext>
            </p:extLst>
          </p:nvPr>
        </p:nvGraphicFramePr>
        <p:xfrm>
          <a:off x="559408" y="1479550"/>
          <a:ext cx="1210559" cy="534987"/>
        </p:xfrm>
        <a:graphic>
          <a:graphicData uri="http://schemas.openxmlformats.org/presentationml/2006/ole">
            <mc:AlternateContent xmlns:mc="http://schemas.openxmlformats.org/markup-compatibility/2006">
              <mc:Choice xmlns:v="urn:schemas-microsoft-com:vml" Requires="v">
                <p:oleObj spid="_x0000_s13449" name="Equation" r:id="rId3" imgW="533160" imgH="253800" progId="Equation.DSMT4">
                  <p:embed/>
                </p:oleObj>
              </mc:Choice>
              <mc:Fallback>
                <p:oleObj name="Equation" r:id="rId3" imgW="533160" imgH="253800" progId="Equation.DSMT4">
                  <p:embed/>
                  <p:pic>
                    <p:nvPicPr>
                      <p:cNvPr id="0" name=""/>
                      <p:cNvPicPr>
                        <a:picLocks noChangeArrowheads="1"/>
                      </p:cNvPicPr>
                      <p:nvPr/>
                    </p:nvPicPr>
                    <p:blipFill>
                      <a:blip r:embed="rId4"/>
                      <a:srcRect/>
                      <a:stretch>
                        <a:fillRect/>
                      </a:stretch>
                    </p:blipFill>
                    <p:spPr bwMode="auto">
                      <a:xfrm>
                        <a:off x="559408" y="1479550"/>
                        <a:ext cx="1210559" cy="534987"/>
                      </a:xfrm>
                      <a:prstGeom prst="rect">
                        <a:avLst/>
                      </a:prstGeom>
                      <a:solidFill>
                        <a:srgbClr val="FDE3BA"/>
                      </a:solidFill>
                      <a:ln>
                        <a:noFill/>
                      </a:ln>
                      <a:effectLst/>
                      <a:extLst>
                        <a:ext uri="{91240B29-F687-4F45-9708-019B960494DF}">
                          <a14:hiddenLine xmlns:a14="http://schemas.microsoft.com/office/drawing/2010/main" w="762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4" name="Object 46">
            <a:hlinkClick r:id="" action="ppaction://ole?verb=0"/>
          </p:cNvPr>
          <p:cNvGraphicFramePr>
            <a:graphicFrameLocks/>
          </p:cNvGraphicFramePr>
          <p:nvPr>
            <p:extLst>
              <p:ext uri="{D42A27DB-BD31-4B8C-83A1-F6EECF244321}">
                <p14:modId xmlns:p14="http://schemas.microsoft.com/office/powerpoint/2010/main" val="1891390058"/>
              </p:ext>
            </p:extLst>
          </p:nvPr>
        </p:nvGraphicFramePr>
        <p:xfrm>
          <a:off x="596132" y="1940719"/>
          <a:ext cx="2539181" cy="1357312"/>
        </p:xfrm>
        <a:graphic>
          <a:graphicData uri="http://schemas.openxmlformats.org/presentationml/2006/ole">
            <mc:AlternateContent xmlns:mc="http://schemas.openxmlformats.org/markup-compatibility/2006">
              <mc:Choice xmlns:v="urn:schemas-microsoft-com:vml" Requires="v">
                <p:oleObj spid="_x0000_s13450" name="Equation" r:id="rId5" imgW="1079280" imgH="609480" progId="Equation.DSMT4">
                  <p:embed/>
                </p:oleObj>
              </mc:Choice>
              <mc:Fallback>
                <p:oleObj name="Equation" r:id="rId5" imgW="1079280" imgH="609480" progId="Equation.DSMT4">
                  <p:embed/>
                  <p:pic>
                    <p:nvPicPr>
                      <p:cNvPr id="0" name=""/>
                      <p:cNvPicPr>
                        <a:picLocks noChangeArrowheads="1"/>
                      </p:cNvPicPr>
                      <p:nvPr/>
                    </p:nvPicPr>
                    <p:blipFill>
                      <a:blip r:embed="rId6"/>
                      <a:srcRect/>
                      <a:stretch>
                        <a:fillRect/>
                      </a:stretch>
                    </p:blipFill>
                    <p:spPr bwMode="auto">
                      <a:xfrm>
                        <a:off x="596132" y="1940719"/>
                        <a:ext cx="2539181" cy="1357312"/>
                      </a:xfrm>
                      <a:prstGeom prst="rect">
                        <a:avLst/>
                      </a:prstGeom>
                      <a:solidFill>
                        <a:srgbClr val="FDE3BA"/>
                      </a:solidFill>
                      <a:ln>
                        <a:noFill/>
                      </a:ln>
                      <a:effectLst/>
                      <a:extLst>
                        <a:ext uri="{91240B29-F687-4F45-9708-019B960494DF}">
                          <a14:hiddenLine xmlns:a14="http://schemas.microsoft.com/office/drawing/2010/main" w="762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3320" name="Rectangle 52"/>
          <p:cNvSpPr>
            <a:spLocks noChangeArrowheads="1"/>
          </p:cNvSpPr>
          <p:nvPr/>
        </p:nvSpPr>
        <p:spPr bwMode="auto">
          <a:xfrm>
            <a:off x="1651228" y="2941638"/>
            <a:ext cx="1219200" cy="381000"/>
          </a:xfrm>
          <a:prstGeom prst="rect">
            <a:avLst/>
          </a:prstGeom>
          <a:noFill/>
          <a:ln w="76200">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endParaRPr lang="en-US" altLang="en-US" sz="2400"/>
          </a:p>
        </p:txBody>
      </p:sp>
      <p:graphicFrame>
        <p:nvGraphicFramePr>
          <p:cNvPr id="2" name="Object 1">
            <a:hlinkClick r:id="" action="ppaction://ole?verb=0"/>
          </p:cNvPr>
          <p:cNvGraphicFramePr>
            <a:graphicFrameLocks/>
          </p:cNvGraphicFramePr>
          <p:nvPr>
            <p:extLst>
              <p:ext uri="{D42A27DB-BD31-4B8C-83A1-F6EECF244321}">
                <p14:modId xmlns:p14="http://schemas.microsoft.com/office/powerpoint/2010/main" val="2143849171"/>
              </p:ext>
            </p:extLst>
          </p:nvPr>
        </p:nvGraphicFramePr>
        <p:xfrm>
          <a:off x="5246688" y="860425"/>
          <a:ext cx="1673225" cy="1384300"/>
        </p:xfrm>
        <a:graphic>
          <a:graphicData uri="http://schemas.openxmlformats.org/presentationml/2006/ole">
            <mc:AlternateContent xmlns:mc="http://schemas.openxmlformats.org/markup-compatibility/2006">
              <mc:Choice xmlns:v="urn:schemas-microsoft-com:vml" Requires="v">
                <p:oleObj spid="_x0000_s13451" name="Equation" r:id="rId7" imgW="634725" imgH="533169" progId="Equation.DSMT4">
                  <p:embed/>
                </p:oleObj>
              </mc:Choice>
              <mc:Fallback>
                <p:oleObj name="Equation" r:id="rId7" imgW="634725" imgH="533169" progId="Equation.DSMT4">
                  <p:embed/>
                  <p:pic>
                    <p:nvPicPr>
                      <p:cNvPr id="0" name="Object 1"/>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246688" y="860425"/>
                        <a:ext cx="1673225" cy="1384300"/>
                      </a:xfrm>
                      <a:prstGeom prst="rect">
                        <a:avLst/>
                      </a:prstGeom>
                      <a:solidFill>
                        <a:schemeClr val="bg1"/>
                      </a:solidFill>
                      <a:ln w="19050">
                        <a:solidFill>
                          <a:srgbClr val="FF0000"/>
                        </a:solidFill>
                        <a:miter lim="800000"/>
                        <a:headEnd/>
                        <a:tailEnd/>
                      </a:ln>
                    </p:spPr>
                  </p:pic>
                </p:oleObj>
              </mc:Fallback>
            </mc:AlternateContent>
          </a:graphicData>
        </a:graphic>
      </p:graphicFrame>
      <p:grpSp>
        <p:nvGrpSpPr>
          <p:cNvPr id="56" name="Group 43"/>
          <p:cNvGrpSpPr>
            <a:grpSpLocks/>
          </p:cNvGrpSpPr>
          <p:nvPr/>
        </p:nvGrpSpPr>
        <p:grpSpPr bwMode="auto">
          <a:xfrm>
            <a:off x="55563" y="849313"/>
            <a:ext cx="3678237" cy="2538412"/>
            <a:chOff x="35" y="535"/>
            <a:chExt cx="2212" cy="1599"/>
          </a:xfrm>
        </p:grpSpPr>
        <p:sp>
          <p:nvSpPr>
            <p:cNvPr id="57" name="Rectangle 44"/>
            <p:cNvSpPr>
              <a:spLocks noChangeArrowheads="1"/>
            </p:cNvSpPr>
            <p:nvPr/>
          </p:nvSpPr>
          <p:spPr bwMode="auto">
            <a:xfrm>
              <a:off x="35" y="535"/>
              <a:ext cx="2212" cy="1599"/>
            </a:xfrm>
            <a:prstGeom prst="rect">
              <a:avLst/>
            </a:prstGeom>
            <a:solidFill>
              <a:srgbClr val="FDE3BA"/>
            </a:solidFill>
            <a:ln w="12700">
              <a:solidFill>
                <a:schemeClr val="tx2"/>
              </a:solidFill>
              <a:miter lim="800000"/>
              <a:headEnd/>
              <a:tailEnd/>
            </a:ln>
          </p:spPr>
          <p:txBody>
            <a:bodyPr lIns="90488" tIns="44450" rIns="90488" bIns="4445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b="1" i="0" dirty="0">
                  <a:latin typeface="Times New Roman" pitchFamily="18" charset="0"/>
                </a:rPr>
                <a:t>Degrees of Freedom</a:t>
              </a:r>
            </a:p>
            <a:p>
              <a:pPr>
                <a:spcBef>
                  <a:spcPct val="0"/>
                </a:spcBef>
                <a:buClrTx/>
                <a:buSzTx/>
                <a:buFontTx/>
                <a:buNone/>
              </a:pPr>
              <a:endParaRPr lang="en-US" altLang="en-US" i="0" dirty="0">
                <a:solidFill>
                  <a:schemeClr val="bg2"/>
                </a:solidFill>
                <a:latin typeface="Times New Roman" pitchFamily="18" charset="0"/>
              </a:endParaRPr>
            </a:p>
            <a:p>
              <a:pPr>
                <a:spcBef>
                  <a:spcPct val="0"/>
                </a:spcBef>
                <a:buClrTx/>
                <a:buSzTx/>
                <a:buFontTx/>
                <a:buNone/>
              </a:pPr>
              <a:endParaRPr lang="en-US" altLang="en-US" i="0" dirty="0">
                <a:solidFill>
                  <a:schemeClr val="bg2"/>
                </a:solidFill>
                <a:latin typeface="Times New Roman" pitchFamily="18" charset="0"/>
              </a:endParaRPr>
            </a:p>
            <a:p>
              <a:pPr>
                <a:spcBef>
                  <a:spcPct val="0"/>
                </a:spcBef>
                <a:buClrTx/>
                <a:buSzTx/>
                <a:buFontTx/>
                <a:buNone/>
              </a:pPr>
              <a:endParaRPr lang="en-US" altLang="en-US" i="0" dirty="0">
                <a:solidFill>
                  <a:schemeClr val="bg2"/>
                </a:solidFill>
                <a:latin typeface="Times New Roman" pitchFamily="18" charset="0"/>
              </a:endParaRPr>
            </a:p>
            <a:p>
              <a:pPr latinLnBrk="1">
                <a:spcBef>
                  <a:spcPct val="0"/>
                </a:spcBef>
                <a:buClrTx/>
                <a:buSzTx/>
                <a:buFontTx/>
                <a:buNone/>
              </a:pPr>
              <a:endParaRPr lang="en-US" altLang="en-US" i="0" dirty="0">
                <a:solidFill>
                  <a:schemeClr val="bg2"/>
                </a:solidFill>
                <a:latin typeface="Times New Roman" pitchFamily="18" charset="0"/>
              </a:endParaRPr>
            </a:p>
          </p:txBody>
        </p:sp>
        <p:graphicFrame>
          <p:nvGraphicFramePr>
            <p:cNvPr id="58" name="Object 45">
              <a:hlinkClick r:id="" action="ppaction://ole?verb=0"/>
            </p:cNvPr>
            <p:cNvGraphicFramePr>
              <a:graphicFrameLocks/>
            </p:cNvGraphicFramePr>
            <p:nvPr>
              <p:extLst>
                <p:ext uri="{D42A27DB-BD31-4B8C-83A1-F6EECF244321}">
                  <p14:modId xmlns:p14="http://schemas.microsoft.com/office/powerpoint/2010/main" val="3411536564"/>
                </p:ext>
              </p:extLst>
            </p:nvPr>
          </p:nvGraphicFramePr>
          <p:xfrm>
            <a:off x="338" y="932"/>
            <a:ext cx="728" cy="337"/>
          </p:xfrm>
          <a:graphic>
            <a:graphicData uri="http://schemas.openxmlformats.org/presentationml/2006/ole">
              <mc:AlternateContent xmlns:mc="http://schemas.openxmlformats.org/markup-compatibility/2006">
                <mc:Choice xmlns:v="urn:schemas-microsoft-com:vml" Requires="v">
                  <p:oleObj spid="_x0000_s13452" name="Equation" r:id="rId9" imgW="533160" imgH="253800" progId="Equation.DSMT4">
                    <p:embed/>
                  </p:oleObj>
                </mc:Choice>
                <mc:Fallback>
                  <p:oleObj name="Equation" r:id="rId9" imgW="533160" imgH="253800" progId="Equation.DSMT4">
                    <p:embed/>
                    <p:pic>
                      <p:nvPicPr>
                        <p:cNvPr id="0" name=""/>
                        <p:cNvPicPr>
                          <a:picLocks noChangeArrowheads="1"/>
                        </p:cNvPicPr>
                        <p:nvPr/>
                      </p:nvPicPr>
                      <p:blipFill>
                        <a:blip r:embed="rId4"/>
                        <a:srcRect/>
                        <a:stretch>
                          <a:fillRect/>
                        </a:stretch>
                      </p:blipFill>
                      <p:spPr bwMode="auto">
                        <a:xfrm>
                          <a:off x="338" y="932"/>
                          <a:ext cx="728" cy="337"/>
                        </a:xfrm>
                        <a:prstGeom prst="rect">
                          <a:avLst/>
                        </a:prstGeom>
                        <a:solidFill>
                          <a:srgbClr val="FDE3BA"/>
                        </a:solidFill>
                        <a:ln>
                          <a:noFill/>
                        </a:ln>
                        <a:effectLst/>
                        <a:extLst>
                          <a:ext uri="{91240B29-F687-4F45-9708-019B960494DF}">
                            <a14:hiddenLine xmlns:a14="http://schemas.microsoft.com/office/drawing/2010/main" w="762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9" name="Object 46">
              <a:hlinkClick r:id="" action="ppaction://ole?verb=0"/>
            </p:cNvPr>
            <p:cNvGraphicFramePr>
              <a:graphicFrameLocks/>
            </p:cNvGraphicFramePr>
            <p:nvPr>
              <p:extLst>
                <p:ext uri="{D42A27DB-BD31-4B8C-83A1-F6EECF244321}">
                  <p14:modId xmlns:p14="http://schemas.microsoft.com/office/powerpoint/2010/main" val="846290945"/>
                </p:ext>
              </p:extLst>
            </p:nvPr>
          </p:nvGraphicFramePr>
          <p:xfrm>
            <a:off x="422" y="1230"/>
            <a:ext cx="1527" cy="855"/>
          </p:xfrm>
          <a:graphic>
            <a:graphicData uri="http://schemas.openxmlformats.org/presentationml/2006/ole">
              <mc:AlternateContent xmlns:mc="http://schemas.openxmlformats.org/markup-compatibility/2006">
                <mc:Choice xmlns:v="urn:schemas-microsoft-com:vml" Requires="v">
                  <p:oleObj spid="_x0000_s13453" name="Equation" r:id="rId10" imgW="1079280" imgH="609480" progId="Equation.DSMT4">
                    <p:embed/>
                  </p:oleObj>
                </mc:Choice>
                <mc:Fallback>
                  <p:oleObj name="Equation" r:id="rId10" imgW="1079280" imgH="609480" progId="Equation.DSMT4">
                    <p:embed/>
                    <p:pic>
                      <p:nvPicPr>
                        <p:cNvPr id="0" name=""/>
                        <p:cNvPicPr>
                          <a:picLocks noChangeArrowheads="1"/>
                        </p:cNvPicPr>
                        <p:nvPr/>
                      </p:nvPicPr>
                      <p:blipFill>
                        <a:blip r:embed="rId6"/>
                        <a:srcRect/>
                        <a:stretch>
                          <a:fillRect/>
                        </a:stretch>
                      </p:blipFill>
                      <p:spPr bwMode="auto">
                        <a:xfrm>
                          <a:off x="422" y="1230"/>
                          <a:ext cx="1527" cy="855"/>
                        </a:xfrm>
                        <a:prstGeom prst="rect">
                          <a:avLst/>
                        </a:prstGeom>
                        <a:solidFill>
                          <a:srgbClr val="FDE3BA"/>
                        </a:solidFill>
                        <a:ln>
                          <a:noFill/>
                        </a:ln>
                        <a:effectLst/>
                        <a:extLst>
                          <a:ext uri="{91240B29-F687-4F45-9708-019B960494DF}">
                            <a14:hiddenLine xmlns:a14="http://schemas.microsoft.com/office/drawing/2010/main" w="762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60" name="Rectangle 47"/>
          <p:cNvSpPr>
            <a:spLocks noChangeArrowheads="1"/>
          </p:cNvSpPr>
          <p:nvPr/>
        </p:nvSpPr>
        <p:spPr bwMode="auto">
          <a:xfrm>
            <a:off x="1790700" y="2951163"/>
            <a:ext cx="1219200" cy="381000"/>
          </a:xfrm>
          <a:prstGeom prst="rect">
            <a:avLst/>
          </a:prstGeom>
          <a:noFill/>
          <a:ln w="76200">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endParaRPr lang="en-US" altLang="en-US" sz="2400"/>
          </a:p>
        </p:txBody>
      </p:sp>
    </p:spTree>
  </p:cSld>
  <p:clrMapOvr>
    <a:masterClrMapping/>
  </p:clrMapOvr>
  <p:transition>
    <p:wipe dir="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9"/>
          <p:cNvSpPr>
            <a:spLocks noChangeArrowheads="1"/>
          </p:cNvSpPr>
          <p:nvPr/>
        </p:nvSpPr>
        <p:spPr bwMode="auto">
          <a:xfrm>
            <a:off x="804863" y="2763838"/>
            <a:ext cx="2197100"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sz="2000" b="1" i="0">
                <a:solidFill>
                  <a:srgbClr val="000000"/>
                </a:solidFill>
                <a:latin typeface="Arial Narrow" pitchFamily="34" charset="0"/>
              </a:rPr>
              <a:t>Degrees of Freedom</a:t>
            </a:r>
            <a:endParaRPr lang="en-US" altLang="en-US" sz="2400"/>
          </a:p>
        </p:txBody>
      </p:sp>
      <p:sp>
        <p:nvSpPr>
          <p:cNvPr id="14339" name="Rectangle 30"/>
          <p:cNvSpPr>
            <a:spLocks noChangeArrowheads="1"/>
          </p:cNvSpPr>
          <p:nvPr/>
        </p:nvSpPr>
        <p:spPr bwMode="auto">
          <a:xfrm>
            <a:off x="1812925" y="3119438"/>
            <a:ext cx="220663"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sz="2000" b="1" i="0">
                <a:solidFill>
                  <a:srgbClr val="000000"/>
                </a:solidFill>
                <a:latin typeface="Arial Narrow" pitchFamily="34" charset="0"/>
              </a:rPr>
              <a:t>1</a:t>
            </a:r>
            <a:endParaRPr lang="en-US" altLang="en-US" sz="2400"/>
          </a:p>
        </p:txBody>
      </p:sp>
      <p:sp>
        <p:nvSpPr>
          <p:cNvPr id="14340" name="Rectangle 31"/>
          <p:cNvSpPr>
            <a:spLocks noChangeArrowheads="1"/>
          </p:cNvSpPr>
          <p:nvPr/>
        </p:nvSpPr>
        <p:spPr bwMode="auto">
          <a:xfrm>
            <a:off x="3295650" y="3119438"/>
            <a:ext cx="6365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sz="2000" b="1" i="0">
                <a:solidFill>
                  <a:srgbClr val="000000"/>
                </a:solidFill>
                <a:latin typeface="Arial Narrow" pitchFamily="34" charset="0"/>
              </a:rPr>
              <a:t>3.0777</a:t>
            </a:r>
            <a:endParaRPr lang="en-US" altLang="en-US" sz="2400"/>
          </a:p>
        </p:txBody>
      </p:sp>
      <p:sp>
        <p:nvSpPr>
          <p:cNvPr id="14341" name="Rectangle 32"/>
          <p:cNvSpPr>
            <a:spLocks noChangeArrowheads="1"/>
          </p:cNvSpPr>
          <p:nvPr/>
        </p:nvSpPr>
        <p:spPr bwMode="auto">
          <a:xfrm>
            <a:off x="4452938" y="3119438"/>
            <a:ext cx="652462"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sz="2000" b="1" i="0">
                <a:solidFill>
                  <a:srgbClr val="000000"/>
                </a:solidFill>
                <a:latin typeface="Arial Narrow" pitchFamily="34" charset="0"/>
              </a:rPr>
              <a:t>6.314</a:t>
            </a:r>
            <a:endParaRPr lang="en-US" altLang="en-US" sz="2400"/>
          </a:p>
        </p:txBody>
      </p:sp>
      <p:sp>
        <p:nvSpPr>
          <p:cNvPr id="14342" name="Rectangle 33"/>
          <p:cNvSpPr>
            <a:spLocks noChangeArrowheads="1"/>
          </p:cNvSpPr>
          <p:nvPr/>
        </p:nvSpPr>
        <p:spPr bwMode="auto">
          <a:xfrm>
            <a:off x="5556250" y="3119438"/>
            <a:ext cx="768350"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sz="2000" b="1" i="0">
                <a:solidFill>
                  <a:srgbClr val="000000"/>
                </a:solidFill>
                <a:latin typeface="Arial Narrow" pitchFamily="34" charset="0"/>
              </a:rPr>
              <a:t>12.706</a:t>
            </a:r>
            <a:endParaRPr lang="en-US" altLang="en-US" sz="2400"/>
          </a:p>
        </p:txBody>
      </p:sp>
      <p:sp>
        <p:nvSpPr>
          <p:cNvPr id="14343" name="Rectangle 34"/>
          <p:cNvSpPr>
            <a:spLocks noChangeArrowheads="1"/>
          </p:cNvSpPr>
          <p:nvPr/>
        </p:nvSpPr>
        <p:spPr bwMode="auto">
          <a:xfrm>
            <a:off x="6713538" y="3119438"/>
            <a:ext cx="768350"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sz="2000" b="1" i="0">
                <a:solidFill>
                  <a:srgbClr val="000000"/>
                </a:solidFill>
                <a:latin typeface="Arial Narrow" pitchFamily="34" charset="0"/>
              </a:rPr>
              <a:t>31.821</a:t>
            </a:r>
            <a:endParaRPr lang="en-US" altLang="en-US" sz="2400"/>
          </a:p>
        </p:txBody>
      </p:sp>
      <p:sp>
        <p:nvSpPr>
          <p:cNvPr id="14344" name="Rectangle 35"/>
          <p:cNvSpPr>
            <a:spLocks noChangeArrowheads="1"/>
          </p:cNvSpPr>
          <p:nvPr/>
        </p:nvSpPr>
        <p:spPr bwMode="auto">
          <a:xfrm>
            <a:off x="7869238" y="3119438"/>
            <a:ext cx="768350"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sz="2000" b="1" i="0">
                <a:solidFill>
                  <a:srgbClr val="000000"/>
                </a:solidFill>
                <a:latin typeface="Arial Narrow" pitchFamily="34" charset="0"/>
              </a:rPr>
              <a:t>63.657</a:t>
            </a:r>
            <a:endParaRPr lang="en-US" altLang="en-US" sz="2400"/>
          </a:p>
        </p:txBody>
      </p:sp>
      <p:sp>
        <p:nvSpPr>
          <p:cNvPr id="14345" name="Rectangle 36"/>
          <p:cNvSpPr>
            <a:spLocks noChangeArrowheads="1"/>
          </p:cNvSpPr>
          <p:nvPr/>
        </p:nvSpPr>
        <p:spPr bwMode="auto">
          <a:xfrm>
            <a:off x="1812925" y="3475038"/>
            <a:ext cx="220663"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sz="2000" b="1" i="0">
                <a:solidFill>
                  <a:srgbClr val="000000"/>
                </a:solidFill>
                <a:latin typeface="Arial Narrow" pitchFamily="34" charset="0"/>
              </a:rPr>
              <a:t>2</a:t>
            </a:r>
            <a:endParaRPr lang="en-US" altLang="en-US" sz="2400"/>
          </a:p>
        </p:txBody>
      </p:sp>
      <p:sp>
        <p:nvSpPr>
          <p:cNvPr id="14346" name="Rectangle 37"/>
          <p:cNvSpPr>
            <a:spLocks noChangeArrowheads="1"/>
          </p:cNvSpPr>
          <p:nvPr/>
        </p:nvSpPr>
        <p:spPr bwMode="auto">
          <a:xfrm>
            <a:off x="3295650" y="3475038"/>
            <a:ext cx="6365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sz="2000" b="1" i="0">
                <a:solidFill>
                  <a:srgbClr val="000000"/>
                </a:solidFill>
                <a:latin typeface="Arial Narrow" pitchFamily="34" charset="0"/>
              </a:rPr>
              <a:t>1.8856</a:t>
            </a:r>
            <a:endParaRPr lang="en-US" altLang="en-US" sz="2400"/>
          </a:p>
        </p:txBody>
      </p:sp>
      <p:sp>
        <p:nvSpPr>
          <p:cNvPr id="14347" name="Rectangle 38"/>
          <p:cNvSpPr>
            <a:spLocks noChangeArrowheads="1"/>
          </p:cNvSpPr>
          <p:nvPr/>
        </p:nvSpPr>
        <p:spPr bwMode="auto">
          <a:xfrm>
            <a:off x="4514850" y="3475038"/>
            <a:ext cx="6365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sz="2000" b="1" i="0">
                <a:solidFill>
                  <a:srgbClr val="000000"/>
                </a:solidFill>
                <a:latin typeface="Arial Narrow" pitchFamily="34" charset="0"/>
              </a:rPr>
              <a:t>2.9200</a:t>
            </a:r>
            <a:endParaRPr lang="en-US" altLang="en-US" sz="2400"/>
          </a:p>
        </p:txBody>
      </p:sp>
      <p:sp>
        <p:nvSpPr>
          <p:cNvPr id="14348" name="Rectangle 39"/>
          <p:cNvSpPr>
            <a:spLocks noChangeArrowheads="1"/>
          </p:cNvSpPr>
          <p:nvPr/>
        </p:nvSpPr>
        <p:spPr bwMode="auto">
          <a:xfrm>
            <a:off x="5608638" y="3475038"/>
            <a:ext cx="6365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sz="2000" b="1" i="0">
                <a:solidFill>
                  <a:srgbClr val="000000"/>
                </a:solidFill>
                <a:latin typeface="Arial Narrow" pitchFamily="34" charset="0"/>
              </a:rPr>
              <a:t>4.3027</a:t>
            </a:r>
            <a:endParaRPr lang="en-US" altLang="en-US" sz="2400"/>
          </a:p>
        </p:txBody>
      </p:sp>
      <p:sp>
        <p:nvSpPr>
          <p:cNvPr id="14349" name="Rectangle 40"/>
          <p:cNvSpPr>
            <a:spLocks noChangeArrowheads="1"/>
          </p:cNvSpPr>
          <p:nvPr/>
        </p:nvSpPr>
        <p:spPr bwMode="auto">
          <a:xfrm>
            <a:off x="6765925" y="3475038"/>
            <a:ext cx="6365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sz="2000" b="1" i="0">
                <a:solidFill>
                  <a:srgbClr val="000000"/>
                </a:solidFill>
                <a:latin typeface="Arial Narrow" pitchFamily="34" charset="0"/>
              </a:rPr>
              <a:t>6.9645</a:t>
            </a:r>
            <a:endParaRPr lang="en-US" altLang="en-US" sz="2400"/>
          </a:p>
        </p:txBody>
      </p:sp>
      <p:sp>
        <p:nvSpPr>
          <p:cNvPr id="14350" name="Rectangle 41"/>
          <p:cNvSpPr>
            <a:spLocks noChangeArrowheads="1"/>
          </p:cNvSpPr>
          <p:nvPr/>
        </p:nvSpPr>
        <p:spPr bwMode="auto">
          <a:xfrm>
            <a:off x="7921625" y="3475038"/>
            <a:ext cx="6365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sz="2000" b="1" i="0">
                <a:solidFill>
                  <a:srgbClr val="000000"/>
                </a:solidFill>
                <a:latin typeface="Arial Narrow" pitchFamily="34" charset="0"/>
              </a:rPr>
              <a:t>9.9250</a:t>
            </a:r>
            <a:endParaRPr lang="en-US" altLang="en-US" sz="2400"/>
          </a:p>
        </p:txBody>
      </p:sp>
      <p:sp>
        <p:nvSpPr>
          <p:cNvPr id="14351" name="Rectangle 42"/>
          <p:cNvSpPr>
            <a:spLocks noChangeArrowheads="1"/>
          </p:cNvSpPr>
          <p:nvPr/>
        </p:nvSpPr>
        <p:spPr bwMode="auto">
          <a:xfrm>
            <a:off x="1844675" y="3690938"/>
            <a:ext cx="16827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sz="2000" b="1" i="0">
                <a:solidFill>
                  <a:srgbClr val="000000"/>
                </a:solidFill>
                <a:latin typeface="Arial Narrow" pitchFamily="34" charset="0"/>
              </a:rPr>
              <a:t>.</a:t>
            </a:r>
            <a:endParaRPr lang="en-US" altLang="en-US" sz="2400"/>
          </a:p>
        </p:txBody>
      </p:sp>
      <p:sp>
        <p:nvSpPr>
          <p:cNvPr id="14352" name="Rectangle 43"/>
          <p:cNvSpPr>
            <a:spLocks noChangeArrowheads="1"/>
          </p:cNvSpPr>
          <p:nvPr/>
        </p:nvSpPr>
        <p:spPr bwMode="auto">
          <a:xfrm>
            <a:off x="3527425" y="3690938"/>
            <a:ext cx="16827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sz="2000" b="1" i="0">
                <a:solidFill>
                  <a:srgbClr val="000000"/>
                </a:solidFill>
                <a:latin typeface="Arial Narrow" pitchFamily="34" charset="0"/>
              </a:rPr>
              <a:t>.</a:t>
            </a:r>
            <a:endParaRPr lang="en-US" altLang="en-US" sz="2400"/>
          </a:p>
        </p:txBody>
      </p:sp>
      <p:sp>
        <p:nvSpPr>
          <p:cNvPr id="14353" name="Rectangle 44"/>
          <p:cNvSpPr>
            <a:spLocks noChangeArrowheads="1"/>
          </p:cNvSpPr>
          <p:nvPr/>
        </p:nvSpPr>
        <p:spPr bwMode="auto">
          <a:xfrm>
            <a:off x="4683125" y="3690938"/>
            <a:ext cx="16827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sz="2000" b="1" i="0">
                <a:solidFill>
                  <a:srgbClr val="000000"/>
                </a:solidFill>
                <a:latin typeface="Arial Narrow" pitchFamily="34" charset="0"/>
              </a:rPr>
              <a:t>.</a:t>
            </a:r>
            <a:endParaRPr lang="en-US" altLang="en-US" sz="2400"/>
          </a:p>
        </p:txBody>
      </p:sp>
      <p:sp>
        <p:nvSpPr>
          <p:cNvPr id="14354" name="Rectangle 45"/>
          <p:cNvSpPr>
            <a:spLocks noChangeArrowheads="1"/>
          </p:cNvSpPr>
          <p:nvPr/>
        </p:nvSpPr>
        <p:spPr bwMode="auto">
          <a:xfrm>
            <a:off x="5840413" y="3690938"/>
            <a:ext cx="16827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sz="2000" b="1" i="0">
                <a:solidFill>
                  <a:srgbClr val="000000"/>
                </a:solidFill>
                <a:latin typeface="Arial Narrow" pitchFamily="34" charset="0"/>
              </a:rPr>
              <a:t>.</a:t>
            </a:r>
            <a:endParaRPr lang="en-US" altLang="en-US" sz="2400"/>
          </a:p>
        </p:txBody>
      </p:sp>
      <p:sp>
        <p:nvSpPr>
          <p:cNvPr id="14355" name="Rectangle 46"/>
          <p:cNvSpPr>
            <a:spLocks noChangeArrowheads="1"/>
          </p:cNvSpPr>
          <p:nvPr/>
        </p:nvSpPr>
        <p:spPr bwMode="auto">
          <a:xfrm>
            <a:off x="6996113" y="3690938"/>
            <a:ext cx="16827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sz="2000" b="1" i="0">
                <a:solidFill>
                  <a:srgbClr val="000000"/>
                </a:solidFill>
                <a:latin typeface="Arial Narrow" pitchFamily="34" charset="0"/>
              </a:rPr>
              <a:t>.</a:t>
            </a:r>
            <a:endParaRPr lang="en-US" altLang="en-US" sz="2400"/>
          </a:p>
        </p:txBody>
      </p:sp>
      <p:sp>
        <p:nvSpPr>
          <p:cNvPr id="14356" name="Rectangle 47"/>
          <p:cNvSpPr>
            <a:spLocks noChangeArrowheads="1"/>
          </p:cNvSpPr>
          <p:nvPr/>
        </p:nvSpPr>
        <p:spPr bwMode="auto">
          <a:xfrm>
            <a:off x="8153400" y="3690938"/>
            <a:ext cx="16827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sz="2000" b="1" i="0">
                <a:solidFill>
                  <a:srgbClr val="000000"/>
                </a:solidFill>
                <a:latin typeface="Arial Narrow" pitchFamily="34" charset="0"/>
              </a:rPr>
              <a:t>.</a:t>
            </a:r>
            <a:endParaRPr lang="en-US" altLang="en-US" sz="2400"/>
          </a:p>
        </p:txBody>
      </p:sp>
      <p:sp>
        <p:nvSpPr>
          <p:cNvPr id="14357" name="Rectangle 48"/>
          <p:cNvSpPr>
            <a:spLocks noChangeArrowheads="1"/>
          </p:cNvSpPr>
          <p:nvPr/>
        </p:nvSpPr>
        <p:spPr bwMode="auto">
          <a:xfrm>
            <a:off x="1844675" y="3929063"/>
            <a:ext cx="16827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sz="2000" b="1" i="0">
                <a:solidFill>
                  <a:srgbClr val="000000"/>
                </a:solidFill>
                <a:latin typeface="Arial Narrow" pitchFamily="34" charset="0"/>
              </a:rPr>
              <a:t>.</a:t>
            </a:r>
            <a:endParaRPr lang="en-US" altLang="en-US" sz="2400"/>
          </a:p>
        </p:txBody>
      </p:sp>
      <p:sp>
        <p:nvSpPr>
          <p:cNvPr id="14358" name="Rectangle 49"/>
          <p:cNvSpPr>
            <a:spLocks noChangeArrowheads="1"/>
          </p:cNvSpPr>
          <p:nvPr/>
        </p:nvSpPr>
        <p:spPr bwMode="auto">
          <a:xfrm>
            <a:off x="3527425" y="3929063"/>
            <a:ext cx="16827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sz="2000" b="1" i="0">
                <a:solidFill>
                  <a:srgbClr val="000000"/>
                </a:solidFill>
                <a:latin typeface="Arial Narrow" pitchFamily="34" charset="0"/>
              </a:rPr>
              <a:t>.</a:t>
            </a:r>
            <a:endParaRPr lang="en-US" altLang="en-US" sz="2400"/>
          </a:p>
        </p:txBody>
      </p:sp>
      <p:sp>
        <p:nvSpPr>
          <p:cNvPr id="14359" name="Rectangle 50"/>
          <p:cNvSpPr>
            <a:spLocks noChangeArrowheads="1"/>
          </p:cNvSpPr>
          <p:nvPr/>
        </p:nvSpPr>
        <p:spPr bwMode="auto">
          <a:xfrm>
            <a:off x="4683125" y="3929063"/>
            <a:ext cx="16827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sz="2000" b="1" i="0">
                <a:solidFill>
                  <a:srgbClr val="000000"/>
                </a:solidFill>
                <a:latin typeface="Arial Narrow" pitchFamily="34" charset="0"/>
              </a:rPr>
              <a:t>.</a:t>
            </a:r>
            <a:endParaRPr lang="en-US" altLang="en-US" sz="2400"/>
          </a:p>
        </p:txBody>
      </p:sp>
      <p:sp>
        <p:nvSpPr>
          <p:cNvPr id="14360" name="Rectangle 51"/>
          <p:cNvSpPr>
            <a:spLocks noChangeArrowheads="1"/>
          </p:cNvSpPr>
          <p:nvPr/>
        </p:nvSpPr>
        <p:spPr bwMode="auto">
          <a:xfrm>
            <a:off x="5840413" y="3929063"/>
            <a:ext cx="16827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sz="2000" b="1" i="0">
                <a:solidFill>
                  <a:srgbClr val="000000"/>
                </a:solidFill>
                <a:latin typeface="Arial Narrow" pitchFamily="34" charset="0"/>
              </a:rPr>
              <a:t>.</a:t>
            </a:r>
            <a:endParaRPr lang="en-US" altLang="en-US" sz="2400"/>
          </a:p>
        </p:txBody>
      </p:sp>
      <p:sp>
        <p:nvSpPr>
          <p:cNvPr id="14361" name="Rectangle 52"/>
          <p:cNvSpPr>
            <a:spLocks noChangeArrowheads="1"/>
          </p:cNvSpPr>
          <p:nvPr/>
        </p:nvSpPr>
        <p:spPr bwMode="auto">
          <a:xfrm>
            <a:off x="6996113" y="3929063"/>
            <a:ext cx="16827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sz="2000" b="1" i="0">
                <a:solidFill>
                  <a:srgbClr val="000000"/>
                </a:solidFill>
                <a:latin typeface="Arial Narrow" pitchFamily="34" charset="0"/>
              </a:rPr>
              <a:t>.</a:t>
            </a:r>
            <a:endParaRPr lang="en-US" altLang="en-US" sz="2400"/>
          </a:p>
        </p:txBody>
      </p:sp>
      <p:sp>
        <p:nvSpPr>
          <p:cNvPr id="14362" name="Rectangle 53"/>
          <p:cNvSpPr>
            <a:spLocks noChangeArrowheads="1"/>
          </p:cNvSpPr>
          <p:nvPr/>
        </p:nvSpPr>
        <p:spPr bwMode="auto">
          <a:xfrm>
            <a:off x="8153400" y="3929063"/>
            <a:ext cx="16827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sz="2000" b="1" i="0">
                <a:solidFill>
                  <a:srgbClr val="000000"/>
                </a:solidFill>
                <a:latin typeface="Arial Narrow" pitchFamily="34" charset="0"/>
              </a:rPr>
              <a:t>.</a:t>
            </a:r>
            <a:endParaRPr lang="en-US" altLang="en-US" sz="2400"/>
          </a:p>
        </p:txBody>
      </p:sp>
      <p:sp>
        <p:nvSpPr>
          <p:cNvPr id="14363" name="Rectangle 54"/>
          <p:cNvSpPr>
            <a:spLocks noChangeArrowheads="1"/>
          </p:cNvSpPr>
          <p:nvPr/>
        </p:nvSpPr>
        <p:spPr bwMode="auto">
          <a:xfrm>
            <a:off x="1760538" y="4284663"/>
            <a:ext cx="2317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sz="2000" b="1" i="0">
                <a:solidFill>
                  <a:srgbClr val="000000"/>
                </a:solidFill>
                <a:latin typeface="Arial Narrow" pitchFamily="34" charset="0"/>
              </a:rPr>
              <a:t>10</a:t>
            </a:r>
            <a:endParaRPr lang="en-US" altLang="en-US" sz="2400"/>
          </a:p>
        </p:txBody>
      </p:sp>
      <p:sp>
        <p:nvSpPr>
          <p:cNvPr id="14364" name="Rectangle 55"/>
          <p:cNvSpPr>
            <a:spLocks noChangeArrowheads="1"/>
          </p:cNvSpPr>
          <p:nvPr/>
        </p:nvSpPr>
        <p:spPr bwMode="auto">
          <a:xfrm>
            <a:off x="3295650" y="4284663"/>
            <a:ext cx="6365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sz="2000" b="1" i="0">
                <a:solidFill>
                  <a:srgbClr val="000000"/>
                </a:solidFill>
                <a:latin typeface="Arial Narrow" pitchFamily="34" charset="0"/>
              </a:rPr>
              <a:t>1.3722</a:t>
            </a:r>
            <a:endParaRPr lang="en-US" altLang="en-US" sz="2400"/>
          </a:p>
        </p:txBody>
      </p:sp>
      <p:sp>
        <p:nvSpPr>
          <p:cNvPr id="14365" name="Rectangle 56"/>
          <p:cNvSpPr>
            <a:spLocks noChangeArrowheads="1"/>
          </p:cNvSpPr>
          <p:nvPr/>
        </p:nvSpPr>
        <p:spPr bwMode="auto">
          <a:xfrm>
            <a:off x="4452938" y="4284663"/>
            <a:ext cx="6365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sz="2000" b="1" i="0">
                <a:solidFill>
                  <a:srgbClr val="000000"/>
                </a:solidFill>
                <a:latin typeface="Arial Narrow" pitchFamily="34" charset="0"/>
              </a:rPr>
              <a:t>1.8125</a:t>
            </a:r>
            <a:endParaRPr lang="en-US" altLang="en-US" sz="2400"/>
          </a:p>
        </p:txBody>
      </p:sp>
      <p:sp>
        <p:nvSpPr>
          <p:cNvPr id="14366" name="Rectangle 57"/>
          <p:cNvSpPr>
            <a:spLocks noChangeArrowheads="1"/>
          </p:cNvSpPr>
          <p:nvPr/>
        </p:nvSpPr>
        <p:spPr bwMode="auto">
          <a:xfrm>
            <a:off x="5608638" y="4284663"/>
            <a:ext cx="6365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sz="2000" b="1" i="0">
                <a:solidFill>
                  <a:srgbClr val="000000"/>
                </a:solidFill>
                <a:latin typeface="Arial Narrow" pitchFamily="34" charset="0"/>
              </a:rPr>
              <a:t>2.2281</a:t>
            </a:r>
            <a:endParaRPr lang="en-US" altLang="en-US" sz="2400"/>
          </a:p>
        </p:txBody>
      </p:sp>
      <p:sp>
        <p:nvSpPr>
          <p:cNvPr id="14367" name="Rectangle 58"/>
          <p:cNvSpPr>
            <a:spLocks noChangeArrowheads="1"/>
          </p:cNvSpPr>
          <p:nvPr/>
        </p:nvSpPr>
        <p:spPr bwMode="auto">
          <a:xfrm>
            <a:off x="6765925" y="4284663"/>
            <a:ext cx="6365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sz="2000" b="1" i="0">
                <a:solidFill>
                  <a:srgbClr val="000000"/>
                </a:solidFill>
                <a:latin typeface="Arial Narrow" pitchFamily="34" charset="0"/>
              </a:rPr>
              <a:t>2.7638</a:t>
            </a:r>
            <a:endParaRPr lang="en-US" altLang="en-US" sz="2400"/>
          </a:p>
        </p:txBody>
      </p:sp>
      <p:sp>
        <p:nvSpPr>
          <p:cNvPr id="14368" name="Rectangle 59"/>
          <p:cNvSpPr>
            <a:spLocks noChangeArrowheads="1"/>
          </p:cNvSpPr>
          <p:nvPr/>
        </p:nvSpPr>
        <p:spPr bwMode="auto">
          <a:xfrm>
            <a:off x="7921625" y="4284663"/>
            <a:ext cx="6365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sz="2000" b="1" i="0">
                <a:solidFill>
                  <a:srgbClr val="000000"/>
                </a:solidFill>
                <a:latin typeface="Arial Narrow" pitchFamily="34" charset="0"/>
              </a:rPr>
              <a:t>3.1693</a:t>
            </a:r>
            <a:endParaRPr lang="en-US" altLang="en-US" sz="2400"/>
          </a:p>
        </p:txBody>
      </p:sp>
      <p:sp>
        <p:nvSpPr>
          <p:cNvPr id="14369" name="Rectangle 60"/>
          <p:cNvSpPr>
            <a:spLocks noChangeArrowheads="1"/>
          </p:cNvSpPr>
          <p:nvPr/>
        </p:nvSpPr>
        <p:spPr bwMode="auto">
          <a:xfrm>
            <a:off x="1855788" y="4629150"/>
            <a:ext cx="104775" cy="19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sz="1100" b="1" i="0">
                <a:solidFill>
                  <a:srgbClr val="000000"/>
                </a:solidFill>
              </a:rPr>
              <a:t>.</a:t>
            </a:r>
            <a:endParaRPr lang="en-US" altLang="en-US" sz="2400"/>
          </a:p>
        </p:txBody>
      </p:sp>
      <p:sp>
        <p:nvSpPr>
          <p:cNvPr id="14370" name="Rectangle 61"/>
          <p:cNvSpPr>
            <a:spLocks noChangeArrowheads="1"/>
          </p:cNvSpPr>
          <p:nvPr/>
        </p:nvSpPr>
        <p:spPr bwMode="auto">
          <a:xfrm>
            <a:off x="3536950" y="4629150"/>
            <a:ext cx="104775" cy="19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sz="1100" b="1" i="0">
                <a:solidFill>
                  <a:srgbClr val="000000"/>
                </a:solidFill>
              </a:rPr>
              <a:t>.</a:t>
            </a:r>
            <a:endParaRPr lang="en-US" altLang="en-US" sz="2400"/>
          </a:p>
        </p:txBody>
      </p:sp>
      <p:sp>
        <p:nvSpPr>
          <p:cNvPr id="14371" name="Rectangle 62"/>
          <p:cNvSpPr>
            <a:spLocks noChangeArrowheads="1"/>
          </p:cNvSpPr>
          <p:nvPr/>
        </p:nvSpPr>
        <p:spPr bwMode="auto">
          <a:xfrm>
            <a:off x="4694238" y="4629150"/>
            <a:ext cx="104775" cy="19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sz="1100" b="1" i="0">
                <a:solidFill>
                  <a:srgbClr val="000000"/>
                </a:solidFill>
              </a:rPr>
              <a:t>.</a:t>
            </a:r>
            <a:endParaRPr lang="en-US" altLang="en-US" sz="2400"/>
          </a:p>
        </p:txBody>
      </p:sp>
      <p:sp>
        <p:nvSpPr>
          <p:cNvPr id="14372" name="Rectangle 63"/>
          <p:cNvSpPr>
            <a:spLocks noChangeArrowheads="1"/>
          </p:cNvSpPr>
          <p:nvPr/>
        </p:nvSpPr>
        <p:spPr bwMode="auto">
          <a:xfrm>
            <a:off x="5851525" y="4629150"/>
            <a:ext cx="104775" cy="19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sz="1100" b="1" i="0">
                <a:solidFill>
                  <a:srgbClr val="000000"/>
                </a:solidFill>
              </a:rPr>
              <a:t>.</a:t>
            </a:r>
            <a:endParaRPr lang="en-US" altLang="en-US" sz="2400"/>
          </a:p>
        </p:txBody>
      </p:sp>
      <p:sp>
        <p:nvSpPr>
          <p:cNvPr id="14373" name="Rectangle 64"/>
          <p:cNvSpPr>
            <a:spLocks noChangeArrowheads="1"/>
          </p:cNvSpPr>
          <p:nvPr/>
        </p:nvSpPr>
        <p:spPr bwMode="auto">
          <a:xfrm>
            <a:off x="7007225" y="4629150"/>
            <a:ext cx="104775" cy="19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sz="1100" b="1" i="0">
                <a:solidFill>
                  <a:srgbClr val="000000"/>
                </a:solidFill>
              </a:rPr>
              <a:t>.</a:t>
            </a:r>
            <a:endParaRPr lang="en-US" altLang="en-US" sz="2400"/>
          </a:p>
        </p:txBody>
      </p:sp>
      <p:sp>
        <p:nvSpPr>
          <p:cNvPr id="14374" name="Rectangle 65"/>
          <p:cNvSpPr>
            <a:spLocks noChangeArrowheads="1"/>
          </p:cNvSpPr>
          <p:nvPr/>
        </p:nvSpPr>
        <p:spPr bwMode="auto">
          <a:xfrm>
            <a:off x="8153400" y="4521200"/>
            <a:ext cx="16827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sz="2000" b="1" i="0">
                <a:solidFill>
                  <a:srgbClr val="000000"/>
                </a:solidFill>
                <a:latin typeface="Arial Narrow" pitchFamily="34" charset="0"/>
              </a:rPr>
              <a:t>.</a:t>
            </a:r>
            <a:endParaRPr lang="en-US" altLang="en-US" sz="2400"/>
          </a:p>
        </p:txBody>
      </p:sp>
      <p:sp>
        <p:nvSpPr>
          <p:cNvPr id="14375" name="Rectangle 66"/>
          <p:cNvSpPr>
            <a:spLocks noChangeArrowheads="1"/>
          </p:cNvSpPr>
          <p:nvPr/>
        </p:nvSpPr>
        <p:spPr bwMode="auto">
          <a:xfrm>
            <a:off x="1855788" y="4865688"/>
            <a:ext cx="104775" cy="19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sz="1100" b="1" i="0">
                <a:solidFill>
                  <a:srgbClr val="000000"/>
                </a:solidFill>
              </a:rPr>
              <a:t>.</a:t>
            </a:r>
            <a:endParaRPr lang="en-US" altLang="en-US" sz="2400"/>
          </a:p>
        </p:txBody>
      </p:sp>
      <p:sp>
        <p:nvSpPr>
          <p:cNvPr id="14376" name="Rectangle 67"/>
          <p:cNvSpPr>
            <a:spLocks noChangeArrowheads="1"/>
          </p:cNvSpPr>
          <p:nvPr/>
        </p:nvSpPr>
        <p:spPr bwMode="auto">
          <a:xfrm>
            <a:off x="3536950" y="4865688"/>
            <a:ext cx="104775" cy="19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sz="1100" b="1" i="0">
                <a:solidFill>
                  <a:srgbClr val="000000"/>
                </a:solidFill>
              </a:rPr>
              <a:t>.</a:t>
            </a:r>
            <a:endParaRPr lang="en-US" altLang="en-US" sz="2400"/>
          </a:p>
        </p:txBody>
      </p:sp>
      <p:sp>
        <p:nvSpPr>
          <p:cNvPr id="14377" name="Rectangle 68"/>
          <p:cNvSpPr>
            <a:spLocks noChangeArrowheads="1"/>
          </p:cNvSpPr>
          <p:nvPr/>
        </p:nvSpPr>
        <p:spPr bwMode="auto">
          <a:xfrm>
            <a:off x="4694238" y="4865688"/>
            <a:ext cx="104775" cy="19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sz="1100" b="1" i="0">
                <a:solidFill>
                  <a:srgbClr val="000000"/>
                </a:solidFill>
              </a:rPr>
              <a:t>.</a:t>
            </a:r>
            <a:endParaRPr lang="en-US" altLang="en-US" sz="2400"/>
          </a:p>
        </p:txBody>
      </p:sp>
      <p:sp>
        <p:nvSpPr>
          <p:cNvPr id="14378" name="Rectangle 69"/>
          <p:cNvSpPr>
            <a:spLocks noChangeArrowheads="1"/>
          </p:cNvSpPr>
          <p:nvPr/>
        </p:nvSpPr>
        <p:spPr bwMode="auto">
          <a:xfrm>
            <a:off x="5851525" y="4865688"/>
            <a:ext cx="104775" cy="19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sz="1100" b="1" i="0">
                <a:solidFill>
                  <a:srgbClr val="000000"/>
                </a:solidFill>
              </a:rPr>
              <a:t>.</a:t>
            </a:r>
            <a:endParaRPr lang="en-US" altLang="en-US" sz="2400"/>
          </a:p>
        </p:txBody>
      </p:sp>
      <p:sp>
        <p:nvSpPr>
          <p:cNvPr id="14379" name="Rectangle 70"/>
          <p:cNvSpPr>
            <a:spLocks noChangeArrowheads="1"/>
          </p:cNvSpPr>
          <p:nvPr/>
        </p:nvSpPr>
        <p:spPr bwMode="auto">
          <a:xfrm>
            <a:off x="7007225" y="4865688"/>
            <a:ext cx="104775" cy="19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sz="1100" b="1" i="0">
                <a:solidFill>
                  <a:srgbClr val="000000"/>
                </a:solidFill>
              </a:rPr>
              <a:t>.</a:t>
            </a:r>
            <a:endParaRPr lang="en-US" altLang="en-US" sz="2400"/>
          </a:p>
        </p:txBody>
      </p:sp>
      <p:sp>
        <p:nvSpPr>
          <p:cNvPr id="14380" name="Rectangle 71"/>
          <p:cNvSpPr>
            <a:spLocks noChangeArrowheads="1"/>
          </p:cNvSpPr>
          <p:nvPr/>
        </p:nvSpPr>
        <p:spPr bwMode="auto">
          <a:xfrm>
            <a:off x="8153400" y="4759325"/>
            <a:ext cx="16827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sz="2000" b="1" i="0">
                <a:solidFill>
                  <a:srgbClr val="000000"/>
                </a:solidFill>
                <a:latin typeface="Arial Narrow" pitchFamily="34" charset="0"/>
              </a:rPr>
              <a:t>.</a:t>
            </a:r>
            <a:endParaRPr lang="en-US" altLang="en-US" sz="2400"/>
          </a:p>
        </p:txBody>
      </p:sp>
      <p:sp>
        <p:nvSpPr>
          <p:cNvPr id="14381" name="Rectangle 72"/>
          <p:cNvSpPr>
            <a:spLocks noChangeArrowheads="1"/>
          </p:cNvSpPr>
          <p:nvPr/>
        </p:nvSpPr>
        <p:spPr bwMode="auto">
          <a:xfrm>
            <a:off x="1697038" y="5114925"/>
            <a:ext cx="34766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sz="2000" b="1" i="0">
                <a:solidFill>
                  <a:srgbClr val="000000"/>
                </a:solidFill>
                <a:latin typeface="Arial Narrow" pitchFamily="34" charset="0"/>
              </a:rPr>
              <a:t>100</a:t>
            </a:r>
            <a:endParaRPr lang="en-US" altLang="en-US" sz="2400"/>
          </a:p>
        </p:txBody>
      </p:sp>
      <p:sp>
        <p:nvSpPr>
          <p:cNvPr id="14382" name="Rectangle 73"/>
          <p:cNvSpPr>
            <a:spLocks noChangeArrowheads="1"/>
          </p:cNvSpPr>
          <p:nvPr/>
        </p:nvSpPr>
        <p:spPr bwMode="auto">
          <a:xfrm>
            <a:off x="3295650" y="5114925"/>
            <a:ext cx="6365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sz="2000" b="1" i="0">
                <a:solidFill>
                  <a:srgbClr val="000000"/>
                </a:solidFill>
                <a:latin typeface="Arial Narrow" pitchFamily="34" charset="0"/>
              </a:rPr>
              <a:t>1.2901</a:t>
            </a:r>
            <a:endParaRPr lang="en-US" altLang="en-US" sz="2400"/>
          </a:p>
        </p:txBody>
      </p:sp>
      <p:sp>
        <p:nvSpPr>
          <p:cNvPr id="14383" name="Rectangle 74"/>
          <p:cNvSpPr>
            <a:spLocks noChangeArrowheads="1"/>
          </p:cNvSpPr>
          <p:nvPr/>
        </p:nvSpPr>
        <p:spPr bwMode="auto">
          <a:xfrm>
            <a:off x="4452938" y="5114925"/>
            <a:ext cx="6365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sz="2000" b="1" i="0">
                <a:solidFill>
                  <a:srgbClr val="000000"/>
                </a:solidFill>
                <a:latin typeface="Arial Narrow" pitchFamily="34" charset="0"/>
              </a:rPr>
              <a:t>1.6604</a:t>
            </a:r>
            <a:endParaRPr lang="en-US" altLang="en-US" sz="2400"/>
          </a:p>
        </p:txBody>
      </p:sp>
      <p:sp>
        <p:nvSpPr>
          <p:cNvPr id="14384" name="Rectangle 75"/>
          <p:cNvSpPr>
            <a:spLocks noChangeArrowheads="1"/>
          </p:cNvSpPr>
          <p:nvPr/>
        </p:nvSpPr>
        <p:spPr bwMode="auto">
          <a:xfrm>
            <a:off x="5608638" y="5114925"/>
            <a:ext cx="6365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sz="2000" b="1" i="0">
                <a:solidFill>
                  <a:srgbClr val="000000"/>
                </a:solidFill>
                <a:latin typeface="Arial Narrow" pitchFamily="34" charset="0"/>
              </a:rPr>
              <a:t>1.9840</a:t>
            </a:r>
            <a:endParaRPr lang="en-US" altLang="en-US" sz="2400"/>
          </a:p>
        </p:txBody>
      </p:sp>
      <p:sp>
        <p:nvSpPr>
          <p:cNvPr id="14385" name="Rectangle 76"/>
          <p:cNvSpPr>
            <a:spLocks noChangeArrowheads="1"/>
          </p:cNvSpPr>
          <p:nvPr/>
        </p:nvSpPr>
        <p:spPr bwMode="auto">
          <a:xfrm>
            <a:off x="6765925" y="5114925"/>
            <a:ext cx="6365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sz="2000" b="1" i="0">
                <a:solidFill>
                  <a:srgbClr val="000000"/>
                </a:solidFill>
                <a:latin typeface="Arial Narrow" pitchFamily="34" charset="0"/>
              </a:rPr>
              <a:t>2.3642</a:t>
            </a:r>
            <a:endParaRPr lang="en-US" altLang="en-US" sz="2400"/>
          </a:p>
        </p:txBody>
      </p:sp>
      <p:sp>
        <p:nvSpPr>
          <p:cNvPr id="14386" name="Rectangle 77"/>
          <p:cNvSpPr>
            <a:spLocks noChangeArrowheads="1"/>
          </p:cNvSpPr>
          <p:nvPr/>
        </p:nvSpPr>
        <p:spPr bwMode="auto">
          <a:xfrm>
            <a:off x="7921625" y="5114925"/>
            <a:ext cx="6365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sz="2000" b="1" i="0">
                <a:solidFill>
                  <a:srgbClr val="000000"/>
                </a:solidFill>
                <a:latin typeface="Arial Narrow" pitchFamily="34" charset="0"/>
              </a:rPr>
              <a:t>2.6259</a:t>
            </a:r>
            <a:endParaRPr lang="en-US" altLang="en-US" sz="2400"/>
          </a:p>
        </p:txBody>
      </p:sp>
      <p:sp>
        <p:nvSpPr>
          <p:cNvPr id="14387" name="Rectangle 78"/>
          <p:cNvSpPr>
            <a:spLocks noChangeArrowheads="1"/>
          </p:cNvSpPr>
          <p:nvPr/>
        </p:nvSpPr>
        <p:spPr bwMode="auto">
          <a:xfrm>
            <a:off x="3295650" y="5470525"/>
            <a:ext cx="652463"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sz="2000" b="1" i="0">
                <a:solidFill>
                  <a:srgbClr val="000000"/>
                </a:solidFill>
                <a:latin typeface="Arial Narrow" pitchFamily="34" charset="0"/>
              </a:rPr>
              <a:t>1.282</a:t>
            </a:r>
            <a:endParaRPr lang="en-US" altLang="en-US" sz="2400"/>
          </a:p>
        </p:txBody>
      </p:sp>
      <p:sp>
        <p:nvSpPr>
          <p:cNvPr id="14388" name="Rectangle 79"/>
          <p:cNvSpPr>
            <a:spLocks noChangeArrowheads="1"/>
          </p:cNvSpPr>
          <p:nvPr/>
        </p:nvSpPr>
        <p:spPr bwMode="auto">
          <a:xfrm>
            <a:off x="4452938" y="5470525"/>
            <a:ext cx="6365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sz="2000" b="1" i="0">
                <a:solidFill>
                  <a:srgbClr val="000000"/>
                </a:solidFill>
                <a:latin typeface="Arial Narrow" pitchFamily="34" charset="0"/>
              </a:rPr>
              <a:t>1.6449</a:t>
            </a:r>
            <a:endParaRPr lang="en-US" altLang="en-US" sz="2400"/>
          </a:p>
        </p:txBody>
      </p:sp>
      <p:sp>
        <p:nvSpPr>
          <p:cNvPr id="14389" name="Rectangle 80"/>
          <p:cNvSpPr>
            <a:spLocks noChangeArrowheads="1"/>
          </p:cNvSpPr>
          <p:nvPr/>
        </p:nvSpPr>
        <p:spPr bwMode="auto">
          <a:xfrm>
            <a:off x="5672138" y="5470525"/>
            <a:ext cx="6365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sz="2000" b="1" i="0">
                <a:solidFill>
                  <a:srgbClr val="000000"/>
                </a:solidFill>
                <a:latin typeface="Arial Narrow" pitchFamily="34" charset="0"/>
              </a:rPr>
              <a:t>1.9600</a:t>
            </a:r>
            <a:endParaRPr lang="en-US" altLang="en-US" sz="2400"/>
          </a:p>
        </p:txBody>
      </p:sp>
      <p:sp>
        <p:nvSpPr>
          <p:cNvPr id="14390" name="Rectangle 81"/>
          <p:cNvSpPr>
            <a:spLocks noChangeArrowheads="1"/>
          </p:cNvSpPr>
          <p:nvPr/>
        </p:nvSpPr>
        <p:spPr bwMode="auto">
          <a:xfrm>
            <a:off x="6765925" y="5470525"/>
            <a:ext cx="6365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sz="2000" b="1" i="0">
                <a:solidFill>
                  <a:srgbClr val="000000"/>
                </a:solidFill>
                <a:latin typeface="Arial Narrow" pitchFamily="34" charset="0"/>
              </a:rPr>
              <a:t>2.3263</a:t>
            </a:r>
            <a:endParaRPr lang="en-US" altLang="en-US" sz="2400"/>
          </a:p>
        </p:txBody>
      </p:sp>
      <p:sp>
        <p:nvSpPr>
          <p:cNvPr id="14391" name="Rectangle 82"/>
          <p:cNvSpPr>
            <a:spLocks noChangeArrowheads="1"/>
          </p:cNvSpPr>
          <p:nvPr/>
        </p:nvSpPr>
        <p:spPr bwMode="auto">
          <a:xfrm>
            <a:off x="7921625" y="5470525"/>
            <a:ext cx="6365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sz="2000" b="1" i="0">
                <a:solidFill>
                  <a:srgbClr val="000000"/>
                </a:solidFill>
                <a:latin typeface="Arial Narrow" pitchFamily="34" charset="0"/>
              </a:rPr>
              <a:t>2.5758</a:t>
            </a:r>
            <a:endParaRPr lang="en-US" altLang="en-US" sz="2400"/>
          </a:p>
        </p:txBody>
      </p:sp>
      <p:sp>
        <p:nvSpPr>
          <p:cNvPr id="14392" name="Line 83"/>
          <p:cNvSpPr>
            <a:spLocks noChangeShapeType="1"/>
          </p:cNvSpPr>
          <p:nvPr/>
        </p:nvSpPr>
        <p:spPr bwMode="auto">
          <a:xfrm>
            <a:off x="762000" y="2720975"/>
            <a:ext cx="1588" cy="30718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93" name="Rectangle 84"/>
          <p:cNvSpPr>
            <a:spLocks noChangeArrowheads="1"/>
          </p:cNvSpPr>
          <p:nvPr/>
        </p:nvSpPr>
        <p:spPr bwMode="auto">
          <a:xfrm>
            <a:off x="762000" y="2720975"/>
            <a:ext cx="11113" cy="30718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endParaRPr lang="en-US" altLang="en-US" sz="2400"/>
          </a:p>
        </p:txBody>
      </p:sp>
      <p:sp>
        <p:nvSpPr>
          <p:cNvPr id="14394" name="Line 85"/>
          <p:cNvSpPr>
            <a:spLocks noChangeShapeType="1"/>
          </p:cNvSpPr>
          <p:nvPr/>
        </p:nvSpPr>
        <p:spPr bwMode="auto">
          <a:xfrm>
            <a:off x="2970213" y="2732088"/>
            <a:ext cx="1587" cy="30607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95" name="Rectangle 86"/>
          <p:cNvSpPr>
            <a:spLocks noChangeArrowheads="1"/>
          </p:cNvSpPr>
          <p:nvPr/>
        </p:nvSpPr>
        <p:spPr bwMode="auto">
          <a:xfrm>
            <a:off x="2970213" y="2732088"/>
            <a:ext cx="9525" cy="3060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endParaRPr lang="en-US" altLang="en-US" sz="2400"/>
          </a:p>
        </p:txBody>
      </p:sp>
      <p:sp>
        <p:nvSpPr>
          <p:cNvPr id="14396" name="Line 87"/>
          <p:cNvSpPr>
            <a:spLocks noChangeShapeType="1"/>
          </p:cNvSpPr>
          <p:nvPr/>
        </p:nvSpPr>
        <p:spPr bwMode="auto">
          <a:xfrm>
            <a:off x="8751888" y="2732088"/>
            <a:ext cx="1587" cy="30607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97" name="Rectangle 88"/>
          <p:cNvSpPr>
            <a:spLocks noChangeArrowheads="1"/>
          </p:cNvSpPr>
          <p:nvPr/>
        </p:nvSpPr>
        <p:spPr bwMode="auto">
          <a:xfrm>
            <a:off x="8751888" y="2732088"/>
            <a:ext cx="11112" cy="3060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endParaRPr lang="en-US" altLang="en-US" sz="2400"/>
          </a:p>
        </p:txBody>
      </p:sp>
      <p:sp>
        <p:nvSpPr>
          <p:cNvPr id="14398" name="Line 89"/>
          <p:cNvSpPr>
            <a:spLocks noChangeShapeType="1"/>
          </p:cNvSpPr>
          <p:nvPr/>
        </p:nvSpPr>
        <p:spPr bwMode="auto">
          <a:xfrm>
            <a:off x="773113" y="2720975"/>
            <a:ext cx="7989887"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99" name="Rectangle 90"/>
          <p:cNvSpPr>
            <a:spLocks noChangeArrowheads="1"/>
          </p:cNvSpPr>
          <p:nvPr/>
        </p:nvSpPr>
        <p:spPr bwMode="auto">
          <a:xfrm>
            <a:off x="773113" y="2720975"/>
            <a:ext cx="7989887" cy="11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endParaRPr lang="en-US" altLang="en-US" sz="2400"/>
          </a:p>
        </p:txBody>
      </p:sp>
      <p:sp>
        <p:nvSpPr>
          <p:cNvPr id="14400" name="Line 91"/>
          <p:cNvSpPr>
            <a:spLocks noChangeShapeType="1"/>
          </p:cNvSpPr>
          <p:nvPr/>
        </p:nvSpPr>
        <p:spPr bwMode="auto">
          <a:xfrm>
            <a:off x="773113" y="3076575"/>
            <a:ext cx="7989887"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401" name="Rectangle 92"/>
          <p:cNvSpPr>
            <a:spLocks noChangeArrowheads="1"/>
          </p:cNvSpPr>
          <p:nvPr/>
        </p:nvSpPr>
        <p:spPr bwMode="auto">
          <a:xfrm>
            <a:off x="773113" y="3076575"/>
            <a:ext cx="7989887" cy="11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endParaRPr lang="en-US" altLang="en-US" sz="2400"/>
          </a:p>
        </p:txBody>
      </p:sp>
      <p:sp>
        <p:nvSpPr>
          <p:cNvPr id="14402" name="Line 93"/>
          <p:cNvSpPr>
            <a:spLocks noChangeShapeType="1"/>
          </p:cNvSpPr>
          <p:nvPr/>
        </p:nvSpPr>
        <p:spPr bwMode="auto">
          <a:xfrm>
            <a:off x="773113" y="5783263"/>
            <a:ext cx="7989887"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403" name="Rectangle 94"/>
          <p:cNvSpPr>
            <a:spLocks noChangeArrowheads="1"/>
          </p:cNvSpPr>
          <p:nvPr/>
        </p:nvSpPr>
        <p:spPr bwMode="auto">
          <a:xfrm>
            <a:off x="773113" y="5783263"/>
            <a:ext cx="7989887"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endParaRPr lang="en-US" altLang="en-US" sz="2400"/>
          </a:p>
        </p:txBody>
      </p:sp>
      <p:sp>
        <p:nvSpPr>
          <p:cNvPr id="24579" name="AutoShape 3"/>
          <p:cNvSpPr>
            <a:spLocks noChangeArrowheads="1"/>
          </p:cNvSpPr>
          <p:nvPr/>
        </p:nvSpPr>
        <p:spPr bwMode="auto">
          <a:xfrm>
            <a:off x="1600200" y="4267200"/>
            <a:ext cx="3581400" cy="396875"/>
          </a:xfrm>
          <a:prstGeom prst="roundRect">
            <a:avLst>
              <a:gd name="adj" fmla="val 16667"/>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endParaRPr lang="en-US" altLang="en-US" sz="2400"/>
          </a:p>
        </p:txBody>
      </p:sp>
      <p:sp>
        <p:nvSpPr>
          <p:cNvPr id="24580" name="AutoShape 4"/>
          <p:cNvSpPr>
            <a:spLocks noChangeArrowheads="1"/>
          </p:cNvSpPr>
          <p:nvPr/>
        </p:nvSpPr>
        <p:spPr bwMode="auto">
          <a:xfrm>
            <a:off x="4343400" y="2819400"/>
            <a:ext cx="742950" cy="3048000"/>
          </a:xfrm>
          <a:prstGeom prst="roundRect">
            <a:avLst>
              <a:gd name="adj" fmla="val 16667"/>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endParaRPr lang="en-US" altLang="en-US" sz="2400"/>
          </a:p>
        </p:txBody>
      </p:sp>
      <p:graphicFrame>
        <p:nvGraphicFramePr>
          <p:cNvPr id="14406" name="Object 0"/>
          <p:cNvGraphicFramePr>
            <a:graphicFrameLocks noChangeAspect="1"/>
          </p:cNvGraphicFramePr>
          <p:nvPr/>
        </p:nvGraphicFramePr>
        <p:xfrm>
          <a:off x="1676400" y="5486400"/>
          <a:ext cx="457200" cy="322263"/>
        </p:xfrm>
        <a:graphic>
          <a:graphicData uri="http://schemas.openxmlformats.org/presentationml/2006/ole">
            <mc:AlternateContent xmlns:mc="http://schemas.openxmlformats.org/markup-compatibility/2006">
              <mc:Choice xmlns:v="urn:schemas-microsoft-com:vml" Requires="v">
                <p:oleObj spid="_x0000_s14456" name="Equation" r:id="rId3" imgW="139579" imgH="114201" progId="Equation.3">
                  <p:embed/>
                </p:oleObj>
              </mc:Choice>
              <mc:Fallback>
                <p:oleObj name="Equation" r:id="rId3" imgW="139579" imgH="114201" progId="Equation.3">
                  <p:embed/>
                  <p:pic>
                    <p:nvPicPr>
                      <p:cNvPr id="0" name="Object 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76400" y="5486400"/>
                        <a:ext cx="457200" cy="322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407" name="Text Box 16"/>
          <p:cNvSpPr txBox="1">
            <a:spLocks noChangeArrowheads="1"/>
          </p:cNvSpPr>
          <p:nvPr/>
        </p:nvSpPr>
        <p:spPr bwMode="auto">
          <a:xfrm>
            <a:off x="3429000" y="2743200"/>
            <a:ext cx="55086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sz="1800" b="1" i="0">
                <a:latin typeface="Arial Narrow" pitchFamily="34" charset="0"/>
              </a:rPr>
              <a:t>0.80</a:t>
            </a:r>
            <a:endParaRPr lang="en-US" altLang="en-US" sz="1800" i="0">
              <a:latin typeface="Arial Narrow" pitchFamily="34" charset="0"/>
            </a:endParaRPr>
          </a:p>
        </p:txBody>
      </p:sp>
      <p:sp>
        <p:nvSpPr>
          <p:cNvPr id="14408" name="Text Box 17"/>
          <p:cNvSpPr txBox="1">
            <a:spLocks noChangeArrowheads="1"/>
          </p:cNvSpPr>
          <p:nvPr/>
        </p:nvSpPr>
        <p:spPr bwMode="auto">
          <a:xfrm>
            <a:off x="4495800" y="2757488"/>
            <a:ext cx="55086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sz="1800" b="1" i="0">
                <a:latin typeface="Arial Narrow" pitchFamily="34" charset="0"/>
              </a:rPr>
              <a:t>0.90</a:t>
            </a:r>
          </a:p>
        </p:txBody>
      </p:sp>
      <p:sp>
        <p:nvSpPr>
          <p:cNvPr id="14409" name="Text Box 18"/>
          <p:cNvSpPr txBox="1">
            <a:spLocks noChangeArrowheads="1"/>
          </p:cNvSpPr>
          <p:nvPr/>
        </p:nvSpPr>
        <p:spPr bwMode="auto">
          <a:xfrm>
            <a:off x="5486400" y="2743200"/>
            <a:ext cx="55086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sz="1800" b="1" i="0">
                <a:latin typeface="Arial Narrow" pitchFamily="34" charset="0"/>
              </a:rPr>
              <a:t>0.95</a:t>
            </a:r>
          </a:p>
        </p:txBody>
      </p:sp>
      <p:sp>
        <p:nvSpPr>
          <p:cNvPr id="14410" name="Text Box 19"/>
          <p:cNvSpPr txBox="1">
            <a:spLocks noChangeArrowheads="1"/>
          </p:cNvSpPr>
          <p:nvPr/>
        </p:nvSpPr>
        <p:spPr bwMode="auto">
          <a:xfrm>
            <a:off x="6553200" y="2743200"/>
            <a:ext cx="55086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sz="1800" b="1" i="0">
                <a:latin typeface="Arial Narrow" pitchFamily="34" charset="0"/>
              </a:rPr>
              <a:t>0.98</a:t>
            </a:r>
          </a:p>
        </p:txBody>
      </p:sp>
      <p:sp>
        <p:nvSpPr>
          <p:cNvPr id="14411" name="Text Box 20"/>
          <p:cNvSpPr txBox="1">
            <a:spLocks noChangeArrowheads="1"/>
          </p:cNvSpPr>
          <p:nvPr/>
        </p:nvSpPr>
        <p:spPr bwMode="auto">
          <a:xfrm>
            <a:off x="7543800" y="2743200"/>
            <a:ext cx="55086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sz="1800" b="1" i="0">
                <a:latin typeface="Arial Narrow" pitchFamily="34" charset="0"/>
              </a:rPr>
              <a:t>0.99</a:t>
            </a:r>
            <a:endParaRPr lang="en-US" altLang="en-US" sz="1800" i="0">
              <a:latin typeface="Arial Narrow" pitchFamily="34" charset="0"/>
            </a:endParaRPr>
          </a:p>
        </p:txBody>
      </p:sp>
      <p:grpSp>
        <p:nvGrpSpPr>
          <p:cNvPr id="2" name="Group 24"/>
          <p:cNvGrpSpPr>
            <a:grpSpLocks/>
          </p:cNvGrpSpPr>
          <p:nvPr/>
        </p:nvGrpSpPr>
        <p:grpSpPr bwMode="auto">
          <a:xfrm rot="5400000">
            <a:off x="914400" y="3581400"/>
            <a:ext cx="1066800" cy="304800"/>
            <a:chOff x="641" y="2033"/>
            <a:chExt cx="493" cy="143"/>
          </a:xfrm>
        </p:grpSpPr>
        <p:sp>
          <p:nvSpPr>
            <p:cNvPr id="14416" name="Rectangle 25"/>
            <p:cNvSpPr>
              <a:spLocks noChangeArrowheads="1"/>
            </p:cNvSpPr>
            <p:nvPr/>
          </p:nvSpPr>
          <p:spPr bwMode="auto">
            <a:xfrm>
              <a:off x="641" y="2033"/>
              <a:ext cx="493" cy="143"/>
            </a:xfrm>
            <a:prstGeom prst="rect">
              <a:avLst/>
            </a:prstGeom>
            <a:solidFill>
              <a:srgbClr val="000000"/>
            </a:solidFill>
            <a:ln w="17463">
              <a:solidFill>
                <a:srgbClr val="C0C0C0"/>
              </a:solidFill>
              <a:miter lim="800000"/>
              <a:headEnd/>
              <a:tailEnd/>
            </a:ln>
          </p:spPr>
          <p:txBody>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endParaRPr lang="en-US" altLang="en-US" sz="2400"/>
            </a:p>
          </p:txBody>
        </p:sp>
        <p:sp>
          <p:nvSpPr>
            <p:cNvPr id="14417" name="Freeform 26"/>
            <p:cNvSpPr>
              <a:spLocks/>
            </p:cNvSpPr>
            <p:nvPr/>
          </p:nvSpPr>
          <p:spPr bwMode="auto">
            <a:xfrm>
              <a:off x="653" y="2036"/>
              <a:ext cx="473" cy="137"/>
            </a:xfrm>
            <a:custGeom>
              <a:avLst/>
              <a:gdLst>
                <a:gd name="T0" fmla="*/ 0 w 2836"/>
                <a:gd name="T1" fmla="*/ 0 h 818"/>
                <a:gd name="T2" fmla="*/ 0 w 2836"/>
                <a:gd name="T3" fmla="*/ 0 h 818"/>
                <a:gd name="T4" fmla="*/ 0 w 2836"/>
                <a:gd name="T5" fmla="*/ 0 h 818"/>
                <a:gd name="T6" fmla="*/ 0 w 2836"/>
                <a:gd name="T7" fmla="*/ 0 h 818"/>
                <a:gd name="T8" fmla="*/ 0 w 2836"/>
                <a:gd name="T9" fmla="*/ 0 h 818"/>
                <a:gd name="T10" fmla="*/ 0 w 2836"/>
                <a:gd name="T11" fmla="*/ 0 h 818"/>
                <a:gd name="T12" fmla="*/ 0 w 2836"/>
                <a:gd name="T13" fmla="*/ 0 h 818"/>
                <a:gd name="T14" fmla="*/ 0 w 2836"/>
                <a:gd name="T15" fmla="*/ 0 h 818"/>
                <a:gd name="T16" fmla="*/ 0 60000 65536"/>
                <a:gd name="T17" fmla="*/ 0 60000 65536"/>
                <a:gd name="T18" fmla="*/ 0 60000 65536"/>
                <a:gd name="T19" fmla="*/ 0 60000 65536"/>
                <a:gd name="T20" fmla="*/ 0 60000 65536"/>
                <a:gd name="T21" fmla="*/ 0 60000 65536"/>
                <a:gd name="T22" fmla="*/ 0 60000 65536"/>
                <a:gd name="T23" fmla="*/ 0 60000 65536"/>
                <a:gd name="T24" fmla="*/ 0 w 2836"/>
                <a:gd name="T25" fmla="*/ 0 h 818"/>
                <a:gd name="T26" fmla="*/ 2836 w 2836"/>
                <a:gd name="T27" fmla="*/ 818 h 81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836" h="818">
                  <a:moveTo>
                    <a:pt x="0" y="132"/>
                  </a:moveTo>
                  <a:lnTo>
                    <a:pt x="2386" y="132"/>
                  </a:lnTo>
                  <a:lnTo>
                    <a:pt x="2386" y="0"/>
                  </a:lnTo>
                  <a:lnTo>
                    <a:pt x="2836" y="422"/>
                  </a:lnTo>
                  <a:lnTo>
                    <a:pt x="2386" y="818"/>
                  </a:lnTo>
                  <a:lnTo>
                    <a:pt x="2386" y="685"/>
                  </a:lnTo>
                  <a:lnTo>
                    <a:pt x="0" y="685"/>
                  </a:lnTo>
                  <a:lnTo>
                    <a:pt x="0" y="132"/>
                  </a:lnTo>
                  <a:close/>
                </a:path>
              </a:pathLst>
            </a:custGeom>
            <a:solidFill>
              <a:srgbClr val="FFFFFF"/>
            </a:solidFill>
            <a:ln w="9525">
              <a:solidFill>
                <a:srgbClr val="C0C0C0"/>
              </a:solidFill>
              <a:round/>
              <a:headEnd/>
              <a:tailEnd/>
            </a:ln>
          </p:spPr>
          <p:txBody>
            <a:bodyPr/>
            <a:lstStyle/>
            <a:p>
              <a:endParaRPr lang="en-US"/>
            </a:p>
          </p:txBody>
        </p:sp>
      </p:grpSp>
      <p:sp>
        <p:nvSpPr>
          <p:cNvPr id="14413" name="Rectangle 95"/>
          <p:cNvSpPr>
            <a:spLocks noGrp="1" noChangeArrowheads="1"/>
          </p:cNvSpPr>
          <p:nvPr>
            <p:ph type="title"/>
          </p:nvPr>
        </p:nvSpPr>
        <p:spPr>
          <a:xfrm>
            <a:off x="685800" y="152400"/>
            <a:ext cx="8001000" cy="1371600"/>
          </a:xfrm>
        </p:spPr>
        <p:txBody>
          <a:bodyPr/>
          <a:lstStyle/>
          <a:p>
            <a:r>
              <a:rPr lang="en-US" altLang="en-US" sz="4000" i="0" dirty="0" smtClean="0"/>
              <a:t>t-Table: back of text</a:t>
            </a:r>
          </a:p>
        </p:txBody>
      </p:sp>
      <p:sp>
        <p:nvSpPr>
          <p:cNvPr id="14414" name="Rectangle 96"/>
          <p:cNvSpPr>
            <a:spLocks noGrp="1" noChangeArrowheads="1"/>
          </p:cNvSpPr>
          <p:nvPr>
            <p:ph idx="1"/>
          </p:nvPr>
        </p:nvSpPr>
        <p:spPr>
          <a:xfrm>
            <a:off x="685800" y="1981200"/>
            <a:ext cx="7772400" cy="4876800"/>
          </a:xfrm>
        </p:spPr>
        <p:txBody>
          <a:bodyPr/>
          <a:lstStyle/>
          <a:p>
            <a:r>
              <a:rPr lang="en-US" altLang="en-US" dirty="0" smtClean="0"/>
              <a:t>90% confidence interval; </a:t>
            </a:r>
            <a:r>
              <a:rPr lang="en-US" altLang="en-US" dirty="0" err="1" smtClean="0"/>
              <a:t>df</a:t>
            </a:r>
            <a:r>
              <a:rPr lang="en-US" altLang="en-US" dirty="0" smtClean="0"/>
              <a:t> = n-1 = 10</a:t>
            </a:r>
          </a:p>
        </p:txBody>
      </p:sp>
      <p:graphicFrame>
        <p:nvGraphicFramePr>
          <p:cNvPr id="14415" name="Object 1"/>
          <p:cNvGraphicFramePr>
            <a:graphicFrameLocks noChangeAspect="1"/>
          </p:cNvGraphicFramePr>
          <p:nvPr/>
        </p:nvGraphicFramePr>
        <p:xfrm>
          <a:off x="1066800" y="5791200"/>
          <a:ext cx="5486400" cy="838200"/>
        </p:xfrm>
        <a:graphic>
          <a:graphicData uri="http://schemas.openxmlformats.org/presentationml/2006/ole">
            <mc:AlternateContent xmlns:mc="http://schemas.openxmlformats.org/markup-compatibility/2006">
              <mc:Choice xmlns:v="urn:schemas-microsoft-com:vml" Requires="v">
                <p:oleObj spid="_x0000_s14457" name="Equation" r:id="rId5" imgW="2501900" imgH="419100" progId="Equation.3">
                  <p:embed/>
                </p:oleObj>
              </mc:Choice>
              <mc:Fallback>
                <p:oleObj name="Equation" r:id="rId5" imgW="2501900" imgH="419100" progId="Equation.3">
                  <p:embed/>
                  <p:pic>
                    <p:nvPicPr>
                      <p:cNvPr id="0"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66800" y="5791200"/>
                        <a:ext cx="5486400" cy="838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spd="slow">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 fill="hold" grpId="0" nodeType="afterEffect">
                                  <p:stCondLst>
                                    <p:cond delay="500"/>
                                  </p:stCondLst>
                                  <p:childTnLst>
                                    <p:set>
                                      <p:cBhvr>
                                        <p:cTn id="6" dur="1" fill="hold">
                                          <p:stCondLst>
                                            <p:cond delay="0"/>
                                          </p:stCondLst>
                                        </p:cTn>
                                        <p:tgtEl>
                                          <p:spTgt spid="24580"/>
                                        </p:tgtEl>
                                        <p:attrNameLst>
                                          <p:attrName>style.visibility</p:attrName>
                                        </p:attrNameLst>
                                      </p:cBhvr>
                                      <p:to>
                                        <p:strVal val="visible"/>
                                      </p:to>
                                    </p:set>
                                    <p:anim calcmode="lin" valueType="num">
                                      <p:cBhvr>
                                        <p:cTn id="7" dur="500" fill="hold"/>
                                        <p:tgtEl>
                                          <p:spTgt spid="24580"/>
                                        </p:tgtEl>
                                        <p:attrNameLst>
                                          <p:attrName>ppt_x</p:attrName>
                                        </p:attrNameLst>
                                      </p:cBhvr>
                                      <p:tavLst>
                                        <p:tav tm="0">
                                          <p:val>
                                            <p:strVal val="#ppt_x"/>
                                          </p:val>
                                        </p:tav>
                                        <p:tav tm="100000">
                                          <p:val>
                                            <p:strVal val="#ppt_x"/>
                                          </p:val>
                                        </p:tav>
                                      </p:tavLst>
                                    </p:anim>
                                    <p:anim calcmode="lin" valueType="num">
                                      <p:cBhvr>
                                        <p:cTn id="8" dur="500" fill="hold"/>
                                        <p:tgtEl>
                                          <p:spTgt spid="24580"/>
                                        </p:tgtEl>
                                        <p:attrNameLst>
                                          <p:attrName>ppt_y</p:attrName>
                                        </p:attrNameLst>
                                      </p:cBhvr>
                                      <p:tavLst>
                                        <p:tav tm="0">
                                          <p:val>
                                            <p:strVal val="#ppt_y-#ppt_h/2"/>
                                          </p:val>
                                        </p:tav>
                                        <p:tav tm="100000">
                                          <p:val>
                                            <p:strVal val="#ppt_y"/>
                                          </p:val>
                                        </p:tav>
                                      </p:tavLst>
                                    </p:anim>
                                    <p:anim calcmode="lin" valueType="num">
                                      <p:cBhvr>
                                        <p:cTn id="9" dur="500" fill="hold"/>
                                        <p:tgtEl>
                                          <p:spTgt spid="24580"/>
                                        </p:tgtEl>
                                        <p:attrNameLst>
                                          <p:attrName>ppt_w</p:attrName>
                                        </p:attrNameLst>
                                      </p:cBhvr>
                                      <p:tavLst>
                                        <p:tav tm="0">
                                          <p:val>
                                            <p:strVal val="#ppt_w"/>
                                          </p:val>
                                        </p:tav>
                                        <p:tav tm="100000">
                                          <p:val>
                                            <p:strVal val="#ppt_w"/>
                                          </p:val>
                                        </p:tav>
                                      </p:tavLst>
                                    </p:anim>
                                    <p:anim calcmode="lin" valueType="num">
                                      <p:cBhvr>
                                        <p:cTn id="10" dur="500" fill="hold"/>
                                        <p:tgtEl>
                                          <p:spTgt spid="24580"/>
                                        </p:tgtEl>
                                        <p:attrNameLst>
                                          <p:attrName>ppt_h</p:attrName>
                                        </p:attrNameLst>
                                      </p:cBhvr>
                                      <p:tavLst>
                                        <p:tav tm="0">
                                          <p:val>
                                            <p:fltVal val="0"/>
                                          </p:val>
                                        </p:tav>
                                        <p:tav tm="100000">
                                          <p:val>
                                            <p:strVal val="#ppt_h"/>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17" presetClass="entr" presetSubtype="1"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anim calcmode="lin" valueType="num">
                                      <p:cBhvr>
                                        <p:cTn id="15" dur="500" fill="hold"/>
                                        <p:tgtEl>
                                          <p:spTgt spid="2"/>
                                        </p:tgtEl>
                                        <p:attrNameLst>
                                          <p:attrName>ppt_x</p:attrName>
                                        </p:attrNameLst>
                                      </p:cBhvr>
                                      <p:tavLst>
                                        <p:tav tm="0">
                                          <p:val>
                                            <p:strVal val="#ppt_x"/>
                                          </p:val>
                                        </p:tav>
                                        <p:tav tm="100000">
                                          <p:val>
                                            <p:strVal val="#ppt_x"/>
                                          </p:val>
                                        </p:tav>
                                      </p:tavLst>
                                    </p:anim>
                                    <p:anim calcmode="lin" valueType="num">
                                      <p:cBhvr>
                                        <p:cTn id="16" dur="500" fill="hold"/>
                                        <p:tgtEl>
                                          <p:spTgt spid="2"/>
                                        </p:tgtEl>
                                        <p:attrNameLst>
                                          <p:attrName>ppt_y</p:attrName>
                                        </p:attrNameLst>
                                      </p:cBhvr>
                                      <p:tavLst>
                                        <p:tav tm="0">
                                          <p:val>
                                            <p:strVal val="#ppt_y-#ppt_h/2"/>
                                          </p:val>
                                        </p:tav>
                                        <p:tav tm="100000">
                                          <p:val>
                                            <p:strVal val="#ppt_y"/>
                                          </p:val>
                                        </p:tav>
                                      </p:tavLst>
                                    </p:anim>
                                    <p:anim calcmode="lin" valueType="num">
                                      <p:cBhvr>
                                        <p:cTn id="17" dur="500" fill="hold"/>
                                        <p:tgtEl>
                                          <p:spTgt spid="2"/>
                                        </p:tgtEl>
                                        <p:attrNameLst>
                                          <p:attrName>ppt_w</p:attrName>
                                        </p:attrNameLst>
                                      </p:cBhvr>
                                      <p:tavLst>
                                        <p:tav tm="0">
                                          <p:val>
                                            <p:strVal val="#ppt_w"/>
                                          </p:val>
                                        </p:tav>
                                        <p:tav tm="100000">
                                          <p:val>
                                            <p:strVal val="#ppt_w"/>
                                          </p:val>
                                        </p:tav>
                                      </p:tavLst>
                                    </p:anim>
                                    <p:anim calcmode="lin" valueType="num">
                                      <p:cBhvr>
                                        <p:cTn id="18" dur="500" fill="hold"/>
                                        <p:tgtEl>
                                          <p:spTgt spid="2"/>
                                        </p:tgtEl>
                                        <p:attrNameLst>
                                          <p:attrName>ppt_h</p:attrName>
                                        </p:attrNameLst>
                                      </p:cBhvr>
                                      <p:tavLst>
                                        <p:tav tm="0">
                                          <p:val>
                                            <p:fltVal val="0"/>
                                          </p:val>
                                        </p:tav>
                                        <p:tav tm="100000">
                                          <p:val>
                                            <p:strVal val="#ppt_h"/>
                                          </p:val>
                                        </p:tav>
                                      </p:tavLst>
                                    </p:anim>
                                  </p:childTnLst>
                                </p:cTn>
                              </p:par>
                            </p:childTnLst>
                          </p:cTn>
                        </p:par>
                        <p:par>
                          <p:cTn id="19" fill="hold" nodeType="afterGroup">
                            <p:stCondLst>
                              <p:cond delay="500"/>
                            </p:stCondLst>
                            <p:childTnLst>
                              <p:par>
                                <p:cTn id="20" presetID="17" presetClass="entr" presetSubtype="8" fill="hold" grpId="0" nodeType="afterEffect">
                                  <p:stCondLst>
                                    <p:cond delay="0"/>
                                  </p:stCondLst>
                                  <p:childTnLst>
                                    <p:set>
                                      <p:cBhvr>
                                        <p:cTn id="21" dur="1" fill="hold">
                                          <p:stCondLst>
                                            <p:cond delay="0"/>
                                          </p:stCondLst>
                                        </p:cTn>
                                        <p:tgtEl>
                                          <p:spTgt spid="24579"/>
                                        </p:tgtEl>
                                        <p:attrNameLst>
                                          <p:attrName>style.visibility</p:attrName>
                                        </p:attrNameLst>
                                      </p:cBhvr>
                                      <p:to>
                                        <p:strVal val="visible"/>
                                      </p:to>
                                    </p:set>
                                    <p:anim calcmode="lin" valueType="num">
                                      <p:cBhvr>
                                        <p:cTn id="22" dur="500" fill="hold"/>
                                        <p:tgtEl>
                                          <p:spTgt spid="24579"/>
                                        </p:tgtEl>
                                        <p:attrNameLst>
                                          <p:attrName>ppt_x</p:attrName>
                                        </p:attrNameLst>
                                      </p:cBhvr>
                                      <p:tavLst>
                                        <p:tav tm="0">
                                          <p:val>
                                            <p:strVal val="#ppt_x-#ppt_w/2"/>
                                          </p:val>
                                        </p:tav>
                                        <p:tav tm="100000">
                                          <p:val>
                                            <p:strVal val="#ppt_x"/>
                                          </p:val>
                                        </p:tav>
                                      </p:tavLst>
                                    </p:anim>
                                    <p:anim calcmode="lin" valueType="num">
                                      <p:cBhvr>
                                        <p:cTn id="23" dur="500" fill="hold"/>
                                        <p:tgtEl>
                                          <p:spTgt spid="24579"/>
                                        </p:tgtEl>
                                        <p:attrNameLst>
                                          <p:attrName>ppt_y</p:attrName>
                                        </p:attrNameLst>
                                      </p:cBhvr>
                                      <p:tavLst>
                                        <p:tav tm="0">
                                          <p:val>
                                            <p:strVal val="#ppt_y"/>
                                          </p:val>
                                        </p:tav>
                                        <p:tav tm="100000">
                                          <p:val>
                                            <p:strVal val="#ppt_y"/>
                                          </p:val>
                                        </p:tav>
                                      </p:tavLst>
                                    </p:anim>
                                    <p:anim calcmode="lin" valueType="num">
                                      <p:cBhvr>
                                        <p:cTn id="24" dur="500" fill="hold"/>
                                        <p:tgtEl>
                                          <p:spTgt spid="24579"/>
                                        </p:tgtEl>
                                        <p:attrNameLst>
                                          <p:attrName>ppt_w</p:attrName>
                                        </p:attrNameLst>
                                      </p:cBhvr>
                                      <p:tavLst>
                                        <p:tav tm="0">
                                          <p:val>
                                            <p:fltVal val="0"/>
                                          </p:val>
                                        </p:tav>
                                        <p:tav tm="100000">
                                          <p:val>
                                            <p:strVal val="#ppt_w"/>
                                          </p:val>
                                        </p:tav>
                                      </p:tavLst>
                                    </p:anim>
                                    <p:anim calcmode="lin" valueType="num">
                                      <p:cBhvr>
                                        <p:cTn id="25" dur="500" fill="hold"/>
                                        <p:tgtEl>
                                          <p:spTgt spid="24579"/>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9" grpId="0" animBg="1"/>
      <p:bldP spid="24580"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ChangeArrowheads="1"/>
          </p:cNvSpPr>
          <p:nvPr/>
        </p:nvSpPr>
        <p:spPr bwMode="auto">
          <a:xfrm>
            <a:off x="762000" y="2057400"/>
            <a:ext cx="7848600" cy="3886200"/>
          </a:xfrm>
          <a:prstGeom prst="rect">
            <a:avLst/>
          </a:prstGeom>
          <a:solidFill>
            <a:schemeClr val="accent3">
              <a:lumMod val="85000"/>
            </a:schemeClr>
          </a:solidFill>
          <a:ln w="101600">
            <a:solidFill>
              <a:schemeClr val="tx2"/>
            </a:solidFill>
            <a:miter lim="800000"/>
            <a:headEnd/>
            <a:tailEnd/>
          </a:ln>
        </p:spPr>
        <p:txBody>
          <a:bodyPr wrap="none" anchor="ct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endParaRPr lang="en-US" altLang="en-US" sz="2400"/>
          </a:p>
        </p:txBody>
      </p:sp>
      <p:sp>
        <p:nvSpPr>
          <p:cNvPr id="15363" name="Freeform 3"/>
          <p:cNvSpPr>
            <a:spLocks/>
          </p:cNvSpPr>
          <p:nvPr/>
        </p:nvSpPr>
        <p:spPr bwMode="auto">
          <a:xfrm>
            <a:off x="5657850" y="3525838"/>
            <a:ext cx="2446338" cy="1803400"/>
          </a:xfrm>
          <a:custGeom>
            <a:avLst/>
            <a:gdLst>
              <a:gd name="T0" fmla="*/ 2147483647 w 1541"/>
              <a:gd name="T1" fmla="*/ 2147483647 h 1136"/>
              <a:gd name="T2" fmla="*/ 2147483647 w 1541"/>
              <a:gd name="T3" fmla="*/ 2147483647 h 1136"/>
              <a:gd name="T4" fmla="*/ 2147483647 w 1541"/>
              <a:gd name="T5" fmla="*/ 2147483647 h 1136"/>
              <a:gd name="T6" fmla="*/ 2147483647 w 1541"/>
              <a:gd name="T7" fmla="*/ 2147483647 h 1136"/>
              <a:gd name="T8" fmla="*/ 2147483647 w 1541"/>
              <a:gd name="T9" fmla="*/ 2147483647 h 1136"/>
              <a:gd name="T10" fmla="*/ 2147483647 w 1541"/>
              <a:gd name="T11" fmla="*/ 2147483647 h 1136"/>
              <a:gd name="T12" fmla="*/ 2147483647 w 1541"/>
              <a:gd name="T13" fmla="*/ 2147483647 h 1136"/>
              <a:gd name="T14" fmla="*/ 2147483647 w 1541"/>
              <a:gd name="T15" fmla="*/ 2147483647 h 1136"/>
              <a:gd name="T16" fmla="*/ 2147483647 w 1541"/>
              <a:gd name="T17" fmla="*/ 2147483647 h 1136"/>
              <a:gd name="T18" fmla="*/ 2147483647 w 1541"/>
              <a:gd name="T19" fmla="*/ 2147483647 h 1136"/>
              <a:gd name="T20" fmla="*/ 2147483647 w 1541"/>
              <a:gd name="T21" fmla="*/ 2147483647 h 1136"/>
              <a:gd name="T22" fmla="*/ 2147483647 w 1541"/>
              <a:gd name="T23" fmla="*/ 2147483647 h 1136"/>
              <a:gd name="T24" fmla="*/ 2147483647 w 1541"/>
              <a:gd name="T25" fmla="*/ 2147483647 h 1136"/>
              <a:gd name="T26" fmla="*/ 2147483647 w 1541"/>
              <a:gd name="T27" fmla="*/ 2147483647 h 1136"/>
              <a:gd name="T28" fmla="*/ 2147483647 w 1541"/>
              <a:gd name="T29" fmla="*/ 2147483647 h 1136"/>
              <a:gd name="T30" fmla="*/ 2147483647 w 1541"/>
              <a:gd name="T31" fmla="*/ 2147483647 h 1136"/>
              <a:gd name="T32" fmla="*/ 2147483647 w 1541"/>
              <a:gd name="T33" fmla="*/ 2147483647 h 1136"/>
              <a:gd name="T34" fmla="*/ 2147483647 w 1541"/>
              <a:gd name="T35" fmla="*/ 2147483647 h 1136"/>
              <a:gd name="T36" fmla="*/ 2147483647 w 1541"/>
              <a:gd name="T37" fmla="*/ 2147483647 h 1136"/>
              <a:gd name="T38" fmla="*/ 2147483647 w 1541"/>
              <a:gd name="T39" fmla="*/ 2147483647 h 1136"/>
              <a:gd name="T40" fmla="*/ 2147483647 w 1541"/>
              <a:gd name="T41" fmla="*/ 2147483647 h 1136"/>
              <a:gd name="T42" fmla="*/ 2147483647 w 1541"/>
              <a:gd name="T43" fmla="*/ 2147483647 h 1136"/>
              <a:gd name="T44" fmla="*/ 2147483647 w 1541"/>
              <a:gd name="T45" fmla="*/ 2147483647 h 1136"/>
              <a:gd name="T46" fmla="*/ 2147483647 w 1541"/>
              <a:gd name="T47" fmla="*/ 2147483647 h 1136"/>
              <a:gd name="T48" fmla="*/ 2147483647 w 1541"/>
              <a:gd name="T49" fmla="*/ 2147483647 h 1136"/>
              <a:gd name="T50" fmla="*/ 2147483647 w 1541"/>
              <a:gd name="T51" fmla="*/ 2147483647 h 1136"/>
              <a:gd name="T52" fmla="*/ 2147483647 w 1541"/>
              <a:gd name="T53" fmla="*/ 2147483647 h 1136"/>
              <a:gd name="T54" fmla="*/ 2147483647 w 1541"/>
              <a:gd name="T55" fmla="*/ 2147483647 h 1136"/>
              <a:gd name="T56" fmla="*/ 2147483647 w 1541"/>
              <a:gd name="T57" fmla="*/ 2147483647 h 1136"/>
              <a:gd name="T58" fmla="*/ 2147483647 w 1541"/>
              <a:gd name="T59" fmla="*/ 2147483647 h 1136"/>
              <a:gd name="T60" fmla="*/ 2147483647 w 1541"/>
              <a:gd name="T61" fmla="*/ 2147483647 h 1136"/>
              <a:gd name="T62" fmla="*/ 2147483647 w 1541"/>
              <a:gd name="T63" fmla="*/ 2147483647 h 1136"/>
              <a:gd name="T64" fmla="*/ 2147483647 w 1541"/>
              <a:gd name="T65" fmla="*/ 2147483647 h 1136"/>
              <a:gd name="T66" fmla="*/ 2147483647 w 1541"/>
              <a:gd name="T67" fmla="*/ 2147483647 h 1136"/>
              <a:gd name="T68" fmla="*/ 2147483647 w 1541"/>
              <a:gd name="T69" fmla="*/ 2147483647 h 1136"/>
              <a:gd name="T70" fmla="*/ 2147483647 w 1541"/>
              <a:gd name="T71" fmla="*/ 2147483647 h 1136"/>
              <a:gd name="T72" fmla="*/ 2147483647 w 1541"/>
              <a:gd name="T73" fmla="*/ 2147483647 h 1136"/>
              <a:gd name="T74" fmla="*/ 2147483647 w 1541"/>
              <a:gd name="T75" fmla="*/ 2147483647 h 1136"/>
              <a:gd name="T76" fmla="*/ 2147483647 w 1541"/>
              <a:gd name="T77" fmla="*/ 2147483647 h 1136"/>
              <a:gd name="T78" fmla="*/ 2147483647 w 1541"/>
              <a:gd name="T79" fmla="*/ 2147483647 h 1136"/>
              <a:gd name="T80" fmla="*/ 2147483647 w 1541"/>
              <a:gd name="T81" fmla="*/ 2147483647 h 1136"/>
              <a:gd name="T82" fmla="*/ 2147483647 w 1541"/>
              <a:gd name="T83" fmla="*/ 2147483647 h 1136"/>
              <a:gd name="T84" fmla="*/ 2147483647 w 1541"/>
              <a:gd name="T85" fmla="*/ 2147483647 h 1136"/>
              <a:gd name="T86" fmla="*/ 2147483647 w 1541"/>
              <a:gd name="T87" fmla="*/ 2147483647 h 1136"/>
              <a:gd name="T88" fmla="*/ 2147483647 w 1541"/>
              <a:gd name="T89" fmla="*/ 2147483647 h 1136"/>
              <a:gd name="T90" fmla="*/ 2147483647 w 1541"/>
              <a:gd name="T91" fmla="*/ 2147483647 h 1136"/>
              <a:gd name="T92" fmla="*/ 2147483647 w 1541"/>
              <a:gd name="T93" fmla="*/ 2147483647 h 1136"/>
              <a:gd name="T94" fmla="*/ 2147483647 w 1541"/>
              <a:gd name="T95" fmla="*/ 2147483647 h 1136"/>
              <a:gd name="T96" fmla="*/ 2147483647 w 1541"/>
              <a:gd name="T97" fmla="*/ 2147483647 h 1136"/>
              <a:gd name="T98" fmla="*/ 2147483647 w 1541"/>
              <a:gd name="T99" fmla="*/ 2147483647 h 1136"/>
              <a:gd name="T100" fmla="*/ 2147483647 w 1541"/>
              <a:gd name="T101" fmla="*/ 2147483647 h 1136"/>
              <a:gd name="T102" fmla="*/ 2147483647 w 1541"/>
              <a:gd name="T103" fmla="*/ 2147483647 h 1136"/>
              <a:gd name="T104" fmla="*/ 2147483647 w 1541"/>
              <a:gd name="T105" fmla="*/ 2147483647 h 1136"/>
              <a:gd name="T106" fmla="*/ 2147483647 w 1541"/>
              <a:gd name="T107" fmla="*/ 2147483647 h 1136"/>
              <a:gd name="T108" fmla="*/ 2147483647 w 1541"/>
              <a:gd name="T109" fmla="*/ 2147483647 h 1136"/>
              <a:gd name="T110" fmla="*/ 2147483647 w 1541"/>
              <a:gd name="T111" fmla="*/ 2147483647 h 1136"/>
              <a:gd name="T112" fmla="*/ 2147483647 w 1541"/>
              <a:gd name="T113" fmla="*/ 2147483647 h 1136"/>
              <a:gd name="T114" fmla="*/ 2147483647 w 1541"/>
              <a:gd name="T115" fmla="*/ 2147483647 h 1136"/>
              <a:gd name="T116" fmla="*/ 2147483647 w 1541"/>
              <a:gd name="T117" fmla="*/ 2147483647 h 1136"/>
              <a:gd name="T118" fmla="*/ 0 w 1541"/>
              <a:gd name="T119" fmla="*/ 2147483647 h 11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1541"/>
              <a:gd name="T181" fmla="*/ 0 h 1136"/>
              <a:gd name="T182" fmla="*/ 1541 w 1541"/>
              <a:gd name="T183" fmla="*/ 1136 h 11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1541" h="1136">
                <a:moveTo>
                  <a:pt x="0" y="0"/>
                </a:moveTo>
                <a:lnTo>
                  <a:pt x="13" y="8"/>
                </a:lnTo>
                <a:lnTo>
                  <a:pt x="13" y="17"/>
                </a:lnTo>
                <a:lnTo>
                  <a:pt x="25" y="34"/>
                </a:lnTo>
                <a:lnTo>
                  <a:pt x="38" y="43"/>
                </a:lnTo>
                <a:lnTo>
                  <a:pt x="38" y="52"/>
                </a:lnTo>
                <a:lnTo>
                  <a:pt x="51" y="69"/>
                </a:lnTo>
                <a:lnTo>
                  <a:pt x="51" y="78"/>
                </a:lnTo>
                <a:lnTo>
                  <a:pt x="63" y="86"/>
                </a:lnTo>
                <a:lnTo>
                  <a:pt x="63" y="104"/>
                </a:lnTo>
                <a:lnTo>
                  <a:pt x="76" y="113"/>
                </a:lnTo>
                <a:lnTo>
                  <a:pt x="88" y="121"/>
                </a:lnTo>
                <a:lnTo>
                  <a:pt x="88" y="130"/>
                </a:lnTo>
                <a:lnTo>
                  <a:pt x="101" y="147"/>
                </a:lnTo>
                <a:lnTo>
                  <a:pt x="101" y="156"/>
                </a:lnTo>
                <a:lnTo>
                  <a:pt x="114" y="165"/>
                </a:lnTo>
                <a:lnTo>
                  <a:pt x="114" y="182"/>
                </a:lnTo>
                <a:lnTo>
                  <a:pt x="126" y="191"/>
                </a:lnTo>
                <a:lnTo>
                  <a:pt x="139" y="199"/>
                </a:lnTo>
                <a:lnTo>
                  <a:pt x="139" y="208"/>
                </a:lnTo>
                <a:lnTo>
                  <a:pt x="152" y="225"/>
                </a:lnTo>
                <a:lnTo>
                  <a:pt x="152" y="234"/>
                </a:lnTo>
                <a:lnTo>
                  <a:pt x="164" y="243"/>
                </a:lnTo>
                <a:lnTo>
                  <a:pt x="177" y="251"/>
                </a:lnTo>
                <a:lnTo>
                  <a:pt x="177" y="269"/>
                </a:lnTo>
                <a:lnTo>
                  <a:pt x="190" y="277"/>
                </a:lnTo>
                <a:lnTo>
                  <a:pt x="190" y="286"/>
                </a:lnTo>
                <a:lnTo>
                  <a:pt x="202" y="295"/>
                </a:lnTo>
                <a:lnTo>
                  <a:pt x="202" y="312"/>
                </a:lnTo>
                <a:lnTo>
                  <a:pt x="215" y="321"/>
                </a:lnTo>
                <a:lnTo>
                  <a:pt x="227" y="329"/>
                </a:lnTo>
                <a:lnTo>
                  <a:pt x="227" y="338"/>
                </a:lnTo>
                <a:lnTo>
                  <a:pt x="240" y="347"/>
                </a:lnTo>
                <a:lnTo>
                  <a:pt x="240" y="364"/>
                </a:lnTo>
                <a:lnTo>
                  <a:pt x="253" y="373"/>
                </a:lnTo>
                <a:lnTo>
                  <a:pt x="265" y="381"/>
                </a:lnTo>
                <a:lnTo>
                  <a:pt x="265" y="390"/>
                </a:lnTo>
                <a:lnTo>
                  <a:pt x="278" y="399"/>
                </a:lnTo>
                <a:lnTo>
                  <a:pt x="278" y="407"/>
                </a:lnTo>
                <a:lnTo>
                  <a:pt x="291" y="425"/>
                </a:lnTo>
                <a:lnTo>
                  <a:pt x="291" y="433"/>
                </a:lnTo>
                <a:lnTo>
                  <a:pt x="303" y="442"/>
                </a:lnTo>
                <a:lnTo>
                  <a:pt x="316" y="451"/>
                </a:lnTo>
                <a:lnTo>
                  <a:pt x="316" y="459"/>
                </a:lnTo>
                <a:lnTo>
                  <a:pt x="328" y="468"/>
                </a:lnTo>
                <a:lnTo>
                  <a:pt x="328" y="477"/>
                </a:lnTo>
                <a:lnTo>
                  <a:pt x="341" y="485"/>
                </a:lnTo>
                <a:lnTo>
                  <a:pt x="354" y="503"/>
                </a:lnTo>
                <a:lnTo>
                  <a:pt x="354" y="512"/>
                </a:lnTo>
                <a:lnTo>
                  <a:pt x="366" y="520"/>
                </a:lnTo>
                <a:lnTo>
                  <a:pt x="366" y="529"/>
                </a:lnTo>
                <a:lnTo>
                  <a:pt x="379" y="538"/>
                </a:lnTo>
                <a:lnTo>
                  <a:pt x="379" y="546"/>
                </a:lnTo>
                <a:lnTo>
                  <a:pt x="392" y="555"/>
                </a:lnTo>
                <a:lnTo>
                  <a:pt x="404" y="564"/>
                </a:lnTo>
                <a:lnTo>
                  <a:pt x="404" y="572"/>
                </a:lnTo>
                <a:lnTo>
                  <a:pt x="417" y="581"/>
                </a:lnTo>
                <a:lnTo>
                  <a:pt x="417" y="590"/>
                </a:lnTo>
                <a:lnTo>
                  <a:pt x="430" y="598"/>
                </a:lnTo>
                <a:lnTo>
                  <a:pt x="442" y="607"/>
                </a:lnTo>
                <a:lnTo>
                  <a:pt x="442" y="616"/>
                </a:lnTo>
                <a:lnTo>
                  <a:pt x="455" y="624"/>
                </a:lnTo>
                <a:lnTo>
                  <a:pt x="455" y="633"/>
                </a:lnTo>
                <a:lnTo>
                  <a:pt x="467" y="642"/>
                </a:lnTo>
                <a:lnTo>
                  <a:pt x="467" y="650"/>
                </a:lnTo>
                <a:lnTo>
                  <a:pt x="480" y="659"/>
                </a:lnTo>
                <a:lnTo>
                  <a:pt x="493" y="659"/>
                </a:lnTo>
                <a:lnTo>
                  <a:pt x="493" y="668"/>
                </a:lnTo>
                <a:lnTo>
                  <a:pt x="505" y="676"/>
                </a:lnTo>
                <a:lnTo>
                  <a:pt x="505" y="685"/>
                </a:lnTo>
                <a:lnTo>
                  <a:pt x="518" y="694"/>
                </a:lnTo>
                <a:lnTo>
                  <a:pt x="531" y="702"/>
                </a:lnTo>
                <a:lnTo>
                  <a:pt x="531" y="711"/>
                </a:lnTo>
                <a:lnTo>
                  <a:pt x="543" y="720"/>
                </a:lnTo>
                <a:lnTo>
                  <a:pt x="556" y="728"/>
                </a:lnTo>
                <a:lnTo>
                  <a:pt x="556" y="737"/>
                </a:lnTo>
                <a:lnTo>
                  <a:pt x="569" y="746"/>
                </a:lnTo>
                <a:lnTo>
                  <a:pt x="581" y="754"/>
                </a:lnTo>
                <a:lnTo>
                  <a:pt x="594" y="763"/>
                </a:lnTo>
                <a:lnTo>
                  <a:pt x="594" y="772"/>
                </a:lnTo>
                <a:lnTo>
                  <a:pt x="606" y="780"/>
                </a:lnTo>
                <a:lnTo>
                  <a:pt x="619" y="780"/>
                </a:lnTo>
                <a:lnTo>
                  <a:pt x="619" y="789"/>
                </a:lnTo>
                <a:lnTo>
                  <a:pt x="632" y="798"/>
                </a:lnTo>
                <a:lnTo>
                  <a:pt x="632" y="806"/>
                </a:lnTo>
                <a:lnTo>
                  <a:pt x="644" y="806"/>
                </a:lnTo>
                <a:lnTo>
                  <a:pt x="644" y="815"/>
                </a:lnTo>
                <a:lnTo>
                  <a:pt x="657" y="824"/>
                </a:lnTo>
                <a:lnTo>
                  <a:pt x="670" y="824"/>
                </a:lnTo>
                <a:lnTo>
                  <a:pt x="670" y="832"/>
                </a:lnTo>
                <a:lnTo>
                  <a:pt x="682" y="841"/>
                </a:lnTo>
                <a:lnTo>
                  <a:pt x="695" y="850"/>
                </a:lnTo>
                <a:lnTo>
                  <a:pt x="707" y="858"/>
                </a:lnTo>
                <a:lnTo>
                  <a:pt x="720" y="867"/>
                </a:lnTo>
                <a:lnTo>
                  <a:pt x="720" y="876"/>
                </a:lnTo>
                <a:lnTo>
                  <a:pt x="733" y="876"/>
                </a:lnTo>
                <a:lnTo>
                  <a:pt x="733" y="884"/>
                </a:lnTo>
                <a:lnTo>
                  <a:pt x="745" y="884"/>
                </a:lnTo>
                <a:lnTo>
                  <a:pt x="758" y="893"/>
                </a:lnTo>
                <a:lnTo>
                  <a:pt x="771" y="902"/>
                </a:lnTo>
                <a:lnTo>
                  <a:pt x="771" y="911"/>
                </a:lnTo>
                <a:lnTo>
                  <a:pt x="783" y="911"/>
                </a:lnTo>
                <a:lnTo>
                  <a:pt x="796" y="919"/>
                </a:lnTo>
                <a:lnTo>
                  <a:pt x="809" y="928"/>
                </a:lnTo>
                <a:lnTo>
                  <a:pt x="821" y="937"/>
                </a:lnTo>
                <a:lnTo>
                  <a:pt x="834" y="945"/>
                </a:lnTo>
                <a:lnTo>
                  <a:pt x="846" y="945"/>
                </a:lnTo>
                <a:lnTo>
                  <a:pt x="846" y="954"/>
                </a:lnTo>
                <a:lnTo>
                  <a:pt x="859" y="954"/>
                </a:lnTo>
                <a:lnTo>
                  <a:pt x="872" y="963"/>
                </a:lnTo>
                <a:lnTo>
                  <a:pt x="884" y="963"/>
                </a:lnTo>
                <a:lnTo>
                  <a:pt x="884" y="971"/>
                </a:lnTo>
                <a:lnTo>
                  <a:pt x="897" y="971"/>
                </a:lnTo>
                <a:lnTo>
                  <a:pt x="897" y="980"/>
                </a:lnTo>
                <a:lnTo>
                  <a:pt x="910" y="980"/>
                </a:lnTo>
                <a:lnTo>
                  <a:pt x="922" y="989"/>
                </a:lnTo>
                <a:lnTo>
                  <a:pt x="935" y="989"/>
                </a:lnTo>
                <a:lnTo>
                  <a:pt x="935" y="997"/>
                </a:lnTo>
                <a:lnTo>
                  <a:pt x="948" y="997"/>
                </a:lnTo>
                <a:lnTo>
                  <a:pt x="960" y="1006"/>
                </a:lnTo>
                <a:lnTo>
                  <a:pt x="973" y="1006"/>
                </a:lnTo>
                <a:lnTo>
                  <a:pt x="985" y="1015"/>
                </a:lnTo>
                <a:lnTo>
                  <a:pt x="998" y="1015"/>
                </a:lnTo>
                <a:lnTo>
                  <a:pt x="998" y="1023"/>
                </a:lnTo>
                <a:lnTo>
                  <a:pt x="1011" y="1023"/>
                </a:lnTo>
                <a:lnTo>
                  <a:pt x="1023" y="1023"/>
                </a:lnTo>
                <a:lnTo>
                  <a:pt x="1023" y="1032"/>
                </a:lnTo>
                <a:lnTo>
                  <a:pt x="1036" y="1032"/>
                </a:lnTo>
                <a:lnTo>
                  <a:pt x="1049" y="1032"/>
                </a:lnTo>
                <a:lnTo>
                  <a:pt x="1061" y="1041"/>
                </a:lnTo>
                <a:lnTo>
                  <a:pt x="1074" y="1041"/>
                </a:lnTo>
                <a:lnTo>
                  <a:pt x="1087" y="1049"/>
                </a:lnTo>
                <a:lnTo>
                  <a:pt x="1099" y="1049"/>
                </a:lnTo>
                <a:lnTo>
                  <a:pt x="1112" y="1049"/>
                </a:lnTo>
                <a:lnTo>
                  <a:pt x="1112" y="1058"/>
                </a:lnTo>
                <a:lnTo>
                  <a:pt x="1124" y="1058"/>
                </a:lnTo>
                <a:lnTo>
                  <a:pt x="1137" y="1058"/>
                </a:lnTo>
                <a:lnTo>
                  <a:pt x="1150" y="1067"/>
                </a:lnTo>
                <a:lnTo>
                  <a:pt x="1162" y="1067"/>
                </a:lnTo>
                <a:lnTo>
                  <a:pt x="1175" y="1067"/>
                </a:lnTo>
                <a:lnTo>
                  <a:pt x="1175" y="1075"/>
                </a:lnTo>
                <a:lnTo>
                  <a:pt x="1188" y="1075"/>
                </a:lnTo>
                <a:lnTo>
                  <a:pt x="1200" y="1075"/>
                </a:lnTo>
                <a:lnTo>
                  <a:pt x="1213" y="1075"/>
                </a:lnTo>
                <a:lnTo>
                  <a:pt x="1213" y="1084"/>
                </a:lnTo>
                <a:lnTo>
                  <a:pt x="1225" y="1084"/>
                </a:lnTo>
                <a:lnTo>
                  <a:pt x="1238" y="1084"/>
                </a:lnTo>
                <a:lnTo>
                  <a:pt x="1251" y="1084"/>
                </a:lnTo>
                <a:lnTo>
                  <a:pt x="1263" y="1084"/>
                </a:lnTo>
                <a:lnTo>
                  <a:pt x="1263" y="1093"/>
                </a:lnTo>
                <a:lnTo>
                  <a:pt x="1276" y="1093"/>
                </a:lnTo>
                <a:lnTo>
                  <a:pt x="1289" y="1093"/>
                </a:lnTo>
                <a:lnTo>
                  <a:pt x="1301" y="1093"/>
                </a:lnTo>
                <a:lnTo>
                  <a:pt x="1314" y="1093"/>
                </a:lnTo>
                <a:lnTo>
                  <a:pt x="1327" y="1101"/>
                </a:lnTo>
                <a:lnTo>
                  <a:pt x="1339" y="1101"/>
                </a:lnTo>
                <a:lnTo>
                  <a:pt x="1352" y="1101"/>
                </a:lnTo>
                <a:lnTo>
                  <a:pt x="1364" y="1101"/>
                </a:lnTo>
                <a:lnTo>
                  <a:pt x="1377" y="1101"/>
                </a:lnTo>
                <a:lnTo>
                  <a:pt x="1390" y="1110"/>
                </a:lnTo>
                <a:lnTo>
                  <a:pt x="1402" y="1110"/>
                </a:lnTo>
                <a:lnTo>
                  <a:pt x="1415" y="1110"/>
                </a:lnTo>
                <a:lnTo>
                  <a:pt x="1428" y="1110"/>
                </a:lnTo>
                <a:lnTo>
                  <a:pt x="1440" y="1110"/>
                </a:lnTo>
                <a:lnTo>
                  <a:pt x="1453" y="1110"/>
                </a:lnTo>
                <a:lnTo>
                  <a:pt x="1466" y="1110"/>
                </a:lnTo>
                <a:lnTo>
                  <a:pt x="1466" y="1119"/>
                </a:lnTo>
                <a:lnTo>
                  <a:pt x="1478" y="1119"/>
                </a:lnTo>
                <a:lnTo>
                  <a:pt x="1491" y="1119"/>
                </a:lnTo>
                <a:lnTo>
                  <a:pt x="1503" y="1119"/>
                </a:lnTo>
                <a:lnTo>
                  <a:pt x="1516" y="1119"/>
                </a:lnTo>
                <a:lnTo>
                  <a:pt x="1529" y="1119"/>
                </a:lnTo>
                <a:lnTo>
                  <a:pt x="1541" y="1119"/>
                </a:lnTo>
                <a:lnTo>
                  <a:pt x="1541" y="1136"/>
                </a:lnTo>
                <a:lnTo>
                  <a:pt x="1529" y="1136"/>
                </a:lnTo>
                <a:lnTo>
                  <a:pt x="1516" y="1136"/>
                </a:lnTo>
                <a:lnTo>
                  <a:pt x="1503" y="1136"/>
                </a:lnTo>
                <a:lnTo>
                  <a:pt x="1491" y="1136"/>
                </a:lnTo>
                <a:lnTo>
                  <a:pt x="1478" y="1136"/>
                </a:lnTo>
                <a:lnTo>
                  <a:pt x="1466" y="1136"/>
                </a:lnTo>
                <a:lnTo>
                  <a:pt x="1453" y="1136"/>
                </a:lnTo>
                <a:lnTo>
                  <a:pt x="1440" y="1136"/>
                </a:lnTo>
                <a:lnTo>
                  <a:pt x="1428" y="1136"/>
                </a:lnTo>
                <a:lnTo>
                  <a:pt x="1415" y="1136"/>
                </a:lnTo>
                <a:lnTo>
                  <a:pt x="1402" y="1136"/>
                </a:lnTo>
                <a:lnTo>
                  <a:pt x="1390" y="1136"/>
                </a:lnTo>
                <a:lnTo>
                  <a:pt x="1377" y="1136"/>
                </a:lnTo>
                <a:lnTo>
                  <a:pt x="1364" y="1136"/>
                </a:lnTo>
                <a:lnTo>
                  <a:pt x="1352" y="1136"/>
                </a:lnTo>
                <a:lnTo>
                  <a:pt x="1339" y="1136"/>
                </a:lnTo>
                <a:lnTo>
                  <a:pt x="1327" y="1136"/>
                </a:lnTo>
                <a:lnTo>
                  <a:pt x="1314" y="1136"/>
                </a:lnTo>
                <a:lnTo>
                  <a:pt x="1301" y="1136"/>
                </a:lnTo>
                <a:lnTo>
                  <a:pt x="1289" y="1136"/>
                </a:lnTo>
                <a:lnTo>
                  <a:pt x="1276" y="1136"/>
                </a:lnTo>
                <a:lnTo>
                  <a:pt x="1263" y="1136"/>
                </a:lnTo>
                <a:lnTo>
                  <a:pt x="1251" y="1136"/>
                </a:lnTo>
                <a:lnTo>
                  <a:pt x="1238" y="1136"/>
                </a:lnTo>
                <a:lnTo>
                  <a:pt x="1225" y="1136"/>
                </a:lnTo>
                <a:lnTo>
                  <a:pt x="1213" y="1136"/>
                </a:lnTo>
                <a:lnTo>
                  <a:pt x="1200" y="1136"/>
                </a:lnTo>
                <a:lnTo>
                  <a:pt x="1188" y="1136"/>
                </a:lnTo>
                <a:lnTo>
                  <a:pt x="1175" y="1136"/>
                </a:lnTo>
                <a:lnTo>
                  <a:pt x="1162" y="1136"/>
                </a:lnTo>
                <a:lnTo>
                  <a:pt x="1150" y="1136"/>
                </a:lnTo>
                <a:lnTo>
                  <a:pt x="1137" y="1136"/>
                </a:lnTo>
                <a:lnTo>
                  <a:pt x="1124" y="1136"/>
                </a:lnTo>
                <a:lnTo>
                  <a:pt x="1112" y="1136"/>
                </a:lnTo>
                <a:lnTo>
                  <a:pt x="1099" y="1136"/>
                </a:lnTo>
                <a:lnTo>
                  <a:pt x="1087" y="1136"/>
                </a:lnTo>
                <a:lnTo>
                  <a:pt x="1074" y="1136"/>
                </a:lnTo>
                <a:lnTo>
                  <a:pt x="1061" y="1136"/>
                </a:lnTo>
                <a:lnTo>
                  <a:pt x="1049" y="1136"/>
                </a:lnTo>
                <a:lnTo>
                  <a:pt x="1036" y="1136"/>
                </a:lnTo>
                <a:lnTo>
                  <a:pt x="1023" y="1136"/>
                </a:lnTo>
                <a:lnTo>
                  <a:pt x="1011" y="1136"/>
                </a:lnTo>
                <a:lnTo>
                  <a:pt x="998" y="1136"/>
                </a:lnTo>
                <a:lnTo>
                  <a:pt x="985" y="1136"/>
                </a:lnTo>
                <a:lnTo>
                  <a:pt x="973" y="1136"/>
                </a:lnTo>
                <a:lnTo>
                  <a:pt x="960" y="1136"/>
                </a:lnTo>
                <a:lnTo>
                  <a:pt x="948" y="1136"/>
                </a:lnTo>
                <a:lnTo>
                  <a:pt x="935" y="1136"/>
                </a:lnTo>
                <a:lnTo>
                  <a:pt x="922" y="1136"/>
                </a:lnTo>
                <a:lnTo>
                  <a:pt x="910" y="1136"/>
                </a:lnTo>
                <a:lnTo>
                  <a:pt x="897" y="1136"/>
                </a:lnTo>
                <a:lnTo>
                  <a:pt x="884" y="1136"/>
                </a:lnTo>
                <a:lnTo>
                  <a:pt x="872" y="1136"/>
                </a:lnTo>
                <a:lnTo>
                  <a:pt x="859" y="1136"/>
                </a:lnTo>
                <a:lnTo>
                  <a:pt x="846" y="1136"/>
                </a:lnTo>
                <a:lnTo>
                  <a:pt x="834" y="1136"/>
                </a:lnTo>
                <a:lnTo>
                  <a:pt x="821" y="1136"/>
                </a:lnTo>
                <a:lnTo>
                  <a:pt x="809" y="1136"/>
                </a:lnTo>
                <a:lnTo>
                  <a:pt x="796" y="1136"/>
                </a:lnTo>
                <a:lnTo>
                  <a:pt x="783" y="1136"/>
                </a:lnTo>
                <a:lnTo>
                  <a:pt x="771" y="1136"/>
                </a:lnTo>
                <a:lnTo>
                  <a:pt x="758" y="1136"/>
                </a:lnTo>
                <a:lnTo>
                  <a:pt x="745" y="1136"/>
                </a:lnTo>
                <a:lnTo>
                  <a:pt x="733" y="1136"/>
                </a:lnTo>
                <a:lnTo>
                  <a:pt x="720" y="1136"/>
                </a:lnTo>
                <a:lnTo>
                  <a:pt x="707" y="1136"/>
                </a:lnTo>
                <a:lnTo>
                  <a:pt x="695" y="1136"/>
                </a:lnTo>
                <a:lnTo>
                  <a:pt x="682" y="1136"/>
                </a:lnTo>
                <a:lnTo>
                  <a:pt x="670" y="1136"/>
                </a:lnTo>
                <a:lnTo>
                  <a:pt x="657" y="1136"/>
                </a:lnTo>
                <a:lnTo>
                  <a:pt x="644" y="1136"/>
                </a:lnTo>
                <a:lnTo>
                  <a:pt x="632" y="1136"/>
                </a:lnTo>
                <a:lnTo>
                  <a:pt x="619" y="1136"/>
                </a:lnTo>
                <a:lnTo>
                  <a:pt x="606" y="1136"/>
                </a:lnTo>
                <a:lnTo>
                  <a:pt x="594" y="1136"/>
                </a:lnTo>
                <a:lnTo>
                  <a:pt x="581" y="1136"/>
                </a:lnTo>
                <a:lnTo>
                  <a:pt x="569" y="1136"/>
                </a:lnTo>
                <a:lnTo>
                  <a:pt x="556" y="1136"/>
                </a:lnTo>
                <a:lnTo>
                  <a:pt x="543" y="1136"/>
                </a:lnTo>
                <a:lnTo>
                  <a:pt x="531" y="1136"/>
                </a:lnTo>
                <a:lnTo>
                  <a:pt x="518" y="1136"/>
                </a:lnTo>
                <a:lnTo>
                  <a:pt x="505" y="1136"/>
                </a:lnTo>
                <a:lnTo>
                  <a:pt x="493" y="1136"/>
                </a:lnTo>
                <a:lnTo>
                  <a:pt x="480" y="1136"/>
                </a:lnTo>
                <a:lnTo>
                  <a:pt x="467" y="1136"/>
                </a:lnTo>
                <a:lnTo>
                  <a:pt x="455" y="1136"/>
                </a:lnTo>
                <a:lnTo>
                  <a:pt x="442" y="1136"/>
                </a:lnTo>
                <a:lnTo>
                  <a:pt x="430" y="1136"/>
                </a:lnTo>
                <a:lnTo>
                  <a:pt x="417" y="1136"/>
                </a:lnTo>
                <a:lnTo>
                  <a:pt x="404" y="1136"/>
                </a:lnTo>
                <a:lnTo>
                  <a:pt x="392" y="1136"/>
                </a:lnTo>
                <a:lnTo>
                  <a:pt x="379" y="1136"/>
                </a:lnTo>
                <a:lnTo>
                  <a:pt x="366" y="1136"/>
                </a:lnTo>
                <a:lnTo>
                  <a:pt x="354" y="1136"/>
                </a:lnTo>
                <a:lnTo>
                  <a:pt x="341" y="1136"/>
                </a:lnTo>
                <a:lnTo>
                  <a:pt x="328" y="1136"/>
                </a:lnTo>
                <a:lnTo>
                  <a:pt x="316" y="1136"/>
                </a:lnTo>
                <a:lnTo>
                  <a:pt x="303" y="1136"/>
                </a:lnTo>
                <a:lnTo>
                  <a:pt x="291" y="1136"/>
                </a:lnTo>
                <a:lnTo>
                  <a:pt x="278" y="1136"/>
                </a:lnTo>
                <a:lnTo>
                  <a:pt x="265" y="1136"/>
                </a:lnTo>
                <a:lnTo>
                  <a:pt x="253" y="1136"/>
                </a:lnTo>
                <a:lnTo>
                  <a:pt x="240" y="1136"/>
                </a:lnTo>
                <a:lnTo>
                  <a:pt x="227" y="1136"/>
                </a:lnTo>
                <a:lnTo>
                  <a:pt x="215" y="1136"/>
                </a:lnTo>
                <a:lnTo>
                  <a:pt x="202" y="1136"/>
                </a:lnTo>
                <a:lnTo>
                  <a:pt x="190" y="1136"/>
                </a:lnTo>
                <a:lnTo>
                  <a:pt x="177" y="1136"/>
                </a:lnTo>
                <a:lnTo>
                  <a:pt x="164" y="1136"/>
                </a:lnTo>
                <a:lnTo>
                  <a:pt x="152" y="1136"/>
                </a:lnTo>
                <a:lnTo>
                  <a:pt x="139" y="1136"/>
                </a:lnTo>
                <a:lnTo>
                  <a:pt x="126" y="1136"/>
                </a:lnTo>
                <a:lnTo>
                  <a:pt x="114" y="1136"/>
                </a:lnTo>
                <a:lnTo>
                  <a:pt x="101" y="1136"/>
                </a:lnTo>
                <a:lnTo>
                  <a:pt x="88" y="1136"/>
                </a:lnTo>
                <a:lnTo>
                  <a:pt x="76" y="1136"/>
                </a:lnTo>
                <a:lnTo>
                  <a:pt x="63" y="1136"/>
                </a:lnTo>
                <a:lnTo>
                  <a:pt x="51" y="1136"/>
                </a:lnTo>
                <a:lnTo>
                  <a:pt x="38" y="1136"/>
                </a:lnTo>
                <a:lnTo>
                  <a:pt x="25" y="1136"/>
                </a:lnTo>
                <a:lnTo>
                  <a:pt x="13" y="1136"/>
                </a:lnTo>
                <a:lnTo>
                  <a:pt x="0" y="1136"/>
                </a:lnTo>
                <a:lnTo>
                  <a:pt x="0" y="0"/>
                </a:lnTo>
                <a:close/>
              </a:path>
            </a:pathLst>
          </a:custGeom>
          <a:solidFill>
            <a:schemeClr val="tx1"/>
          </a:solidFill>
          <a:ln w="20638">
            <a:solidFill>
              <a:srgbClr val="000000"/>
            </a:solidFill>
            <a:round/>
            <a:headEnd/>
            <a:tailEnd/>
          </a:ln>
        </p:spPr>
        <p:txBody>
          <a:bodyPr/>
          <a:lstStyle/>
          <a:p>
            <a:endParaRPr lang="en-US"/>
          </a:p>
        </p:txBody>
      </p:sp>
      <p:sp>
        <p:nvSpPr>
          <p:cNvPr id="15364" name="Rectangle 4"/>
          <p:cNvSpPr>
            <a:spLocks noChangeArrowheads="1"/>
          </p:cNvSpPr>
          <p:nvPr/>
        </p:nvSpPr>
        <p:spPr bwMode="auto">
          <a:xfrm>
            <a:off x="784225" y="2120900"/>
            <a:ext cx="7742238" cy="3773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endParaRPr lang="en-US" altLang="en-US" sz="2400"/>
          </a:p>
        </p:txBody>
      </p:sp>
      <p:sp>
        <p:nvSpPr>
          <p:cNvPr id="15365" name="Rectangle 5"/>
          <p:cNvSpPr>
            <a:spLocks noChangeArrowheads="1"/>
          </p:cNvSpPr>
          <p:nvPr/>
        </p:nvSpPr>
        <p:spPr bwMode="auto">
          <a:xfrm>
            <a:off x="984250" y="2341563"/>
            <a:ext cx="7119938" cy="298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endParaRPr lang="en-US" altLang="en-US" sz="2400"/>
          </a:p>
        </p:txBody>
      </p:sp>
      <p:sp>
        <p:nvSpPr>
          <p:cNvPr id="15366" name="Freeform 6"/>
          <p:cNvSpPr>
            <a:spLocks/>
          </p:cNvSpPr>
          <p:nvPr/>
        </p:nvSpPr>
        <p:spPr bwMode="auto">
          <a:xfrm>
            <a:off x="984250" y="2354263"/>
            <a:ext cx="5837238" cy="2974975"/>
          </a:xfrm>
          <a:custGeom>
            <a:avLst/>
            <a:gdLst>
              <a:gd name="T0" fmla="*/ 2147483647 w 3677"/>
              <a:gd name="T1" fmla="*/ 2147483647 h 1874"/>
              <a:gd name="T2" fmla="*/ 2147483647 w 3677"/>
              <a:gd name="T3" fmla="*/ 2147483647 h 1874"/>
              <a:gd name="T4" fmla="*/ 2147483647 w 3677"/>
              <a:gd name="T5" fmla="*/ 2147483647 h 1874"/>
              <a:gd name="T6" fmla="*/ 2147483647 w 3677"/>
              <a:gd name="T7" fmla="*/ 2147483647 h 1874"/>
              <a:gd name="T8" fmla="*/ 2147483647 w 3677"/>
              <a:gd name="T9" fmla="*/ 2147483647 h 1874"/>
              <a:gd name="T10" fmla="*/ 2147483647 w 3677"/>
              <a:gd name="T11" fmla="*/ 2147483647 h 1874"/>
              <a:gd name="T12" fmla="*/ 2147483647 w 3677"/>
              <a:gd name="T13" fmla="*/ 2147483647 h 1874"/>
              <a:gd name="T14" fmla="*/ 2147483647 w 3677"/>
              <a:gd name="T15" fmla="*/ 2147483647 h 1874"/>
              <a:gd name="T16" fmla="*/ 2147483647 w 3677"/>
              <a:gd name="T17" fmla="*/ 2147483647 h 1874"/>
              <a:gd name="T18" fmla="*/ 2147483647 w 3677"/>
              <a:gd name="T19" fmla="*/ 2147483647 h 1874"/>
              <a:gd name="T20" fmla="*/ 2147483647 w 3677"/>
              <a:gd name="T21" fmla="*/ 2147483647 h 1874"/>
              <a:gd name="T22" fmla="*/ 2147483647 w 3677"/>
              <a:gd name="T23" fmla="*/ 2147483647 h 1874"/>
              <a:gd name="T24" fmla="*/ 2147483647 w 3677"/>
              <a:gd name="T25" fmla="*/ 2147483647 h 1874"/>
              <a:gd name="T26" fmla="*/ 2147483647 w 3677"/>
              <a:gd name="T27" fmla="*/ 2147483647 h 1874"/>
              <a:gd name="T28" fmla="*/ 2147483647 w 3677"/>
              <a:gd name="T29" fmla="*/ 2147483647 h 1874"/>
              <a:gd name="T30" fmla="*/ 2147483647 w 3677"/>
              <a:gd name="T31" fmla="*/ 2147483647 h 1874"/>
              <a:gd name="T32" fmla="*/ 2147483647 w 3677"/>
              <a:gd name="T33" fmla="*/ 2147483647 h 1874"/>
              <a:gd name="T34" fmla="*/ 2147483647 w 3677"/>
              <a:gd name="T35" fmla="*/ 2147483647 h 1874"/>
              <a:gd name="T36" fmla="*/ 2147483647 w 3677"/>
              <a:gd name="T37" fmla="*/ 0 h 1874"/>
              <a:gd name="T38" fmla="*/ 2147483647 w 3677"/>
              <a:gd name="T39" fmla="*/ 2147483647 h 1874"/>
              <a:gd name="T40" fmla="*/ 2147483647 w 3677"/>
              <a:gd name="T41" fmla="*/ 2147483647 h 1874"/>
              <a:gd name="T42" fmla="*/ 2147483647 w 3677"/>
              <a:gd name="T43" fmla="*/ 2147483647 h 1874"/>
              <a:gd name="T44" fmla="*/ 2147483647 w 3677"/>
              <a:gd name="T45" fmla="*/ 2147483647 h 1874"/>
              <a:gd name="T46" fmla="*/ 2147483647 w 3677"/>
              <a:gd name="T47" fmla="*/ 2147483647 h 1874"/>
              <a:gd name="T48" fmla="*/ 2147483647 w 3677"/>
              <a:gd name="T49" fmla="*/ 2147483647 h 1874"/>
              <a:gd name="T50" fmla="*/ 2147483647 w 3677"/>
              <a:gd name="T51" fmla="*/ 2147483647 h 1874"/>
              <a:gd name="T52" fmla="*/ 2147483647 w 3677"/>
              <a:gd name="T53" fmla="*/ 2147483647 h 1874"/>
              <a:gd name="T54" fmla="*/ 2147483647 w 3677"/>
              <a:gd name="T55" fmla="*/ 2147483647 h 1874"/>
              <a:gd name="T56" fmla="*/ 2147483647 w 3677"/>
              <a:gd name="T57" fmla="*/ 2147483647 h 1874"/>
              <a:gd name="T58" fmla="*/ 2147483647 w 3677"/>
              <a:gd name="T59" fmla="*/ 2147483647 h 1874"/>
              <a:gd name="T60" fmla="*/ 2147483647 w 3677"/>
              <a:gd name="T61" fmla="*/ 2147483647 h 1874"/>
              <a:gd name="T62" fmla="*/ 2147483647 w 3677"/>
              <a:gd name="T63" fmla="*/ 2147483647 h 1874"/>
              <a:gd name="T64" fmla="*/ 2147483647 w 3677"/>
              <a:gd name="T65" fmla="*/ 2147483647 h 1874"/>
              <a:gd name="T66" fmla="*/ 2147483647 w 3677"/>
              <a:gd name="T67" fmla="*/ 2147483647 h 1874"/>
              <a:gd name="T68" fmla="*/ 2147483647 w 3677"/>
              <a:gd name="T69" fmla="*/ 2147483647 h 1874"/>
              <a:gd name="T70" fmla="*/ 2147483647 w 3677"/>
              <a:gd name="T71" fmla="*/ 2147483647 h 1874"/>
              <a:gd name="T72" fmla="*/ 2147483647 w 3677"/>
              <a:gd name="T73" fmla="*/ 2147483647 h 1874"/>
              <a:gd name="T74" fmla="*/ 2147483647 w 3677"/>
              <a:gd name="T75" fmla="*/ 2147483647 h 1874"/>
              <a:gd name="T76" fmla="*/ 2147483647 w 3677"/>
              <a:gd name="T77" fmla="*/ 2147483647 h 1874"/>
              <a:gd name="T78" fmla="*/ 2147483647 w 3677"/>
              <a:gd name="T79" fmla="*/ 2147483647 h 1874"/>
              <a:gd name="T80" fmla="*/ 2147483647 w 3677"/>
              <a:gd name="T81" fmla="*/ 2147483647 h 1874"/>
              <a:gd name="T82" fmla="*/ 2147483647 w 3677"/>
              <a:gd name="T83" fmla="*/ 2147483647 h 1874"/>
              <a:gd name="T84" fmla="*/ 2147483647 w 3677"/>
              <a:gd name="T85" fmla="*/ 2147483647 h 1874"/>
              <a:gd name="T86" fmla="*/ 2147483647 w 3677"/>
              <a:gd name="T87" fmla="*/ 2147483647 h 1874"/>
              <a:gd name="T88" fmla="*/ 2147483647 w 3677"/>
              <a:gd name="T89" fmla="*/ 2147483647 h 1874"/>
              <a:gd name="T90" fmla="*/ 2147483647 w 3677"/>
              <a:gd name="T91" fmla="*/ 2147483647 h 1874"/>
              <a:gd name="T92" fmla="*/ 2147483647 w 3677"/>
              <a:gd name="T93" fmla="*/ 2147483647 h 1874"/>
              <a:gd name="T94" fmla="*/ 2147483647 w 3677"/>
              <a:gd name="T95" fmla="*/ 2147483647 h 1874"/>
              <a:gd name="T96" fmla="*/ 2147483647 w 3677"/>
              <a:gd name="T97" fmla="*/ 2147483647 h 1874"/>
              <a:gd name="T98" fmla="*/ 2147483647 w 3677"/>
              <a:gd name="T99" fmla="*/ 2147483647 h 1874"/>
              <a:gd name="T100" fmla="*/ 2147483647 w 3677"/>
              <a:gd name="T101" fmla="*/ 2147483647 h 1874"/>
              <a:gd name="T102" fmla="*/ 2147483647 w 3677"/>
              <a:gd name="T103" fmla="*/ 2147483647 h 1874"/>
              <a:gd name="T104" fmla="*/ 2147483647 w 3677"/>
              <a:gd name="T105" fmla="*/ 2147483647 h 1874"/>
              <a:gd name="T106" fmla="*/ 2147483647 w 3677"/>
              <a:gd name="T107" fmla="*/ 2147483647 h 1874"/>
              <a:gd name="T108" fmla="*/ 2147483647 w 3677"/>
              <a:gd name="T109" fmla="*/ 2147483647 h 1874"/>
              <a:gd name="T110" fmla="*/ 2147483647 w 3677"/>
              <a:gd name="T111" fmla="*/ 2147483647 h 1874"/>
              <a:gd name="T112" fmla="*/ 2147483647 w 3677"/>
              <a:gd name="T113" fmla="*/ 2147483647 h 1874"/>
              <a:gd name="T114" fmla="*/ 2147483647 w 3677"/>
              <a:gd name="T115" fmla="*/ 2147483647 h 1874"/>
              <a:gd name="T116" fmla="*/ 2147483647 w 3677"/>
              <a:gd name="T117" fmla="*/ 2147483647 h 1874"/>
              <a:gd name="T118" fmla="*/ 2147483647 w 3677"/>
              <a:gd name="T119" fmla="*/ 2147483647 h 1874"/>
              <a:gd name="T120" fmla="*/ 2147483647 w 3677"/>
              <a:gd name="T121" fmla="*/ 2147483647 h 1874"/>
              <a:gd name="T122" fmla="*/ 2147483647 w 3677"/>
              <a:gd name="T123" fmla="*/ 2147483647 h 1874"/>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3677"/>
              <a:gd name="T187" fmla="*/ 0 h 1874"/>
              <a:gd name="T188" fmla="*/ 3677 w 3677"/>
              <a:gd name="T189" fmla="*/ 1874 h 1874"/>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3677" h="1874">
                <a:moveTo>
                  <a:pt x="0" y="1857"/>
                </a:moveTo>
                <a:lnTo>
                  <a:pt x="13" y="1857"/>
                </a:lnTo>
                <a:lnTo>
                  <a:pt x="13" y="1848"/>
                </a:lnTo>
                <a:lnTo>
                  <a:pt x="26" y="1848"/>
                </a:lnTo>
                <a:lnTo>
                  <a:pt x="38" y="1848"/>
                </a:lnTo>
                <a:lnTo>
                  <a:pt x="51" y="1848"/>
                </a:lnTo>
                <a:lnTo>
                  <a:pt x="64" y="1848"/>
                </a:lnTo>
                <a:lnTo>
                  <a:pt x="76" y="1848"/>
                </a:lnTo>
                <a:lnTo>
                  <a:pt x="89" y="1848"/>
                </a:lnTo>
                <a:lnTo>
                  <a:pt x="101" y="1839"/>
                </a:lnTo>
                <a:lnTo>
                  <a:pt x="114" y="1839"/>
                </a:lnTo>
                <a:lnTo>
                  <a:pt x="127" y="1839"/>
                </a:lnTo>
                <a:lnTo>
                  <a:pt x="139" y="1839"/>
                </a:lnTo>
                <a:lnTo>
                  <a:pt x="152" y="1839"/>
                </a:lnTo>
                <a:lnTo>
                  <a:pt x="165" y="1831"/>
                </a:lnTo>
                <a:lnTo>
                  <a:pt x="177" y="1831"/>
                </a:lnTo>
                <a:lnTo>
                  <a:pt x="190" y="1831"/>
                </a:lnTo>
                <a:lnTo>
                  <a:pt x="202" y="1831"/>
                </a:lnTo>
                <a:lnTo>
                  <a:pt x="215" y="1822"/>
                </a:lnTo>
                <a:lnTo>
                  <a:pt x="228" y="1822"/>
                </a:lnTo>
                <a:lnTo>
                  <a:pt x="240" y="1822"/>
                </a:lnTo>
                <a:lnTo>
                  <a:pt x="253" y="1822"/>
                </a:lnTo>
                <a:lnTo>
                  <a:pt x="266" y="1813"/>
                </a:lnTo>
                <a:lnTo>
                  <a:pt x="278" y="1813"/>
                </a:lnTo>
                <a:lnTo>
                  <a:pt x="291" y="1813"/>
                </a:lnTo>
                <a:lnTo>
                  <a:pt x="304" y="1805"/>
                </a:lnTo>
                <a:lnTo>
                  <a:pt x="316" y="1805"/>
                </a:lnTo>
                <a:lnTo>
                  <a:pt x="329" y="1805"/>
                </a:lnTo>
                <a:lnTo>
                  <a:pt x="341" y="1796"/>
                </a:lnTo>
                <a:lnTo>
                  <a:pt x="354" y="1796"/>
                </a:lnTo>
                <a:lnTo>
                  <a:pt x="367" y="1796"/>
                </a:lnTo>
                <a:lnTo>
                  <a:pt x="367" y="1787"/>
                </a:lnTo>
                <a:lnTo>
                  <a:pt x="379" y="1787"/>
                </a:lnTo>
                <a:lnTo>
                  <a:pt x="392" y="1787"/>
                </a:lnTo>
                <a:lnTo>
                  <a:pt x="392" y="1779"/>
                </a:lnTo>
                <a:lnTo>
                  <a:pt x="405" y="1779"/>
                </a:lnTo>
                <a:lnTo>
                  <a:pt x="417" y="1779"/>
                </a:lnTo>
                <a:lnTo>
                  <a:pt x="430" y="1770"/>
                </a:lnTo>
                <a:lnTo>
                  <a:pt x="443" y="1770"/>
                </a:lnTo>
                <a:lnTo>
                  <a:pt x="455" y="1770"/>
                </a:lnTo>
                <a:lnTo>
                  <a:pt x="455" y="1761"/>
                </a:lnTo>
                <a:lnTo>
                  <a:pt x="468" y="1761"/>
                </a:lnTo>
                <a:lnTo>
                  <a:pt x="480" y="1753"/>
                </a:lnTo>
                <a:lnTo>
                  <a:pt x="493" y="1753"/>
                </a:lnTo>
                <a:lnTo>
                  <a:pt x="506" y="1744"/>
                </a:lnTo>
                <a:lnTo>
                  <a:pt x="518" y="1744"/>
                </a:lnTo>
                <a:lnTo>
                  <a:pt x="518" y="1735"/>
                </a:lnTo>
                <a:lnTo>
                  <a:pt x="531" y="1735"/>
                </a:lnTo>
                <a:lnTo>
                  <a:pt x="544" y="1735"/>
                </a:lnTo>
                <a:lnTo>
                  <a:pt x="544" y="1727"/>
                </a:lnTo>
                <a:lnTo>
                  <a:pt x="556" y="1727"/>
                </a:lnTo>
                <a:lnTo>
                  <a:pt x="556" y="1718"/>
                </a:lnTo>
                <a:lnTo>
                  <a:pt x="569" y="1718"/>
                </a:lnTo>
                <a:lnTo>
                  <a:pt x="581" y="1709"/>
                </a:lnTo>
                <a:lnTo>
                  <a:pt x="594" y="1709"/>
                </a:lnTo>
                <a:lnTo>
                  <a:pt x="594" y="1701"/>
                </a:lnTo>
                <a:lnTo>
                  <a:pt x="607" y="1701"/>
                </a:lnTo>
                <a:lnTo>
                  <a:pt x="607" y="1692"/>
                </a:lnTo>
                <a:lnTo>
                  <a:pt x="619" y="1692"/>
                </a:lnTo>
                <a:lnTo>
                  <a:pt x="632" y="1692"/>
                </a:lnTo>
                <a:lnTo>
                  <a:pt x="632" y="1683"/>
                </a:lnTo>
                <a:lnTo>
                  <a:pt x="645" y="1683"/>
                </a:lnTo>
                <a:lnTo>
                  <a:pt x="645" y="1675"/>
                </a:lnTo>
                <a:lnTo>
                  <a:pt x="657" y="1675"/>
                </a:lnTo>
                <a:lnTo>
                  <a:pt x="657" y="1666"/>
                </a:lnTo>
                <a:lnTo>
                  <a:pt x="670" y="1666"/>
                </a:lnTo>
                <a:lnTo>
                  <a:pt x="683" y="1657"/>
                </a:lnTo>
                <a:lnTo>
                  <a:pt x="695" y="1649"/>
                </a:lnTo>
                <a:lnTo>
                  <a:pt x="708" y="1640"/>
                </a:lnTo>
                <a:lnTo>
                  <a:pt x="720" y="1631"/>
                </a:lnTo>
                <a:lnTo>
                  <a:pt x="733" y="1622"/>
                </a:lnTo>
                <a:lnTo>
                  <a:pt x="746" y="1614"/>
                </a:lnTo>
                <a:lnTo>
                  <a:pt x="758" y="1605"/>
                </a:lnTo>
                <a:lnTo>
                  <a:pt x="771" y="1596"/>
                </a:lnTo>
                <a:lnTo>
                  <a:pt x="784" y="1588"/>
                </a:lnTo>
                <a:lnTo>
                  <a:pt x="784" y="1579"/>
                </a:lnTo>
                <a:lnTo>
                  <a:pt x="796" y="1579"/>
                </a:lnTo>
                <a:lnTo>
                  <a:pt x="809" y="1570"/>
                </a:lnTo>
                <a:lnTo>
                  <a:pt x="809" y="1562"/>
                </a:lnTo>
                <a:lnTo>
                  <a:pt x="822" y="1562"/>
                </a:lnTo>
                <a:lnTo>
                  <a:pt x="822" y="1553"/>
                </a:lnTo>
                <a:lnTo>
                  <a:pt x="834" y="1544"/>
                </a:lnTo>
                <a:lnTo>
                  <a:pt x="847" y="1536"/>
                </a:lnTo>
                <a:lnTo>
                  <a:pt x="859" y="1527"/>
                </a:lnTo>
                <a:lnTo>
                  <a:pt x="859" y="1518"/>
                </a:lnTo>
                <a:lnTo>
                  <a:pt x="872" y="1518"/>
                </a:lnTo>
                <a:lnTo>
                  <a:pt x="872" y="1510"/>
                </a:lnTo>
                <a:lnTo>
                  <a:pt x="885" y="1501"/>
                </a:lnTo>
                <a:lnTo>
                  <a:pt x="897" y="1492"/>
                </a:lnTo>
                <a:lnTo>
                  <a:pt x="910" y="1484"/>
                </a:lnTo>
                <a:lnTo>
                  <a:pt x="910" y="1475"/>
                </a:lnTo>
                <a:lnTo>
                  <a:pt x="923" y="1466"/>
                </a:lnTo>
                <a:lnTo>
                  <a:pt x="923" y="1458"/>
                </a:lnTo>
                <a:lnTo>
                  <a:pt x="935" y="1458"/>
                </a:lnTo>
                <a:lnTo>
                  <a:pt x="948" y="1449"/>
                </a:lnTo>
                <a:lnTo>
                  <a:pt x="948" y="1440"/>
                </a:lnTo>
                <a:lnTo>
                  <a:pt x="961" y="1432"/>
                </a:lnTo>
                <a:lnTo>
                  <a:pt x="961" y="1423"/>
                </a:lnTo>
                <a:lnTo>
                  <a:pt x="973" y="1414"/>
                </a:lnTo>
                <a:lnTo>
                  <a:pt x="986" y="1406"/>
                </a:lnTo>
                <a:lnTo>
                  <a:pt x="986" y="1397"/>
                </a:lnTo>
                <a:lnTo>
                  <a:pt x="998" y="1397"/>
                </a:lnTo>
                <a:lnTo>
                  <a:pt x="998" y="1388"/>
                </a:lnTo>
                <a:lnTo>
                  <a:pt x="1011" y="1380"/>
                </a:lnTo>
                <a:lnTo>
                  <a:pt x="1011" y="1371"/>
                </a:lnTo>
                <a:lnTo>
                  <a:pt x="1024" y="1362"/>
                </a:lnTo>
                <a:lnTo>
                  <a:pt x="1036" y="1354"/>
                </a:lnTo>
                <a:lnTo>
                  <a:pt x="1036" y="1345"/>
                </a:lnTo>
                <a:lnTo>
                  <a:pt x="1049" y="1336"/>
                </a:lnTo>
                <a:lnTo>
                  <a:pt x="1049" y="1328"/>
                </a:lnTo>
                <a:lnTo>
                  <a:pt x="1062" y="1319"/>
                </a:lnTo>
                <a:lnTo>
                  <a:pt x="1074" y="1310"/>
                </a:lnTo>
                <a:lnTo>
                  <a:pt x="1074" y="1302"/>
                </a:lnTo>
                <a:lnTo>
                  <a:pt x="1087" y="1293"/>
                </a:lnTo>
                <a:lnTo>
                  <a:pt x="1087" y="1284"/>
                </a:lnTo>
                <a:lnTo>
                  <a:pt x="1099" y="1276"/>
                </a:lnTo>
                <a:lnTo>
                  <a:pt x="1099" y="1267"/>
                </a:lnTo>
                <a:lnTo>
                  <a:pt x="1112" y="1258"/>
                </a:lnTo>
                <a:lnTo>
                  <a:pt x="1125" y="1250"/>
                </a:lnTo>
                <a:lnTo>
                  <a:pt x="1125" y="1241"/>
                </a:lnTo>
                <a:lnTo>
                  <a:pt x="1137" y="1223"/>
                </a:lnTo>
                <a:lnTo>
                  <a:pt x="1137" y="1215"/>
                </a:lnTo>
                <a:lnTo>
                  <a:pt x="1150" y="1206"/>
                </a:lnTo>
                <a:lnTo>
                  <a:pt x="1163" y="1197"/>
                </a:lnTo>
                <a:lnTo>
                  <a:pt x="1163" y="1189"/>
                </a:lnTo>
                <a:lnTo>
                  <a:pt x="1175" y="1180"/>
                </a:lnTo>
                <a:lnTo>
                  <a:pt x="1175" y="1171"/>
                </a:lnTo>
                <a:lnTo>
                  <a:pt x="1188" y="1163"/>
                </a:lnTo>
                <a:lnTo>
                  <a:pt x="1188" y="1145"/>
                </a:lnTo>
                <a:lnTo>
                  <a:pt x="1201" y="1137"/>
                </a:lnTo>
                <a:lnTo>
                  <a:pt x="1213" y="1128"/>
                </a:lnTo>
                <a:lnTo>
                  <a:pt x="1213" y="1119"/>
                </a:lnTo>
                <a:lnTo>
                  <a:pt x="1226" y="1111"/>
                </a:lnTo>
                <a:lnTo>
                  <a:pt x="1226" y="1102"/>
                </a:lnTo>
                <a:lnTo>
                  <a:pt x="1238" y="1085"/>
                </a:lnTo>
                <a:lnTo>
                  <a:pt x="1251" y="1076"/>
                </a:lnTo>
                <a:lnTo>
                  <a:pt x="1251" y="1067"/>
                </a:lnTo>
                <a:lnTo>
                  <a:pt x="1264" y="1059"/>
                </a:lnTo>
                <a:lnTo>
                  <a:pt x="1264" y="1050"/>
                </a:lnTo>
                <a:lnTo>
                  <a:pt x="1276" y="1033"/>
                </a:lnTo>
                <a:lnTo>
                  <a:pt x="1276" y="1024"/>
                </a:lnTo>
                <a:lnTo>
                  <a:pt x="1289" y="1015"/>
                </a:lnTo>
                <a:lnTo>
                  <a:pt x="1302" y="1007"/>
                </a:lnTo>
                <a:lnTo>
                  <a:pt x="1302" y="989"/>
                </a:lnTo>
                <a:lnTo>
                  <a:pt x="1314" y="981"/>
                </a:lnTo>
                <a:lnTo>
                  <a:pt x="1314" y="972"/>
                </a:lnTo>
                <a:lnTo>
                  <a:pt x="1327" y="963"/>
                </a:lnTo>
                <a:lnTo>
                  <a:pt x="1340" y="946"/>
                </a:lnTo>
                <a:lnTo>
                  <a:pt x="1340" y="937"/>
                </a:lnTo>
                <a:lnTo>
                  <a:pt x="1352" y="929"/>
                </a:lnTo>
                <a:lnTo>
                  <a:pt x="1352" y="920"/>
                </a:lnTo>
                <a:lnTo>
                  <a:pt x="1365" y="903"/>
                </a:lnTo>
                <a:lnTo>
                  <a:pt x="1365" y="894"/>
                </a:lnTo>
                <a:lnTo>
                  <a:pt x="1377" y="885"/>
                </a:lnTo>
                <a:lnTo>
                  <a:pt x="1390" y="868"/>
                </a:lnTo>
                <a:lnTo>
                  <a:pt x="1390" y="859"/>
                </a:lnTo>
                <a:lnTo>
                  <a:pt x="1403" y="851"/>
                </a:lnTo>
                <a:lnTo>
                  <a:pt x="1403" y="842"/>
                </a:lnTo>
                <a:lnTo>
                  <a:pt x="1415" y="824"/>
                </a:lnTo>
                <a:lnTo>
                  <a:pt x="1428" y="816"/>
                </a:lnTo>
                <a:lnTo>
                  <a:pt x="1428" y="807"/>
                </a:lnTo>
                <a:lnTo>
                  <a:pt x="1441" y="790"/>
                </a:lnTo>
                <a:lnTo>
                  <a:pt x="1441" y="781"/>
                </a:lnTo>
                <a:lnTo>
                  <a:pt x="1453" y="772"/>
                </a:lnTo>
                <a:lnTo>
                  <a:pt x="1453" y="755"/>
                </a:lnTo>
                <a:lnTo>
                  <a:pt x="1466" y="746"/>
                </a:lnTo>
                <a:lnTo>
                  <a:pt x="1478" y="738"/>
                </a:lnTo>
                <a:lnTo>
                  <a:pt x="1478" y="720"/>
                </a:lnTo>
                <a:lnTo>
                  <a:pt x="1491" y="712"/>
                </a:lnTo>
                <a:lnTo>
                  <a:pt x="1491" y="703"/>
                </a:lnTo>
                <a:lnTo>
                  <a:pt x="1504" y="686"/>
                </a:lnTo>
                <a:lnTo>
                  <a:pt x="1504" y="677"/>
                </a:lnTo>
                <a:lnTo>
                  <a:pt x="1516" y="668"/>
                </a:lnTo>
                <a:lnTo>
                  <a:pt x="1529" y="660"/>
                </a:lnTo>
                <a:lnTo>
                  <a:pt x="1529" y="642"/>
                </a:lnTo>
                <a:lnTo>
                  <a:pt x="1542" y="634"/>
                </a:lnTo>
                <a:lnTo>
                  <a:pt x="1542" y="625"/>
                </a:lnTo>
                <a:lnTo>
                  <a:pt x="1554" y="608"/>
                </a:lnTo>
                <a:lnTo>
                  <a:pt x="1567" y="599"/>
                </a:lnTo>
                <a:lnTo>
                  <a:pt x="1567" y="590"/>
                </a:lnTo>
                <a:lnTo>
                  <a:pt x="1580" y="573"/>
                </a:lnTo>
                <a:lnTo>
                  <a:pt x="1580" y="564"/>
                </a:lnTo>
                <a:lnTo>
                  <a:pt x="1592" y="556"/>
                </a:lnTo>
                <a:lnTo>
                  <a:pt x="1592" y="547"/>
                </a:lnTo>
                <a:lnTo>
                  <a:pt x="1605" y="530"/>
                </a:lnTo>
                <a:lnTo>
                  <a:pt x="1617" y="521"/>
                </a:lnTo>
                <a:lnTo>
                  <a:pt x="1617" y="512"/>
                </a:lnTo>
                <a:lnTo>
                  <a:pt x="1630" y="504"/>
                </a:lnTo>
                <a:lnTo>
                  <a:pt x="1630" y="486"/>
                </a:lnTo>
                <a:lnTo>
                  <a:pt x="1643" y="478"/>
                </a:lnTo>
                <a:lnTo>
                  <a:pt x="1655" y="469"/>
                </a:lnTo>
                <a:lnTo>
                  <a:pt x="1655" y="460"/>
                </a:lnTo>
                <a:lnTo>
                  <a:pt x="1668" y="443"/>
                </a:lnTo>
                <a:lnTo>
                  <a:pt x="1668" y="434"/>
                </a:lnTo>
                <a:lnTo>
                  <a:pt x="1681" y="425"/>
                </a:lnTo>
                <a:lnTo>
                  <a:pt x="1681" y="417"/>
                </a:lnTo>
                <a:lnTo>
                  <a:pt x="1693" y="408"/>
                </a:lnTo>
                <a:lnTo>
                  <a:pt x="1706" y="391"/>
                </a:lnTo>
                <a:lnTo>
                  <a:pt x="1706" y="382"/>
                </a:lnTo>
                <a:lnTo>
                  <a:pt x="1719" y="373"/>
                </a:lnTo>
                <a:lnTo>
                  <a:pt x="1719" y="365"/>
                </a:lnTo>
                <a:lnTo>
                  <a:pt x="1731" y="356"/>
                </a:lnTo>
                <a:lnTo>
                  <a:pt x="1744" y="347"/>
                </a:lnTo>
                <a:lnTo>
                  <a:pt x="1744" y="339"/>
                </a:lnTo>
                <a:lnTo>
                  <a:pt x="1756" y="321"/>
                </a:lnTo>
                <a:lnTo>
                  <a:pt x="1756" y="313"/>
                </a:lnTo>
                <a:lnTo>
                  <a:pt x="1769" y="304"/>
                </a:lnTo>
                <a:lnTo>
                  <a:pt x="1769" y="295"/>
                </a:lnTo>
                <a:lnTo>
                  <a:pt x="1782" y="287"/>
                </a:lnTo>
                <a:lnTo>
                  <a:pt x="1794" y="278"/>
                </a:lnTo>
                <a:lnTo>
                  <a:pt x="1794" y="269"/>
                </a:lnTo>
                <a:lnTo>
                  <a:pt x="1807" y="261"/>
                </a:lnTo>
                <a:lnTo>
                  <a:pt x="1807" y="252"/>
                </a:lnTo>
                <a:lnTo>
                  <a:pt x="1820" y="243"/>
                </a:lnTo>
                <a:lnTo>
                  <a:pt x="1832" y="235"/>
                </a:lnTo>
                <a:lnTo>
                  <a:pt x="1832" y="226"/>
                </a:lnTo>
                <a:lnTo>
                  <a:pt x="1845" y="217"/>
                </a:lnTo>
                <a:lnTo>
                  <a:pt x="1845" y="209"/>
                </a:lnTo>
                <a:lnTo>
                  <a:pt x="1858" y="200"/>
                </a:lnTo>
                <a:lnTo>
                  <a:pt x="1858" y="191"/>
                </a:lnTo>
                <a:lnTo>
                  <a:pt x="1870" y="183"/>
                </a:lnTo>
                <a:lnTo>
                  <a:pt x="1883" y="174"/>
                </a:lnTo>
                <a:lnTo>
                  <a:pt x="1895" y="165"/>
                </a:lnTo>
                <a:lnTo>
                  <a:pt x="1895" y="157"/>
                </a:lnTo>
                <a:lnTo>
                  <a:pt x="1908" y="148"/>
                </a:lnTo>
                <a:lnTo>
                  <a:pt x="1921" y="139"/>
                </a:lnTo>
                <a:lnTo>
                  <a:pt x="1921" y="131"/>
                </a:lnTo>
                <a:lnTo>
                  <a:pt x="1933" y="131"/>
                </a:lnTo>
                <a:lnTo>
                  <a:pt x="1933" y="122"/>
                </a:lnTo>
                <a:lnTo>
                  <a:pt x="1946" y="113"/>
                </a:lnTo>
                <a:lnTo>
                  <a:pt x="1946" y="105"/>
                </a:lnTo>
                <a:lnTo>
                  <a:pt x="1959" y="105"/>
                </a:lnTo>
                <a:lnTo>
                  <a:pt x="1971" y="96"/>
                </a:lnTo>
                <a:lnTo>
                  <a:pt x="1971" y="87"/>
                </a:lnTo>
                <a:lnTo>
                  <a:pt x="1984" y="87"/>
                </a:lnTo>
                <a:lnTo>
                  <a:pt x="1984" y="79"/>
                </a:lnTo>
                <a:lnTo>
                  <a:pt x="1996" y="70"/>
                </a:lnTo>
                <a:lnTo>
                  <a:pt x="2009" y="70"/>
                </a:lnTo>
                <a:lnTo>
                  <a:pt x="2009" y="61"/>
                </a:lnTo>
                <a:lnTo>
                  <a:pt x="2022" y="61"/>
                </a:lnTo>
                <a:lnTo>
                  <a:pt x="2022" y="53"/>
                </a:lnTo>
                <a:lnTo>
                  <a:pt x="2034" y="53"/>
                </a:lnTo>
                <a:lnTo>
                  <a:pt x="2034" y="44"/>
                </a:lnTo>
                <a:lnTo>
                  <a:pt x="2047" y="44"/>
                </a:lnTo>
                <a:lnTo>
                  <a:pt x="2060" y="35"/>
                </a:lnTo>
                <a:lnTo>
                  <a:pt x="2072" y="26"/>
                </a:lnTo>
                <a:lnTo>
                  <a:pt x="2085" y="26"/>
                </a:lnTo>
                <a:lnTo>
                  <a:pt x="2098" y="18"/>
                </a:lnTo>
                <a:lnTo>
                  <a:pt x="2110" y="18"/>
                </a:lnTo>
                <a:lnTo>
                  <a:pt x="2110" y="9"/>
                </a:lnTo>
                <a:lnTo>
                  <a:pt x="2123" y="9"/>
                </a:lnTo>
                <a:lnTo>
                  <a:pt x="2135" y="9"/>
                </a:lnTo>
                <a:lnTo>
                  <a:pt x="2148" y="0"/>
                </a:lnTo>
                <a:lnTo>
                  <a:pt x="2161" y="0"/>
                </a:lnTo>
                <a:lnTo>
                  <a:pt x="2173" y="0"/>
                </a:lnTo>
                <a:lnTo>
                  <a:pt x="2186" y="0"/>
                </a:lnTo>
                <a:lnTo>
                  <a:pt x="2199" y="0"/>
                </a:lnTo>
                <a:lnTo>
                  <a:pt x="2211" y="0"/>
                </a:lnTo>
                <a:lnTo>
                  <a:pt x="2224" y="0"/>
                </a:lnTo>
                <a:lnTo>
                  <a:pt x="2237" y="0"/>
                </a:lnTo>
                <a:lnTo>
                  <a:pt x="2249" y="0"/>
                </a:lnTo>
                <a:lnTo>
                  <a:pt x="2262" y="0"/>
                </a:lnTo>
                <a:lnTo>
                  <a:pt x="2274" y="0"/>
                </a:lnTo>
                <a:lnTo>
                  <a:pt x="2287" y="9"/>
                </a:lnTo>
                <a:lnTo>
                  <a:pt x="2300" y="9"/>
                </a:lnTo>
                <a:lnTo>
                  <a:pt x="2312" y="18"/>
                </a:lnTo>
                <a:lnTo>
                  <a:pt x="2325" y="18"/>
                </a:lnTo>
                <a:lnTo>
                  <a:pt x="2338" y="26"/>
                </a:lnTo>
                <a:lnTo>
                  <a:pt x="2350" y="26"/>
                </a:lnTo>
                <a:lnTo>
                  <a:pt x="2363" y="35"/>
                </a:lnTo>
                <a:lnTo>
                  <a:pt x="2375" y="44"/>
                </a:lnTo>
                <a:lnTo>
                  <a:pt x="2388" y="53"/>
                </a:lnTo>
                <a:lnTo>
                  <a:pt x="2401" y="61"/>
                </a:lnTo>
                <a:lnTo>
                  <a:pt x="2413" y="61"/>
                </a:lnTo>
                <a:lnTo>
                  <a:pt x="2413" y="70"/>
                </a:lnTo>
                <a:lnTo>
                  <a:pt x="2426" y="70"/>
                </a:lnTo>
                <a:lnTo>
                  <a:pt x="2426" y="79"/>
                </a:lnTo>
                <a:lnTo>
                  <a:pt x="2439" y="87"/>
                </a:lnTo>
                <a:lnTo>
                  <a:pt x="2451" y="87"/>
                </a:lnTo>
                <a:lnTo>
                  <a:pt x="2451" y="96"/>
                </a:lnTo>
                <a:lnTo>
                  <a:pt x="2464" y="105"/>
                </a:lnTo>
                <a:lnTo>
                  <a:pt x="2477" y="113"/>
                </a:lnTo>
                <a:lnTo>
                  <a:pt x="2477" y="122"/>
                </a:lnTo>
                <a:lnTo>
                  <a:pt x="2489" y="131"/>
                </a:lnTo>
                <a:lnTo>
                  <a:pt x="2502" y="131"/>
                </a:lnTo>
                <a:lnTo>
                  <a:pt x="2502" y="139"/>
                </a:lnTo>
                <a:lnTo>
                  <a:pt x="2514" y="148"/>
                </a:lnTo>
                <a:lnTo>
                  <a:pt x="2514" y="157"/>
                </a:lnTo>
                <a:lnTo>
                  <a:pt x="2527" y="165"/>
                </a:lnTo>
                <a:lnTo>
                  <a:pt x="2540" y="174"/>
                </a:lnTo>
                <a:lnTo>
                  <a:pt x="2552" y="183"/>
                </a:lnTo>
                <a:lnTo>
                  <a:pt x="2552" y="191"/>
                </a:lnTo>
                <a:lnTo>
                  <a:pt x="2565" y="200"/>
                </a:lnTo>
                <a:lnTo>
                  <a:pt x="2565" y="209"/>
                </a:lnTo>
                <a:lnTo>
                  <a:pt x="2578" y="217"/>
                </a:lnTo>
                <a:lnTo>
                  <a:pt x="2590" y="226"/>
                </a:lnTo>
                <a:lnTo>
                  <a:pt x="2590" y="235"/>
                </a:lnTo>
                <a:lnTo>
                  <a:pt x="2603" y="243"/>
                </a:lnTo>
                <a:lnTo>
                  <a:pt x="2603" y="252"/>
                </a:lnTo>
                <a:lnTo>
                  <a:pt x="2616" y="261"/>
                </a:lnTo>
                <a:lnTo>
                  <a:pt x="2628" y="269"/>
                </a:lnTo>
                <a:lnTo>
                  <a:pt x="2628" y="278"/>
                </a:lnTo>
                <a:lnTo>
                  <a:pt x="2641" y="287"/>
                </a:lnTo>
                <a:lnTo>
                  <a:pt x="2641" y="295"/>
                </a:lnTo>
                <a:lnTo>
                  <a:pt x="2653" y="304"/>
                </a:lnTo>
                <a:lnTo>
                  <a:pt x="2653" y="313"/>
                </a:lnTo>
                <a:lnTo>
                  <a:pt x="2666" y="321"/>
                </a:lnTo>
                <a:lnTo>
                  <a:pt x="2679" y="339"/>
                </a:lnTo>
                <a:lnTo>
                  <a:pt x="2679" y="347"/>
                </a:lnTo>
                <a:lnTo>
                  <a:pt x="2691" y="356"/>
                </a:lnTo>
                <a:lnTo>
                  <a:pt x="2691" y="365"/>
                </a:lnTo>
                <a:lnTo>
                  <a:pt x="2704" y="373"/>
                </a:lnTo>
                <a:lnTo>
                  <a:pt x="2717" y="382"/>
                </a:lnTo>
                <a:lnTo>
                  <a:pt x="2717" y="391"/>
                </a:lnTo>
                <a:lnTo>
                  <a:pt x="2729" y="408"/>
                </a:lnTo>
                <a:lnTo>
                  <a:pt x="2729" y="417"/>
                </a:lnTo>
                <a:lnTo>
                  <a:pt x="2742" y="425"/>
                </a:lnTo>
                <a:lnTo>
                  <a:pt x="2742" y="434"/>
                </a:lnTo>
                <a:lnTo>
                  <a:pt x="2754" y="443"/>
                </a:lnTo>
                <a:lnTo>
                  <a:pt x="2767" y="460"/>
                </a:lnTo>
                <a:lnTo>
                  <a:pt x="2767" y="469"/>
                </a:lnTo>
                <a:lnTo>
                  <a:pt x="2780" y="478"/>
                </a:lnTo>
                <a:lnTo>
                  <a:pt x="2780" y="486"/>
                </a:lnTo>
                <a:lnTo>
                  <a:pt x="2792" y="504"/>
                </a:lnTo>
                <a:lnTo>
                  <a:pt x="2805" y="512"/>
                </a:lnTo>
                <a:lnTo>
                  <a:pt x="2805" y="521"/>
                </a:lnTo>
                <a:lnTo>
                  <a:pt x="2818" y="530"/>
                </a:lnTo>
                <a:lnTo>
                  <a:pt x="2818" y="547"/>
                </a:lnTo>
                <a:lnTo>
                  <a:pt x="2830" y="556"/>
                </a:lnTo>
                <a:lnTo>
                  <a:pt x="2830" y="564"/>
                </a:lnTo>
                <a:lnTo>
                  <a:pt x="2843" y="573"/>
                </a:lnTo>
                <a:lnTo>
                  <a:pt x="2856" y="590"/>
                </a:lnTo>
                <a:lnTo>
                  <a:pt x="2856" y="599"/>
                </a:lnTo>
                <a:lnTo>
                  <a:pt x="2868" y="608"/>
                </a:lnTo>
                <a:lnTo>
                  <a:pt x="2868" y="625"/>
                </a:lnTo>
                <a:lnTo>
                  <a:pt x="2881" y="634"/>
                </a:lnTo>
                <a:lnTo>
                  <a:pt x="2893" y="642"/>
                </a:lnTo>
                <a:lnTo>
                  <a:pt x="2893" y="660"/>
                </a:lnTo>
                <a:lnTo>
                  <a:pt x="2906" y="668"/>
                </a:lnTo>
                <a:lnTo>
                  <a:pt x="2906" y="677"/>
                </a:lnTo>
                <a:lnTo>
                  <a:pt x="2919" y="686"/>
                </a:lnTo>
                <a:lnTo>
                  <a:pt x="2919" y="703"/>
                </a:lnTo>
                <a:lnTo>
                  <a:pt x="2931" y="712"/>
                </a:lnTo>
                <a:lnTo>
                  <a:pt x="2944" y="720"/>
                </a:lnTo>
                <a:lnTo>
                  <a:pt x="2944" y="738"/>
                </a:lnTo>
                <a:lnTo>
                  <a:pt x="2957" y="746"/>
                </a:lnTo>
                <a:lnTo>
                  <a:pt x="2957" y="755"/>
                </a:lnTo>
                <a:lnTo>
                  <a:pt x="2969" y="772"/>
                </a:lnTo>
                <a:lnTo>
                  <a:pt x="2982" y="781"/>
                </a:lnTo>
                <a:lnTo>
                  <a:pt x="2982" y="790"/>
                </a:lnTo>
                <a:lnTo>
                  <a:pt x="2995" y="807"/>
                </a:lnTo>
                <a:lnTo>
                  <a:pt x="2995" y="816"/>
                </a:lnTo>
                <a:lnTo>
                  <a:pt x="3007" y="824"/>
                </a:lnTo>
                <a:lnTo>
                  <a:pt x="3007" y="842"/>
                </a:lnTo>
                <a:lnTo>
                  <a:pt x="3020" y="851"/>
                </a:lnTo>
                <a:lnTo>
                  <a:pt x="3032" y="859"/>
                </a:lnTo>
                <a:lnTo>
                  <a:pt x="3032" y="868"/>
                </a:lnTo>
                <a:lnTo>
                  <a:pt x="3045" y="885"/>
                </a:lnTo>
                <a:lnTo>
                  <a:pt x="3045" y="894"/>
                </a:lnTo>
                <a:lnTo>
                  <a:pt x="3058" y="903"/>
                </a:lnTo>
                <a:lnTo>
                  <a:pt x="3058" y="920"/>
                </a:lnTo>
                <a:lnTo>
                  <a:pt x="3070" y="929"/>
                </a:lnTo>
                <a:lnTo>
                  <a:pt x="3083" y="937"/>
                </a:lnTo>
                <a:lnTo>
                  <a:pt x="3083" y="946"/>
                </a:lnTo>
                <a:lnTo>
                  <a:pt x="3096" y="963"/>
                </a:lnTo>
                <a:lnTo>
                  <a:pt x="3096" y="972"/>
                </a:lnTo>
                <a:lnTo>
                  <a:pt x="3108" y="981"/>
                </a:lnTo>
                <a:lnTo>
                  <a:pt x="3121" y="989"/>
                </a:lnTo>
                <a:lnTo>
                  <a:pt x="3121" y="1007"/>
                </a:lnTo>
                <a:lnTo>
                  <a:pt x="3134" y="1015"/>
                </a:lnTo>
                <a:lnTo>
                  <a:pt x="3134" y="1024"/>
                </a:lnTo>
                <a:lnTo>
                  <a:pt x="3146" y="1033"/>
                </a:lnTo>
                <a:lnTo>
                  <a:pt x="3146" y="1050"/>
                </a:lnTo>
                <a:lnTo>
                  <a:pt x="3159" y="1059"/>
                </a:lnTo>
                <a:lnTo>
                  <a:pt x="3171" y="1067"/>
                </a:lnTo>
                <a:lnTo>
                  <a:pt x="3171" y="1076"/>
                </a:lnTo>
                <a:lnTo>
                  <a:pt x="3184" y="1085"/>
                </a:lnTo>
                <a:lnTo>
                  <a:pt x="3184" y="1102"/>
                </a:lnTo>
                <a:lnTo>
                  <a:pt x="3197" y="1111"/>
                </a:lnTo>
                <a:lnTo>
                  <a:pt x="3209" y="1119"/>
                </a:lnTo>
                <a:lnTo>
                  <a:pt x="3209" y="1128"/>
                </a:lnTo>
                <a:lnTo>
                  <a:pt x="3222" y="1137"/>
                </a:lnTo>
                <a:lnTo>
                  <a:pt x="3222" y="1145"/>
                </a:lnTo>
                <a:lnTo>
                  <a:pt x="3235" y="1163"/>
                </a:lnTo>
                <a:lnTo>
                  <a:pt x="3235" y="1171"/>
                </a:lnTo>
                <a:lnTo>
                  <a:pt x="3247" y="1180"/>
                </a:lnTo>
                <a:lnTo>
                  <a:pt x="3260" y="1189"/>
                </a:lnTo>
                <a:lnTo>
                  <a:pt x="3260" y="1197"/>
                </a:lnTo>
                <a:lnTo>
                  <a:pt x="3272" y="1206"/>
                </a:lnTo>
                <a:lnTo>
                  <a:pt x="3272" y="1215"/>
                </a:lnTo>
                <a:lnTo>
                  <a:pt x="3285" y="1223"/>
                </a:lnTo>
                <a:lnTo>
                  <a:pt x="3298" y="1241"/>
                </a:lnTo>
                <a:lnTo>
                  <a:pt x="3298" y="1250"/>
                </a:lnTo>
                <a:lnTo>
                  <a:pt x="3310" y="1258"/>
                </a:lnTo>
                <a:lnTo>
                  <a:pt x="3310" y="1267"/>
                </a:lnTo>
                <a:lnTo>
                  <a:pt x="3323" y="1276"/>
                </a:lnTo>
                <a:lnTo>
                  <a:pt x="3323" y="1284"/>
                </a:lnTo>
                <a:lnTo>
                  <a:pt x="3336" y="1293"/>
                </a:lnTo>
                <a:lnTo>
                  <a:pt x="3348" y="1302"/>
                </a:lnTo>
                <a:lnTo>
                  <a:pt x="3348" y="1310"/>
                </a:lnTo>
                <a:lnTo>
                  <a:pt x="3361" y="1319"/>
                </a:lnTo>
                <a:lnTo>
                  <a:pt x="3361" y="1328"/>
                </a:lnTo>
                <a:lnTo>
                  <a:pt x="3374" y="1336"/>
                </a:lnTo>
                <a:lnTo>
                  <a:pt x="3386" y="1345"/>
                </a:lnTo>
                <a:lnTo>
                  <a:pt x="3386" y="1354"/>
                </a:lnTo>
                <a:lnTo>
                  <a:pt x="3399" y="1362"/>
                </a:lnTo>
                <a:lnTo>
                  <a:pt x="3399" y="1371"/>
                </a:lnTo>
                <a:lnTo>
                  <a:pt x="3411" y="1380"/>
                </a:lnTo>
                <a:lnTo>
                  <a:pt x="3411" y="1388"/>
                </a:lnTo>
                <a:lnTo>
                  <a:pt x="3424" y="1397"/>
                </a:lnTo>
                <a:lnTo>
                  <a:pt x="3437" y="1397"/>
                </a:lnTo>
                <a:lnTo>
                  <a:pt x="3437" y="1406"/>
                </a:lnTo>
                <a:lnTo>
                  <a:pt x="3449" y="1414"/>
                </a:lnTo>
                <a:lnTo>
                  <a:pt x="3449" y="1423"/>
                </a:lnTo>
                <a:lnTo>
                  <a:pt x="3462" y="1432"/>
                </a:lnTo>
                <a:lnTo>
                  <a:pt x="3475" y="1440"/>
                </a:lnTo>
                <a:lnTo>
                  <a:pt x="3475" y="1449"/>
                </a:lnTo>
                <a:lnTo>
                  <a:pt x="3487" y="1458"/>
                </a:lnTo>
                <a:lnTo>
                  <a:pt x="3500" y="1466"/>
                </a:lnTo>
                <a:lnTo>
                  <a:pt x="3500" y="1475"/>
                </a:lnTo>
                <a:lnTo>
                  <a:pt x="3513" y="1484"/>
                </a:lnTo>
                <a:lnTo>
                  <a:pt x="3525" y="1492"/>
                </a:lnTo>
                <a:lnTo>
                  <a:pt x="3538" y="1501"/>
                </a:lnTo>
                <a:lnTo>
                  <a:pt x="3538" y="1510"/>
                </a:lnTo>
                <a:lnTo>
                  <a:pt x="3550" y="1518"/>
                </a:lnTo>
                <a:lnTo>
                  <a:pt x="3563" y="1518"/>
                </a:lnTo>
                <a:lnTo>
                  <a:pt x="3563" y="1527"/>
                </a:lnTo>
                <a:lnTo>
                  <a:pt x="3576" y="1536"/>
                </a:lnTo>
                <a:lnTo>
                  <a:pt x="3576" y="1544"/>
                </a:lnTo>
                <a:lnTo>
                  <a:pt x="3588" y="1544"/>
                </a:lnTo>
                <a:lnTo>
                  <a:pt x="3588" y="1553"/>
                </a:lnTo>
                <a:lnTo>
                  <a:pt x="3601" y="1562"/>
                </a:lnTo>
                <a:lnTo>
                  <a:pt x="3614" y="1562"/>
                </a:lnTo>
                <a:lnTo>
                  <a:pt x="3614" y="1570"/>
                </a:lnTo>
                <a:lnTo>
                  <a:pt x="3626" y="1579"/>
                </a:lnTo>
                <a:lnTo>
                  <a:pt x="3639" y="1588"/>
                </a:lnTo>
                <a:lnTo>
                  <a:pt x="3651" y="1596"/>
                </a:lnTo>
                <a:lnTo>
                  <a:pt x="3664" y="1605"/>
                </a:lnTo>
                <a:lnTo>
                  <a:pt x="3664" y="1614"/>
                </a:lnTo>
                <a:lnTo>
                  <a:pt x="3677" y="1614"/>
                </a:lnTo>
                <a:lnTo>
                  <a:pt x="3677" y="1874"/>
                </a:lnTo>
                <a:lnTo>
                  <a:pt x="3664" y="1874"/>
                </a:lnTo>
                <a:lnTo>
                  <a:pt x="3651" y="1874"/>
                </a:lnTo>
                <a:lnTo>
                  <a:pt x="3639" y="1874"/>
                </a:lnTo>
                <a:lnTo>
                  <a:pt x="3626" y="1874"/>
                </a:lnTo>
                <a:lnTo>
                  <a:pt x="3614" y="1874"/>
                </a:lnTo>
                <a:lnTo>
                  <a:pt x="3601" y="1874"/>
                </a:lnTo>
                <a:lnTo>
                  <a:pt x="3588" y="1874"/>
                </a:lnTo>
                <a:lnTo>
                  <a:pt x="3576" y="1874"/>
                </a:lnTo>
                <a:lnTo>
                  <a:pt x="3563" y="1874"/>
                </a:lnTo>
                <a:lnTo>
                  <a:pt x="3550" y="1874"/>
                </a:lnTo>
                <a:lnTo>
                  <a:pt x="3538" y="1874"/>
                </a:lnTo>
                <a:lnTo>
                  <a:pt x="3525" y="1874"/>
                </a:lnTo>
                <a:lnTo>
                  <a:pt x="3513" y="1874"/>
                </a:lnTo>
                <a:lnTo>
                  <a:pt x="3500" y="1874"/>
                </a:lnTo>
                <a:lnTo>
                  <a:pt x="3487" y="1874"/>
                </a:lnTo>
                <a:lnTo>
                  <a:pt x="3475" y="1874"/>
                </a:lnTo>
                <a:lnTo>
                  <a:pt x="3462" y="1874"/>
                </a:lnTo>
                <a:lnTo>
                  <a:pt x="3449" y="1874"/>
                </a:lnTo>
                <a:lnTo>
                  <a:pt x="3437" y="1874"/>
                </a:lnTo>
                <a:lnTo>
                  <a:pt x="3424" y="1874"/>
                </a:lnTo>
                <a:lnTo>
                  <a:pt x="3411" y="1874"/>
                </a:lnTo>
                <a:lnTo>
                  <a:pt x="3399" y="1874"/>
                </a:lnTo>
                <a:lnTo>
                  <a:pt x="3386" y="1874"/>
                </a:lnTo>
                <a:lnTo>
                  <a:pt x="3374" y="1874"/>
                </a:lnTo>
                <a:lnTo>
                  <a:pt x="3361" y="1874"/>
                </a:lnTo>
                <a:lnTo>
                  <a:pt x="3348" y="1874"/>
                </a:lnTo>
                <a:lnTo>
                  <a:pt x="3336" y="1874"/>
                </a:lnTo>
                <a:lnTo>
                  <a:pt x="3323" y="1874"/>
                </a:lnTo>
                <a:lnTo>
                  <a:pt x="3310" y="1874"/>
                </a:lnTo>
                <a:lnTo>
                  <a:pt x="3298" y="1874"/>
                </a:lnTo>
                <a:lnTo>
                  <a:pt x="3285" y="1874"/>
                </a:lnTo>
                <a:lnTo>
                  <a:pt x="3272" y="1874"/>
                </a:lnTo>
                <a:lnTo>
                  <a:pt x="3260" y="1874"/>
                </a:lnTo>
                <a:lnTo>
                  <a:pt x="3247" y="1874"/>
                </a:lnTo>
                <a:lnTo>
                  <a:pt x="3235" y="1874"/>
                </a:lnTo>
                <a:lnTo>
                  <a:pt x="3222" y="1874"/>
                </a:lnTo>
                <a:lnTo>
                  <a:pt x="3209" y="1874"/>
                </a:lnTo>
                <a:lnTo>
                  <a:pt x="3197" y="1874"/>
                </a:lnTo>
                <a:lnTo>
                  <a:pt x="3184" y="1874"/>
                </a:lnTo>
                <a:lnTo>
                  <a:pt x="3171" y="1874"/>
                </a:lnTo>
                <a:lnTo>
                  <a:pt x="3159" y="1874"/>
                </a:lnTo>
                <a:lnTo>
                  <a:pt x="3146" y="1874"/>
                </a:lnTo>
                <a:lnTo>
                  <a:pt x="3134" y="1874"/>
                </a:lnTo>
                <a:lnTo>
                  <a:pt x="3121" y="1874"/>
                </a:lnTo>
                <a:lnTo>
                  <a:pt x="3108" y="1874"/>
                </a:lnTo>
                <a:lnTo>
                  <a:pt x="3096" y="1874"/>
                </a:lnTo>
                <a:lnTo>
                  <a:pt x="3083" y="1874"/>
                </a:lnTo>
                <a:lnTo>
                  <a:pt x="3070" y="1874"/>
                </a:lnTo>
                <a:lnTo>
                  <a:pt x="3058" y="1874"/>
                </a:lnTo>
                <a:lnTo>
                  <a:pt x="3045" y="1874"/>
                </a:lnTo>
                <a:lnTo>
                  <a:pt x="3032" y="1874"/>
                </a:lnTo>
                <a:lnTo>
                  <a:pt x="3020" y="1874"/>
                </a:lnTo>
                <a:lnTo>
                  <a:pt x="3007" y="1874"/>
                </a:lnTo>
                <a:lnTo>
                  <a:pt x="2995" y="1874"/>
                </a:lnTo>
                <a:lnTo>
                  <a:pt x="2982" y="1874"/>
                </a:lnTo>
                <a:lnTo>
                  <a:pt x="2969" y="1874"/>
                </a:lnTo>
                <a:lnTo>
                  <a:pt x="2957" y="1874"/>
                </a:lnTo>
                <a:lnTo>
                  <a:pt x="2944" y="1874"/>
                </a:lnTo>
                <a:lnTo>
                  <a:pt x="2931" y="1874"/>
                </a:lnTo>
                <a:lnTo>
                  <a:pt x="2919" y="1874"/>
                </a:lnTo>
                <a:lnTo>
                  <a:pt x="2906" y="1874"/>
                </a:lnTo>
                <a:lnTo>
                  <a:pt x="2893" y="1874"/>
                </a:lnTo>
                <a:lnTo>
                  <a:pt x="2881" y="1874"/>
                </a:lnTo>
                <a:lnTo>
                  <a:pt x="2868" y="1874"/>
                </a:lnTo>
                <a:lnTo>
                  <a:pt x="2856" y="1874"/>
                </a:lnTo>
                <a:lnTo>
                  <a:pt x="2843" y="1874"/>
                </a:lnTo>
                <a:lnTo>
                  <a:pt x="2830" y="1874"/>
                </a:lnTo>
                <a:lnTo>
                  <a:pt x="2818" y="1874"/>
                </a:lnTo>
                <a:lnTo>
                  <a:pt x="2805" y="1874"/>
                </a:lnTo>
                <a:lnTo>
                  <a:pt x="2792" y="1874"/>
                </a:lnTo>
                <a:lnTo>
                  <a:pt x="2780" y="1874"/>
                </a:lnTo>
                <a:lnTo>
                  <a:pt x="2767" y="1874"/>
                </a:lnTo>
                <a:lnTo>
                  <a:pt x="2754" y="1874"/>
                </a:lnTo>
                <a:lnTo>
                  <a:pt x="2742" y="1874"/>
                </a:lnTo>
                <a:lnTo>
                  <a:pt x="2729" y="1874"/>
                </a:lnTo>
                <a:lnTo>
                  <a:pt x="2717" y="1874"/>
                </a:lnTo>
                <a:lnTo>
                  <a:pt x="2704" y="1874"/>
                </a:lnTo>
                <a:lnTo>
                  <a:pt x="2691" y="1874"/>
                </a:lnTo>
                <a:lnTo>
                  <a:pt x="2679" y="1874"/>
                </a:lnTo>
                <a:lnTo>
                  <a:pt x="2666" y="1874"/>
                </a:lnTo>
                <a:lnTo>
                  <a:pt x="2653" y="1874"/>
                </a:lnTo>
                <a:lnTo>
                  <a:pt x="2641" y="1874"/>
                </a:lnTo>
                <a:lnTo>
                  <a:pt x="2628" y="1874"/>
                </a:lnTo>
                <a:lnTo>
                  <a:pt x="2616" y="1874"/>
                </a:lnTo>
                <a:lnTo>
                  <a:pt x="2603" y="1874"/>
                </a:lnTo>
                <a:lnTo>
                  <a:pt x="2590" y="1874"/>
                </a:lnTo>
                <a:lnTo>
                  <a:pt x="2578" y="1874"/>
                </a:lnTo>
                <a:lnTo>
                  <a:pt x="2565" y="1874"/>
                </a:lnTo>
                <a:lnTo>
                  <a:pt x="2552" y="1874"/>
                </a:lnTo>
                <a:lnTo>
                  <a:pt x="2540" y="1874"/>
                </a:lnTo>
                <a:lnTo>
                  <a:pt x="2527" y="1874"/>
                </a:lnTo>
                <a:lnTo>
                  <a:pt x="2514" y="1874"/>
                </a:lnTo>
                <a:lnTo>
                  <a:pt x="2502" y="1874"/>
                </a:lnTo>
                <a:lnTo>
                  <a:pt x="2489" y="1874"/>
                </a:lnTo>
                <a:lnTo>
                  <a:pt x="2477" y="1874"/>
                </a:lnTo>
                <a:lnTo>
                  <a:pt x="2464" y="1874"/>
                </a:lnTo>
                <a:lnTo>
                  <a:pt x="2451" y="1874"/>
                </a:lnTo>
                <a:lnTo>
                  <a:pt x="2439" y="1874"/>
                </a:lnTo>
                <a:lnTo>
                  <a:pt x="2426" y="1874"/>
                </a:lnTo>
                <a:lnTo>
                  <a:pt x="2413" y="1874"/>
                </a:lnTo>
                <a:lnTo>
                  <a:pt x="2401" y="1874"/>
                </a:lnTo>
                <a:lnTo>
                  <a:pt x="2388" y="1874"/>
                </a:lnTo>
                <a:lnTo>
                  <a:pt x="2375" y="1874"/>
                </a:lnTo>
                <a:lnTo>
                  <a:pt x="2363" y="1874"/>
                </a:lnTo>
                <a:lnTo>
                  <a:pt x="2350" y="1874"/>
                </a:lnTo>
                <a:lnTo>
                  <a:pt x="2338" y="1874"/>
                </a:lnTo>
                <a:lnTo>
                  <a:pt x="2325" y="1874"/>
                </a:lnTo>
                <a:lnTo>
                  <a:pt x="2312" y="1874"/>
                </a:lnTo>
                <a:lnTo>
                  <a:pt x="2300" y="1874"/>
                </a:lnTo>
                <a:lnTo>
                  <a:pt x="2287" y="1874"/>
                </a:lnTo>
                <a:lnTo>
                  <a:pt x="2274" y="1874"/>
                </a:lnTo>
                <a:lnTo>
                  <a:pt x="2262" y="1874"/>
                </a:lnTo>
                <a:lnTo>
                  <a:pt x="2249" y="1874"/>
                </a:lnTo>
                <a:lnTo>
                  <a:pt x="2237" y="1874"/>
                </a:lnTo>
                <a:lnTo>
                  <a:pt x="2224" y="1874"/>
                </a:lnTo>
                <a:lnTo>
                  <a:pt x="2211" y="1874"/>
                </a:lnTo>
                <a:lnTo>
                  <a:pt x="2199" y="1874"/>
                </a:lnTo>
                <a:lnTo>
                  <a:pt x="2186" y="1874"/>
                </a:lnTo>
                <a:lnTo>
                  <a:pt x="2173" y="1874"/>
                </a:lnTo>
                <a:lnTo>
                  <a:pt x="2161" y="1874"/>
                </a:lnTo>
                <a:lnTo>
                  <a:pt x="2148" y="1874"/>
                </a:lnTo>
                <a:lnTo>
                  <a:pt x="2135" y="1874"/>
                </a:lnTo>
                <a:lnTo>
                  <a:pt x="2123" y="1874"/>
                </a:lnTo>
                <a:lnTo>
                  <a:pt x="2110" y="1874"/>
                </a:lnTo>
                <a:lnTo>
                  <a:pt x="2098" y="1874"/>
                </a:lnTo>
                <a:lnTo>
                  <a:pt x="2085" y="1874"/>
                </a:lnTo>
                <a:lnTo>
                  <a:pt x="2072" y="1874"/>
                </a:lnTo>
                <a:lnTo>
                  <a:pt x="2060" y="1874"/>
                </a:lnTo>
                <a:lnTo>
                  <a:pt x="2047" y="1874"/>
                </a:lnTo>
                <a:lnTo>
                  <a:pt x="2034" y="1874"/>
                </a:lnTo>
                <a:lnTo>
                  <a:pt x="2022" y="1874"/>
                </a:lnTo>
                <a:lnTo>
                  <a:pt x="2009" y="1874"/>
                </a:lnTo>
                <a:lnTo>
                  <a:pt x="1996" y="1874"/>
                </a:lnTo>
                <a:lnTo>
                  <a:pt x="1984" y="1874"/>
                </a:lnTo>
                <a:lnTo>
                  <a:pt x="1971" y="1874"/>
                </a:lnTo>
                <a:lnTo>
                  <a:pt x="1959" y="1874"/>
                </a:lnTo>
                <a:lnTo>
                  <a:pt x="1946" y="1874"/>
                </a:lnTo>
                <a:lnTo>
                  <a:pt x="1933" y="1874"/>
                </a:lnTo>
                <a:lnTo>
                  <a:pt x="1921" y="1874"/>
                </a:lnTo>
                <a:lnTo>
                  <a:pt x="1908" y="1874"/>
                </a:lnTo>
                <a:lnTo>
                  <a:pt x="1895" y="1874"/>
                </a:lnTo>
                <a:lnTo>
                  <a:pt x="1883" y="1874"/>
                </a:lnTo>
                <a:lnTo>
                  <a:pt x="1870" y="1874"/>
                </a:lnTo>
                <a:lnTo>
                  <a:pt x="1858" y="1874"/>
                </a:lnTo>
                <a:lnTo>
                  <a:pt x="1845" y="1874"/>
                </a:lnTo>
                <a:lnTo>
                  <a:pt x="1832" y="1874"/>
                </a:lnTo>
                <a:lnTo>
                  <a:pt x="1820" y="1874"/>
                </a:lnTo>
                <a:lnTo>
                  <a:pt x="1807" y="1874"/>
                </a:lnTo>
                <a:lnTo>
                  <a:pt x="1794" y="1874"/>
                </a:lnTo>
                <a:lnTo>
                  <a:pt x="1782" y="1874"/>
                </a:lnTo>
                <a:lnTo>
                  <a:pt x="1769" y="1874"/>
                </a:lnTo>
                <a:lnTo>
                  <a:pt x="1756" y="1874"/>
                </a:lnTo>
                <a:lnTo>
                  <a:pt x="1744" y="1874"/>
                </a:lnTo>
                <a:lnTo>
                  <a:pt x="1731" y="1874"/>
                </a:lnTo>
                <a:lnTo>
                  <a:pt x="1719" y="1874"/>
                </a:lnTo>
                <a:lnTo>
                  <a:pt x="1706" y="1874"/>
                </a:lnTo>
                <a:lnTo>
                  <a:pt x="1693" y="1874"/>
                </a:lnTo>
                <a:lnTo>
                  <a:pt x="1681" y="1874"/>
                </a:lnTo>
                <a:lnTo>
                  <a:pt x="1668" y="1874"/>
                </a:lnTo>
                <a:lnTo>
                  <a:pt x="1655" y="1874"/>
                </a:lnTo>
                <a:lnTo>
                  <a:pt x="1643" y="1874"/>
                </a:lnTo>
                <a:lnTo>
                  <a:pt x="1630" y="1874"/>
                </a:lnTo>
                <a:lnTo>
                  <a:pt x="1617" y="1874"/>
                </a:lnTo>
                <a:lnTo>
                  <a:pt x="1605" y="1874"/>
                </a:lnTo>
                <a:lnTo>
                  <a:pt x="1592" y="1874"/>
                </a:lnTo>
                <a:lnTo>
                  <a:pt x="1580" y="1874"/>
                </a:lnTo>
                <a:lnTo>
                  <a:pt x="1567" y="1874"/>
                </a:lnTo>
                <a:lnTo>
                  <a:pt x="1554" y="1874"/>
                </a:lnTo>
                <a:lnTo>
                  <a:pt x="1542" y="1874"/>
                </a:lnTo>
                <a:lnTo>
                  <a:pt x="1529" y="1874"/>
                </a:lnTo>
                <a:lnTo>
                  <a:pt x="1516" y="1874"/>
                </a:lnTo>
                <a:lnTo>
                  <a:pt x="1504" y="1874"/>
                </a:lnTo>
                <a:lnTo>
                  <a:pt x="1491" y="1874"/>
                </a:lnTo>
                <a:lnTo>
                  <a:pt x="1478" y="1874"/>
                </a:lnTo>
                <a:lnTo>
                  <a:pt x="1466" y="1874"/>
                </a:lnTo>
                <a:lnTo>
                  <a:pt x="1453" y="1874"/>
                </a:lnTo>
                <a:lnTo>
                  <a:pt x="1441" y="1874"/>
                </a:lnTo>
                <a:lnTo>
                  <a:pt x="1428" y="1874"/>
                </a:lnTo>
                <a:lnTo>
                  <a:pt x="1415" y="1874"/>
                </a:lnTo>
                <a:lnTo>
                  <a:pt x="1403" y="1874"/>
                </a:lnTo>
                <a:lnTo>
                  <a:pt x="1390" y="1874"/>
                </a:lnTo>
                <a:lnTo>
                  <a:pt x="1377" y="1874"/>
                </a:lnTo>
                <a:lnTo>
                  <a:pt x="1365" y="1874"/>
                </a:lnTo>
                <a:lnTo>
                  <a:pt x="1352" y="1874"/>
                </a:lnTo>
                <a:lnTo>
                  <a:pt x="1340" y="1874"/>
                </a:lnTo>
                <a:lnTo>
                  <a:pt x="1327" y="1874"/>
                </a:lnTo>
                <a:lnTo>
                  <a:pt x="1314" y="1874"/>
                </a:lnTo>
                <a:lnTo>
                  <a:pt x="1302" y="1874"/>
                </a:lnTo>
                <a:lnTo>
                  <a:pt x="1289" y="1874"/>
                </a:lnTo>
                <a:lnTo>
                  <a:pt x="1276" y="1874"/>
                </a:lnTo>
                <a:lnTo>
                  <a:pt x="1264" y="1874"/>
                </a:lnTo>
                <a:lnTo>
                  <a:pt x="1251" y="1874"/>
                </a:lnTo>
                <a:lnTo>
                  <a:pt x="1238" y="1874"/>
                </a:lnTo>
                <a:lnTo>
                  <a:pt x="1226" y="1874"/>
                </a:lnTo>
                <a:lnTo>
                  <a:pt x="1213" y="1874"/>
                </a:lnTo>
                <a:lnTo>
                  <a:pt x="1201" y="1874"/>
                </a:lnTo>
                <a:lnTo>
                  <a:pt x="1188" y="1874"/>
                </a:lnTo>
                <a:lnTo>
                  <a:pt x="1175" y="1874"/>
                </a:lnTo>
                <a:lnTo>
                  <a:pt x="1163" y="1874"/>
                </a:lnTo>
                <a:lnTo>
                  <a:pt x="1150" y="1874"/>
                </a:lnTo>
                <a:lnTo>
                  <a:pt x="1137" y="1874"/>
                </a:lnTo>
                <a:lnTo>
                  <a:pt x="1125" y="1874"/>
                </a:lnTo>
                <a:lnTo>
                  <a:pt x="1112" y="1874"/>
                </a:lnTo>
                <a:lnTo>
                  <a:pt x="1099" y="1874"/>
                </a:lnTo>
                <a:lnTo>
                  <a:pt x="1087" y="1874"/>
                </a:lnTo>
                <a:lnTo>
                  <a:pt x="1074" y="1874"/>
                </a:lnTo>
                <a:lnTo>
                  <a:pt x="1062" y="1874"/>
                </a:lnTo>
                <a:lnTo>
                  <a:pt x="1049" y="1874"/>
                </a:lnTo>
                <a:lnTo>
                  <a:pt x="1036" y="1874"/>
                </a:lnTo>
                <a:lnTo>
                  <a:pt x="1024" y="1874"/>
                </a:lnTo>
                <a:lnTo>
                  <a:pt x="1011" y="1874"/>
                </a:lnTo>
                <a:lnTo>
                  <a:pt x="998" y="1874"/>
                </a:lnTo>
                <a:lnTo>
                  <a:pt x="986" y="1874"/>
                </a:lnTo>
                <a:lnTo>
                  <a:pt x="973" y="1874"/>
                </a:lnTo>
                <a:lnTo>
                  <a:pt x="961" y="1874"/>
                </a:lnTo>
                <a:lnTo>
                  <a:pt x="948" y="1874"/>
                </a:lnTo>
                <a:lnTo>
                  <a:pt x="935" y="1874"/>
                </a:lnTo>
                <a:lnTo>
                  <a:pt x="923" y="1874"/>
                </a:lnTo>
                <a:lnTo>
                  <a:pt x="910" y="1874"/>
                </a:lnTo>
                <a:lnTo>
                  <a:pt x="897" y="1874"/>
                </a:lnTo>
                <a:lnTo>
                  <a:pt x="885" y="1874"/>
                </a:lnTo>
                <a:lnTo>
                  <a:pt x="872" y="1874"/>
                </a:lnTo>
                <a:lnTo>
                  <a:pt x="859" y="1874"/>
                </a:lnTo>
                <a:lnTo>
                  <a:pt x="847" y="1874"/>
                </a:lnTo>
                <a:lnTo>
                  <a:pt x="834" y="1874"/>
                </a:lnTo>
                <a:lnTo>
                  <a:pt x="822" y="1874"/>
                </a:lnTo>
                <a:lnTo>
                  <a:pt x="809" y="1874"/>
                </a:lnTo>
                <a:lnTo>
                  <a:pt x="796" y="1874"/>
                </a:lnTo>
                <a:lnTo>
                  <a:pt x="784" y="1874"/>
                </a:lnTo>
                <a:lnTo>
                  <a:pt x="771" y="1874"/>
                </a:lnTo>
                <a:lnTo>
                  <a:pt x="758" y="1874"/>
                </a:lnTo>
                <a:lnTo>
                  <a:pt x="746" y="1874"/>
                </a:lnTo>
                <a:lnTo>
                  <a:pt x="733" y="1874"/>
                </a:lnTo>
                <a:lnTo>
                  <a:pt x="720" y="1874"/>
                </a:lnTo>
                <a:lnTo>
                  <a:pt x="708" y="1874"/>
                </a:lnTo>
                <a:lnTo>
                  <a:pt x="695" y="1874"/>
                </a:lnTo>
                <a:lnTo>
                  <a:pt x="683" y="1874"/>
                </a:lnTo>
                <a:lnTo>
                  <a:pt x="670" y="1874"/>
                </a:lnTo>
                <a:lnTo>
                  <a:pt x="657" y="1874"/>
                </a:lnTo>
                <a:lnTo>
                  <a:pt x="645" y="1874"/>
                </a:lnTo>
                <a:lnTo>
                  <a:pt x="632" y="1874"/>
                </a:lnTo>
                <a:lnTo>
                  <a:pt x="619" y="1874"/>
                </a:lnTo>
                <a:lnTo>
                  <a:pt x="607" y="1874"/>
                </a:lnTo>
                <a:lnTo>
                  <a:pt x="594" y="1874"/>
                </a:lnTo>
                <a:lnTo>
                  <a:pt x="581" y="1874"/>
                </a:lnTo>
                <a:lnTo>
                  <a:pt x="569" y="1874"/>
                </a:lnTo>
                <a:lnTo>
                  <a:pt x="556" y="1874"/>
                </a:lnTo>
                <a:lnTo>
                  <a:pt x="544" y="1874"/>
                </a:lnTo>
                <a:lnTo>
                  <a:pt x="531" y="1874"/>
                </a:lnTo>
                <a:lnTo>
                  <a:pt x="518" y="1874"/>
                </a:lnTo>
                <a:lnTo>
                  <a:pt x="506" y="1874"/>
                </a:lnTo>
                <a:lnTo>
                  <a:pt x="493" y="1874"/>
                </a:lnTo>
                <a:lnTo>
                  <a:pt x="480" y="1874"/>
                </a:lnTo>
                <a:lnTo>
                  <a:pt x="468" y="1874"/>
                </a:lnTo>
                <a:lnTo>
                  <a:pt x="455" y="1874"/>
                </a:lnTo>
                <a:lnTo>
                  <a:pt x="443" y="1874"/>
                </a:lnTo>
                <a:lnTo>
                  <a:pt x="430" y="1874"/>
                </a:lnTo>
                <a:lnTo>
                  <a:pt x="417" y="1874"/>
                </a:lnTo>
                <a:lnTo>
                  <a:pt x="405" y="1874"/>
                </a:lnTo>
                <a:lnTo>
                  <a:pt x="392" y="1874"/>
                </a:lnTo>
                <a:lnTo>
                  <a:pt x="379" y="1874"/>
                </a:lnTo>
                <a:lnTo>
                  <a:pt x="367" y="1874"/>
                </a:lnTo>
                <a:lnTo>
                  <a:pt x="354" y="1874"/>
                </a:lnTo>
                <a:lnTo>
                  <a:pt x="341" y="1874"/>
                </a:lnTo>
                <a:lnTo>
                  <a:pt x="329" y="1874"/>
                </a:lnTo>
                <a:lnTo>
                  <a:pt x="316" y="1874"/>
                </a:lnTo>
                <a:lnTo>
                  <a:pt x="304" y="1874"/>
                </a:lnTo>
                <a:lnTo>
                  <a:pt x="291" y="1874"/>
                </a:lnTo>
                <a:lnTo>
                  <a:pt x="278" y="1874"/>
                </a:lnTo>
                <a:lnTo>
                  <a:pt x="266" y="1874"/>
                </a:lnTo>
                <a:lnTo>
                  <a:pt x="253" y="1874"/>
                </a:lnTo>
                <a:lnTo>
                  <a:pt x="240" y="1874"/>
                </a:lnTo>
                <a:lnTo>
                  <a:pt x="228" y="1874"/>
                </a:lnTo>
                <a:lnTo>
                  <a:pt x="215" y="1874"/>
                </a:lnTo>
                <a:lnTo>
                  <a:pt x="202" y="1874"/>
                </a:lnTo>
                <a:lnTo>
                  <a:pt x="190" y="1874"/>
                </a:lnTo>
                <a:lnTo>
                  <a:pt x="177" y="1874"/>
                </a:lnTo>
                <a:lnTo>
                  <a:pt x="165" y="1874"/>
                </a:lnTo>
                <a:lnTo>
                  <a:pt x="152" y="1874"/>
                </a:lnTo>
                <a:lnTo>
                  <a:pt x="139" y="1874"/>
                </a:lnTo>
                <a:lnTo>
                  <a:pt x="127" y="1874"/>
                </a:lnTo>
                <a:lnTo>
                  <a:pt x="114" y="1874"/>
                </a:lnTo>
                <a:lnTo>
                  <a:pt x="101" y="1874"/>
                </a:lnTo>
                <a:lnTo>
                  <a:pt x="89" y="1874"/>
                </a:lnTo>
                <a:lnTo>
                  <a:pt x="76" y="1874"/>
                </a:lnTo>
                <a:lnTo>
                  <a:pt x="64" y="1874"/>
                </a:lnTo>
                <a:lnTo>
                  <a:pt x="51" y="1874"/>
                </a:lnTo>
                <a:lnTo>
                  <a:pt x="38" y="1874"/>
                </a:lnTo>
                <a:lnTo>
                  <a:pt x="26" y="1874"/>
                </a:lnTo>
                <a:lnTo>
                  <a:pt x="13" y="1874"/>
                </a:lnTo>
                <a:lnTo>
                  <a:pt x="0" y="1874"/>
                </a:lnTo>
                <a:lnTo>
                  <a:pt x="0" y="1857"/>
                </a:lnTo>
                <a:close/>
              </a:path>
            </a:pathLst>
          </a:custGeom>
          <a:solidFill>
            <a:schemeClr val="accent1"/>
          </a:solidFill>
          <a:ln w="60325">
            <a:solidFill>
              <a:srgbClr val="000080"/>
            </a:solidFill>
            <a:round/>
            <a:headEnd/>
            <a:tailEnd/>
          </a:ln>
        </p:spPr>
        <p:txBody>
          <a:bodyPr/>
          <a:lstStyle/>
          <a:p>
            <a:endParaRPr lang="en-US"/>
          </a:p>
        </p:txBody>
      </p:sp>
      <p:sp>
        <p:nvSpPr>
          <p:cNvPr id="15367" name="Freeform 7"/>
          <p:cNvSpPr>
            <a:spLocks/>
          </p:cNvSpPr>
          <p:nvPr/>
        </p:nvSpPr>
        <p:spPr bwMode="auto">
          <a:xfrm>
            <a:off x="984250" y="3525838"/>
            <a:ext cx="5837238" cy="1803400"/>
          </a:xfrm>
          <a:custGeom>
            <a:avLst/>
            <a:gdLst>
              <a:gd name="T0" fmla="*/ 2147483647 w 3677"/>
              <a:gd name="T1" fmla="*/ 2147483647 h 1136"/>
              <a:gd name="T2" fmla="*/ 2147483647 w 3677"/>
              <a:gd name="T3" fmla="*/ 2147483647 h 1136"/>
              <a:gd name="T4" fmla="*/ 2147483647 w 3677"/>
              <a:gd name="T5" fmla="*/ 2147483647 h 1136"/>
              <a:gd name="T6" fmla="*/ 2147483647 w 3677"/>
              <a:gd name="T7" fmla="*/ 2147483647 h 1136"/>
              <a:gd name="T8" fmla="*/ 2147483647 w 3677"/>
              <a:gd name="T9" fmla="*/ 2147483647 h 1136"/>
              <a:gd name="T10" fmla="*/ 2147483647 w 3677"/>
              <a:gd name="T11" fmla="*/ 2147483647 h 1136"/>
              <a:gd name="T12" fmla="*/ 2147483647 w 3677"/>
              <a:gd name="T13" fmla="*/ 2147483647 h 1136"/>
              <a:gd name="T14" fmla="*/ 2147483647 w 3677"/>
              <a:gd name="T15" fmla="*/ 2147483647 h 1136"/>
              <a:gd name="T16" fmla="*/ 2147483647 w 3677"/>
              <a:gd name="T17" fmla="*/ 2147483647 h 1136"/>
              <a:gd name="T18" fmla="*/ 2147483647 w 3677"/>
              <a:gd name="T19" fmla="*/ 2147483647 h 1136"/>
              <a:gd name="T20" fmla="*/ 2147483647 w 3677"/>
              <a:gd name="T21" fmla="*/ 2147483647 h 1136"/>
              <a:gd name="T22" fmla="*/ 2147483647 w 3677"/>
              <a:gd name="T23" fmla="*/ 2147483647 h 1136"/>
              <a:gd name="T24" fmla="*/ 2147483647 w 3677"/>
              <a:gd name="T25" fmla="*/ 2147483647 h 1136"/>
              <a:gd name="T26" fmla="*/ 2147483647 w 3677"/>
              <a:gd name="T27" fmla="*/ 2147483647 h 1136"/>
              <a:gd name="T28" fmla="*/ 2147483647 w 3677"/>
              <a:gd name="T29" fmla="*/ 2147483647 h 1136"/>
              <a:gd name="T30" fmla="*/ 2147483647 w 3677"/>
              <a:gd name="T31" fmla="*/ 2147483647 h 1136"/>
              <a:gd name="T32" fmla="*/ 2147483647 w 3677"/>
              <a:gd name="T33" fmla="*/ 2147483647 h 1136"/>
              <a:gd name="T34" fmla="*/ 2147483647 w 3677"/>
              <a:gd name="T35" fmla="*/ 2147483647 h 1136"/>
              <a:gd name="T36" fmla="*/ 2147483647 w 3677"/>
              <a:gd name="T37" fmla="*/ 2147483647 h 1136"/>
              <a:gd name="T38" fmla="*/ 2147483647 w 3677"/>
              <a:gd name="T39" fmla="*/ 2147483647 h 1136"/>
              <a:gd name="T40" fmla="*/ 2147483647 w 3677"/>
              <a:gd name="T41" fmla="*/ 2147483647 h 1136"/>
              <a:gd name="T42" fmla="*/ 2147483647 w 3677"/>
              <a:gd name="T43" fmla="*/ 2147483647 h 1136"/>
              <a:gd name="T44" fmla="*/ 2147483647 w 3677"/>
              <a:gd name="T45" fmla="*/ 2147483647 h 1136"/>
              <a:gd name="T46" fmla="*/ 2147483647 w 3677"/>
              <a:gd name="T47" fmla="*/ 2147483647 h 1136"/>
              <a:gd name="T48" fmla="*/ 2147483647 w 3677"/>
              <a:gd name="T49" fmla="*/ 2147483647 h 1136"/>
              <a:gd name="T50" fmla="*/ 2147483647 w 3677"/>
              <a:gd name="T51" fmla="*/ 2147483647 h 1136"/>
              <a:gd name="T52" fmla="*/ 2147483647 w 3677"/>
              <a:gd name="T53" fmla="*/ 2147483647 h 1136"/>
              <a:gd name="T54" fmla="*/ 2147483647 w 3677"/>
              <a:gd name="T55" fmla="*/ 2147483647 h 1136"/>
              <a:gd name="T56" fmla="*/ 2147483647 w 3677"/>
              <a:gd name="T57" fmla="*/ 2147483647 h 1136"/>
              <a:gd name="T58" fmla="*/ 2147483647 w 3677"/>
              <a:gd name="T59" fmla="*/ 2147483647 h 1136"/>
              <a:gd name="T60" fmla="*/ 2147483647 w 3677"/>
              <a:gd name="T61" fmla="*/ 2147483647 h 1136"/>
              <a:gd name="T62" fmla="*/ 2147483647 w 3677"/>
              <a:gd name="T63" fmla="*/ 2147483647 h 1136"/>
              <a:gd name="T64" fmla="*/ 2147483647 w 3677"/>
              <a:gd name="T65" fmla="*/ 2147483647 h 1136"/>
              <a:gd name="T66" fmla="*/ 2147483647 w 3677"/>
              <a:gd name="T67" fmla="*/ 2147483647 h 1136"/>
              <a:gd name="T68" fmla="*/ 2147483647 w 3677"/>
              <a:gd name="T69" fmla="*/ 2147483647 h 1136"/>
              <a:gd name="T70" fmla="*/ 2147483647 w 3677"/>
              <a:gd name="T71" fmla="*/ 2147483647 h 1136"/>
              <a:gd name="T72" fmla="*/ 2147483647 w 3677"/>
              <a:gd name="T73" fmla="*/ 2147483647 h 1136"/>
              <a:gd name="T74" fmla="*/ 2147483647 w 3677"/>
              <a:gd name="T75" fmla="*/ 2147483647 h 1136"/>
              <a:gd name="T76" fmla="*/ 2147483647 w 3677"/>
              <a:gd name="T77" fmla="*/ 2147483647 h 1136"/>
              <a:gd name="T78" fmla="*/ 2147483647 w 3677"/>
              <a:gd name="T79" fmla="*/ 2147483647 h 1136"/>
              <a:gd name="T80" fmla="*/ 2147483647 w 3677"/>
              <a:gd name="T81" fmla="*/ 2147483647 h 1136"/>
              <a:gd name="T82" fmla="*/ 2147483647 w 3677"/>
              <a:gd name="T83" fmla="*/ 2147483647 h 1136"/>
              <a:gd name="T84" fmla="*/ 2147483647 w 3677"/>
              <a:gd name="T85" fmla="*/ 2147483647 h 1136"/>
              <a:gd name="T86" fmla="*/ 2147483647 w 3677"/>
              <a:gd name="T87" fmla="*/ 2147483647 h 1136"/>
              <a:gd name="T88" fmla="*/ 2147483647 w 3677"/>
              <a:gd name="T89" fmla="*/ 2147483647 h 1136"/>
              <a:gd name="T90" fmla="*/ 2147483647 w 3677"/>
              <a:gd name="T91" fmla="*/ 2147483647 h 1136"/>
              <a:gd name="T92" fmla="*/ 2147483647 w 3677"/>
              <a:gd name="T93" fmla="*/ 2147483647 h 1136"/>
              <a:gd name="T94" fmla="*/ 2147483647 w 3677"/>
              <a:gd name="T95" fmla="*/ 2147483647 h 1136"/>
              <a:gd name="T96" fmla="*/ 2147483647 w 3677"/>
              <a:gd name="T97" fmla="*/ 2147483647 h 1136"/>
              <a:gd name="T98" fmla="*/ 2147483647 w 3677"/>
              <a:gd name="T99" fmla="*/ 2147483647 h 1136"/>
              <a:gd name="T100" fmla="*/ 2147483647 w 3677"/>
              <a:gd name="T101" fmla="*/ 2147483647 h 1136"/>
              <a:gd name="T102" fmla="*/ 2147483647 w 3677"/>
              <a:gd name="T103" fmla="*/ 2147483647 h 1136"/>
              <a:gd name="T104" fmla="*/ 2147483647 w 3677"/>
              <a:gd name="T105" fmla="*/ 2147483647 h 1136"/>
              <a:gd name="T106" fmla="*/ 2147483647 w 3677"/>
              <a:gd name="T107" fmla="*/ 2147483647 h 1136"/>
              <a:gd name="T108" fmla="*/ 2147483647 w 3677"/>
              <a:gd name="T109" fmla="*/ 2147483647 h 1136"/>
              <a:gd name="T110" fmla="*/ 2147483647 w 3677"/>
              <a:gd name="T111" fmla="*/ 2147483647 h 1136"/>
              <a:gd name="T112" fmla="*/ 2147483647 w 3677"/>
              <a:gd name="T113" fmla="*/ 2147483647 h 1136"/>
              <a:gd name="T114" fmla="*/ 2147483647 w 3677"/>
              <a:gd name="T115" fmla="*/ 2147483647 h 1136"/>
              <a:gd name="T116" fmla="*/ 2147483647 w 3677"/>
              <a:gd name="T117" fmla="*/ 2147483647 h 1136"/>
              <a:gd name="T118" fmla="*/ 2147483647 w 3677"/>
              <a:gd name="T119" fmla="*/ 2147483647 h 1136"/>
              <a:gd name="T120" fmla="*/ 2147483647 w 3677"/>
              <a:gd name="T121" fmla="*/ 2147483647 h 1136"/>
              <a:gd name="T122" fmla="*/ 2147483647 w 3677"/>
              <a:gd name="T123" fmla="*/ 2147483647 h 11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3677"/>
              <a:gd name="T187" fmla="*/ 0 h 1136"/>
              <a:gd name="T188" fmla="*/ 3677 w 3677"/>
              <a:gd name="T189" fmla="*/ 1136 h 11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3677" h="1136">
                <a:moveTo>
                  <a:pt x="0" y="1136"/>
                </a:moveTo>
                <a:lnTo>
                  <a:pt x="13" y="1136"/>
                </a:lnTo>
                <a:lnTo>
                  <a:pt x="26" y="1136"/>
                </a:lnTo>
                <a:lnTo>
                  <a:pt x="38" y="1136"/>
                </a:lnTo>
                <a:lnTo>
                  <a:pt x="51" y="1136"/>
                </a:lnTo>
                <a:lnTo>
                  <a:pt x="64" y="1136"/>
                </a:lnTo>
                <a:lnTo>
                  <a:pt x="76" y="1136"/>
                </a:lnTo>
                <a:lnTo>
                  <a:pt x="89" y="1136"/>
                </a:lnTo>
                <a:lnTo>
                  <a:pt x="101" y="1136"/>
                </a:lnTo>
                <a:lnTo>
                  <a:pt x="114" y="1136"/>
                </a:lnTo>
                <a:lnTo>
                  <a:pt x="127" y="1136"/>
                </a:lnTo>
                <a:lnTo>
                  <a:pt x="139" y="1136"/>
                </a:lnTo>
                <a:lnTo>
                  <a:pt x="152" y="1136"/>
                </a:lnTo>
                <a:lnTo>
                  <a:pt x="165" y="1136"/>
                </a:lnTo>
                <a:lnTo>
                  <a:pt x="177" y="1136"/>
                </a:lnTo>
                <a:lnTo>
                  <a:pt x="190" y="1136"/>
                </a:lnTo>
                <a:lnTo>
                  <a:pt x="202" y="1136"/>
                </a:lnTo>
                <a:lnTo>
                  <a:pt x="215" y="1136"/>
                </a:lnTo>
                <a:lnTo>
                  <a:pt x="228" y="1136"/>
                </a:lnTo>
                <a:lnTo>
                  <a:pt x="240" y="1136"/>
                </a:lnTo>
                <a:lnTo>
                  <a:pt x="253" y="1136"/>
                </a:lnTo>
                <a:lnTo>
                  <a:pt x="266" y="1136"/>
                </a:lnTo>
                <a:lnTo>
                  <a:pt x="278" y="1136"/>
                </a:lnTo>
                <a:lnTo>
                  <a:pt x="291" y="1136"/>
                </a:lnTo>
                <a:lnTo>
                  <a:pt x="304" y="1136"/>
                </a:lnTo>
                <a:lnTo>
                  <a:pt x="316" y="1136"/>
                </a:lnTo>
                <a:lnTo>
                  <a:pt x="329" y="1136"/>
                </a:lnTo>
                <a:lnTo>
                  <a:pt x="341" y="1136"/>
                </a:lnTo>
                <a:lnTo>
                  <a:pt x="354" y="1136"/>
                </a:lnTo>
                <a:lnTo>
                  <a:pt x="367" y="1136"/>
                </a:lnTo>
                <a:lnTo>
                  <a:pt x="379" y="1136"/>
                </a:lnTo>
                <a:lnTo>
                  <a:pt x="392" y="1136"/>
                </a:lnTo>
                <a:lnTo>
                  <a:pt x="405" y="1136"/>
                </a:lnTo>
                <a:lnTo>
                  <a:pt x="417" y="1136"/>
                </a:lnTo>
                <a:lnTo>
                  <a:pt x="430" y="1136"/>
                </a:lnTo>
                <a:lnTo>
                  <a:pt x="443" y="1136"/>
                </a:lnTo>
                <a:lnTo>
                  <a:pt x="455" y="1136"/>
                </a:lnTo>
                <a:lnTo>
                  <a:pt x="468" y="1136"/>
                </a:lnTo>
                <a:lnTo>
                  <a:pt x="480" y="1136"/>
                </a:lnTo>
                <a:lnTo>
                  <a:pt x="493" y="1136"/>
                </a:lnTo>
                <a:lnTo>
                  <a:pt x="506" y="1136"/>
                </a:lnTo>
                <a:lnTo>
                  <a:pt x="518" y="1136"/>
                </a:lnTo>
                <a:lnTo>
                  <a:pt x="531" y="1136"/>
                </a:lnTo>
                <a:lnTo>
                  <a:pt x="544" y="1136"/>
                </a:lnTo>
                <a:lnTo>
                  <a:pt x="556" y="1136"/>
                </a:lnTo>
                <a:lnTo>
                  <a:pt x="569" y="1136"/>
                </a:lnTo>
                <a:lnTo>
                  <a:pt x="581" y="1136"/>
                </a:lnTo>
                <a:lnTo>
                  <a:pt x="594" y="1136"/>
                </a:lnTo>
                <a:lnTo>
                  <a:pt x="607" y="1136"/>
                </a:lnTo>
                <a:lnTo>
                  <a:pt x="619" y="1136"/>
                </a:lnTo>
                <a:lnTo>
                  <a:pt x="632" y="1136"/>
                </a:lnTo>
                <a:lnTo>
                  <a:pt x="645" y="1136"/>
                </a:lnTo>
                <a:lnTo>
                  <a:pt x="657" y="1136"/>
                </a:lnTo>
                <a:lnTo>
                  <a:pt x="670" y="1136"/>
                </a:lnTo>
                <a:lnTo>
                  <a:pt x="683" y="1136"/>
                </a:lnTo>
                <a:lnTo>
                  <a:pt x="695" y="1136"/>
                </a:lnTo>
                <a:lnTo>
                  <a:pt x="708" y="1136"/>
                </a:lnTo>
                <a:lnTo>
                  <a:pt x="720" y="1136"/>
                </a:lnTo>
                <a:lnTo>
                  <a:pt x="733" y="1136"/>
                </a:lnTo>
                <a:lnTo>
                  <a:pt x="746" y="1136"/>
                </a:lnTo>
                <a:lnTo>
                  <a:pt x="758" y="1136"/>
                </a:lnTo>
                <a:lnTo>
                  <a:pt x="771" y="1136"/>
                </a:lnTo>
                <a:lnTo>
                  <a:pt x="784" y="1136"/>
                </a:lnTo>
                <a:lnTo>
                  <a:pt x="796" y="1136"/>
                </a:lnTo>
                <a:lnTo>
                  <a:pt x="809" y="1136"/>
                </a:lnTo>
                <a:lnTo>
                  <a:pt x="822" y="1136"/>
                </a:lnTo>
                <a:lnTo>
                  <a:pt x="834" y="1136"/>
                </a:lnTo>
                <a:lnTo>
                  <a:pt x="847" y="1136"/>
                </a:lnTo>
                <a:lnTo>
                  <a:pt x="859" y="1136"/>
                </a:lnTo>
                <a:lnTo>
                  <a:pt x="872" y="1136"/>
                </a:lnTo>
                <a:lnTo>
                  <a:pt x="885" y="1136"/>
                </a:lnTo>
                <a:lnTo>
                  <a:pt x="897" y="1136"/>
                </a:lnTo>
                <a:lnTo>
                  <a:pt x="910" y="1136"/>
                </a:lnTo>
                <a:lnTo>
                  <a:pt x="923" y="1136"/>
                </a:lnTo>
                <a:lnTo>
                  <a:pt x="935" y="1136"/>
                </a:lnTo>
                <a:lnTo>
                  <a:pt x="948" y="1136"/>
                </a:lnTo>
                <a:lnTo>
                  <a:pt x="961" y="1136"/>
                </a:lnTo>
                <a:lnTo>
                  <a:pt x="973" y="1136"/>
                </a:lnTo>
                <a:lnTo>
                  <a:pt x="986" y="1136"/>
                </a:lnTo>
                <a:lnTo>
                  <a:pt x="998" y="1136"/>
                </a:lnTo>
                <a:lnTo>
                  <a:pt x="1011" y="1136"/>
                </a:lnTo>
                <a:lnTo>
                  <a:pt x="1024" y="1136"/>
                </a:lnTo>
                <a:lnTo>
                  <a:pt x="1036" y="1136"/>
                </a:lnTo>
                <a:lnTo>
                  <a:pt x="1049" y="1136"/>
                </a:lnTo>
                <a:lnTo>
                  <a:pt x="1062" y="1136"/>
                </a:lnTo>
                <a:lnTo>
                  <a:pt x="1074" y="1136"/>
                </a:lnTo>
                <a:lnTo>
                  <a:pt x="1087" y="1136"/>
                </a:lnTo>
                <a:lnTo>
                  <a:pt x="1099" y="1136"/>
                </a:lnTo>
                <a:lnTo>
                  <a:pt x="1112" y="1136"/>
                </a:lnTo>
                <a:lnTo>
                  <a:pt x="1125" y="1136"/>
                </a:lnTo>
                <a:lnTo>
                  <a:pt x="1137" y="1136"/>
                </a:lnTo>
                <a:lnTo>
                  <a:pt x="1150" y="1136"/>
                </a:lnTo>
                <a:lnTo>
                  <a:pt x="1163" y="1136"/>
                </a:lnTo>
                <a:lnTo>
                  <a:pt x="1175" y="1136"/>
                </a:lnTo>
                <a:lnTo>
                  <a:pt x="1188" y="1136"/>
                </a:lnTo>
                <a:lnTo>
                  <a:pt x="1201" y="1136"/>
                </a:lnTo>
                <a:lnTo>
                  <a:pt x="1213" y="1136"/>
                </a:lnTo>
                <a:lnTo>
                  <a:pt x="1226" y="1136"/>
                </a:lnTo>
                <a:lnTo>
                  <a:pt x="1238" y="1136"/>
                </a:lnTo>
                <a:lnTo>
                  <a:pt x="1251" y="1136"/>
                </a:lnTo>
                <a:lnTo>
                  <a:pt x="1264" y="1136"/>
                </a:lnTo>
                <a:lnTo>
                  <a:pt x="1276" y="1136"/>
                </a:lnTo>
                <a:lnTo>
                  <a:pt x="1289" y="1136"/>
                </a:lnTo>
                <a:lnTo>
                  <a:pt x="1302" y="1136"/>
                </a:lnTo>
                <a:lnTo>
                  <a:pt x="1314" y="1136"/>
                </a:lnTo>
                <a:lnTo>
                  <a:pt x="1327" y="1136"/>
                </a:lnTo>
                <a:lnTo>
                  <a:pt x="1340" y="1136"/>
                </a:lnTo>
                <a:lnTo>
                  <a:pt x="1352" y="1136"/>
                </a:lnTo>
                <a:lnTo>
                  <a:pt x="1365" y="1136"/>
                </a:lnTo>
                <a:lnTo>
                  <a:pt x="1377" y="1136"/>
                </a:lnTo>
                <a:lnTo>
                  <a:pt x="1390" y="1136"/>
                </a:lnTo>
                <a:lnTo>
                  <a:pt x="1403" y="1136"/>
                </a:lnTo>
                <a:lnTo>
                  <a:pt x="1415" y="1136"/>
                </a:lnTo>
                <a:lnTo>
                  <a:pt x="1428" y="1136"/>
                </a:lnTo>
                <a:lnTo>
                  <a:pt x="1441" y="1136"/>
                </a:lnTo>
                <a:lnTo>
                  <a:pt x="1453" y="1136"/>
                </a:lnTo>
                <a:lnTo>
                  <a:pt x="1466" y="1136"/>
                </a:lnTo>
                <a:lnTo>
                  <a:pt x="1478" y="1136"/>
                </a:lnTo>
                <a:lnTo>
                  <a:pt x="1491" y="1136"/>
                </a:lnTo>
                <a:lnTo>
                  <a:pt x="1504" y="1136"/>
                </a:lnTo>
                <a:lnTo>
                  <a:pt x="1516" y="1136"/>
                </a:lnTo>
                <a:lnTo>
                  <a:pt x="1529" y="1136"/>
                </a:lnTo>
                <a:lnTo>
                  <a:pt x="1542" y="1136"/>
                </a:lnTo>
                <a:lnTo>
                  <a:pt x="1554" y="1136"/>
                </a:lnTo>
                <a:lnTo>
                  <a:pt x="1567" y="1136"/>
                </a:lnTo>
                <a:lnTo>
                  <a:pt x="1580" y="1136"/>
                </a:lnTo>
                <a:lnTo>
                  <a:pt x="1592" y="1136"/>
                </a:lnTo>
                <a:lnTo>
                  <a:pt x="1605" y="1136"/>
                </a:lnTo>
                <a:lnTo>
                  <a:pt x="1617" y="1136"/>
                </a:lnTo>
                <a:lnTo>
                  <a:pt x="1630" y="1136"/>
                </a:lnTo>
                <a:lnTo>
                  <a:pt x="1643" y="1136"/>
                </a:lnTo>
                <a:lnTo>
                  <a:pt x="1655" y="1136"/>
                </a:lnTo>
                <a:lnTo>
                  <a:pt x="1668" y="1136"/>
                </a:lnTo>
                <a:lnTo>
                  <a:pt x="1681" y="1136"/>
                </a:lnTo>
                <a:lnTo>
                  <a:pt x="1693" y="1136"/>
                </a:lnTo>
                <a:lnTo>
                  <a:pt x="1706" y="1136"/>
                </a:lnTo>
                <a:lnTo>
                  <a:pt x="1719" y="1136"/>
                </a:lnTo>
                <a:lnTo>
                  <a:pt x="1731" y="1136"/>
                </a:lnTo>
                <a:lnTo>
                  <a:pt x="1744" y="1136"/>
                </a:lnTo>
                <a:lnTo>
                  <a:pt x="1756" y="1136"/>
                </a:lnTo>
                <a:lnTo>
                  <a:pt x="1769" y="1136"/>
                </a:lnTo>
                <a:lnTo>
                  <a:pt x="1782" y="1136"/>
                </a:lnTo>
                <a:lnTo>
                  <a:pt x="1794" y="1136"/>
                </a:lnTo>
                <a:lnTo>
                  <a:pt x="1807" y="1136"/>
                </a:lnTo>
                <a:lnTo>
                  <a:pt x="1820" y="1136"/>
                </a:lnTo>
                <a:lnTo>
                  <a:pt x="1832" y="1136"/>
                </a:lnTo>
                <a:lnTo>
                  <a:pt x="1845" y="1136"/>
                </a:lnTo>
                <a:lnTo>
                  <a:pt x="1858" y="1136"/>
                </a:lnTo>
                <a:lnTo>
                  <a:pt x="1870" y="1136"/>
                </a:lnTo>
                <a:lnTo>
                  <a:pt x="1883" y="1136"/>
                </a:lnTo>
                <a:lnTo>
                  <a:pt x="1895" y="1136"/>
                </a:lnTo>
                <a:lnTo>
                  <a:pt x="1908" y="1136"/>
                </a:lnTo>
                <a:lnTo>
                  <a:pt x="1921" y="1136"/>
                </a:lnTo>
                <a:lnTo>
                  <a:pt x="1933" y="1136"/>
                </a:lnTo>
                <a:lnTo>
                  <a:pt x="1946" y="1136"/>
                </a:lnTo>
                <a:lnTo>
                  <a:pt x="1959" y="1136"/>
                </a:lnTo>
                <a:lnTo>
                  <a:pt x="1971" y="1136"/>
                </a:lnTo>
                <a:lnTo>
                  <a:pt x="1984" y="1136"/>
                </a:lnTo>
                <a:lnTo>
                  <a:pt x="1996" y="1136"/>
                </a:lnTo>
                <a:lnTo>
                  <a:pt x="2009" y="1136"/>
                </a:lnTo>
                <a:lnTo>
                  <a:pt x="2022" y="1136"/>
                </a:lnTo>
                <a:lnTo>
                  <a:pt x="2034" y="1136"/>
                </a:lnTo>
                <a:lnTo>
                  <a:pt x="2047" y="1136"/>
                </a:lnTo>
                <a:lnTo>
                  <a:pt x="2060" y="1136"/>
                </a:lnTo>
                <a:lnTo>
                  <a:pt x="2072" y="1136"/>
                </a:lnTo>
                <a:lnTo>
                  <a:pt x="2085" y="1136"/>
                </a:lnTo>
                <a:lnTo>
                  <a:pt x="2098" y="1136"/>
                </a:lnTo>
                <a:lnTo>
                  <a:pt x="2110" y="1136"/>
                </a:lnTo>
                <a:lnTo>
                  <a:pt x="2123" y="1136"/>
                </a:lnTo>
                <a:lnTo>
                  <a:pt x="2135" y="1136"/>
                </a:lnTo>
                <a:lnTo>
                  <a:pt x="2148" y="1136"/>
                </a:lnTo>
                <a:lnTo>
                  <a:pt x="2161" y="1136"/>
                </a:lnTo>
                <a:lnTo>
                  <a:pt x="2173" y="1136"/>
                </a:lnTo>
                <a:lnTo>
                  <a:pt x="2186" y="1136"/>
                </a:lnTo>
                <a:lnTo>
                  <a:pt x="2199" y="1136"/>
                </a:lnTo>
                <a:lnTo>
                  <a:pt x="2211" y="1136"/>
                </a:lnTo>
                <a:lnTo>
                  <a:pt x="2224" y="1136"/>
                </a:lnTo>
                <a:lnTo>
                  <a:pt x="2237" y="1136"/>
                </a:lnTo>
                <a:lnTo>
                  <a:pt x="2249" y="1136"/>
                </a:lnTo>
                <a:lnTo>
                  <a:pt x="2262" y="1136"/>
                </a:lnTo>
                <a:lnTo>
                  <a:pt x="2274" y="1136"/>
                </a:lnTo>
                <a:lnTo>
                  <a:pt x="2287" y="1136"/>
                </a:lnTo>
                <a:lnTo>
                  <a:pt x="2300" y="1136"/>
                </a:lnTo>
                <a:lnTo>
                  <a:pt x="2312" y="1136"/>
                </a:lnTo>
                <a:lnTo>
                  <a:pt x="2325" y="1136"/>
                </a:lnTo>
                <a:lnTo>
                  <a:pt x="2338" y="1136"/>
                </a:lnTo>
                <a:lnTo>
                  <a:pt x="2350" y="1136"/>
                </a:lnTo>
                <a:lnTo>
                  <a:pt x="2363" y="1136"/>
                </a:lnTo>
                <a:lnTo>
                  <a:pt x="2375" y="1136"/>
                </a:lnTo>
                <a:lnTo>
                  <a:pt x="2388" y="1136"/>
                </a:lnTo>
                <a:lnTo>
                  <a:pt x="2401" y="1136"/>
                </a:lnTo>
                <a:lnTo>
                  <a:pt x="2413" y="1136"/>
                </a:lnTo>
                <a:lnTo>
                  <a:pt x="2426" y="1136"/>
                </a:lnTo>
                <a:lnTo>
                  <a:pt x="2439" y="1136"/>
                </a:lnTo>
                <a:lnTo>
                  <a:pt x="2451" y="1136"/>
                </a:lnTo>
                <a:lnTo>
                  <a:pt x="2464" y="1136"/>
                </a:lnTo>
                <a:lnTo>
                  <a:pt x="2477" y="1136"/>
                </a:lnTo>
                <a:lnTo>
                  <a:pt x="2489" y="1136"/>
                </a:lnTo>
                <a:lnTo>
                  <a:pt x="2502" y="1136"/>
                </a:lnTo>
                <a:lnTo>
                  <a:pt x="2514" y="1136"/>
                </a:lnTo>
                <a:lnTo>
                  <a:pt x="2527" y="1136"/>
                </a:lnTo>
                <a:lnTo>
                  <a:pt x="2540" y="1136"/>
                </a:lnTo>
                <a:lnTo>
                  <a:pt x="2552" y="1136"/>
                </a:lnTo>
                <a:lnTo>
                  <a:pt x="2565" y="1136"/>
                </a:lnTo>
                <a:lnTo>
                  <a:pt x="2578" y="1136"/>
                </a:lnTo>
                <a:lnTo>
                  <a:pt x="2590" y="1136"/>
                </a:lnTo>
                <a:lnTo>
                  <a:pt x="2603" y="1136"/>
                </a:lnTo>
                <a:lnTo>
                  <a:pt x="2616" y="1136"/>
                </a:lnTo>
                <a:lnTo>
                  <a:pt x="2628" y="1136"/>
                </a:lnTo>
                <a:lnTo>
                  <a:pt x="2641" y="1136"/>
                </a:lnTo>
                <a:lnTo>
                  <a:pt x="2653" y="1136"/>
                </a:lnTo>
                <a:lnTo>
                  <a:pt x="2666" y="1136"/>
                </a:lnTo>
                <a:lnTo>
                  <a:pt x="2679" y="1136"/>
                </a:lnTo>
                <a:lnTo>
                  <a:pt x="2691" y="1136"/>
                </a:lnTo>
                <a:lnTo>
                  <a:pt x="2704" y="1136"/>
                </a:lnTo>
                <a:lnTo>
                  <a:pt x="2717" y="1136"/>
                </a:lnTo>
                <a:lnTo>
                  <a:pt x="2729" y="1136"/>
                </a:lnTo>
                <a:lnTo>
                  <a:pt x="2742" y="1136"/>
                </a:lnTo>
                <a:lnTo>
                  <a:pt x="2754" y="1136"/>
                </a:lnTo>
                <a:lnTo>
                  <a:pt x="2767" y="1136"/>
                </a:lnTo>
                <a:lnTo>
                  <a:pt x="2780" y="1136"/>
                </a:lnTo>
                <a:lnTo>
                  <a:pt x="2792" y="1136"/>
                </a:lnTo>
                <a:lnTo>
                  <a:pt x="2805" y="1136"/>
                </a:lnTo>
                <a:lnTo>
                  <a:pt x="2818" y="1136"/>
                </a:lnTo>
                <a:lnTo>
                  <a:pt x="2830" y="1136"/>
                </a:lnTo>
                <a:lnTo>
                  <a:pt x="2843" y="1136"/>
                </a:lnTo>
                <a:lnTo>
                  <a:pt x="2856" y="1136"/>
                </a:lnTo>
                <a:lnTo>
                  <a:pt x="2868" y="1136"/>
                </a:lnTo>
                <a:lnTo>
                  <a:pt x="2881" y="1136"/>
                </a:lnTo>
                <a:lnTo>
                  <a:pt x="2893" y="1136"/>
                </a:lnTo>
                <a:lnTo>
                  <a:pt x="2906" y="1136"/>
                </a:lnTo>
                <a:lnTo>
                  <a:pt x="2919" y="1136"/>
                </a:lnTo>
                <a:lnTo>
                  <a:pt x="2931" y="1136"/>
                </a:lnTo>
                <a:lnTo>
                  <a:pt x="2944" y="1136"/>
                </a:lnTo>
                <a:lnTo>
                  <a:pt x="2944" y="0"/>
                </a:lnTo>
                <a:lnTo>
                  <a:pt x="2957" y="8"/>
                </a:lnTo>
                <a:lnTo>
                  <a:pt x="2957" y="17"/>
                </a:lnTo>
                <a:lnTo>
                  <a:pt x="2969" y="34"/>
                </a:lnTo>
                <a:lnTo>
                  <a:pt x="2982" y="43"/>
                </a:lnTo>
                <a:lnTo>
                  <a:pt x="2982" y="52"/>
                </a:lnTo>
                <a:lnTo>
                  <a:pt x="2995" y="69"/>
                </a:lnTo>
                <a:lnTo>
                  <a:pt x="2995" y="78"/>
                </a:lnTo>
                <a:lnTo>
                  <a:pt x="3007" y="86"/>
                </a:lnTo>
                <a:lnTo>
                  <a:pt x="3007" y="104"/>
                </a:lnTo>
                <a:lnTo>
                  <a:pt x="3020" y="113"/>
                </a:lnTo>
                <a:lnTo>
                  <a:pt x="3032" y="121"/>
                </a:lnTo>
                <a:lnTo>
                  <a:pt x="3032" y="130"/>
                </a:lnTo>
                <a:lnTo>
                  <a:pt x="3045" y="147"/>
                </a:lnTo>
                <a:lnTo>
                  <a:pt x="3045" y="156"/>
                </a:lnTo>
                <a:lnTo>
                  <a:pt x="3058" y="165"/>
                </a:lnTo>
                <a:lnTo>
                  <a:pt x="3058" y="182"/>
                </a:lnTo>
                <a:lnTo>
                  <a:pt x="3070" y="191"/>
                </a:lnTo>
                <a:lnTo>
                  <a:pt x="3083" y="199"/>
                </a:lnTo>
                <a:lnTo>
                  <a:pt x="3083" y="208"/>
                </a:lnTo>
                <a:lnTo>
                  <a:pt x="3096" y="225"/>
                </a:lnTo>
                <a:lnTo>
                  <a:pt x="3096" y="234"/>
                </a:lnTo>
                <a:lnTo>
                  <a:pt x="3108" y="243"/>
                </a:lnTo>
                <a:lnTo>
                  <a:pt x="3121" y="251"/>
                </a:lnTo>
                <a:lnTo>
                  <a:pt x="3121" y="269"/>
                </a:lnTo>
                <a:lnTo>
                  <a:pt x="3134" y="277"/>
                </a:lnTo>
                <a:lnTo>
                  <a:pt x="3134" y="286"/>
                </a:lnTo>
                <a:lnTo>
                  <a:pt x="3146" y="295"/>
                </a:lnTo>
                <a:lnTo>
                  <a:pt x="3146" y="312"/>
                </a:lnTo>
                <a:lnTo>
                  <a:pt x="3159" y="321"/>
                </a:lnTo>
                <a:lnTo>
                  <a:pt x="3171" y="329"/>
                </a:lnTo>
                <a:lnTo>
                  <a:pt x="3171" y="338"/>
                </a:lnTo>
                <a:lnTo>
                  <a:pt x="3184" y="347"/>
                </a:lnTo>
                <a:lnTo>
                  <a:pt x="3184" y="364"/>
                </a:lnTo>
                <a:lnTo>
                  <a:pt x="3197" y="373"/>
                </a:lnTo>
                <a:lnTo>
                  <a:pt x="3209" y="381"/>
                </a:lnTo>
                <a:lnTo>
                  <a:pt x="3209" y="390"/>
                </a:lnTo>
                <a:lnTo>
                  <a:pt x="3222" y="399"/>
                </a:lnTo>
                <a:lnTo>
                  <a:pt x="3222" y="407"/>
                </a:lnTo>
                <a:lnTo>
                  <a:pt x="3235" y="425"/>
                </a:lnTo>
                <a:lnTo>
                  <a:pt x="3235" y="433"/>
                </a:lnTo>
                <a:lnTo>
                  <a:pt x="3247" y="442"/>
                </a:lnTo>
                <a:lnTo>
                  <a:pt x="3260" y="451"/>
                </a:lnTo>
                <a:lnTo>
                  <a:pt x="3260" y="459"/>
                </a:lnTo>
                <a:lnTo>
                  <a:pt x="3272" y="468"/>
                </a:lnTo>
                <a:lnTo>
                  <a:pt x="3272" y="477"/>
                </a:lnTo>
                <a:lnTo>
                  <a:pt x="3285" y="485"/>
                </a:lnTo>
                <a:lnTo>
                  <a:pt x="3298" y="503"/>
                </a:lnTo>
                <a:lnTo>
                  <a:pt x="3298" y="512"/>
                </a:lnTo>
                <a:lnTo>
                  <a:pt x="3310" y="520"/>
                </a:lnTo>
                <a:lnTo>
                  <a:pt x="3310" y="529"/>
                </a:lnTo>
                <a:lnTo>
                  <a:pt x="3323" y="538"/>
                </a:lnTo>
                <a:lnTo>
                  <a:pt x="3323" y="546"/>
                </a:lnTo>
                <a:lnTo>
                  <a:pt x="3336" y="555"/>
                </a:lnTo>
                <a:lnTo>
                  <a:pt x="3348" y="564"/>
                </a:lnTo>
                <a:lnTo>
                  <a:pt x="3348" y="572"/>
                </a:lnTo>
                <a:lnTo>
                  <a:pt x="3361" y="581"/>
                </a:lnTo>
                <a:lnTo>
                  <a:pt x="3361" y="590"/>
                </a:lnTo>
                <a:lnTo>
                  <a:pt x="3374" y="598"/>
                </a:lnTo>
                <a:lnTo>
                  <a:pt x="3386" y="607"/>
                </a:lnTo>
                <a:lnTo>
                  <a:pt x="3386" y="616"/>
                </a:lnTo>
                <a:lnTo>
                  <a:pt x="3399" y="624"/>
                </a:lnTo>
                <a:lnTo>
                  <a:pt x="3399" y="633"/>
                </a:lnTo>
                <a:lnTo>
                  <a:pt x="3411" y="642"/>
                </a:lnTo>
                <a:lnTo>
                  <a:pt x="3411" y="650"/>
                </a:lnTo>
                <a:lnTo>
                  <a:pt x="3424" y="659"/>
                </a:lnTo>
                <a:lnTo>
                  <a:pt x="3437" y="659"/>
                </a:lnTo>
                <a:lnTo>
                  <a:pt x="3437" y="668"/>
                </a:lnTo>
                <a:lnTo>
                  <a:pt x="3449" y="676"/>
                </a:lnTo>
                <a:lnTo>
                  <a:pt x="3449" y="685"/>
                </a:lnTo>
                <a:lnTo>
                  <a:pt x="3462" y="694"/>
                </a:lnTo>
                <a:lnTo>
                  <a:pt x="3475" y="702"/>
                </a:lnTo>
                <a:lnTo>
                  <a:pt x="3475" y="711"/>
                </a:lnTo>
                <a:lnTo>
                  <a:pt x="3487" y="720"/>
                </a:lnTo>
                <a:lnTo>
                  <a:pt x="3500" y="728"/>
                </a:lnTo>
                <a:lnTo>
                  <a:pt x="3500" y="737"/>
                </a:lnTo>
                <a:lnTo>
                  <a:pt x="3513" y="746"/>
                </a:lnTo>
                <a:lnTo>
                  <a:pt x="3525" y="754"/>
                </a:lnTo>
                <a:lnTo>
                  <a:pt x="3538" y="763"/>
                </a:lnTo>
                <a:lnTo>
                  <a:pt x="3538" y="772"/>
                </a:lnTo>
                <a:lnTo>
                  <a:pt x="3550" y="780"/>
                </a:lnTo>
                <a:lnTo>
                  <a:pt x="3563" y="780"/>
                </a:lnTo>
                <a:lnTo>
                  <a:pt x="3563" y="789"/>
                </a:lnTo>
                <a:lnTo>
                  <a:pt x="3576" y="798"/>
                </a:lnTo>
                <a:lnTo>
                  <a:pt x="3576" y="806"/>
                </a:lnTo>
                <a:lnTo>
                  <a:pt x="3588" y="806"/>
                </a:lnTo>
                <a:lnTo>
                  <a:pt x="3588" y="815"/>
                </a:lnTo>
                <a:lnTo>
                  <a:pt x="3601" y="824"/>
                </a:lnTo>
                <a:lnTo>
                  <a:pt x="3614" y="824"/>
                </a:lnTo>
                <a:lnTo>
                  <a:pt x="3614" y="832"/>
                </a:lnTo>
                <a:lnTo>
                  <a:pt x="3626" y="841"/>
                </a:lnTo>
                <a:lnTo>
                  <a:pt x="3639" y="850"/>
                </a:lnTo>
                <a:lnTo>
                  <a:pt x="3651" y="858"/>
                </a:lnTo>
                <a:lnTo>
                  <a:pt x="3664" y="867"/>
                </a:lnTo>
                <a:lnTo>
                  <a:pt x="3664" y="876"/>
                </a:lnTo>
                <a:lnTo>
                  <a:pt x="3677" y="876"/>
                </a:lnTo>
                <a:lnTo>
                  <a:pt x="3677" y="1136"/>
                </a:lnTo>
                <a:lnTo>
                  <a:pt x="3664" y="1136"/>
                </a:lnTo>
                <a:lnTo>
                  <a:pt x="3651" y="1136"/>
                </a:lnTo>
                <a:lnTo>
                  <a:pt x="3639" y="1136"/>
                </a:lnTo>
                <a:lnTo>
                  <a:pt x="3626" y="1136"/>
                </a:lnTo>
                <a:lnTo>
                  <a:pt x="3614" y="1136"/>
                </a:lnTo>
                <a:lnTo>
                  <a:pt x="3601" y="1136"/>
                </a:lnTo>
                <a:lnTo>
                  <a:pt x="3588" y="1136"/>
                </a:lnTo>
                <a:lnTo>
                  <a:pt x="3576" y="1136"/>
                </a:lnTo>
                <a:lnTo>
                  <a:pt x="3563" y="1136"/>
                </a:lnTo>
                <a:lnTo>
                  <a:pt x="3550" y="1136"/>
                </a:lnTo>
                <a:lnTo>
                  <a:pt x="3538" y="1136"/>
                </a:lnTo>
                <a:lnTo>
                  <a:pt x="3525" y="1136"/>
                </a:lnTo>
                <a:lnTo>
                  <a:pt x="3513" y="1136"/>
                </a:lnTo>
                <a:lnTo>
                  <a:pt x="3500" y="1136"/>
                </a:lnTo>
                <a:lnTo>
                  <a:pt x="3487" y="1136"/>
                </a:lnTo>
                <a:lnTo>
                  <a:pt x="3475" y="1136"/>
                </a:lnTo>
                <a:lnTo>
                  <a:pt x="3462" y="1136"/>
                </a:lnTo>
                <a:lnTo>
                  <a:pt x="3449" y="1136"/>
                </a:lnTo>
                <a:lnTo>
                  <a:pt x="3437" y="1136"/>
                </a:lnTo>
                <a:lnTo>
                  <a:pt x="3424" y="1136"/>
                </a:lnTo>
                <a:lnTo>
                  <a:pt x="3411" y="1136"/>
                </a:lnTo>
                <a:lnTo>
                  <a:pt x="3399" y="1136"/>
                </a:lnTo>
                <a:lnTo>
                  <a:pt x="3386" y="1136"/>
                </a:lnTo>
                <a:lnTo>
                  <a:pt x="3374" y="1136"/>
                </a:lnTo>
                <a:lnTo>
                  <a:pt x="3361" y="1136"/>
                </a:lnTo>
                <a:lnTo>
                  <a:pt x="3348" y="1136"/>
                </a:lnTo>
                <a:lnTo>
                  <a:pt x="3336" y="1136"/>
                </a:lnTo>
                <a:lnTo>
                  <a:pt x="3323" y="1136"/>
                </a:lnTo>
                <a:lnTo>
                  <a:pt x="3310" y="1136"/>
                </a:lnTo>
                <a:lnTo>
                  <a:pt x="3298" y="1136"/>
                </a:lnTo>
                <a:lnTo>
                  <a:pt x="3285" y="1136"/>
                </a:lnTo>
                <a:lnTo>
                  <a:pt x="3272" y="1136"/>
                </a:lnTo>
                <a:lnTo>
                  <a:pt x="3260" y="1136"/>
                </a:lnTo>
                <a:lnTo>
                  <a:pt x="3247" y="1136"/>
                </a:lnTo>
                <a:lnTo>
                  <a:pt x="3235" y="1136"/>
                </a:lnTo>
                <a:lnTo>
                  <a:pt x="3222" y="1136"/>
                </a:lnTo>
                <a:lnTo>
                  <a:pt x="3209" y="1136"/>
                </a:lnTo>
                <a:lnTo>
                  <a:pt x="3197" y="1136"/>
                </a:lnTo>
                <a:lnTo>
                  <a:pt x="3184" y="1136"/>
                </a:lnTo>
                <a:lnTo>
                  <a:pt x="3171" y="1136"/>
                </a:lnTo>
                <a:lnTo>
                  <a:pt x="3159" y="1136"/>
                </a:lnTo>
                <a:lnTo>
                  <a:pt x="3146" y="1136"/>
                </a:lnTo>
                <a:lnTo>
                  <a:pt x="3134" y="1136"/>
                </a:lnTo>
                <a:lnTo>
                  <a:pt x="3121" y="1136"/>
                </a:lnTo>
                <a:lnTo>
                  <a:pt x="3108" y="1136"/>
                </a:lnTo>
                <a:lnTo>
                  <a:pt x="3096" y="1136"/>
                </a:lnTo>
                <a:lnTo>
                  <a:pt x="3083" y="1136"/>
                </a:lnTo>
                <a:lnTo>
                  <a:pt x="3070" y="1136"/>
                </a:lnTo>
                <a:lnTo>
                  <a:pt x="3058" y="1136"/>
                </a:lnTo>
                <a:lnTo>
                  <a:pt x="3045" y="1136"/>
                </a:lnTo>
                <a:lnTo>
                  <a:pt x="3032" y="1136"/>
                </a:lnTo>
                <a:lnTo>
                  <a:pt x="3020" y="1136"/>
                </a:lnTo>
                <a:lnTo>
                  <a:pt x="3007" y="1136"/>
                </a:lnTo>
                <a:lnTo>
                  <a:pt x="2995" y="1136"/>
                </a:lnTo>
                <a:lnTo>
                  <a:pt x="2982" y="1136"/>
                </a:lnTo>
                <a:lnTo>
                  <a:pt x="2969" y="1136"/>
                </a:lnTo>
                <a:lnTo>
                  <a:pt x="2957" y="1136"/>
                </a:lnTo>
                <a:lnTo>
                  <a:pt x="2944" y="1136"/>
                </a:lnTo>
                <a:lnTo>
                  <a:pt x="2931" y="1136"/>
                </a:lnTo>
                <a:lnTo>
                  <a:pt x="2919" y="1136"/>
                </a:lnTo>
                <a:lnTo>
                  <a:pt x="2906" y="1136"/>
                </a:lnTo>
                <a:lnTo>
                  <a:pt x="2893" y="1136"/>
                </a:lnTo>
                <a:lnTo>
                  <a:pt x="2881" y="1136"/>
                </a:lnTo>
                <a:lnTo>
                  <a:pt x="2868" y="1136"/>
                </a:lnTo>
                <a:lnTo>
                  <a:pt x="2856" y="1136"/>
                </a:lnTo>
                <a:lnTo>
                  <a:pt x="2843" y="1136"/>
                </a:lnTo>
                <a:lnTo>
                  <a:pt x="2830" y="1136"/>
                </a:lnTo>
                <a:lnTo>
                  <a:pt x="2818" y="1136"/>
                </a:lnTo>
                <a:lnTo>
                  <a:pt x="2805" y="1136"/>
                </a:lnTo>
                <a:lnTo>
                  <a:pt x="2792" y="1136"/>
                </a:lnTo>
                <a:lnTo>
                  <a:pt x="2780" y="1136"/>
                </a:lnTo>
                <a:lnTo>
                  <a:pt x="2767" y="1136"/>
                </a:lnTo>
                <a:lnTo>
                  <a:pt x="2754" y="1136"/>
                </a:lnTo>
                <a:lnTo>
                  <a:pt x="2742" y="1136"/>
                </a:lnTo>
                <a:lnTo>
                  <a:pt x="2729" y="1136"/>
                </a:lnTo>
                <a:lnTo>
                  <a:pt x="2717" y="1136"/>
                </a:lnTo>
                <a:lnTo>
                  <a:pt x="2704" y="1136"/>
                </a:lnTo>
                <a:lnTo>
                  <a:pt x="2691" y="1136"/>
                </a:lnTo>
                <a:lnTo>
                  <a:pt x="2679" y="1136"/>
                </a:lnTo>
                <a:lnTo>
                  <a:pt x="2666" y="1136"/>
                </a:lnTo>
                <a:lnTo>
                  <a:pt x="2653" y="1136"/>
                </a:lnTo>
                <a:lnTo>
                  <a:pt x="2641" y="1136"/>
                </a:lnTo>
                <a:lnTo>
                  <a:pt x="2628" y="1136"/>
                </a:lnTo>
                <a:lnTo>
                  <a:pt x="2616" y="1136"/>
                </a:lnTo>
                <a:lnTo>
                  <a:pt x="2603" y="1136"/>
                </a:lnTo>
                <a:lnTo>
                  <a:pt x="2590" y="1136"/>
                </a:lnTo>
                <a:lnTo>
                  <a:pt x="2578" y="1136"/>
                </a:lnTo>
                <a:lnTo>
                  <a:pt x="2565" y="1136"/>
                </a:lnTo>
                <a:lnTo>
                  <a:pt x="2552" y="1136"/>
                </a:lnTo>
                <a:lnTo>
                  <a:pt x="2540" y="1136"/>
                </a:lnTo>
                <a:lnTo>
                  <a:pt x="2527" y="1136"/>
                </a:lnTo>
                <a:lnTo>
                  <a:pt x="2514" y="1136"/>
                </a:lnTo>
                <a:lnTo>
                  <a:pt x="2502" y="1136"/>
                </a:lnTo>
                <a:lnTo>
                  <a:pt x="2489" y="1136"/>
                </a:lnTo>
                <a:lnTo>
                  <a:pt x="2477" y="1136"/>
                </a:lnTo>
                <a:lnTo>
                  <a:pt x="2464" y="1136"/>
                </a:lnTo>
                <a:lnTo>
                  <a:pt x="2451" y="1136"/>
                </a:lnTo>
                <a:lnTo>
                  <a:pt x="2439" y="1136"/>
                </a:lnTo>
                <a:lnTo>
                  <a:pt x="2426" y="1136"/>
                </a:lnTo>
                <a:lnTo>
                  <a:pt x="2413" y="1136"/>
                </a:lnTo>
                <a:lnTo>
                  <a:pt x="2401" y="1136"/>
                </a:lnTo>
                <a:lnTo>
                  <a:pt x="2388" y="1136"/>
                </a:lnTo>
                <a:lnTo>
                  <a:pt x="2375" y="1136"/>
                </a:lnTo>
                <a:lnTo>
                  <a:pt x="2363" y="1136"/>
                </a:lnTo>
                <a:lnTo>
                  <a:pt x="2350" y="1136"/>
                </a:lnTo>
                <a:lnTo>
                  <a:pt x="2338" y="1136"/>
                </a:lnTo>
                <a:lnTo>
                  <a:pt x="2325" y="1136"/>
                </a:lnTo>
                <a:lnTo>
                  <a:pt x="2312" y="1136"/>
                </a:lnTo>
                <a:lnTo>
                  <a:pt x="2300" y="1136"/>
                </a:lnTo>
                <a:lnTo>
                  <a:pt x="2287" y="1136"/>
                </a:lnTo>
                <a:lnTo>
                  <a:pt x="2274" y="1136"/>
                </a:lnTo>
                <a:lnTo>
                  <a:pt x="2262" y="1136"/>
                </a:lnTo>
                <a:lnTo>
                  <a:pt x="2249" y="1136"/>
                </a:lnTo>
                <a:lnTo>
                  <a:pt x="2237" y="1136"/>
                </a:lnTo>
                <a:lnTo>
                  <a:pt x="2224" y="1136"/>
                </a:lnTo>
                <a:lnTo>
                  <a:pt x="2211" y="1136"/>
                </a:lnTo>
                <a:lnTo>
                  <a:pt x="2199" y="1136"/>
                </a:lnTo>
                <a:lnTo>
                  <a:pt x="2186" y="1136"/>
                </a:lnTo>
                <a:lnTo>
                  <a:pt x="2173" y="1136"/>
                </a:lnTo>
                <a:lnTo>
                  <a:pt x="2161" y="1136"/>
                </a:lnTo>
                <a:lnTo>
                  <a:pt x="2148" y="1136"/>
                </a:lnTo>
                <a:lnTo>
                  <a:pt x="2135" y="1136"/>
                </a:lnTo>
                <a:lnTo>
                  <a:pt x="2123" y="1136"/>
                </a:lnTo>
                <a:lnTo>
                  <a:pt x="2110" y="1136"/>
                </a:lnTo>
                <a:lnTo>
                  <a:pt x="2098" y="1136"/>
                </a:lnTo>
                <a:lnTo>
                  <a:pt x="2085" y="1136"/>
                </a:lnTo>
                <a:lnTo>
                  <a:pt x="2072" y="1136"/>
                </a:lnTo>
                <a:lnTo>
                  <a:pt x="2060" y="1136"/>
                </a:lnTo>
                <a:lnTo>
                  <a:pt x="2047" y="1136"/>
                </a:lnTo>
                <a:lnTo>
                  <a:pt x="2034" y="1136"/>
                </a:lnTo>
                <a:lnTo>
                  <a:pt x="2022" y="1136"/>
                </a:lnTo>
                <a:lnTo>
                  <a:pt x="2009" y="1136"/>
                </a:lnTo>
                <a:lnTo>
                  <a:pt x="1996" y="1136"/>
                </a:lnTo>
                <a:lnTo>
                  <a:pt x="1984" y="1136"/>
                </a:lnTo>
                <a:lnTo>
                  <a:pt x="1971" y="1136"/>
                </a:lnTo>
                <a:lnTo>
                  <a:pt x="1959" y="1136"/>
                </a:lnTo>
                <a:lnTo>
                  <a:pt x="1946" y="1136"/>
                </a:lnTo>
                <a:lnTo>
                  <a:pt x="1933" y="1136"/>
                </a:lnTo>
                <a:lnTo>
                  <a:pt x="1921" y="1136"/>
                </a:lnTo>
                <a:lnTo>
                  <a:pt x="1908" y="1136"/>
                </a:lnTo>
                <a:lnTo>
                  <a:pt x="1895" y="1136"/>
                </a:lnTo>
                <a:lnTo>
                  <a:pt x="1883" y="1136"/>
                </a:lnTo>
                <a:lnTo>
                  <a:pt x="1870" y="1136"/>
                </a:lnTo>
                <a:lnTo>
                  <a:pt x="1858" y="1136"/>
                </a:lnTo>
                <a:lnTo>
                  <a:pt x="1845" y="1136"/>
                </a:lnTo>
                <a:lnTo>
                  <a:pt x="1832" y="1136"/>
                </a:lnTo>
                <a:lnTo>
                  <a:pt x="1820" y="1136"/>
                </a:lnTo>
                <a:lnTo>
                  <a:pt x="1807" y="1136"/>
                </a:lnTo>
                <a:lnTo>
                  <a:pt x="1794" y="1136"/>
                </a:lnTo>
                <a:lnTo>
                  <a:pt x="1782" y="1136"/>
                </a:lnTo>
                <a:lnTo>
                  <a:pt x="1769" y="1136"/>
                </a:lnTo>
                <a:lnTo>
                  <a:pt x="1756" y="1136"/>
                </a:lnTo>
                <a:lnTo>
                  <a:pt x="1744" y="1136"/>
                </a:lnTo>
                <a:lnTo>
                  <a:pt x="1731" y="1136"/>
                </a:lnTo>
                <a:lnTo>
                  <a:pt x="1719" y="1136"/>
                </a:lnTo>
                <a:lnTo>
                  <a:pt x="1706" y="1136"/>
                </a:lnTo>
                <a:lnTo>
                  <a:pt x="1693" y="1136"/>
                </a:lnTo>
                <a:lnTo>
                  <a:pt x="1681" y="1136"/>
                </a:lnTo>
                <a:lnTo>
                  <a:pt x="1668" y="1136"/>
                </a:lnTo>
                <a:lnTo>
                  <a:pt x="1655" y="1136"/>
                </a:lnTo>
                <a:lnTo>
                  <a:pt x="1643" y="1136"/>
                </a:lnTo>
                <a:lnTo>
                  <a:pt x="1630" y="1136"/>
                </a:lnTo>
                <a:lnTo>
                  <a:pt x="1617" y="1136"/>
                </a:lnTo>
                <a:lnTo>
                  <a:pt x="1605" y="1136"/>
                </a:lnTo>
                <a:lnTo>
                  <a:pt x="1592" y="1136"/>
                </a:lnTo>
                <a:lnTo>
                  <a:pt x="1580" y="1136"/>
                </a:lnTo>
                <a:lnTo>
                  <a:pt x="1567" y="1136"/>
                </a:lnTo>
                <a:lnTo>
                  <a:pt x="1554" y="1136"/>
                </a:lnTo>
                <a:lnTo>
                  <a:pt x="1542" y="1136"/>
                </a:lnTo>
                <a:lnTo>
                  <a:pt x="1529" y="1136"/>
                </a:lnTo>
                <a:lnTo>
                  <a:pt x="1516" y="1136"/>
                </a:lnTo>
                <a:lnTo>
                  <a:pt x="1504" y="1136"/>
                </a:lnTo>
                <a:lnTo>
                  <a:pt x="1491" y="1136"/>
                </a:lnTo>
                <a:lnTo>
                  <a:pt x="1478" y="1136"/>
                </a:lnTo>
                <a:lnTo>
                  <a:pt x="1466" y="1136"/>
                </a:lnTo>
                <a:lnTo>
                  <a:pt x="1453" y="1136"/>
                </a:lnTo>
                <a:lnTo>
                  <a:pt x="1441" y="1136"/>
                </a:lnTo>
                <a:lnTo>
                  <a:pt x="1428" y="1136"/>
                </a:lnTo>
                <a:lnTo>
                  <a:pt x="1415" y="1136"/>
                </a:lnTo>
                <a:lnTo>
                  <a:pt x="1403" y="1136"/>
                </a:lnTo>
                <a:lnTo>
                  <a:pt x="1390" y="1136"/>
                </a:lnTo>
                <a:lnTo>
                  <a:pt x="1377" y="1136"/>
                </a:lnTo>
                <a:lnTo>
                  <a:pt x="1365" y="1136"/>
                </a:lnTo>
                <a:lnTo>
                  <a:pt x="1352" y="1136"/>
                </a:lnTo>
                <a:lnTo>
                  <a:pt x="1340" y="1136"/>
                </a:lnTo>
                <a:lnTo>
                  <a:pt x="1327" y="1136"/>
                </a:lnTo>
                <a:lnTo>
                  <a:pt x="1314" y="1136"/>
                </a:lnTo>
                <a:lnTo>
                  <a:pt x="1302" y="1136"/>
                </a:lnTo>
                <a:lnTo>
                  <a:pt x="1289" y="1136"/>
                </a:lnTo>
                <a:lnTo>
                  <a:pt x="1276" y="1136"/>
                </a:lnTo>
                <a:lnTo>
                  <a:pt x="1264" y="1136"/>
                </a:lnTo>
                <a:lnTo>
                  <a:pt x="1251" y="1136"/>
                </a:lnTo>
                <a:lnTo>
                  <a:pt x="1238" y="1136"/>
                </a:lnTo>
                <a:lnTo>
                  <a:pt x="1226" y="1136"/>
                </a:lnTo>
                <a:lnTo>
                  <a:pt x="1213" y="1136"/>
                </a:lnTo>
                <a:lnTo>
                  <a:pt x="1201" y="1136"/>
                </a:lnTo>
                <a:lnTo>
                  <a:pt x="1188" y="1136"/>
                </a:lnTo>
                <a:lnTo>
                  <a:pt x="1175" y="1136"/>
                </a:lnTo>
                <a:lnTo>
                  <a:pt x="1163" y="1136"/>
                </a:lnTo>
                <a:lnTo>
                  <a:pt x="1150" y="1136"/>
                </a:lnTo>
                <a:lnTo>
                  <a:pt x="1137" y="1136"/>
                </a:lnTo>
                <a:lnTo>
                  <a:pt x="1125" y="1136"/>
                </a:lnTo>
                <a:lnTo>
                  <a:pt x="1112" y="1136"/>
                </a:lnTo>
                <a:lnTo>
                  <a:pt x="1099" y="1136"/>
                </a:lnTo>
                <a:lnTo>
                  <a:pt x="1087" y="1136"/>
                </a:lnTo>
                <a:lnTo>
                  <a:pt x="1074" y="1136"/>
                </a:lnTo>
                <a:lnTo>
                  <a:pt x="1062" y="1136"/>
                </a:lnTo>
                <a:lnTo>
                  <a:pt x="1049" y="1136"/>
                </a:lnTo>
                <a:lnTo>
                  <a:pt x="1036" y="1136"/>
                </a:lnTo>
                <a:lnTo>
                  <a:pt x="1024" y="1136"/>
                </a:lnTo>
                <a:lnTo>
                  <a:pt x="1011" y="1136"/>
                </a:lnTo>
                <a:lnTo>
                  <a:pt x="998" y="1136"/>
                </a:lnTo>
                <a:lnTo>
                  <a:pt x="986" y="1136"/>
                </a:lnTo>
                <a:lnTo>
                  <a:pt x="973" y="1136"/>
                </a:lnTo>
                <a:lnTo>
                  <a:pt x="961" y="1136"/>
                </a:lnTo>
                <a:lnTo>
                  <a:pt x="948" y="1136"/>
                </a:lnTo>
                <a:lnTo>
                  <a:pt x="935" y="1136"/>
                </a:lnTo>
                <a:lnTo>
                  <a:pt x="923" y="1136"/>
                </a:lnTo>
                <a:lnTo>
                  <a:pt x="910" y="1136"/>
                </a:lnTo>
                <a:lnTo>
                  <a:pt x="897" y="1136"/>
                </a:lnTo>
                <a:lnTo>
                  <a:pt x="885" y="1136"/>
                </a:lnTo>
                <a:lnTo>
                  <a:pt x="872" y="1136"/>
                </a:lnTo>
                <a:lnTo>
                  <a:pt x="859" y="1136"/>
                </a:lnTo>
                <a:lnTo>
                  <a:pt x="847" y="1136"/>
                </a:lnTo>
                <a:lnTo>
                  <a:pt x="834" y="1136"/>
                </a:lnTo>
                <a:lnTo>
                  <a:pt x="822" y="1136"/>
                </a:lnTo>
                <a:lnTo>
                  <a:pt x="809" y="1136"/>
                </a:lnTo>
                <a:lnTo>
                  <a:pt x="796" y="1136"/>
                </a:lnTo>
                <a:lnTo>
                  <a:pt x="784" y="1136"/>
                </a:lnTo>
                <a:lnTo>
                  <a:pt x="771" y="1136"/>
                </a:lnTo>
                <a:lnTo>
                  <a:pt x="758" y="1136"/>
                </a:lnTo>
                <a:lnTo>
                  <a:pt x="746" y="1136"/>
                </a:lnTo>
                <a:lnTo>
                  <a:pt x="733" y="1136"/>
                </a:lnTo>
                <a:lnTo>
                  <a:pt x="720" y="1136"/>
                </a:lnTo>
                <a:lnTo>
                  <a:pt x="708" y="1136"/>
                </a:lnTo>
                <a:lnTo>
                  <a:pt x="695" y="1136"/>
                </a:lnTo>
                <a:lnTo>
                  <a:pt x="683" y="1136"/>
                </a:lnTo>
                <a:lnTo>
                  <a:pt x="670" y="1136"/>
                </a:lnTo>
                <a:lnTo>
                  <a:pt x="657" y="1136"/>
                </a:lnTo>
                <a:lnTo>
                  <a:pt x="645" y="1136"/>
                </a:lnTo>
                <a:lnTo>
                  <a:pt x="632" y="1136"/>
                </a:lnTo>
                <a:lnTo>
                  <a:pt x="619" y="1136"/>
                </a:lnTo>
                <a:lnTo>
                  <a:pt x="607" y="1136"/>
                </a:lnTo>
                <a:lnTo>
                  <a:pt x="594" y="1136"/>
                </a:lnTo>
                <a:lnTo>
                  <a:pt x="581" y="1136"/>
                </a:lnTo>
                <a:lnTo>
                  <a:pt x="569" y="1136"/>
                </a:lnTo>
                <a:lnTo>
                  <a:pt x="556" y="1136"/>
                </a:lnTo>
                <a:lnTo>
                  <a:pt x="544" y="1136"/>
                </a:lnTo>
                <a:lnTo>
                  <a:pt x="531" y="1136"/>
                </a:lnTo>
                <a:lnTo>
                  <a:pt x="518" y="1136"/>
                </a:lnTo>
                <a:lnTo>
                  <a:pt x="506" y="1136"/>
                </a:lnTo>
                <a:lnTo>
                  <a:pt x="493" y="1136"/>
                </a:lnTo>
                <a:lnTo>
                  <a:pt x="480" y="1136"/>
                </a:lnTo>
                <a:lnTo>
                  <a:pt x="468" y="1136"/>
                </a:lnTo>
                <a:lnTo>
                  <a:pt x="455" y="1136"/>
                </a:lnTo>
                <a:lnTo>
                  <a:pt x="443" y="1136"/>
                </a:lnTo>
                <a:lnTo>
                  <a:pt x="430" y="1136"/>
                </a:lnTo>
                <a:lnTo>
                  <a:pt x="417" y="1136"/>
                </a:lnTo>
                <a:lnTo>
                  <a:pt x="405" y="1136"/>
                </a:lnTo>
                <a:lnTo>
                  <a:pt x="392" y="1136"/>
                </a:lnTo>
                <a:lnTo>
                  <a:pt x="379" y="1136"/>
                </a:lnTo>
                <a:lnTo>
                  <a:pt x="367" y="1136"/>
                </a:lnTo>
                <a:lnTo>
                  <a:pt x="354" y="1136"/>
                </a:lnTo>
                <a:lnTo>
                  <a:pt x="341" y="1136"/>
                </a:lnTo>
                <a:lnTo>
                  <a:pt x="329" y="1136"/>
                </a:lnTo>
                <a:lnTo>
                  <a:pt x="316" y="1136"/>
                </a:lnTo>
                <a:lnTo>
                  <a:pt x="304" y="1136"/>
                </a:lnTo>
                <a:lnTo>
                  <a:pt x="291" y="1136"/>
                </a:lnTo>
                <a:lnTo>
                  <a:pt x="278" y="1136"/>
                </a:lnTo>
                <a:lnTo>
                  <a:pt x="266" y="1136"/>
                </a:lnTo>
                <a:lnTo>
                  <a:pt x="253" y="1136"/>
                </a:lnTo>
                <a:lnTo>
                  <a:pt x="240" y="1136"/>
                </a:lnTo>
                <a:lnTo>
                  <a:pt x="228" y="1136"/>
                </a:lnTo>
                <a:lnTo>
                  <a:pt x="215" y="1136"/>
                </a:lnTo>
                <a:lnTo>
                  <a:pt x="202" y="1136"/>
                </a:lnTo>
                <a:lnTo>
                  <a:pt x="190" y="1136"/>
                </a:lnTo>
                <a:lnTo>
                  <a:pt x="177" y="1136"/>
                </a:lnTo>
                <a:lnTo>
                  <a:pt x="165" y="1136"/>
                </a:lnTo>
                <a:lnTo>
                  <a:pt x="152" y="1136"/>
                </a:lnTo>
                <a:lnTo>
                  <a:pt x="139" y="1136"/>
                </a:lnTo>
                <a:lnTo>
                  <a:pt x="127" y="1136"/>
                </a:lnTo>
                <a:lnTo>
                  <a:pt x="114" y="1136"/>
                </a:lnTo>
                <a:lnTo>
                  <a:pt x="101" y="1136"/>
                </a:lnTo>
                <a:lnTo>
                  <a:pt x="89" y="1136"/>
                </a:lnTo>
                <a:lnTo>
                  <a:pt x="76" y="1136"/>
                </a:lnTo>
                <a:lnTo>
                  <a:pt x="64" y="1136"/>
                </a:lnTo>
                <a:lnTo>
                  <a:pt x="51" y="1136"/>
                </a:lnTo>
                <a:lnTo>
                  <a:pt x="38" y="1136"/>
                </a:lnTo>
                <a:lnTo>
                  <a:pt x="26" y="1136"/>
                </a:lnTo>
                <a:lnTo>
                  <a:pt x="13" y="1136"/>
                </a:lnTo>
                <a:lnTo>
                  <a:pt x="0" y="1136"/>
                </a:lnTo>
                <a:close/>
              </a:path>
            </a:pathLst>
          </a:custGeom>
          <a:solidFill>
            <a:srgbClr val="00FFFF"/>
          </a:solidFill>
          <a:ln w="20638">
            <a:solidFill>
              <a:srgbClr val="000000"/>
            </a:solidFill>
            <a:round/>
            <a:headEnd/>
            <a:tailEnd/>
          </a:ln>
        </p:spPr>
        <p:txBody>
          <a:bodyPr/>
          <a:lstStyle/>
          <a:p>
            <a:endParaRPr lang="en-US"/>
          </a:p>
        </p:txBody>
      </p:sp>
      <p:sp>
        <p:nvSpPr>
          <p:cNvPr id="15368" name="Freeform 8"/>
          <p:cNvSpPr>
            <a:spLocks/>
          </p:cNvSpPr>
          <p:nvPr/>
        </p:nvSpPr>
        <p:spPr bwMode="auto">
          <a:xfrm>
            <a:off x="5657850" y="3525838"/>
            <a:ext cx="2446338" cy="1803400"/>
          </a:xfrm>
          <a:custGeom>
            <a:avLst/>
            <a:gdLst>
              <a:gd name="T0" fmla="*/ 2147483647 w 1541"/>
              <a:gd name="T1" fmla="*/ 2147483647 h 1136"/>
              <a:gd name="T2" fmla="*/ 2147483647 w 1541"/>
              <a:gd name="T3" fmla="*/ 2147483647 h 1136"/>
              <a:gd name="T4" fmla="*/ 2147483647 w 1541"/>
              <a:gd name="T5" fmla="*/ 2147483647 h 1136"/>
              <a:gd name="T6" fmla="*/ 2147483647 w 1541"/>
              <a:gd name="T7" fmla="*/ 2147483647 h 1136"/>
              <a:gd name="T8" fmla="*/ 2147483647 w 1541"/>
              <a:gd name="T9" fmla="*/ 2147483647 h 1136"/>
              <a:gd name="T10" fmla="*/ 2147483647 w 1541"/>
              <a:gd name="T11" fmla="*/ 2147483647 h 1136"/>
              <a:gd name="T12" fmla="*/ 2147483647 w 1541"/>
              <a:gd name="T13" fmla="*/ 2147483647 h 1136"/>
              <a:gd name="T14" fmla="*/ 2147483647 w 1541"/>
              <a:gd name="T15" fmla="*/ 2147483647 h 1136"/>
              <a:gd name="T16" fmla="*/ 2147483647 w 1541"/>
              <a:gd name="T17" fmla="*/ 2147483647 h 1136"/>
              <a:gd name="T18" fmla="*/ 2147483647 w 1541"/>
              <a:gd name="T19" fmla="*/ 2147483647 h 1136"/>
              <a:gd name="T20" fmla="*/ 2147483647 w 1541"/>
              <a:gd name="T21" fmla="*/ 2147483647 h 1136"/>
              <a:gd name="T22" fmla="*/ 2147483647 w 1541"/>
              <a:gd name="T23" fmla="*/ 2147483647 h 1136"/>
              <a:gd name="T24" fmla="*/ 2147483647 w 1541"/>
              <a:gd name="T25" fmla="*/ 2147483647 h 1136"/>
              <a:gd name="T26" fmla="*/ 2147483647 w 1541"/>
              <a:gd name="T27" fmla="*/ 2147483647 h 1136"/>
              <a:gd name="T28" fmla="*/ 2147483647 w 1541"/>
              <a:gd name="T29" fmla="*/ 2147483647 h 1136"/>
              <a:gd name="T30" fmla="*/ 2147483647 w 1541"/>
              <a:gd name="T31" fmla="*/ 2147483647 h 1136"/>
              <a:gd name="T32" fmla="*/ 2147483647 w 1541"/>
              <a:gd name="T33" fmla="*/ 2147483647 h 1136"/>
              <a:gd name="T34" fmla="*/ 2147483647 w 1541"/>
              <a:gd name="T35" fmla="*/ 2147483647 h 1136"/>
              <a:gd name="T36" fmla="*/ 2147483647 w 1541"/>
              <a:gd name="T37" fmla="*/ 2147483647 h 1136"/>
              <a:gd name="T38" fmla="*/ 2147483647 w 1541"/>
              <a:gd name="T39" fmla="*/ 2147483647 h 1136"/>
              <a:gd name="T40" fmla="*/ 2147483647 w 1541"/>
              <a:gd name="T41" fmla="*/ 2147483647 h 1136"/>
              <a:gd name="T42" fmla="*/ 2147483647 w 1541"/>
              <a:gd name="T43" fmla="*/ 2147483647 h 1136"/>
              <a:gd name="T44" fmla="*/ 2147483647 w 1541"/>
              <a:gd name="T45" fmla="*/ 2147483647 h 1136"/>
              <a:gd name="T46" fmla="*/ 2147483647 w 1541"/>
              <a:gd name="T47" fmla="*/ 2147483647 h 1136"/>
              <a:gd name="T48" fmla="*/ 2147483647 w 1541"/>
              <a:gd name="T49" fmla="*/ 2147483647 h 1136"/>
              <a:gd name="T50" fmla="*/ 2147483647 w 1541"/>
              <a:gd name="T51" fmla="*/ 2147483647 h 1136"/>
              <a:gd name="T52" fmla="*/ 2147483647 w 1541"/>
              <a:gd name="T53" fmla="*/ 2147483647 h 1136"/>
              <a:gd name="T54" fmla="*/ 2147483647 w 1541"/>
              <a:gd name="T55" fmla="*/ 2147483647 h 1136"/>
              <a:gd name="T56" fmla="*/ 2147483647 w 1541"/>
              <a:gd name="T57" fmla="*/ 2147483647 h 1136"/>
              <a:gd name="T58" fmla="*/ 2147483647 w 1541"/>
              <a:gd name="T59" fmla="*/ 2147483647 h 1136"/>
              <a:gd name="T60" fmla="*/ 2147483647 w 1541"/>
              <a:gd name="T61" fmla="*/ 2147483647 h 1136"/>
              <a:gd name="T62" fmla="*/ 2147483647 w 1541"/>
              <a:gd name="T63" fmla="*/ 2147483647 h 1136"/>
              <a:gd name="T64" fmla="*/ 2147483647 w 1541"/>
              <a:gd name="T65" fmla="*/ 2147483647 h 1136"/>
              <a:gd name="T66" fmla="*/ 2147483647 w 1541"/>
              <a:gd name="T67" fmla="*/ 2147483647 h 1136"/>
              <a:gd name="T68" fmla="*/ 2147483647 w 1541"/>
              <a:gd name="T69" fmla="*/ 2147483647 h 1136"/>
              <a:gd name="T70" fmla="*/ 2147483647 w 1541"/>
              <a:gd name="T71" fmla="*/ 2147483647 h 1136"/>
              <a:gd name="T72" fmla="*/ 2147483647 w 1541"/>
              <a:gd name="T73" fmla="*/ 2147483647 h 1136"/>
              <a:gd name="T74" fmla="*/ 2147483647 w 1541"/>
              <a:gd name="T75" fmla="*/ 2147483647 h 1136"/>
              <a:gd name="T76" fmla="*/ 2147483647 w 1541"/>
              <a:gd name="T77" fmla="*/ 2147483647 h 1136"/>
              <a:gd name="T78" fmla="*/ 2147483647 w 1541"/>
              <a:gd name="T79" fmla="*/ 2147483647 h 1136"/>
              <a:gd name="T80" fmla="*/ 2147483647 w 1541"/>
              <a:gd name="T81" fmla="*/ 2147483647 h 1136"/>
              <a:gd name="T82" fmla="*/ 2147483647 w 1541"/>
              <a:gd name="T83" fmla="*/ 2147483647 h 1136"/>
              <a:gd name="T84" fmla="*/ 2147483647 w 1541"/>
              <a:gd name="T85" fmla="*/ 2147483647 h 1136"/>
              <a:gd name="T86" fmla="*/ 2147483647 w 1541"/>
              <a:gd name="T87" fmla="*/ 2147483647 h 1136"/>
              <a:gd name="T88" fmla="*/ 2147483647 w 1541"/>
              <a:gd name="T89" fmla="*/ 2147483647 h 1136"/>
              <a:gd name="T90" fmla="*/ 2147483647 w 1541"/>
              <a:gd name="T91" fmla="*/ 2147483647 h 1136"/>
              <a:gd name="T92" fmla="*/ 2147483647 w 1541"/>
              <a:gd name="T93" fmla="*/ 2147483647 h 1136"/>
              <a:gd name="T94" fmla="*/ 2147483647 w 1541"/>
              <a:gd name="T95" fmla="*/ 2147483647 h 1136"/>
              <a:gd name="T96" fmla="*/ 2147483647 w 1541"/>
              <a:gd name="T97" fmla="*/ 2147483647 h 1136"/>
              <a:gd name="T98" fmla="*/ 2147483647 w 1541"/>
              <a:gd name="T99" fmla="*/ 2147483647 h 1136"/>
              <a:gd name="T100" fmla="*/ 2147483647 w 1541"/>
              <a:gd name="T101" fmla="*/ 2147483647 h 1136"/>
              <a:gd name="T102" fmla="*/ 2147483647 w 1541"/>
              <a:gd name="T103" fmla="*/ 2147483647 h 1136"/>
              <a:gd name="T104" fmla="*/ 2147483647 w 1541"/>
              <a:gd name="T105" fmla="*/ 2147483647 h 1136"/>
              <a:gd name="T106" fmla="*/ 2147483647 w 1541"/>
              <a:gd name="T107" fmla="*/ 2147483647 h 1136"/>
              <a:gd name="T108" fmla="*/ 2147483647 w 1541"/>
              <a:gd name="T109" fmla="*/ 2147483647 h 1136"/>
              <a:gd name="T110" fmla="*/ 2147483647 w 1541"/>
              <a:gd name="T111" fmla="*/ 2147483647 h 1136"/>
              <a:gd name="T112" fmla="*/ 2147483647 w 1541"/>
              <a:gd name="T113" fmla="*/ 2147483647 h 1136"/>
              <a:gd name="T114" fmla="*/ 2147483647 w 1541"/>
              <a:gd name="T115" fmla="*/ 2147483647 h 1136"/>
              <a:gd name="T116" fmla="*/ 2147483647 w 1541"/>
              <a:gd name="T117" fmla="*/ 2147483647 h 1136"/>
              <a:gd name="T118" fmla="*/ 0 w 1541"/>
              <a:gd name="T119" fmla="*/ 2147483647 h 11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1541"/>
              <a:gd name="T181" fmla="*/ 0 h 1136"/>
              <a:gd name="T182" fmla="*/ 1541 w 1541"/>
              <a:gd name="T183" fmla="*/ 1136 h 11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1541" h="1136">
                <a:moveTo>
                  <a:pt x="0" y="0"/>
                </a:moveTo>
                <a:lnTo>
                  <a:pt x="13" y="8"/>
                </a:lnTo>
                <a:lnTo>
                  <a:pt x="13" y="17"/>
                </a:lnTo>
                <a:lnTo>
                  <a:pt x="25" y="34"/>
                </a:lnTo>
                <a:lnTo>
                  <a:pt x="38" y="43"/>
                </a:lnTo>
                <a:lnTo>
                  <a:pt x="38" y="52"/>
                </a:lnTo>
                <a:lnTo>
                  <a:pt x="51" y="69"/>
                </a:lnTo>
                <a:lnTo>
                  <a:pt x="51" y="78"/>
                </a:lnTo>
                <a:lnTo>
                  <a:pt x="63" y="86"/>
                </a:lnTo>
                <a:lnTo>
                  <a:pt x="63" y="104"/>
                </a:lnTo>
                <a:lnTo>
                  <a:pt x="76" y="113"/>
                </a:lnTo>
                <a:lnTo>
                  <a:pt x="88" y="121"/>
                </a:lnTo>
                <a:lnTo>
                  <a:pt x="88" y="130"/>
                </a:lnTo>
                <a:lnTo>
                  <a:pt x="101" y="147"/>
                </a:lnTo>
                <a:lnTo>
                  <a:pt x="101" y="156"/>
                </a:lnTo>
                <a:lnTo>
                  <a:pt x="114" y="165"/>
                </a:lnTo>
                <a:lnTo>
                  <a:pt x="114" y="182"/>
                </a:lnTo>
                <a:lnTo>
                  <a:pt x="126" y="191"/>
                </a:lnTo>
                <a:lnTo>
                  <a:pt x="139" y="199"/>
                </a:lnTo>
                <a:lnTo>
                  <a:pt x="139" y="208"/>
                </a:lnTo>
                <a:lnTo>
                  <a:pt x="152" y="225"/>
                </a:lnTo>
                <a:lnTo>
                  <a:pt x="152" y="234"/>
                </a:lnTo>
                <a:lnTo>
                  <a:pt x="164" y="243"/>
                </a:lnTo>
                <a:lnTo>
                  <a:pt x="177" y="251"/>
                </a:lnTo>
                <a:lnTo>
                  <a:pt x="177" y="269"/>
                </a:lnTo>
                <a:lnTo>
                  <a:pt x="190" y="277"/>
                </a:lnTo>
                <a:lnTo>
                  <a:pt x="190" y="286"/>
                </a:lnTo>
                <a:lnTo>
                  <a:pt x="202" y="295"/>
                </a:lnTo>
                <a:lnTo>
                  <a:pt x="202" y="312"/>
                </a:lnTo>
                <a:lnTo>
                  <a:pt x="215" y="321"/>
                </a:lnTo>
                <a:lnTo>
                  <a:pt x="227" y="329"/>
                </a:lnTo>
                <a:lnTo>
                  <a:pt x="227" y="338"/>
                </a:lnTo>
                <a:lnTo>
                  <a:pt x="240" y="347"/>
                </a:lnTo>
                <a:lnTo>
                  <a:pt x="240" y="364"/>
                </a:lnTo>
                <a:lnTo>
                  <a:pt x="253" y="373"/>
                </a:lnTo>
                <a:lnTo>
                  <a:pt x="265" y="381"/>
                </a:lnTo>
                <a:lnTo>
                  <a:pt x="265" y="390"/>
                </a:lnTo>
                <a:lnTo>
                  <a:pt x="278" y="399"/>
                </a:lnTo>
                <a:lnTo>
                  <a:pt x="278" y="407"/>
                </a:lnTo>
                <a:lnTo>
                  <a:pt x="291" y="425"/>
                </a:lnTo>
                <a:lnTo>
                  <a:pt x="291" y="433"/>
                </a:lnTo>
                <a:lnTo>
                  <a:pt x="303" y="442"/>
                </a:lnTo>
                <a:lnTo>
                  <a:pt x="316" y="451"/>
                </a:lnTo>
                <a:lnTo>
                  <a:pt x="316" y="459"/>
                </a:lnTo>
                <a:lnTo>
                  <a:pt x="328" y="468"/>
                </a:lnTo>
                <a:lnTo>
                  <a:pt x="328" y="477"/>
                </a:lnTo>
                <a:lnTo>
                  <a:pt x="341" y="485"/>
                </a:lnTo>
                <a:lnTo>
                  <a:pt x="354" y="503"/>
                </a:lnTo>
                <a:lnTo>
                  <a:pt x="354" y="512"/>
                </a:lnTo>
                <a:lnTo>
                  <a:pt x="366" y="520"/>
                </a:lnTo>
                <a:lnTo>
                  <a:pt x="366" y="529"/>
                </a:lnTo>
                <a:lnTo>
                  <a:pt x="379" y="538"/>
                </a:lnTo>
                <a:lnTo>
                  <a:pt x="379" y="546"/>
                </a:lnTo>
                <a:lnTo>
                  <a:pt x="392" y="555"/>
                </a:lnTo>
                <a:lnTo>
                  <a:pt x="404" y="564"/>
                </a:lnTo>
                <a:lnTo>
                  <a:pt x="404" y="572"/>
                </a:lnTo>
                <a:lnTo>
                  <a:pt x="417" y="581"/>
                </a:lnTo>
                <a:lnTo>
                  <a:pt x="417" y="590"/>
                </a:lnTo>
                <a:lnTo>
                  <a:pt x="430" y="598"/>
                </a:lnTo>
                <a:lnTo>
                  <a:pt x="442" y="607"/>
                </a:lnTo>
                <a:lnTo>
                  <a:pt x="442" y="616"/>
                </a:lnTo>
                <a:lnTo>
                  <a:pt x="455" y="624"/>
                </a:lnTo>
                <a:lnTo>
                  <a:pt x="455" y="633"/>
                </a:lnTo>
                <a:lnTo>
                  <a:pt x="467" y="642"/>
                </a:lnTo>
                <a:lnTo>
                  <a:pt x="467" y="650"/>
                </a:lnTo>
                <a:lnTo>
                  <a:pt x="480" y="659"/>
                </a:lnTo>
                <a:lnTo>
                  <a:pt x="493" y="659"/>
                </a:lnTo>
                <a:lnTo>
                  <a:pt x="493" y="668"/>
                </a:lnTo>
                <a:lnTo>
                  <a:pt x="505" y="676"/>
                </a:lnTo>
                <a:lnTo>
                  <a:pt x="505" y="685"/>
                </a:lnTo>
                <a:lnTo>
                  <a:pt x="518" y="694"/>
                </a:lnTo>
                <a:lnTo>
                  <a:pt x="531" y="702"/>
                </a:lnTo>
                <a:lnTo>
                  <a:pt x="531" y="711"/>
                </a:lnTo>
                <a:lnTo>
                  <a:pt x="543" y="720"/>
                </a:lnTo>
                <a:lnTo>
                  <a:pt x="556" y="728"/>
                </a:lnTo>
                <a:lnTo>
                  <a:pt x="556" y="737"/>
                </a:lnTo>
                <a:lnTo>
                  <a:pt x="569" y="746"/>
                </a:lnTo>
                <a:lnTo>
                  <a:pt x="581" y="754"/>
                </a:lnTo>
                <a:lnTo>
                  <a:pt x="594" y="763"/>
                </a:lnTo>
                <a:lnTo>
                  <a:pt x="594" y="772"/>
                </a:lnTo>
                <a:lnTo>
                  <a:pt x="606" y="780"/>
                </a:lnTo>
                <a:lnTo>
                  <a:pt x="619" y="780"/>
                </a:lnTo>
                <a:lnTo>
                  <a:pt x="619" y="789"/>
                </a:lnTo>
                <a:lnTo>
                  <a:pt x="632" y="798"/>
                </a:lnTo>
                <a:lnTo>
                  <a:pt x="632" y="806"/>
                </a:lnTo>
                <a:lnTo>
                  <a:pt x="644" y="806"/>
                </a:lnTo>
                <a:lnTo>
                  <a:pt x="644" y="815"/>
                </a:lnTo>
                <a:lnTo>
                  <a:pt x="657" y="824"/>
                </a:lnTo>
                <a:lnTo>
                  <a:pt x="670" y="824"/>
                </a:lnTo>
                <a:lnTo>
                  <a:pt x="670" y="832"/>
                </a:lnTo>
                <a:lnTo>
                  <a:pt x="682" y="841"/>
                </a:lnTo>
                <a:lnTo>
                  <a:pt x="695" y="850"/>
                </a:lnTo>
                <a:lnTo>
                  <a:pt x="707" y="858"/>
                </a:lnTo>
                <a:lnTo>
                  <a:pt x="720" y="867"/>
                </a:lnTo>
                <a:lnTo>
                  <a:pt x="720" y="876"/>
                </a:lnTo>
                <a:lnTo>
                  <a:pt x="733" y="876"/>
                </a:lnTo>
                <a:lnTo>
                  <a:pt x="733" y="884"/>
                </a:lnTo>
                <a:lnTo>
                  <a:pt x="745" y="884"/>
                </a:lnTo>
                <a:lnTo>
                  <a:pt x="758" y="893"/>
                </a:lnTo>
                <a:lnTo>
                  <a:pt x="771" y="902"/>
                </a:lnTo>
                <a:lnTo>
                  <a:pt x="771" y="911"/>
                </a:lnTo>
                <a:lnTo>
                  <a:pt x="783" y="911"/>
                </a:lnTo>
                <a:lnTo>
                  <a:pt x="796" y="919"/>
                </a:lnTo>
                <a:lnTo>
                  <a:pt x="809" y="928"/>
                </a:lnTo>
                <a:lnTo>
                  <a:pt x="821" y="937"/>
                </a:lnTo>
                <a:lnTo>
                  <a:pt x="834" y="945"/>
                </a:lnTo>
                <a:lnTo>
                  <a:pt x="846" y="945"/>
                </a:lnTo>
                <a:lnTo>
                  <a:pt x="846" y="954"/>
                </a:lnTo>
                <a:lnTo>
                  <a:pt x="859" y="954"/>
                </a:lnTo>
                <a:lnTo>
                  <a:pt x="872" y="963"/>
                </a:lnTo>
                <a:lnTo>
                  <a:pt x="884" y="963"/>
                </a:lnTo>
                <a:lnTo>
                  <a:pt x="884" y="971"/>
                </a:lnTo>
                <a:lnTo>
                  <a:pt x="897" y="971"/>
                </a:lnTo>
                <a:lnTo>
                  <a:pt x="897" y="980"/>
                </a:lnTo>
                <a:lnTo>
                  <a:pt x="910" y="980"/>
                </a:lnTo>
                <a:lnTo>
                  <a:pt x="922" y="989"/>
                </a:lnTo>
                <a:lnTo>
                  <a:pt x="935" y="989"/>
                </a:lnTo>
                <a:lnTo>
                  <a:pt x="935" y="997"/>
                </a:lnTo>
                <a:lnTo>
                  <a:pt x="948" y="997"/>
                </a:lnTo>
                <a:lnTo>
                  <a:pt x="960" y="1006"/>
                </a:lnTo>
                <a:lnTo>
                  <a:pt x="973" y="1006"/>
                </a:lnTo>
                <a:lnTo>
                  <a:pt x="985" y="1015"/>
                </a:lnTo>
                <a:lnTo>
                  <a:pt x="998" y="1015"/>
                </a:lnTo>
                <a:lnTo>
                  <a:pt x="998" y="1023"/>
                </a:lnTo>
                <a:lnTo>
                  <a:pt x="1011" y="1023"/>
                </a:lnTo>
                <a:lnTo>
                  <a:pt x="1023" y="1023"/>
                </a:lnTo>
                <a:lnTo>
                  <a:pt x="1023" y="1032"/>
                </a:lnTo>
                <a:lnTo>
                  <a:pt x="1036" y="1032"/>
                </a:lnTo>
                <a:lnTo>
                  <a:pt x="1049" y="1032"/>
                </a:lnTo>
                <a:lnTo>
                  <a:pt x="1061" y="1041"/>
                </a:lnTo>
                <a:lnTo>
                  <a:pt x="1074" y="1041"/>
                </a:lnTo>
                <a:lnTo>
                  <a:pt x="1087" y="1049"/>
                </a:lnTo>
                <a:lnTo>
                  <a:pt x="1099" y="1049"/>
                </a:lnTo>
                <a:lnTo>
                  <a:pt x="1112" y="1049"/>
                </a:lnTo>
                <a:lnTo>
                  <a:pt x="1112" y="1058"/>
                </a:lnTo>
                <a:lnTo>
                  <a:pt x="1124" y="1058"/>
                </a:lnTo>
                <a:lnTo>
                  <a:pt x="1137" y="1058"/>
                </a:lnTo>
                <a:lnTo>
                  <a:pt x="1150" y="1067"/>
                </a:lnTo>
                <a:lnTo>
                  <a:pt x="1162" y="1067"/>
                </a:lnTo>
                <a:lnTo>
                  <a:pt x="1175" y="1067"/>
                </a:lnTo>
                <a:lnTo>
                  <a:pt x="1175" y="1075"/>
                </a:lnTo>
                <a:lnTo>
                  <a:pt x="1188" y="1075"/>
                </a:lnTo>
                <a:lnTo>
                  <a:pt x="1200" y="1075"/>
                </a:lnTo>
                <a:lnTo>
                  <a:pt x="1213" y="1075"/>
                </a:lnTo>
                <a:lnTo>
                  <a:pt x="1213" y="1084"/>
                </a:lnTo>
                <a:lnTo>
                  <a:pt x="1225" y="1084"/>
                </a:lnTo>
                <a:lnTo>
                  <a:pt x="1238" y="1084"/>
                </a:lnTo>
                <a:lnTo>
                  <a:pt x="1251" y="1084"/>
                </a:lnTo>
                <a:lnTo>
                  <a:pt x="1263" y="1084"/>
                </a:lnTo>
                <a:lnTo>
                  <a:pt x="1263" y="1093"/>
                </a:lnTo>
                <a:lnTo>
                  <a:pt x="1276" y="1093"/>
                </a:lnTo>
                <a:lnTo>
                  <a:pt x="1289" y="1093"/>
                </a:lnTo>
                <a:lnTo>
                  <a:pt x="1301" y="1093"/>
                </a:lnTo>
                <a:lnTo>
                  <a:pt x="1314" y="1093"/>
                </a:lnTo>
                <a:lnTo>
                  <a:pt x="1327" y="1101"/>
                </a:lnTo>
                <a:lnTo>
                  <a:pt x="1339" y="1101"/>
                </a:lnTo>
                <a:lnTo>
                  <a:pt x="1352" y="1101"/>
                </a:lnTo>
                <a:lnTo>
                  <a:pt x="1364" y="1101"/>
                </a:lnTo>
                <a:lnTo>
                  <a:pt x="1377" y="1101"/>
                </a:lnTo>
                <a:lnTo>
                  <a:pt x="1390" y="1110"/>
                </a:lnTo>
                <a:lnTo>
                  <a:pt x="1402" y="1110"/>
                </a:lnTo>
                <a:lnTo>
                  <a:pt x="1415" y="1110"/>
                </a:lnTo>
                <a:lnTo>
                  <a:pt x="1428" y="1110"/>
                </a:lnTo>
                <a:lnTo>
                  <a:pt x="1440" y="1110"/>
                </a:lnTo>
                <a:lnTo>
                  <a:pt x="1453" y="1110"/>
                </a:lnTo>
                <a:lnTo>
                  <a:pt x="1466" y="1110"/>
                </a:lnTo>
                <a:lnTo>
                  <a:pt x="1466" y="1119"/>
                </a:lnTo>
                <a:lnTo>
                  <a:pt x="1478" y="1119"/>
                </a:lnTo>
                <a:lnTo>
                  <a:pt x="1491" y="1119"/>
                </a:lnTo>
                <a:lnTo>
                  <a:pt x="1503" y="1119"/>
                </a:lnTo>
                <a:lnTo>
                  <a:pt x="1516" y="1119"/>
                </a:lnTo>
                <a:lnTo>
                  <a:pt x="1529" y="1119"/>
                </a:lnTo>
                <a:lnTo>
                  <a:pt x="1541" y="1119"/>
                </a:lnTo>
                <a:lnTo>
                  <a:pt x="1541" y="1136"/>
                </a:lnTo>
                <a:lnTo>
                  <a:pt x="1529" y="1136"/>
                </a:lnTo>
                <a:lnTo>
                  <a:pt x="1516" y="1136"/>
                </a:lnTo>
                <a:lnTo>
                  <a:pt x="1503" y="1136"/>
                </a:lnTo>
                <a:lnTo>
                  <a:pt x="1491" y="1136"/>
                </a:lnTo>
                <a:lnTo>
                  <a:pt x="1478" y="1136"/>
                </a:lnTo>
                <a:lnTo>
                  <a:pt x="1466" y="1136"/>
                </a:lnTo>
                <a:lnTo>
                  <a:pt x="1453" y="1136"/>
                </a:lnTo>
                <a:lnTo>
                  <a:pt x="1440" y="1136"/>
                </a:lnTo>
                <a:lnTo>
                  <a:pt x="1428" y="1136"/>
                </a:lnTo>
                <a:lnTo>
                  <a:pt x="1415" y="1136"/>
                </a:lnTo>
                <a:lnTo>
                  <a:pt x="1402" y="1136"/>
                </a:lnTo>
                <a:lnTo>
                  <a:pt x="1390" y="1136"/>
                </a:lnTo>
                <a:lnTo>
                  <a:pt x="1377" y="1136"/>
                </a:lnTo>
                <a:lnTo>
                  <a:pt x="1364" y="1136"/>
                </a:lnTo>
                <a:lnTo>
                  <a:pt x="1352" y="1136"/>
                </a:lnTo>
                <a:lnTo>
                  <a:pt x="1339" y="1136"/>
                </a:lnTo>
                <a:lnTo>
                  <a:pt x="1327" y="1136"/>
                </a:lnTo>
                <a:lnTo>
                  <a:pt x="1314" y="1136"/>
                </a:lnTo>
                <a:lnTo>
                  <a:pt x="1301" y="1136"/>
                </a:lnTo>
                <a:lnTo>
                  <a:pt x="1289" y="1136"/>
                </a:lnTo>
                <a:lnTo>
                  <a:pt x="1276" y="1136"/>
                </a:lnTo>
                <a:lnTo>
                  <a:pt x="1263" y="1136"/>
                </a:lnTo>
                <a:lnTo>
                  <a:pt x="1251" y="1136"/>
                </a:lnTo>
                <a:lnTo>
                  <a:pt x="1238" y="1136"/>
                </a:lnTo>
                <a:lnTo>
                  <a:pt x="1225" y="1136"/>
                </a:lnTo>
                <a:lnTo>
                  <a:pt x="1213" y="1136"/>
                </a:lnTo>
                <a:lnTo>
                  <a:pt x="1200" y="1136"/>
                </a:lnTo>
                <a:lnTo>
                  <a:pt x="1188" y="1136"/>
                </a:lnTo>
                <a:lnTo>
                  <a:pt x="1175" y="1136"/>
                </a:lnTo>
                <a:lnTo>
                  <a:pt x="1162" y="1136"/>
                </a:lnTo>
                <a:lnTo>
                  <a:pt x="1150" y="1136"/>
                </a:lnTo>
                <a:lnTo>
                  <a:pt x="1137" y="1136"/>
                </a:lnTo>
                <a:lnTo>
                  <a:pt x="1124" y="1136"/>
                </a:lnTo>
                <a:lnTo>
                  <a:pt x="1112" y="1136"/>
                </a:lnTo>
                <a:lnTo>
                  <a:pt x="1099" y="1136"/>
                </a:lnTo>
                <a:lnTo>
                  <a:pt x="1087" y="1136"/>
                </a:lnTo>
                <a:lnTo>
                  <a:pt x="1074" y="1136"/>
                </a:lnTo>
                <a:lnTo>
                  <a:pt x="1061" y="1136"/>
                </a:lnTo>
                <a:lnTo>
                  <a:pt x="1049" y="1136"/>
                </a:lnTo>
                <a:lnTo>
                  <a:pt x="1036" y="1136"/>
                </a:lnTo>
                <a:lnTo>
                  <a:pt x="1023" y="1136"/>
                </a:lnTo>
                <a:lnTo>
                  <a:pt x="1011" y="1136"/>
                </a:lnTo>
                <a:lnTo>
                  <a:pt x="998" y="1136"/>
                </a:lnTo>
                <a:lnTo>
                  <a:pt x="985" y="1136"/>
                </a:lnTo>
                <a:lnTo>
                  <a:pt x="973" y="1136"/>
                </a:lnTo>
                <a:lnTo>
                  <a:pt x="960" y="1136"/>
                </a:lnTo>
                <a:lnTo>
                  <a:pt x="948" y="1136"/>
                </a:lnTo>
                <a:lnTo>
                  <a:pt x="935" y="1136"/>
                </a:lnTo>
                <a:lnTo>
                  <a:pt x="922" y="1136"/>
                </a:lnTo>
                <a:lnTo>
                  <a:pt x="910" y="1136"/>
                </a:lnTo>
                <a:lnTo>
                  <a:pt x="897" y="1136"/>
                </a:lnTo>
                <a:lnTo>
                  <a:pt x="884" y="1136"/>
                </a:lnTo>
                <a:lnTo>
                  <a:pt x="872" y="1136"/>
                </a:lnTo>
                <a:lnTo>
                  <a:pt x="859" y="1136"/>
                </a:lnTo>
                <a:lnTo>
                  <a:pt x="846" y="1136"/>
                </a:lnTo>
                <a:lnTo>
                  <a:pt x="834" y="1136"/>
                </a:lnTo>
                <a:lnTo>
                  <a:pt x="821" y="1136"/>
                </a:lnTo>
                <a:lnTo>
                  <a:pt x="809" y="1136"/>
                </a:lnTo>
                <a:lnTo>
                  <a:pt x="796" y="1136"/>
                </a:lnTo>
                <a:lnTo>
                  <a:pt x="783" y="1136"/>
                </a:lnTo>
                <a:lnTo>
                  <a:pt x="771" y="1136"/>
                </a:lnTo>
                <a:lnTo>
                  <a:pt x="758" y="1136"/>
                </a:lnTo>
                <a:lnTo>
                  <a:pt x="745" y="1136"/>
                </a:lnTo>
                <a:lnTo>
                  <a:pt x="733" y="1136"/>
                </a:lnTo>
                <a:lnTo>
                  <a:pt x="720" y="1136"/>
                </a:lnTo>
                <a:lnTo>
                  <a:pt x="707" y="1136"/>
                </a:lnTo>
                <a:lnTo>
                  <a:pt x="695" y="1136"/>
                </a:lnTo>
                <a:lnTo>
                  <a:pt x="682" y="1136"/>
                </a:lnTo>
                <a:lnTo>
                  <a:pt x="670" y="1136"/>
                </a:lnTo>
                <a:lnTo>
                  <a:pt x="657" y="1136"/>
                </a:lnTo>
                <a:lnTo>
                  <a:pt x="644" y="1136"/>
                </a:lnTo>
                <a:lnTo>
                  <a:pt x="632" y="1136"/>
                </a:lnTo>
                <a:lnTo>
                  <a:pt x="619" y="1136"/>
                </a:lnTo>
                <a:lnTo>
                  <a:pt x="606" y="1136"/>
                </a:lnTo>
                <a:lnTo>
                  <a:pt x="594" y="1136"/>
                </a:lnTo>
                <a:lnTo>
                  <a:pt x="581" y="1136"/>
                </a:lnTo>
                <a:lnTo>
                  <a:pt x="569" y="1136"/>
                </a:lnTo>
                <a:lnTo>
                  <a:pt x="556" y="1136"/>
                </a:lnTo>
                <a:lnTo>
                  <a:pt x="543" y="1136"/>
                </a:lnTo>
                <a:lnTo>
                  <a:pt x="531" y="1136"/>
                </a:lnTo>
                <a:lnTo>
                  <a:pt x="518" y="1136"/>
                </a:lnTo>
                <a:lnTo>
                  <a:pt x="505" y="1136"/>
                </a:lnTo>
                <a:lnTo>
                  <a:pt x="493" y="1136"/>
                </a:lnTo>
                <a:lnTo>
                  <a:pt x="480" y="1136"/>
                </a:lnTo>
                <a:lnTo>
                  <a:pt x="467" y="1136"/>
                </a:lnTo>
                <a:lnTo>
                  <a:pt x="455" y="1136"/>
                </a:lnTo>
                <a:lnTo>
                  <a:pt x="442" y="1136"/>
                </a:lnTo>
                <a:lnTo>
                  <a:pt x="430" y="1136"/>
                </a:lnTo>
                <a:lnTo>
                  <a:pt x="417" y="1136"/>
                </a:lnTo>
                <a:lnTo>
                  <a:pt x="404" y="1136"/>
                </a:lnTo>
                <a:lnTo>
                  <a:pt x="392" y="1136"/>
                </a:lnTo>
                <a:lnTo>
                  <a:pt x="379" y="1136"/>
                </a:lnTo>
                <a:lnTo>
                  <a:pt x="366" y="1136"/>
                </a:lnTo>
                <a:lnTo>
                  <a:pt x="354" y="1136"/>
                </a:lnTo>
                <a:lnTo>
                  <a:pt x="341" y="1136"/>
                </a:lnTo>
                <a:lnTo>
                  <a:pt x="328" y="1136"/>
                </a:lnTo>
                <a:lnTo>
                  <a:pt x="316" y="1136"/>
                </a:lnTo>
                <a:lnTo>
                  <a:pt x="303" y="1136"/>
                </a:lnTo>
                <a:lnTo>
                  <a:pt x="291" y="1136"/>
                </a:lnTo>
                <a:lnTo>
                  <a:pt x="278" y="1136"/>
                </a:lnTo>
                <a:lnTo>
                  <a:pt x="265" y="1136"/>
                </a:lnTo>
                <a:lnTo>
                  <a:pt x="253" y="1136"/>
                </a:lnTo>
                <a:lnTo>
                  <a:pt x="240" y="1136"/>
                </a:lnTo>
                <a:lnTo>
                  <a:pt x="227" y="1136"/>
                </a:lnTo>
                <a:lnTo>
                  <a:pt x="215" y="1136"/>
                </a:lnTo>
                <a:lnTo>
                  <a:pt x="202" y="1136"/>
                </a:lnTo>
                <a:lnTo>
                  <a:pt x="190" y="1136"/>
                </a:lnTo>
                <a:lnTo>
                  <a:pt x="177" y="1136"/>
                </a:lnTo>
                <a:lnTo>
                  <a:pt x="164" y="1136"/>
                </a:lnTo>
                <a:lnTo>
                  <a:pt x="152" y="1136"/>
                </a:lnTo>
                <a:lnTo>
                  <a:pt x="139" y="1136"/>
                </a:lnTo>
                <a:lnTo>
                  <a:pt x="126" y="1136"/>
                </a:lnTo>
                <a:lnTo>
                  <a:pt x="114" y="1136"/>
                </a:lnTo>
                <a:lnTo>
                  <a:pt x="101" y="1136"/>
                </a:lnTo>
                <a:lnTo>
                  <a:pt x="88" y="1136"/>
                </a:lnTo>
                <a:lnTo>
                  <a:pt x="76" y="1136"/>
                </a:lnTo>
                <a:lnTo>
                  <a:pt x="63" y="1136"/>
                </a:lnTo>
                <a:lnTo>
                  <a:pt x="51" y="1136"/>
                </a:lnTo>
                <a:lnTo>
                  <a:pt x="38" y="1136"/>
                </a:lnTo>
                <a:lnTo>
                  <a:pt x="25" y="1136"/>
                </a:lnTo>
                <a:lnTo>
                  <a:pt x="13" y="1136"/>
                </a:lnTo>
                <a:lnTo>
                  <a:pt x="0" y="1136"/>
                </a:lnTo>
                <a:lnTo>
                  <a:pt x="0" y="0"/>
                </a:lnTo>
                <a:close/>
              </a:path>
            </a:pathLst>
          </a:custGeom>
          <a:solidFill>
            <a:srgbClr val="FFFFFF"/>
          </a:solidFill>
          <a:ln w="60325">
            <a:solidFill>
              <a:srgbClr val="000080"/>
            </a:solidFill>
            <a:round/>
            <a:headEnd/>
            <a:tailEnd/>
          </a:ln>
        </p:spPr>
        <p:txBody>
          <a:bodyPr/>
          <a:lstStyle/>
          <a:p>
            <a:endParaRPr lang="en-US"/>
          </a:p>
        </p:txBody>
      </p:sp>
      <p:sp>
        <p:nvSpPr>
          <p:cNvPr id="15369" name="Line 9"/>
          <p:cNvSpPr>
            <a:spLocks noChangeShapeType="1"/>
          </p:cNvSpPr>
          <p:nvPr/>
        </p:nvSpPr>
        <p:spPr bwMode="auto">
          <a:xfrm>
            <a:off x="984250" y="5329238"/>
            <a:ext cx="7119938"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370" name="Line 10"/>
          <p:cNvSpPr>
            <a:spLocks noChangeShapeType="1"/>
          </p:cNvSpPr>
          <p:nvPr/>
        </p:nvSpPr>
        <p:spPr bwMode="auto">
          <a:xfrm flipV="1">
            <a:off x="984250" y="5232400"/>
            <a:ext cx="1588" cy="1936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371" name="Line 11"/>
          <p:cNvSpPr>
            <a:spLocks noChangeShapeType="1"/>
          </p:cNvSpPr>
          <p:nvPr/>
        </p:nvSpPr>
        <p:spPr bwMode="auto">
          <a:xfrm flipV="1">
            <a:off x="2147888" y="5232400"/>
            <a:ext cx="1587" cy="1936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372" name="Line 12"/>
          <p:cNvSpPr>
            <a:spLocks noChangeShapeType="1"/>
          </p:cNvSpPr>
          <p:nvPr/>
        </p:nvSpPr>
        <p:spPr bwMode="auto">
          <a:xfrm flipV="1">
            <a:off x="3290888" y="5232400"/>
            <a:ext cx="1587" cy="1936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373" name="Line 13"/>
          <p:cNvSpPr>
            <a:spLocks noChangeShapeType="1"/>
          </p:cNvSpPr>
          <p:nvPr/>
        </p:nvSpPr>
        <p:spPr bwMode="auto">
          <a:xfrm flipV="1">
            <a:off x="4454525" y="5232400"/>
            <a:ext cx="1588" cy="1936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374" name="Line 14"/>
          <p:cNvSpPr>
            <a:spLocks noChangeShapeType="1"/>
          </p:cNvSpPr>
          <p:nvPr/>
        </p:nvSpPr>
        <p:spPr bwMode="auto">
          <a:xfrm flipV="1">
            <a:off x="5618163" y="5232400"/>
            <a:ext cx="1587" cy="1936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375" name="Line 15"/>
          <p:cNvSpPr>
            <a:spLocks noChangeShapeType="1"/>
          </p:cNvSpPr>
          <p:nvPr/>
        </p:nvSpPr>
        <p:spPr bwMode="auto">
          <a:xfrm flipV="1">
            <a:off x="6780213" y="5232400"/>
            <a:ext cx="1587" cy="1936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376" name="Line 16"/>
          <p:cNvSpPr>
            <a:spLocks noChangeShapeType="1"/>
          </p:cNvSpPr>
          <p:nvPr/>
        </p:nvSpPr>
        <p:spPr bwMode="auto">
          <a:xfrm flipV="1">
            <a:off x="7924800" y="5232400"/>
            <a:ext cx="1588" cy="1936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377" name="Rectangle 17"/>
          <p:cNvSpPr>
            <a:spLocks noChangeArrowheads="1"/>
          </p:cNvSpPr>
          <p:nvPr/>
        </p:nvSpPr>
        <p:spPr bwMode="auto">
          <a:xfrm>
            <a:off x="4271963" y="5305425"/>
            <a:ext cx="384175"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wrap="none" lIns="90488" tIns="44450" rIns="90488" bIns="4445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b="1" i="0">
                <a:solidFill>
                  <a:schemeClr val="bg2"/>
                </a:solidFill>
                <a:latin typeface="Times New Roman" pitchFamily="18" charset="0"/>
              </a:rPr>
              <a:t>0</a:t>
            </a:r>
          </a:p>
        </p:txBody>
      </p:sp>
      <p:sp>
        <p:nvSpPr>
          <p:cNvPr id="15378" name="Rectangle 18"/>
          <p:cNvSpPr>
            <a:spLocks noChangeArrowheads="1"/>
          </p:cNvSpPr>
          <p:nvPr/>
        </p:nvSpPr>
        <p:spPr bwMode="auto">
          <a:xfrm>
            <a:off x="5208588" y="5318125"/>
            <a:ext cx="1298575"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wrap="none" lIns="90488" tIns="44450" rIns="90488" bIns="4445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i="0">
                <a:solidFill>
                  <a:schemeClr val="bg2"/>
                </a:solidFill>
                <a:latin typeface="Times New Roman" pitchFamily="18" charset="0"/>
              </a:rPr>
              <a:t>1.8125</a:t>
            </a:r>
          </a:p>
        </p:txBody>
      </p:sp>
      <p:sp>
        <p:nvSpPr>
          <p:cNvPr id="15379" name="Rectangle 19"/>
          <p:cNvSpPr>
            <a:spLocks noGrp="1" noChangeArrowheads="1"/>
          </p:cNvSpPr>
          <p:nvPr>
            <p:ph type="title"/>
          </p:nvPr>
        </p:nvSpPr>
        <p:spPr>
          <a:xfrm>
            <a:off x="533400" y="0"/>
            <a:ext cx="8001000" cy="1143000"/>
          </a:xfrm>
          <a:noFill/>
        </p:spPr>
        <p:txBody>
          <a:bodyPr/>
          <a:lstStyle/>
          <a:p>
            <a:r>
              <a:rPr lang="en-US" altLang="en-US" dirty="0" smtClean="0">
                <a:solidFill>
                  <a:srgbClr val="FF0000"/>
                </a:solidFill>
              </a:rPr>
              <a:t>Student’s t Distribution </a:t>
            </a:r>
          </a:p>
        </p:txBody>
      </p:sp>
      <p:sp>
        <p:nvSpPr>
          <p:cNvPr id="15380" name="Line 20"/>
          <p:cNvSpPr>
            <a:spLocks noChangeShapeType="1"/>
          </p:cNvSpPr>
          <p:nvPr/>
        </p:nvSpPr>
        <p:spPr bwMode="auto">
          <a:xfrm>
            <a:off x="4495800" y="2362200"/>
            <a:ext cx="0" cy="2971800"/>
          </a:xfrm>
          <a:prstGeom prst="line">
            <a:avLst/>
          </a:prstGeom>
          <a:noFill/>
          <a:ln w="76200">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5381" name="Rectangle 21"/>
          <p:cNvSpPr>
            <a:spLocks noChangeArrowheads="1"/>
          </p:cNvSpPr>
          <p:nvPr/>
        </p:nvSpPr>
        <p:spPr bwMode="auto">
          <a:xfrm>
            <a:off x="5029200" y="2403475"/>
            <a:ext cx="3290888" cy="588963"/>
          </a:xfrm>
          <a:prstGeom prst="rect">
            <a:avLst/>
          </a:prstGeom>
          <a:solidFill>
            <a:srgbClr val="FDE3BA"/>
          </a:solidFill>
          <a:ln w="12700">
            <a:solidFill>
              <a:schemeClr val="tx2"/>
            </a:solidFill>
            <a:miter lim="800000"/>
            <a:headEnd/>
            <a:tailEnd/>
          </a:ln>
        </p:spPr>
        <p:txBody>
          <a:bodyPr wrap="none" lIns="90488" tIns="44450" rIns="90488" bIns="4445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i="0">
                <a:solidFill>
                  <a:schemeClr val="bg2"/>
                </a:solidFill>
                <a:latin typeface="Times New Roman" pitchFamily="18" charset="0"/>
              </a:rPr>
              <a:t>P(t &gt; 1.8125) = .05</a:t>
            </a:r>
          </a:p>
        </p:txBody>
      </p:sp>
      <p:sp>
        <p:nvSpPr>
          <p:cNvPr id="15382" name="Line 23"/>
          <p:cNvSpPr>
            <a:spLocks noChangeShapeType="1"/>
          </p:cNvSpPr>
          <p:nvPr/>
        </p:nvSpPr>
        <p:spPr bwMode="auto">
          <a:xfrm>
            <a:off x="3284538" y="3654425"/>
            <a:ext cx="0" cy="1701800"/>
          </a:xfrm>
          <a:prstGeom prst="line">
            <a:avLst/>
          </a:prstGeom>
          <a:noFill/>
          <a:ln w="57150">
            <a:solidFill>
              <a:srgbClr val="000099"/>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5383" name="Rectangle 24"/>
          <p:cNvSpPr>
            <a:spLocks noChangeArrowheads="1"/>
          </p:cNvSpPr>
          <p:nvPr/>
        </p:nvSpPr>
        <p:spPr bwMode="auto">
          <a:xfrm>
            <a:off x="2590800" y="5318125"/>
            <a:ext cx="1433513"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wrap="none" lIns="90488" tIns="44450" rIns="90488" bIns="4445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i="0">
                <a:solidFill>
                  <a:schemeClr val="bg2"/>
                </a:solidFill>
                <a:latin typeface="Times New Roman" pitchFamily="18" charset="0"/>
              </a:rPr>
              <a:t>-1.8125</a:t>
            </a:r>
          </a:p>
        </p:txBody>
      </p:sp>
      <p:sp>
        <p:nvSpPr>
          <p:cNvPr id="15384" name="Rectangle 25"/>
          <p:cNvSpPr>
            <a:spLocks noChangeArrowheads="1"/>
          </p:cNvSpPr>
          <p:nvPr/>
        </p:nvSpPr>
        <p:spPr bwMode="auto">
          <a:xfrm>
            <a:off x="5929313" y="4772025"/>
            <a:ext cx="688975"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wrap="none" lIns="90488" tIns="44450" rIns="90488" bIns="4445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i="0">
                <a:solidFill>
                  <a:schemeClr val="bg2"/>
                </a:solidFill>
                <a:latin typeface="Times New Roman" pitchFamily="18" charset="0"/>
              </a:rPr>
              <a:t>.05</a:t>
            </a:r>
          </a:p>
        </p:txBody>
      </p:sp>
      <p:sp>
        <p:nvSpPr>
          <p:cNvPr id="15385" name="Freeform 26"/>
          <p:cNvSpPr>
            <a:spLocks/>
          </p:cNvSpPr>
          <p:nvPr/>
        </p:nvSpPr>
        <p:spPr bwMode="auto">
          <a:xfrm flipH="1">
            <a:off x="990600" y="3581400"/>
            <a:ext cx="2286000" cy="1752600"/>
          </a:xfrm>
          <a:custGeom>
            <a:avLst/>
            <a:gdLst>
              <a:gd name="T0" fmla="*/ 2147483647 w 1536"/>
              <a:gd name="T1" fmla="*/ 2147483647 h 1135"/>
              <a:gd name="T2" fmla="*/ 2147483647 w 1536"/>
              <a:gd name="T3" fmla="*/ 2147483647 h 1135"/>
              <a:gd name="T4" fmla="*/ 2147483647 w 1536"/>
              <a:gd name="T5" fmla="*/ 2147483647 h 1135"/>
              <a:gd name="T6" fmla="*/ 2147483647 w 1536"/>
              <a:gd name="T7" fmla="*/ 2147483647 h 1135"/>
              <a:gd name="T8" fmla="*/ 2147483647 w 1536"/>
              <a:gd name="T9" fmla="*/ 2147483647 h 1135"/>
              <a:gd name="T10" fmla="*/ 2147483647 w 1536"/>
              <a:gd name="T11" fmla="*/ 2147483647 h 1135"/>
              <a:gd name="T12" fmla="*/ 2147483647 w 1536"/>
              <a:gd name="T13" fmla="*/ 2147483647 h 1135"/>
              <a:gd name="T14" fmla="*/ 2147483647 w 1536"/>
              <a:gd name="T15" fmla="*/ 2147483647 h 1135"/>
              <a:gd name="T16" fmla="*/ 2147483647 w 1536"/>
              <a:gd name="T17" fmla="*/ 2147483647 h 1135"/>
              <a:gd name="T18" fmla="*/ 2147483647 w 1536"/>
              <a:gd name="T19" fmla="*/ 2147483647 h 1135"/>
              <a:gd name="T20" fmla="*/ 2147483647 w 1536"/>
              <a:gd name="T21" fmla="*/ 2147483647 h 1135"/>
              <a:gd name="T22" fmla="*/ 2147483647 w 1536"/>
              <a:gd name="T23" fmla="*/ 2147483647 h 1135"/>
              <a:gd name="T24" fmla="*/ 2147483647 w 1536"/>
              <a:gd name="T25" fmla="*/ 2147483647 h 1135"/>
              <a:gd name="T26" fmla="*/ 2147483647 w 1536"/>
              <a:gd name="T27" fmla="*/ 2147483647 h 1135"/>
              <a:gd name="T28" fmla="*/ 2147483647 w 1536"/>
              <a:gd name="T29" fmla="*/ 2147483647 h 1135"/>
              <a:gd name="T30" fmla="*/ 2147483647 w 1536"/>
              <a:gd name="T31" fmla="*/ 2147483647 h 1135"/>
              <a:gd name="T32" fmla="*/ 2147483647 w 1536"/>
              <a:gd name="T33" fmla="*/ 2147483647 h 1135"/>
              <a:gd name="T34" fmla="*/ 2147483647 w 1536"/>
              <a:gd name="T35" fmla="*/ 2147483647 h 1135"/>
              <a:gd name="T36" fmla="*/ 2147483647 w 1536"/>
              <a:gd name="T37" fmla="*/ 2147483647 h 1135"/>
              <a:gd name="T38" fmla="*/ 2147483647 w 1536"/>
              <a:gd name="T39" fmla="*/ 2147483647 h 1135"/>
              <a:gd name="T40" fmla="*/ 2147483647 w 1536"/>
              <a:gd name="T41" fmla="*/ 2147483647 h 1135"/>
              <a:gd name="T42" fmla="*/ 2147483647 w 1536"/>
              <a:gd name="T43" fmla="*/ 2147483647 h 1135"/>
              <a:gd name="T44" fmla="*/ 2147483647 w 1536"/>
              <a:gd name="T45" fmla="*/ 2147483647 h 1135"/>
              <a:gd name="T46" fmla="*/ 2147483647 w 1536"/>
              <a:gd name="T47" fmla="*/ 2147483647 h 1135"/>
              <a:gd name="T48" fmla="*/ 2147483647 w 1536"/>
              <a:gd name="T49" fmla="*/ 2147483647 h 1135"/>
              <a:gd name="T50" fmla="*/ 2147483647 w 1536"/>
              <a:gd name="T51" fmla="*/ 2147483647 h 1135"/>
              <a:gd name="T52" fmla="*/ 2147483647 w 1536"/>
              <a:gd name="T53" fmla="*/ 2147483647 h 1135"/>
              <a:gd name="T54" fmla="*/ 2147483647 w 1536"/>
              <a:gd name="T55" fmla="*/ 2147483647 h 1135"/>
              <a:gd name="T56" fmla="*/ 2147483647 w 1536"/>
              <a:gd name="T57" fmla="*/ 2147483647 h 1135"/>
              <a:gd name="T58" fmla="*/ 2147483647 w 1536"/>
              <a:gd name="T59" fmla="*/ 2147483647 h 1135"/>
              <a:gd name="T60" fmla="*/ 2147483647 w 1536"/>
              <a:gd name="T61" fmla="*/ 2147483647 h 1135"/>
              <a:gd name="T62" fmla="*/ 2147483647 w 1536"/>
              <a:gd name="T63" fmla="*/ 2147483647 h 1135"/>
              <a:gd name="T64" fmla="*/ 2147483647 w 1536"/>
              <a:gd name="T65" fmla="*/ 2147483647 h 1135"/>
              <a:gd name="T66" fmla="*/ 2147483647 w 1536"/>
              <a:gd name="T67" fmla="*/ 2147483647 h 1135"/>
              <a:gd name="T68" fmla="*/ 2147483647 w 1536"/>
              <a:gd name="T69" fmla="*/ 2147483647 h 1135"/>
              <a:gd name="T70" fmla="*/ 2147483647 w 1536"/>
              <a:gd name="T71" fmla="*/ 2147483647 h 1135"/>
              <a:gd name="T72" fmla="*/ 2147483647 w 1536"/>
              <a:gd name="T73" fmla="*/ 2147483647 h 1135"/>
              <a:gd name="T74" fmla="*/ 2147483647 w 1536"/>
              <a:gd name="T75" fmla="*/ 2147483647 h 1135"/>
              <a:gd name="T76" fmla="*/ 2147483647 w 1536"/>
              <a:gd name="T77" fmla="*/ 2147483647 h 1135"/>
              <a:gd name="T78" fmla="*/ 2147483647 w 1536"/>
              <a:gd name="T79" fmla="*/ 2147483647 h 1135"/>
              <a:gd name="T80" fmla="*/ 2147483647 w 1536"/>
              <a:gd name="T81" fmla="*/ 2147483647 h 1135"/>
              <a:gd name="T82" fmla="*/ 2147483647 w 1536"/>
              <a:gd name="T83" fmla="*/ 2147483647 h 1135"/>
              <a:gd name="T84" fmla="*/ 2147483647 w 1536"/>
              <a:gd name="T85" fmla="*/ 2147483647 h 1135"/>
              <a:gd name="T86" fmla="*/ 2147483647 w 1536"/>
              <a:gd name="T87" fmla="*/ 2147483647 h 1135"/>
              <a:gd name="T88" fmla="*/ 2147483647 w 1536"/>
              <a:gd name="T89" fmla="*/ 2147483647 h 1135"/>
              <a:gd name="T90" fmla="*/ 2147483647 w 1536"/>
              <a:gd name="T91" fmla="*/ 2147483647 h 1135"/>
              <a:gd name="T92" fmla="*/ 2147483647 w 1536"/>
              <a:gd name="T93" fmla="*/ 2147483647 h 1135"/>
              <a:gd name="T94" fmla="*/ 2147483647 w 1536"/>
              <a:gd name="T95" fmla="*/ 2147483647 h 1135"/>
              <a:gd name="T96" fmla="*/ 2147483647 w 1536"/>
              <a:gd name="T97" fmla="*/ 2147483647 h 1135"/>
              <a:gd name="T98" fmla="*/ 2147483647 w 1536"/>
              <a:gd name="T99" fmla="*/ 2147483647 h 1135"/>
              <a:gd name="T100" fmla="*/ 2147483647 w 1536"/>
              <a:gd name="T101" fmla="*/ 2147483647 h 1135"/>
              <a:gd name="T102" fmla="*/ 2147483647 w 1536"/>
              <a:gd name="T103" fmla="*/ 2147483647 h 1135"/>
              <a:gd name="T104" fmla="*/ 2147483647 w 1536"/>
              <a:gd name="T105" fmla="*/ 2147483647 h 1135"/>
              <a:gd name="T106" fmla="*/ 2147483647 w 1536"/>
              <a:gd name="T107" fmla="*/ 2147483647 h 1135"/>
              <a:gd name="T108" fmla="*/ 2147483647 w 1536"/>
              <a:gd name="T109" fmla="*/ 2147483647 h 1135"/>
              <a:gd name="T110" fmla="*/ 2147483647 w 1536"/>
              <a:gd name="T111" fmla="*/ 2147483647 h 1135"/>
              <a:gd name="T112" fmla="*/ 2147483647 w 1536"/>
              <a:gd name="T113" fmla="*/ 2147483647 h 1135"/>
              <a:gd name="T114" fmla="*/ 2147483647 w 1536"/>
              <a:gd name="T115" fmla="*/ 2147483647 h 1135"/>
              <a:gd name="T116" fmla="*/ 2147483647 w 1536"/>
              <a:gd name="T117" fmla="*/ 2147483647 h 1135"/>
              <a:gd name="T118" fmla="*/ 0 w 1536"/>
              <a:gd name="T119" fmla="*/ 2147483647 h 1135"/>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1536"/>
              <a:gd name="T181" fmla="*/ 0 h 1135"/>
              <a:gd name="T182" fmla="*/ 1536 w 1536"/>
              <a:gd name="T183" fmla="*/ 1135 h 1135"/>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1536" h="1135">
                <a:moveTo>
                  <a:pt x="0" y="0"/>
                </a:moveTo>
                <a:lnTo>
                  <a:pt x="6" y="11"/>
                </a:lnTo>
                <a:lnTo>
                  <a:pt x="14" y="22"/>
                </a:lnTo>
                <a:lnTo>
                  <a:pt x="20" y="33"/>
                </a:lnTo>
                <a:lnTo>
                  <a:pt x="28" y="44"/>
                </a:lnTo>
                <a:lnTo>
                  <a:pt x="36" y="55"/>
                </a:lnTo>
                <a:lnTo>
                  <a:pt x="42" y="68"/>
                </a:lnTo>
                <a:lnTo>
                  <a:pt x="50" y="79"/>
                </a:lnTo>
                <a:lnTo>
                  <a:pt x="58" y="90"/>
                </a:lnTo>
                <a:lnTo>
                  <a:pt x="65" y="101"/>
                </a:lnTo>
                <a:lnTo>
                  <a:pt x="73" y="112"/>
                </a:lnTo>
                <a:lnTo>
                  <a:pt x="81" y="123"/>
                </a:lnTo>
                <a:lnTo>
                  <a:pt x="87" y="134"/>
                </a:lnTo>
                <a:lnTo>
                  <a:pt x="95" y="146"/>
                </a:lnTo>
                <a:lnTo>
                  <a:pt x="101" y="157"/>
                </a:lnTo>
                <a:lnTo>
                  <a:pt x="109" y="168"/>
                </a:lnTo>
                <a:lnTo>
                  <a:pt x="117" y="179"/>
                </a:lnTo>
                <a:lnTo>
                  <a:pt x="123" y="190"/>
                </a:lnTo>
                <a:lnTo>
                  <a:pt x="131" y="201"/>
                </a:lnTo>
                <a:lnTo>
                  <a:pt x="139" y="212"/>
                </a:lnTo>
                <a:lnTo>
                  <a:pt x="145" y="223"/>
                </a:lnTo>
                <a:lnTo>
                  <a:pt x="153" y="234"/>
                </a:lnTo>
                <a:lnTo>
                  <a:pt x="162" y="245"/>
                </a:lnTo>
                <a:lnTo>
                  <a:pt x="168" y="257"/>
                </a:lnTo>
                <a:lnTo>
                  <a:pt x="176" y="266"/>
                </a:lnTo>
                <a:lnTo>
                  <a:pt x="182" y="277"/>
                </a:lnTo>
                <a:lnTo>
                  <a:pt x="190" y="289"/>
                </a:lnTo>
                <a:lnTo>
                  <a:pt x="198" y="300"/>
                </a:lnTo>
                <a:lnTo>
                  <a:pt x="204" y="309"/>
                </a:lnTo>
                <a:lnTo>
                  <a:pt x="212" y="320"/>
                </a:lnTo>
                <a:lnTo>
                  <a:pt x="220" y="330"/>
                </a:lnTo>
                <a:lnTo>
                  <a:pt x="226" y="341"/>
                </a:lnTo>
                <a:lnTo>
                  <a:pt x="234" y="351"/>
                </a:lnTo>
                <a:lnTo>
                  <a:pt x="242" y="362"/>
                </a:lnTo>
                <a:lnTo>
                  <a:pt x="249" y="372"/>
                </a:lnTo>
                <a:lnTo>
                  <a:pt x="257" y="383"/>
                </a:lnTo>
                <a:lnTo>
                  <a:pt x="263" y="393"/>
                </a:lnTo>
                <a:lnTo>
                  <a:pt x="271" y="402"/>
                </a:lnTo>
                <a:lnTo>
                  <a:pt x="279" y="412"/>
                </a:lnTo>
                <a:lnTo>
                  <a:pt x="285" y="422"/>
                </a:lnTo>
                <a:lnTo>
                  <a:pt x="293" y="433"/>
                </a:lnTo>
                <a:lnTo>
                  <a:pt x="301" y="443"/>
                </a:lnTo>
                <a:lnTo>
                  <a:pt x="307" y="452"/>
                </a:lnTo>
                <a:lnTo>
                  <a:pt x="315" y="462"/>
                </a:lnTo>
                <a:lnTo>
                  <a:pt x="323" y="472"/>
                </a:lnTo>
                <a:lnTo>
                  <a:pt x="329" y="480"/>
                </a:lnTo>
                <a:lnTo>
                  <a:pt x="337" y="490"/>
                </a:lnTo>
                <a:lnTo>
                  <a:pt x="346" y="499"/>
                </a:lnTo>
                <a:lnTo>
                  <a:pt x="352" y="509"/>
                </a:lnTo>
                <a:lnTo>
                  <a:pt x="360" y="518"/>
                </a:lnTo>
                <a:lnTo>
                  <a:pt x="366" y="527"/>
                </a:lnTo>
                <a:lnTo>
                  <a:pt x="374" y="536"/>
                </a:lnTo>
                <a:lnTo>
                  <a:pt x="382" y="545"/>
                </a:lnTo>
                <a:lnTo>
                  <a:pt x="388" y="554"/>
                </a:lnTo>
                <a:lnTo>
                  <a:pt x="396" y="563"/>
                </a:lnTo>
                <a:lnTo>
                  <a:pt x="404" y="572"/>
                </a:lnTo>
                <a:lnTo>
                  <a:pt x="410" y="580"/>
                </a:lnTo>
                <a:lnTo>
                  <a:pt x="418" y="590"/>
                </a:lnTo>
                <a:lnTo>
                  <a:pt x="426" y="598"/>
                </a:lnTo>
                <a:lnTo>
                  <a:pt x="432" y="606"/>
                </a:lnTo>
                <a:lnTo>
                  <a:pt x="441" y="615"/>
                </a:lnTo>
                <a:lnTo>
                  <a:pt x="447" y="623"/>
                </a:lnTo>
                <a:lnTo>
                  <a:pt x="455" y="631"/>
                </a:lnTo>
                <a:lnTo>
                  <a:pt x="463" y="640"/>
                </a:lnTo>
                <a:lnTo>
                  <a:pt x="469" y="647"/>
                </a:lnTo>
                <a:lnTo>
                  <a:pt x="477" y="655"/>
                </a:lnTo>
                <a:lnTo>
                  <a:pt x="485" y="663"/>
                </a:lnTo>
                <a:lnTo>
                  <a:pt x="491" y="670"/>
                </a:lnTo>
                <a:lnTo>
                  <a:pt x="499" y="679"/>
                </a:lnTo>
                <a:lnTo>
                  <a:pt x="507" y="685"/>
                </a:lnTo>
                <a:lnTo>
                  <a:pt x="513" y="694"/>
                </a:lnTo>
                <a:lnTo>
                  <a:pt x="521" y="701"/>
                </a:lnTo>
                <a:lnTo>
                  <a:pt x="527" y="709"/>
                </a:lnTo>
                <a:lnTo>
                  <a:pt x="536" y="716"/>
                </a:lnTo>
                <a:lnTo>
                  <a:pt x="544" y="723"/>
                </a:lnTo>
                <a:lnTo>
                  <a:pt x="550" y="730"/>
                </a:lnTo>
                <a:lnTo>
                  <a:pt x="558" y="737"/>
                </a:lnTo>
                <a:lnTo>
                  <a:pt x="566" y="744"/>
                </a:lnTo>
                <a:lnTo>
                  <a:pt x="572" y="751"/>
                </a:lnTo>
                <a:lnTo>
                  <a:pt x="580" y="758"/>
                </a:lnTo>
                <a:lnTo>
                  <a:pt x="588" y="765"/>
                </a:lnTo>
                <a:lnTo>
                  <a:pt x="594" y="772"/>
                </a:lnTo>
                <a:lnTo>
                  <a:pt x="602" y="777"/>
                </a:lnTo>
                <a:lnTo>
                  <a:pt x="610" y="784"/>
                </a:lnTo>
                <a:lnTo>
                  <a:pt x="616" y="791"/>
                </a:lnTo>
                <a:lnTo>
                  <a:pt x="625" y="797"/>
                </a:lnTo>
                <a:lnTo>
                  <a:pt x="631" y="803"/>
                </a:lnTo>
                <a:lnTo>
                  <a:pt x="639" y="809"/>
                </a:lnTo>
                <a:lnTo>
                  <a:pt x="647" y="816"/>
                </a:lnTo>
                <a:lnTo>
                  <a:pt x="653" y="822"/>
                </a:lnTo>
                <a:lnTo>
                  <a:pt x="661" y="827"/>
                </a:lnTo>
                <a:lnTo>
                  <a:pt x="669" y="833"/>
                </a:lnTo>
                <a:lnTo>
                  <a:pt x="675" y="838"/>
                </a:lnTo>
                <a:lnTo>
                  <a:pt x="683" y="844"/>
                </a:lnTo>
                <a:lnTo>
                  <a:pt x="691" y="849"/>
                </a:lnTo>
                <a:lnTo>
                  <a:pt x="697" y="855"/>
                </a:lnTo>
                <a:lnTo>
                  <a:pt x="705" y="860"/>
                </a:lnTo>
                <a:lnTo>
                  <a:pt x="711" y="866"/>
                </a:lnTo>
                <a:lnTo>
                  <a:pt x="720" y="871"/>
                </a:lnTo>
                <a:lnTo>
                  <a:pt x="728" y="877"/>
                </a:lnTo>
                <a:lnTo>
                  <a:pt x="734" y="881"/>
                </a:lnTo>
                <a:lnTo>
                  <a:pt x="742" y="887"/>
                </a:lnTo>
                <a:lnTo>
                  <a:pt x="750" y="892"/>
                </a:lnTo>
                <a:lnTo>
                  <a:pt x="756" y="896"/>
                </a:lnTo>
                <a:lnTo>
                  <a:pt x="764" y="902"/>
                </a:lnTo>
                <a:lnTo>
                  <a:pt x="772" y="906"/>
                </a:lnTo>
                <a:lnTo>
                  <a:pt x="778" y="910"/>
                </a:lnTo>
                <a:lnTo>
                  <a:pt x="786" y="916"/>
                </a:lnTo>
                <a:lnTo>
                  <a:pt x="792" y="920"/>
                </a:lnTo>
                <a:lnTo>
                  <a:pt x="800" y="924"/>
                </a:lnTo>
                <a:lnTo>
                  <a:pt x="808" y="928"/>
                </a:lnTo>
                <a:lnTo>
                  <a:pt x="815" y="933"/>
                </a:lnTo>
                <a:lnTo>
                  <a:pt x="823" y="937"/>
                </a:lnTo>
                <a:lnTo>
                  <a:pt x="831" y="941"/>
                </a:lnTo>
                <a:lnTo>
                  <a:pt x="837" y="945"/>
                </a:lnTo>
                <a:lnTo>
                  <a:pt x="845" y="949"/>
                </a:lnTo>
                <a:lnTo>
                  <a:pt x="853" y="953"/>
                </a:lnTo>
                <a:lnTo>
                  <a:pt x="859" y="958"/>
                </a:lnTo>
                <a:lnTo>
                  <a:pt x="867" y="962"/>
                </a:lnTo>
                <a:lnTo>
                  <a:pt x="875" y="964"/>
                </a:lnTo>
                <a:lnTo>
                  <a:pt x="881" y="969"/>
                </a:lnTo>
                <a:lnTo>
                  <a:pt x="889" y="973"/>
                </a:lnTo>
                <a:lnTo>
                  <a:pt x="895" y="976"/>
                </a:lnTo>
                <a:lnTo>
                  <a:pt x="904" y="980"/>
                </a:lnTo>
                <a:lnTo>
                  <a:pt x="912" y="983"/>
                </a:lnTo>
                <a:lnTo>
                  <a:pt x="918" y="987"/>
                </a:lnTo>
                <a:lnTo>
                  <a:pt x="926" y="989"/>
                </a:lnTo>
                <a:lnTo>
                  <a:pt x="934" y="992"/>
                </a:lnTo>
                <a:lnTo>
                  <a:pt x="940" y="996"/>
                </a:lnTo>
                <a:lnTo>
                  <a:pt x="948" y="999"/>
                </a:lnTo>
                <a:lnTo>
                  <a:pt x="956" y="1002"/>
                </a:lnTo>
                <a:lnTo>
                  <a:pt x="962" y="1005"/>
                </a:lnTo>
                <a:lnTo>
                  <a:pt x="970" y="1009"/>
                </a:lnTo>
                <a:lnTo>
                  <a:pt x="976" y="1012"/>
                </a:lnTo>
                <a:lnTo>
                  <a:pt x="984" y="1014"/>
                </a:lnTo>
                <a:lnTo>
                  <a:pt x="992" y="1017"/>
                </a:lnTo>
                <a:lnTo>
                  <a:pt x="999" y="1020"/>
                </a:lnTo>
                <a:lnTo>
                  <a:pt x="1007" y="1023"/>
                </a:lnTo>
                <a:lnTo>
                  <a:pt x="1015" y="1026"/>
                </a:lnTo>
                <a:lnTo>
                  <a:pt x="1021" y="1027"/>
                </a:lnTo>
                <a:lnTo>
                  <a:pt x="1029" y="1030"/>
                </a:lnTo>
                <a:lnTo>
                  <a:pt x="1037" y="1032"/>
                </a:lnTo>
                <a:lnTo>
                  <a:pt x="1043" y="1035"/>
                </a:lnTo>
                <a:lnTo>
                  <a:pt x="1051" y="1038"/>
                </a:lnTo>
                <a:lnTo>
                  <a:pt x="1057" y="1039"/>
                </a:lnTo>
                <a:lnTo>
                  <a:pt x="1065" y="1042"/>
                </a:lnTo>
                <a:lnTo>
                  <a:pt x="1073" y="1045"/>
                </a:lnTo>
                <a:lnTo>
                  <a:pt x="1079" y="1046"/>
                </a:lnTo>
                <a:lnTo>
                  <a:pt x="1087" y="1049"/>
                </a:lnTo>
                <a:lnTo>
                  <a:pt x="1096" y="1051"/>
                </a:lnTo>
                <a:lnTo>
                  <a:pt x="1102" y="1053"/>
                </a:lnTo>
                <a:lnTo>
                  <a:pt x="1110" y="1055"/>
                </a:lnTo>
                <a:lnTo>
                  <a:pt x="1118" y="1057"/>
                </a:lnTo>
                <a:lnTo>
                  <a:pt x="1124" y="1059"/>
                </a:lnTo>
                <a:lnTo>
                  <a:pt x="1132" y="1060"/>
                </a:lnTo>
                <a:lnTo>
                  <a:pt x="1140" y="1063"/>
                </a:lnTo>
                <a:lnTo>
                  <a:pt x="1146" y="1064"/>
                </a:lnTo>
                <a:lnTo>
                  <a:pt x="1154" y="1066"/>
                </a:lnTo>
                <a:lnTo>
                  <a:pt x="1160" y="1069"/>
                </a:lnTo>
                <a:lnTo>
                  <a:pt x="1168" y="1070"/>
                </a:lnTo>
                <a:lnTo>
                  <a:pt x="1176" y="1071"/>
                </a:lnTo>
                <a:lnTo>
                  <a:pt x="1182" y="1073"/>
                </a:lnTo>
                <a:lnTo>
                  <a:pt x="1191" y="1074"/>
                </a:lnTo>
                <a:lnTo>
                  <a:pt x="1199" y="1077"/>
                </a:lnTo>
                <a:lnTo>
                  <a:pt x="1205" y="1078"/>
                </a:lnTo>
                <a:lnTo>
                  <a:pt x="1213" y="1080"/>
                </a:lnTo>
                <a:lnTo>
                  <a:pt x="1221" y="1081"/>
                </a:lnTo>
                <a:lnTo>
                  <a:pt x="1227" y="1082"/>
                </a:lnTo>
                <a:lnTo>
                  <a:pt x="1235" y="1084"/>
                </a:lnTo>
                <a:lnTo>
                  <a:pt x="1241" y="1085"/>
                </a:lnTo>
                <a:lnTo>
                  <a:pt x="1249" y="1087"/>
                </a:lnTo>
                <a:lnTo>
                  <a:pt x="1257" y="1088"/>
                </a:lnTo>
                <a:lnTo>
                  <a:pt x="1263" y="1089"/>
                </a:lnTo>
                <a:lnTo>
                  <a:pt x="1271" y="1091"/>
                </a:lnTo>
                <a:lnTo>
                  <a:pt x="1280" y="1091"/>
                </a:lnTo>
                <a:lnTo>
                  <a:pt x="1286" y="1092"/>
                </a:lnTo>
                <a:lnTo>
                  <a:pt x="1294" y="1094"/>
                </a:lnTo>
                <a:lnTo>
                  <a:pt x="1302" y="1095"/>
                </a:lnTo>
                <a:lnTo>
                  <a:pt x="1308" y="1096"/>
                </a:lnTo>
                <a:lnTo>
                  <a:pt x="1316" y="1096"/>
                </a:lnTo>
                <a:lnTo>
                  <a:pt x="1322" y="1098"/>
                </a:lnTo>
                <a:lnTo>
                  <a:pt x="1330" y="1099"/>
                </a:lnTo>
                <a:lnTo>
                  <a:pt x="1338" y="1101"/>
                </a:lnTo>
                <a:lnTo>
                  <a:pt x="1344" y="1101"/>
                </a:lnTo>
                <a:lnTo>
                  <a:pt x="1352" y="1102"/>
                </a:lnTo>
                <a:lnTo>
                  <a:pt x="1360" y="1103"/>
                </a:lnTo>
                <a:lnTo>
                  <a:pt x="1366" y="1103"/>
                </a:lnTo>
                <a:lnTo>
                  <a:pt x="1375" y="1105"/>
                </a:lnTo>
                <a:lnTo>
                  <a:pt x="1383" y="1106"/>
                </a:lnTo>
                <a:lnTo>
                  <a:pt x="1389" y="1106"/>
                </a:lnTo>
                <a:lnTo>
                  <a:pt x="1397" y="1107"/>
                </a:lnTo>
                <a:lnTo>
                  <a:pt x="1405" y="1107"/>
                </a:lnTo>
                <a:lnTo>
                  <a:pt x="1411" y="1109"/>
                </a:lnTo>
                <a:lnTo>
                  <a:pt x="1419" y="1110"/>
                </a:lnTo>
                <a:lnTo>
                  <a:pt x="1425" y="1110"/>
                </a:lnTo>
                <a:lnTo>
                  <a:pt x="1433" y="1112"/>
                </a:lnTo>
                <a:lnTo>
                  <a:pt x="1441" y="1112"/>
                </a:lnTo>
                <a:lnTo>
                  <a:pt x="1447" y="1113"/>
                </a:lnTo>
                <a:lnTo>
                  <a:pt x="1455" y="1113"/>
                </a:lnTo>
                <a:lnTo>
                  <a:pt x="1463" y="1114"/>
                </a:lnTo>
                <a:lnTo>
                  <a:pt x="1470" y="1114"/>
                </a:lnTo>
                <a:lnTo>
                  <a:pt x="1478" y="1114"/>
                </a:lnTo>
                <a:lnTo>
                  <a:pt x="1486" y="1116"/>
                </a:lnTo>
                <a:lnTo>
                  <a:pt x="1492" y="1116"/>
                </a:lnTo>
                <a:lnTo>
                  <a:pt x="1500" y="1117"/>
                </a:lnTo>
                <a:lnTo>
                  <a:pt x="1506" y="1117"/>
                </a:lnTo>
                <a:lnTo>
                  <a:pt x="1514" y="1119"/>
                </a:lnTo>
                <a:lnTo>
                  <a:pt x="1522" y="1119"/>
                </a:lnTo>
                <a:lnTo>
                  <a:pt x="1528" y="1119"/>
                </a:lnTo>
                <a:lnTo>
                  <a:pt x="1536" y="1120"/>
                </a:lnTo>
                <a:lnTo>
                  <a:pt x="1536" y="1135"/>
                </a:lnTo>
                <a:lnTo>
                  <a:pt x="1528" y="1135"/>
                </a:lnTo>
                <a:lnTo>
                  <a:pt x="1522" y="1135"/>
                </a:lnTo>
                <a:lnTo>
                  <a:pt x="1514" y="1135"/>
                </a:lnTo>
                <a:lnTo>
                  <a:pt x="1506" y="1135"/>
                </a:lnTo>
                <a:lnTo>
                  <a:pt x="1500" y="1135"/>
                </a:lnTo>
                <a:lnTo>
                  <a:pt x="1492" y="1135"/>
                </a:lnTo>
                <a:lnTo>
                  <a:pt x="1486" y="1135"/>
                </a:lnTo>
                <a:lnTo>
                  <a:pt x="1478" y="1135"/>
                </a:lnTo>
                <a:lnTo>
                  <a:pt x="1470" y="1135"/>
                </a:lnTo>
                <a:lnTo>
                  <a:pt x="1463" y="1135"/>
                </a:lnTo>
                <a:lnTo>
                  <a:pt x="1455" y="1135"/>
                </a:lnTo>
                <a:lnTo>
                  <a:pt x="1447" y="1135"/>
                </a:lnTo>
                <a:lnTo>
                  <a:pt x="1441" y="1135"/>
                </a:lnTo>
                <a:lnTo>
                  <a:pt x="1433" y="1135"/>
                </a:lnTo>
                <a:lnTo>
                  <a:pt x="1425" y="1135"/>
                </a:lnTo>
                <a:lnTo>
                  <a:pt x="1419" y="1135"/>
                </a:lnTo>
                <a:lnTo>
                  <a:pt x="1411" y="1135"/>
                </a:lnTo>
                <a:lnTo>
                  <a:pt x="1405" y="1135"/>
                </a:lnTo>
                <a:lnTo>
                  <a:pt x="1397" y="1135"/>
                </a:lnTo>
                <a:lnTo>
                  <a:pt x="1389" y="1135"/>
                </a:lnTo>
                <a:lnTo>
                  <a:pt x="1383" y="1135"/>
                </a:lnTo>
                <a:lnTo>
                  <a:pt x="1375" y="1135"/>
                </a:lnTo>
                <a:lnTo>
                  <a:pt x="1366" y="1135"/>
                </a:lnTo>
                <a:lnTo>
                  <a:pt x="1360" y="1135"/>
                </a:lnTo>
                <a:lnTo>
                  <a:pt x="1352" y="1135"/>
                </a:lnTo>
                <a:lnTo>
                  <a:pt x="1344" y="1135"/>
                </a:lnTo>
                <a:lnTo>
                  <a:pt x="1338" y="1135"/>
                </a:lnTo>
                <a:lnTo>
                  <a:pt x="1330" y="1135"/>
                </a:lnTo>
                <a:lnTo>
                  <a:pt x="1322" y="1135"/>
                </a:lnTo>
                <a:lnTo>
                  <a:pt x="1316" y="1135"/>
                </a:lnTo>
                <a:lnTo>
                  <a:pt x="1308" y="1135"/>
                </a:lnTo>
                <a:lnTo>
                  <a:pt x="1302" y="1135"/>
                </a:lnTo>
                <a:lnTo>
                  <a:pt x="1294" y="1135"/>
                </a:lnTo>
                <a:lnTo>
                  <a:pt x="1286" y="1135"/>
                </a:lnTo>
                <a:lnTo>
                  <a:pt x="1280" y="1135"/>
                </a:lnTo>
                <a:lnTo>
                  <a:pt x="1271" y="1135"/>
                </a:lnTo>
                <a:lnTo>
                  <a:pt x="1263" y="1135"/>
                </a:lnTo>
                <a:lnTo>
                  <a:pt x="1257" y="1135"/>
                </a:lnTo>
                <a:lnTo>
                  <a:pt x="1249" y="1135"/>
                </a:lnTo>
                <a:lnTo>
                  <a:pt x="1241" y="1135"/>
                </a:lnTo>
                <a:lnTo>
                  <a:pt x="1235" y="1135"/>
                </a:lnTo>
                <a:lnTo>
                  <a:pt x="1227" y="1135"/>
                </a:lnTo>
                <a:lnTo>
                  <a:pt x="1221" y="1135"/>
                </a:lnTo>
                <a:lnTo>
                  <a:pt x="1213" y="1135"/>
                </a:lnTo>
                <a:lnTo>
                  <a:pt x="1205" y="1135"/>
                </a:lnTo>
                <a:lnTo>
                  <a:pt x="1199" y="1135"/>
                </a:lnTo>
                <a:lnTo>
                  <a:pt x="1191" y="1135"/>
                </a:lnTo>
                <a:lnTo>
                  <a:pt x="1182" y="1135"/>
                </a:lnTo>
                <a:lnTo>
                  <a:pt x="1176" y="1135"/>
                </a:lnTo>
                <a:lnTo>
                  <a:pt x="1168" y="1135"/>
                </a:lnTo>
                <a:lnTo>
                  <a:pt x="1160" y="1135"/>
                </a:lnTo>
                <a:lnTo>
                  <a:pt x="1154" y="1135"/>
                </a:lnTo>
                <a:lnTo>
                  <a:pt x="1146" y="1135"/>
                </a:lnTo>
                <a:lnTo>
                  <a:pt x="1140" y="1135"/>
                </a:lnTo>
                <a:lnTo>
                  <a:pt x="1132" y="1135"/>
                </a:lnTo>
                <a:lnTo>
                  <a:pt x="1124" y="1135"/>
                </a:lnTo>
                <a:lnTo>
                  <a:pt x="1118" y="1135"/>
                </a:lnTo>
                <a:lnTo>
                  <a:pt x="1110" y="1135"/>
                </a:lnTo>
                <a:lnTo>
                  <a:pt x="1102" y="1135"/>
                </a:lnTo>
                <a:lnTo>
                  <a:pt x="1096" y="1135"/>
                </a:lnTo>
                <a:lnTo>
                  <a:pt x="1087" y="1135"/>
                </a:lnTo>
                <a:lnTo>
                  <a:pt x="1079" y="1135"/>
                </a:lnTo>
                <a:lnTo>
                  <a:pt x="1073" y="1135"/>
                </a:lnTo>
                <a:lnTo>
                  <a:pt x="1065" y="1135"/>
                </a:lnTo>
                <a:lnTo>
                  <a:pt x="1057" y="1135"/>
                </a:lnTo>
                <a:lnTo>
                  <a:pt x="1051" y="1135"/>
                </a:lnTo>
                <a:lnTo>
                  <a:pt x="1043" y="1135"/>
                </a:lnTo>
                <a:lnTo>
                  <a:pt x="1037" y="1135"/>
                </a:lnTo>
                <a:lnTo>
                  <a:pt x="1029" y="1135"/>
                </a:lnTo>
                <a:lnTo>
                  <a:pt x="1021" y="1135"/>
                </a:lnTo>
                <a:lnTo>
                  <a:pt x="1015" y="1135"/>
                </a:lnTo>
                <a:lnTo>
                  <a:pt x="1007" y="1135"/>
                </a:lnTo>
                <a:lnTo>
                  <a:pt x="999" y="1135"/>
                </a:lnTo>
                <a:lnTo>
                  <a:pt x="992" y="1135"/>
                </a:lnTo>
                <a:lnTo>
                  <a:pt x="984" y="1135"/>
                </a:lnTo>
                <a:lnTo>
                  <a:pt x="976" y="1135"/>
                </a:lnTo>
                <a:lnTo>
                  <a:pt x="970" y="1135"/>
                </a:lnTo>
                <a:lnTo>
                  <a:pt x="962" y="1135"/>
                </a:lnTo>
                <a:lnTo>
                  <a:pt x="956" y="1135"/>
                </a:lnTo>
                <a:lnTo>
                  <a:pt x="948" y="1135"/>
                </a:lnTo>
                <a:lnTo>
                  <a:pt x="940" y="1135"/>
                </a:lnTo>
                <a:lnTo>
                  <a:pt x="934" y="1135"/>
                </a:lnTo>
                <a:lnTo>
                  <a:pt x="926" y="1135"/>
                </a:lnTo>
                <a:lnTo>
                  <a:pt x="918" y="1135"/>
                </a:lnTo>
                <a:lnTo>
                  <a:pt x="912" y="1135"/>
                </a:lnTo>
                <a:lnTo>
                  <a:pt x="904" y="1135"/>
                </a:lnTo>
                <a:lnTo>
                  <a:pt x="895" y="1135"/>
                </a:lnTo>
                <a:lnTo>
                  <a:pt x="889" y="1135"/>
                </a:lnTo>
                <a:lnTo>
                  <a:pt x="881" y="1135"/>
                </a:lnTo>
                <a:lnTo>
                  <a:pt x="875" y="1135"/>
                </a:lnTo>
                <a:lnTo>
                  <a:pt x="867" y="1135"/>
                </a:lnTo>
                <a:lnTo>
                  <a:pt x="859" y="1135"/>
                </a:lnTo>
                <a:lnTo>
                  <a:pt x="853" y="1135"/>
                </a:lnTo>
                <a:lnTo>
                  <a:pt x="845" y="1135"/>
                </a:lnTo>
                <a:lnTo>
                  <a:pt x="837" y="1135"/>
                </a:lnTo>
                <a:lnTo>
                  <a:pt x="831" y="1135"/>
                </a:lnTo>
                <a:lnTo>
                  <a:pt x="823" y="1135"/>
                </a:lnTo>
                <a:lnTo>
                  <a:pt x="815" y="1135"/>
                </a:lnTo>
                <a:lnTo>
                  <a:pt x="808" y="1135"/>
                </a:lnTo>
                <a:lnTo>
                  <a:pt x="800" y="1135"/>
                </a:lnTo>
                <a:lnTo>
                  <a:pt x="792" y="1135"/>
                </a:lnTo>
                <a:lnTo>
                  <a:pt x="786" y="1135"/>
                </a:lnTo>
                <a:lnTo>
                  <a:pt x="778" y="1135"/>
                </a:lnTo>
                <a:lnTo>
                  <a:pt x="772" y="1135"/>
                </a:lnTo>
                <a:lnTo>
                  <a:pt x="764" y="1135"/>
                </a:lnTo>
                <a:lnTo>
                  <a:pt x="756" y="1135"/>
                </a:lnTo>
                <a:lnTo>
                  <a:pt x="750" y="1135"/>
                </a:lnTo>
                <a:lnTo>
                  <a:pt x="742" y="1135"/>
                </a:lnTo>
                <a:lnTo>
                  <a:pt x="734" y="1135"/>
                </a:lnTo>
                <a:lnTo>
                  <a:pt x="728" y="1135"/>
                </a:lnTo>
                <a:lnTo>
                  <a:pt x="720" y="1135"/>
                </a:lnTo>
                <a:lnTo>
                  <a:pt x="711" y="1135"/>
                </a:lnTo>
                <a:lnTo>
                  <a:pt x="705" y="1135"/>
                </a:lnTo>
                <a:lnTo>
                  <a:pt x="697" y="1135"/>
                </a:lnTo>
                <a:lnTo>
                  <a:pt x="691" y="1135"/>
                </a:lnTo>
                <a:lnTo>
                  <a:pt x="683" y="1135"/>
                </a:lnTo>
                <a:lnTo>
                  <a:pt x="675" y="1135"/>
                </a:lnTo>
                <a:lnTo>
                  <a:pt x="669" y="1135"/>
                </a:lnTo>
                <a:lnTo>
                  <a:pt x="661" y="1135"/>
                </a:lnTo>
                <a:lnTo>
                  <a:pt x="653" y="1135"/>
                </a:lnTo>
                <a:lnTo>
                  <a:pt x="647" y="1135"/>
                </a:lnTo>
                <a:lnTo>
                  <a:pt x="639" y="1135"/>
                </a:lnTo>
                <a:lnTo>
                  <a:pt x="631" y="1135"/>
                </a:lnTo>
                <a:lnTo>
                  <a:pt x="625" y="1135"/>
                </a:lnTo>
                <a:lnTo>
                  <a:pt x="616" y="1135"/>
                </a:lnTo>
                <a:lnTo>
                  <a:pt x="610" y="1135"/>
                </a:lnTo>
                <a:lnTo>
                  <a:pt x="602" y="1135"/>
                </a:lnTo>
                <a:lnTo>
                  <a:pt x="594" y="1135"/>
                </a:lnTo>
                <a:lnTo>
                  <a:pt x="588" y="1135"/>
                </a:lnTo>
                <a:lnTo>
                  <a:pt x="580" y="1135"/>
                </a:lnTo>
                <a:lnTo>
                  <a:pt x="572" y="1135"/>
                </a:lnTo>
                <a:lnTo>
                  <a:pt x="566" y="1135"/>
                </a:lnTo>
                <a:lnTo>
                  <a:pt x="558" y="1135"/>
                </a:lnTo>
                <a:lnTo>
                  <a:pt x="550" y="1135"/>
                </a:lnTo>
                <a:lnTo>
                  <a:pt x="544" y="1135"/>
                </a:lnTo>
                <a:lnTo>
                  <a:pt x="536" y="1135"/>
                </a:lnTo>
                <a:lnTo>
                  <a:pt x="527" y="1135"/>
                </a:lnTo>
                <a:lnTo>
                  <a:pt x="521" y="1135"/>
                </a:lnTo>
                <a:lnTo>
                  <a:pt x="513" y="1135"/>
                </a:lnTo>
                <a:lnTo>
                  <a:pt x="507" y="1135"/>
                </a:lnTo>
                <a:lnTo>
                  <a:pt x="499" y="1135"/>
                </a:lnTo>
                <a:lnTo>
                  <a:pt x="491" y="1135"/>
                </a:lnTo>
                <a:lnTo>
                  <a:pt x="485" y="1135"/>
                </a:lnTo>
                <a:lnTo>
                  <a:pt x="477" y="1135"/>
                </a:lnTo>
                <a:lnTo>
                  <a:pt x="469" y="1135"/>
                </a:lnTo>
                <a:lnTo>
                  <a:pt x="463" y="1135"/>
                </a:lnTo>
                <a:lnTo>
                  <a:pt x="455" y="1135"/>
                </a:lnTo>
                <a:lnTo>
                  <a:pt x="447" y="1135"/>
                </a:lnTo>
                <a:lnTo>
                  <a:pt x="441" y="1135"/>
                </a:lnTo>
                <a:lnTo>
                  <a:pt x="432" y="1135"/>
                </a:lnTo>
                <a:lnTo>
                  <a:pt x="426" y="1135"/>
                </a:lnTo>
                <a:lnTo>
                  <a:pt x="418" y="1135"/>
                </a:lnTo>
                <a:lnTo>
                  <a:pt x="410" y="1135"/>
                </a:lnTo>
                <a:lnTo>
                  <a:pt x="404" y="1135"/>
                </a:lnTo>
                <a:lnTo>
                  <a:pt x="396" y="1135"/>
                </a:lnTo>
                <a:lnTo>
                  <a:pt x="388" y="1135"/>
                </a:lnTo>
                <a:lnTo>
                  <a:pt x="382" y="1135"/>
                </a:lnTo>
                <a:lnTo>
                  <a:pt x="374" y="1135"/>
                </a:lnTo>
                <a:lnTo>
                  <a:pt x="366" y="1135"/>
                </a:lnTo>
                <a:lnTo>
                  <a:pt x="360" y="1135"/>
                </a:lnTo>
                <a:lnTo>
                  <a:pt x="352" y="1135"/>
                </a:lnTo>
                <a:lnTo>
                  <a:pt x="346" y="1135"/>
                </a:lnTo>
                <a:lnTo>
                  <a:pt x="337" y="1135"/>
                </a:lnTo>
                <a:lnTo>
                  <a:pt x="329" y="1135"/>
                </a:lnTo>
                <a:lnTo>
                  <a:pt x="323" y="1135"/>
                </a:lnTo>
                <a:lnTo>
                  <a:pt x="315" y="1135"/>
                </a:lnTo>
                <a:lnTo>
                  <a:pt x="307" y="1135"/>
                </a:lnTo>
                <a:lnTo>
                  <a:pt x="301" y="1135"/>
                </a:lnTo>
                <a:lnTo>
                  <a:pt x="293" y="1135"/>
                </a:lnTo>
                <a:lnTo>
                  <a:pt x="285" y="1135"/>
                </a:lnTo>
                <a:lnTo>
                  <a:pt x="279" y="1135"/>
                </a:lnTo>
                <a:lnTo>
                  <a:pt x="271" y="1135"/>
                </a:lnTo>
                <a:lnTo>
                  <a:pt x="263" y="1135"/>
                </a:lnTo>
                <a:lnTo>
                  <a:pt x="257" y="1135"/>
                </a:lnTo>
                <a:lnTo>
                  <a:pt x="249" y="1135"/>
                </a:lnTo>
                <a:lnTo>
                  <a:pt x="242" y="1135"/>
                </a:lnTo>
                <a:lnTo>
                  <a:pt x="234" y="1135"/>
                </a:lnTo>
                <a:lnTo>
                  <a:pt x="226" y="1135"/>
                </a:lnTo>
                <a:lnTo>
                  <a:pt x="220" y="1135"/>
                </a:lnTo>
                <a:lnTo>
                  <a:pt x="212" y="1135"/>
                </a:lnTo>
                <a:lnTo>
                  <a:pt x="204" y="1135"/>
                </a:lnTo>
                <a:lnTo>
                  <a:pt x="198" y="1135"/>
                </a:lnTo>
                <a:lnTo>
                  <a:pt x="190" y="1135"/>
                </a:lnTo>
                <a:lnTo>
                  <a:pt x="182" y="1135"/>
                </a:lnTo>
                <a:lnTo>
                  <a:pt x="176" y="1135"/>
                </a:lnTo>
                <a:lnTo>
                  <a:pt x="168" y="1135"/>
                </a:lnTo>
                <a:lnTo>
                  <a:pt x="162" y="1135"/>
                </a:lnTo>
                <a:lnTo>
                  <a:pt x="153" y="1135"/>
                </a:lnTo>
                <a:lnTo>
                  <a:pt x="145" y="1135"/>
                </a:lnTo>
                <a:lnTo>
                  <a:pt x="139" y="1135"/>
                </a:lnTo>
                <a:lnTo>
                  <a:pt x="131" y="1135"/>
                </a:lnTo>
                <a:lnTo>
                  <a:pt x="123" y="1135"/>
                </a:lnTo>
                <a:lnTo>
                  <a:pt x="117" y="1135"/>
                </a:lnTo>
                <a:lnTo>
                  <a:pt x="109" y="1135"/>
                </a:lnTo>
                <a:lnTo>
                  <a:pt x="101" y="1135"/>
                </a:lnTo>
                <a:lnTo>
                  <a:pt x="95" y="1135"/>
                </a:lnTo>
                <a:lnTo>
                  <a:pt x="87" y="1135"/>
                </a:lnTo>
                <a:lnTo>
                  <a:pt x="81" y="1135"/>
                </a:lnTo>
                <a:lnTo>
                  <a:pt x="73" y="1135"/>
                </a:lnTo>
                <a:lnTo>
                  <a:pt x="65" y="1135"/>
                </a:lnTo>
                <a:lnTo>
                  <a:pt x="58" y="1135"/>
                </a:lnTo>
                <a:lnTo>
                  <a:pt x="50" y="1135"/>
                </a:lnTo>
                <a:lnTo>
                  <a:pt x="42" y="1135"/>
                </a:lnTo>
                <a:lnTo>
                  <a:pt x="36" y="1135"/>
                </a:lnTo>
                <a:lnTo>
                  <a:pt x="28" y="1135"/>
                </a:lnTo>
                <a:lnTo>
                  <a:pt x="20" y="1135"/>
                </a:lnTo>
                <a:lnTo>
                  <a:pt x="14" y="1135"/>
                </a:lnTo>
                <a:lnTo>
                  <a:pt x="6" y="1135"/>
                </a:lnTo>
                <a:lnTo>
                  <a:pt x="0" y="1135"/>
                </a:lnTo>
                <a:lnTo>
                  <a:pt x="0" y="0"/>
                </a:lnTo>
                <a:close/>
              </a:path>
            </a:pathLst>
          </a:custGeom>
          <a:solidFill>
            <a:srgbClr val="FFFFFF"/>
          </a:solidFill>
          <a:ln w="38100">
            <a:solidFill>
              <a:srgbClr val="000099"/>
            </a:solidFill>
            <a:round/>
            <a:headEnd/>
            <a:tailEnd/>
          </a:ln>
        </p:spPr>
        <p:txBody>
          <a:bodyPr/>
          <a:lstStyle/>
          <a:p>
            <a:endParaRPr lang="en-US"/>
          </a:p>
        </p:txBody>
      </p:sp>
      <p:sp>
        <p:nvSpPr>
          <p:cNvPr id="15386" name="Rectangle 27"/>
          <p:cNvSpPr>
            <a:spLocks noChangeArrowheads="1"/>
          </p:cNvSpPr>
          <p:nvPr/>
        </p:nvSpPr>
        <p:spPr bwMode="auto">
          <a:xfrm>
            <a:off x="2424113" y="4772025"/>
            <a:ext cx="688975"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wrap="none" lIns="90488" tIns="44450" rIns="90488" bIns="4445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i="0">
                <a:solidFill>
                  <a:schemeClr val="bg2"/>
                </a:solidFill>
                <a:latin typeface="Times New Roman" pitchFamily="18" charset="0"/>
              </a:rPr>
              <a:t>.05</a:t>
            </a:r>
          </a:p>
        </p:txBody>
      </p:sp>
      <p:sp>
        <p:nvSpPr>
          <p:cNvPr id="15387" name="Line 28"/>
          <p:cNvSpPr>
            <a:spLocks noChangeShapeType="1"/>
          </p:cNvSpPr>
          <p:nvPr/>
        </p:nvSpPr>
        <p:spPr bwMode="auto">
          <a:xfrm>
            <a:off x="3429000" y="3733800"/>
            <a:ext cx="2057400" cy="0"/>
          </a:xfrm>
          <a:prstGeom prst="line">
            <a:avLst/>
          </a:prstGeom>
          <a:noFill/>
          <a:ln w="76200">
            <a:solidFill>
              <a:schemeClr val="tx2"/>
            </a:solidFill>
            <a:round/>
            <a:headEnd type="triangle" w="med" len="med"/>
            <a:tailEnd type="triangle" w="med" len="med"/>
          </a:ln>
          <a:effectLst>
            <a:outerShdw dist="107763"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15388" name="Rectangle 29"/>
          <p:cNvSpPr>
            <a:spLocks noChangeArrowheads="1"/>
          </p:cNvSpPr>
          <p:nvPr/>
        </p:nvSpPr>
        <p:spPr bwMode="auto">
          <a:xfrm>
            <a:off x="4133850" y="3446463"/>
            <a:ext cx="688975" cy="576262"/>
          </a:xfrm>
          <a:prstGeom prst="rect">
            <a:avLst/>
          </a:prstGeom>
          <a:solidFill>
            <a:schemeClr val="accent1"/>
          </a:solidFill>
          <a:ln>
            <a:noFill/>
          </a:ln>
          <a:extLst>
            <a:ext uri="{91240B29-F687-4F45-9708-019B960494DF}">
              <a14:hiddenLine xmlns:a14="http://schemas.microsoft.com/office/drawing/2010/main" w="76200">
                <a:solidFill>
                  <a:srgbClr val="000000"/>
                </a:solidFill>
                <a:miter lim="800000"/>
                <a:headEnd/>
                <a:tailEnd/>
              </a14:hiddenLine>
            </a:ext>
          </a:extLst>
        </p:spPr>
        <p:txBody>
          <a:bodyPr wrap="none" lIns="90488" tIns="44450" rIns="90488" bIns="4445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i="0">
                <a:latin typeface="Times New Roman" pitchFamily="18" charset="0"/>
              </a:rPr>
              <a:t>.90</a:t>
            </a:r>
            <a:endParaRPr lang="en-US" altLang="en-US" i="0">
              <a:solidFill>
                <a:schemeClr val="bg2"/>
              </a:solidFill>
              <a:latin typeface="Times New Roman" pitchFamily="18" charset="0"/>
            </a:endParaRPr>
          </a:p>
        </p:txBody>
      </p:sp>
      <p:sp>
        <p:nvSpPr>
          <p:cNvPr id="15389" name="Rectangle 30"/>
          <p:cNvSpPr>
            <a:spLocks noChangeArrowheads="1"/>
          </p:cNvSpPr>
          <p:nvPr/>
        </p:nvSpPr>
        <p:spPr bwMode="auto">
          <a:xfrm>
            <a:off x="8032750" y="4976813"/>
            <a:ext cx="560388"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wrap="none" lIns="90488" tIns="44450" rIns="90488" bIns="4445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i="0">
                <a:solidFill>
                  <a:schemeClr val="bg2"/>
                </a:solidFill>
                <a:latin typeface="Times New Roman" pitchFamily="18" charset="0"/>
              </a:rPr>
              <a:t>t</a:t>
            </a:r>
            <a:r>
              <a:rPr lang="en-US" altLang="en-US" b="1" i="0" baseline="-25000">
                <a:solidFill>
                  <a:schemeClr val="bg2"/>
                </a:solidFill>
                <a:latin typeface="Times New Roman" pitchFamily="18" charset="0"/>
              </a:rPr>
              <a:t>10</a:t>
            </a:r>
            <a:endParaRPr lang="en-US" altLang="en-US" i="0" baseline="-25000">
              <a:solidFill>
                <a:schemeClr val="bg2"/>
              </a:solidFill>
              <a:latin typeface="Times New Roman" pitchFamily="18" charset="0"/>
            </a:endParaRPr>
          </a:p>
        </p:txBody>
      </p:sp>
      <p:sp>
        <p:nvSpPr>
          <p:cNvPr id="15390" name="Rectangle 31"/>
          <p:cNvSpPr>
            <a:spLocks noChangeArrowheads="1"/>
          </p:cNvSpPr>
          <p:nvPr/>
        </p:nvSpPr>
        <p:spPr bwMode="auto">
          <a:xfrm>
            <a:off x="4876800" y="6542088"/>
            <a:ext cx="180975"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wrap="none" lIns="90488" tIns="44450" rIns="90488" bIns="4445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endParaRPr lang="en-US" altLang="en-US" sz="1400" i="0">
              <a:latin typeface="Times New Roman" pitchFamily="18" charset="0"/>
            </a:endParaRPr>
          </a:p>
        </p:txBody>
      </p:sp>
      <p:sp>
        <p:nvSpPr>
          <p:cNvPr id="15391" name="Rectangle 32"/>
          <p:cNvSpPr>
            <a:spLocks noChangeArrowheads="1"/>
          </p:cNvSpPr>
          <p:nvPr/>
        </p:nvSpPr>
        <p:spPr bwMode="auto">
          <a:xfrm>
            <a:off x="457200" y="2438400"/>
            <a:ext cx="3425825" cy="588963"/>
          </a:xfrm>
          <a:prstGeom prst="rect">
            <a:avLst/>
          </a:prstGeom>
          <a:solidFill>
            <a:srgbClr val="FDE3BA"/>
          </a:solidFill>
          <a:ln w="12700">
            <a:solidFill>
              <a:schemeClr val="tx2"/>
            </a:solidFill>
            <a:miter lim="800000"/>
            <a:headEnd/>
            <a:tailEnd/>
          </a:ln>
        </p:spPr>
        <p:txBody>
          <a:bodyPr wrap="none" lIns="90488" tIns="44450" rIns="90488" bIns="4445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i="0">
                <a:solidFill>
                  <a:schemeClr val="bg2"/>
                </a:solidFill>
                <a:latin typeface="Times New Roman" pitchFamily="18" charset="0"/>
              </a:rPr>
              <a:t>P(t &lt; -1.8125) = .05</a:t>
            </a:r>
          </a:p>
        </p:txBody>
      </p:sp>
      <p:sp>
        <p:nvSpPr>
          <p:cNvPr id="15392" name="Arc 33"/>
          <p:cNvSpPr>
            <a:spLocks/>
          </p:cNvSpPr>
          <p:nvPr/>
        </p:nvSpPr>
        <p:spPr bwMode="auto">
          <a:xfrm rot="10800000">
            <a:off x="6135688" y="3087688"/>
            <a:ext cx="1181100" cy="1714500"/>
          </a:xfrm>
          <a:custGeom>
            <a:avLst/>
            <a:gdLst>
              <a:gd name="T0" fmla="*/ 0 w 21600"/>
              <a:gd name="T1" fmla="*/ 2147483647 h 21600"/>
              <a:gd name="T2" fmla="*/ 2147483647 w 21600"/>
              <a:gd name="T3" fmla="*/ 0 h 21600"/>
              <a:gd name="T4" fmla="*/ 2147483647 w 21600"/>
              <a:gd name="T5" fmla="*/ 2147483647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0" y="21600"/>
                </a:moveTo>
                <a:cubicBezTo>
                  <a:pt x="0" y="9681"/>
                  <a:pt x="9652" y="16"/>
                  <a:pt x="21571" y="0"/>
                </a:cubicBezTo>
              </a:path>
              <a:path w="21600" h="21600" stroke="0" extrusionOk="0">
                <a:moveTo>
                  <a:pt x="0" y="21600"/>
                </a:moveTo>
                <a:cubicBezTo>
                  <a:pt x="0" y="9681"/>
                  <a:pt x="9652" y="16"/>
                  <a:pt x="21571" y="0"/>
                </a:cubicBezTo>
                <a:lnTo>
                  <a:pt x="21600" y="21600"/>
                </a:lnTo>
                <a:lnTo>
                  <a:pt x="0" y="21600"/>
                </a:lnTo>
                <a:close/>
              </a:path>
            </a:pathLst>
          </a:custGeom>
          <a:noFill/>
          <a:ln w="76200" cap="rnd">
            <a:solidFill>
              <a:schemeClr val="tx2"/>
            </a:solidFill>
            <a:round/>
            <a:headEnd/>
            <a:tailEnd type="triangle" w="med" len="med"/>
          </a:ln>
          <a:effectLst>
            <a:outerShdw dist="107763" dir="27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5393" name="Arc 22"/>
          <p:cNvSpPr>
            <a:spLocks/>
          </p:cNvSpPr>
          <p:nvPr/>
        </p:nvSpPr>
        <p:spPr bwMode="auto">
          <a:xfrm rot="10800000" flipH="1">
            <a:off x="1447800" y="3124200"/>
            <a:ext cx="1181100" cy="1714500"/>
          </a:xfrm>
          <a:custGeom>
            <a:avLst/>
            <a:gdLst>
              <a:gd name="T0" fmla="*/ 0 w 21600"/>
              <a:gd name="T1" fmla="*/ 2147483647 h 21600"/>
              <a:gd name="T2" fmla="*/ 2147483647 w 21600"/>
              <a:gd name="T3" fmla="*/ 0 h 21600"/>
              <a:gd name="T4" fmla="*/ 2147483647 w 21600"/>
              <a:gd name="T5" fmla="*/ 2147483647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0" y="21600"/>
                </a:moveTo>
                <a:cubicBezTo>
                  <a:pt x="0" y="9681"/>
                  <a:pt x="9652" y="16"/>
                  <a:pt x="21571" y="0"/>
                </a:cubicBezTo>
              </a:path>
              <a:path w="21600" h="21600" stroke="0" extrusionOk="0">
                <a:moveTo>
                  <a:pt x="0" y="21600"/>
                </a:moveTo>
                <a:cubicBezTo>
                  <a:pt x="0" y="9681"/>
                  <a:pt x="9652" y="16"/>
                  <a:pt x="21571" y="0"/>
                </a:cubicBezTo>
                <a:lnTo>
                  <a:pt x="21600" y="21600"/>
                </a:lnTo>
                <a:lnTo>
                  <a:pt x="0" y="21600"/>
                </a:lnTo>
                <a:close/>
              </a:path>
            </a:pathLst>
          </a:custGeom>
          <a:noFill/>
          <a:ln w="76200" cap="rnd">
            <a:solidFill>
              <a:schemeClr val="tx2"/>
            </a:solidFill>
            <a:round/>
            <a:headEnd/>
            <a:tailEnd type="triangle" w="med" len="med"/>
          </a:ln>
          <a:effectLst>
            <a:outerShdw dist="107763" dir="27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p>
            <a:endParaRPr lang="en-US"/>
          </a:p>
        </p:txBody>
      </p:sp>
    </p:spTree>
  </p:cSld>
  <p:clrMapOvr>
    <a:masterClrMapping/>
  </p:clrMapOvr>
  <p:transition>
    <p:wipe dir="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4"/>
          <p:cNvSpPr>
            <a:spLocks noGrp="1" noChangeArrowheads="1"/>
          </p:cNvSpPr>
          <p:nvPr>
            <p:ph type="title"/>
          </p:nvPr>
        </p:nvSpPr>
        <p:spPr>
          <a:xfrm>
            <a:off x="685800" y="381000"/>
            <a:ext cx="7772400" cy="1143000"/>
          </a:xfrm>
          <a:solidFill>
            <a:srgbClr val="FFC000"/>
          </a:solidFill>
        </p:spPr>
        <p:txBody>
          <a:bodyPr/>
          <a:lstStyle/>
          <a:p>
            <a:r>
              <a:rPr lang="en-US" altLang="en-US" dirty="0" smtClean="0">
                <a:solidFill>
                  <a:srgbClr val="FF0000"/>
                </a:solidFill>
              </a:rPr>
              <a:t>Comparing </a:t>
            </a:r>
            <a:r>
              <a:rPr lang="en-US" altLang="en-US" i="0" dirty="0" smtClean="0">
                <a:solidFill>
                  <a:srgbClr val="FF0000"/>
                </a:solidFill>
              </a:rPr>
              <a:t>t and z </a:t>
            </a:r>
            <a:r>
              <a:rPr lang="en-US" altLang="en-US" dirty="0" smtClean="0">
                <a:solidFill>
                  <a:srgbClr val="FF0000"/>
                </a:solidFill>
              </a:rPr>
              <a:t>Critical Values</a:t>
            </a:r>
          </a:p>
        </p:txBody>
      </p:sp>
      <p:sp>
        <p:nvSpPr>
          <p:cNvPr id="16387" name="Rectangle 5"/>
          <p:cNvSpPr>
            <a:spLocks noGrp="1" noChangeArrowheads="1"/>
          </p:cNvSpPr>
          <p:nvPr>
            <p:ph idx="1"/>
          </p:nvPr>
        </p:nvSpPr>
        <p:spPr>
          <a:xfrm>
            <a:off x="304800" y="1752600"/>
            <a:ext cx="8610600" cy="4572000"/>
          </a:xfrm>
        </p:spPr>
        <p:txBody>
          <a:bodyPr/>
          <a:lstStyle/>
          <a:p>
            <a:pPr>
              <a:buFont typeface="Monotype Sorts" pitchFamily="2" charset="2"/>
              <a:buNone/>
            </a:pPr>
            <a:r>
              <a:rPr lang="en-US" altLang="en-US" dirty="0" smtClean="0"/>
              <a:t>	</a:t>
            </a:r>
            <a:r>
              <a:rPr lang="en-US" altLang="en-US" dirty="0" smtClean="0">
                <a:sym typeface="Symbol" charset="2"/>
              </a:rPr>
              <a:t>				</a:t>
            </a:r>
            <a:r>
              <a:rPr lang="en-US" altLang="en-US" dirty="0" smtClean="0"/>
              <a:t>Conf.		</a:t>
            </a:r>
            <a:endParaRPr lang="en-US" altLang="en-US" dirty="0" smtClean="0">
              <a:sym typeface="Symbol" charset="2"/>
            </a:endParaRPr>
          </a:p>
          <a:p>
            <a:pPr>
              <a:buFont typeface="Monotype Sorts" pitchFamily="2" charset="2"/>
              <a:buNone/>
            </a:pPr>
            <a:r>
              <a:rPr lang="en-US" altLang="en-US" dirty="0" smtClean="0">
                <a:sym typeface="Symbol" charset="2"/>
              </a:rPr>
              <a:t>					level			n = 30</a:t>
            </a:r>
          </a:p>
          <a:p>
            <a:pPr>
              <a:buFont typeface="Monotype Sorts" pitchFamily="2" charset="2"/>
              <a:buNone/>
            </a:pPr>
            <a:r>
              <a:rPr lang="en-US" altLang="en-US" dirty="0" smtClean="0">
                <a:sym typeface="Symbol" charset="2"/>
              </a:rPr>
              <a:t>z = 1.645			90%			t = 1.6991</a:t>
            </a:r>
          </a:p>
          <a:p>
            <a:pPr>
              <a:buFont typeface="Monotype Sorts" pitchFamily="2" charset="2"/>
              <a:buNone/>
            </a:pPr>
            <a:r>
              <a:rPr lang="en-US" altLang="en-US" dirty="0" smtClean="0">
                <a:sym typeface="Symbol" charset="2"/>
              </a:rPr>
              <a:t>z = 1.96			95%			t = 2.0452</a:t>
            </a:r>
          </a:p>
          <a:p>
            <a:pPr>
              <a:buFont typeface="Monotype Sorts" pitchFamily="2" charset="2"/>
              <a:buNone/>
            </a:pPr>
            <a:r>
              <a:rPr lang="en-US" altLang="en-US" dirty="0" smtClean="0">
                <a:sym typeface="Symbol" charset="2"/>
              </a:rPr>
              <a:t>z = 2.33			98%			t = 2.4620</a:t>
            </a:r>
          </a:p>
          <a:p>
            <a:pPr>
              <a:buFont typeface="Monotype Sorts" pitchFamily="2" charset="2"/>
              <a:buNone/>
            </a:pPr>
            <a:r>
              <a:rPr lang="en-US" altLang="en-US" dirty="0" smtClean="0">
                <a:sym typeface="Symbol" charset="2"/>
              </a:rPr>
              <a:t>z = 2.58			99%			t = 2.7564</a:t>
            </a:r>
            <a:endParaRPr lang="en-US" altLang="en-US" dirty="0" smtClean="0"/>
          </a:p>
          <a:p>
            <a:pPr algn="ctr">
              <a:buFont typeface="Monotype Sorts" pitchFamily="2" charset="2"/>
              <a:buNone/>
            </a:pPr>
            <a:endParaRPr lang="en-US" altLang="en-US" dirty="0" smtClean="0"/>
          </a:p>
        </p:txBody>
      </p:sp>
      <p:sp>
        <p:nvSpPr>
          <p:cNvPr id="16388" name="Line 6"/>
          <p:cNvSpPr>
            <a:spLocks noChangeShapeType="1"/>
          </p:cNvSpPr>
          <p:nvPr/>
        </p:nvSpPr>
        <p:spPr bwMode="auto">
          <a:xfrm>
            <a:off x="304800" y="2895600"/>
            <a:ext cx="86106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5794" name="Text Box 2"/>
          <p:cNvSpPr txBox="1">
            <a:spLocks noChangeArrowheads="1"/>
          </p:cNvSpPr>
          <p:nvPr/>
        </p:nvSpPr>
        <p:spPr bwMode="auto">
          <a:xfrm>
            <a:off x="130629" y="181584"/>
            <a:ext cx="4822371" cy="646331"/>
          </a:xfrm>
          <a:prstGeom prst="rect">
            <a:avLst/>
          </a:prstGeom>
          <a:solidFill>
            <a:srgbClr val="FFC000"/>
          </a:solidFill>
          <a:ln>
            <a:noFill/>
          </a:ln>
          <a:effectLst/>
          <a:extLst/>
        </p:spPr>
        <p:txBody>
          <a:bodyPr wrap="square">
            <a:spAutoFit/>
          </a:bodyPr>
          <a:lstStyle/>
          <a:p>
            <a:pPr>
              <a:lnSpc>
                <a:spcPct val="100000"/>
              </a:lnSpc>
              <a:spcBef>
                <a:spcPct val="50000"/>
              </a:spcBef>
            </a:pPr>
            <a:r>
              <a:rPr lang="en-US" sz="3600" i="0" dirty="0" smtClean="0">
                <a:solidFill>
                  <a:srgbClr val="FF0000"/>
                </a:solidFill>
                <a:latin typeface="+mn-lt"/>
              </a:rPr>
              <a:t>Hot Dog Fat Content </a:t>
            </a:r>
          </a:p>
        </p:txBody>
      </p:sp>
      <p:pic>
        <p:nvPicPr>
          <p:cNvPr id="545798" name="Picture 6" descr="MCj0215527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20937859">
            <a:off x="6764634" y="4272678"/>
            <a:ext cx="2281237" cy="1131888"/>
          </a:xfrm>
          <a:prstGeom prst="rect">
            <a:avLst/>
          </a:prstGeom>
          <a:noFill/>
          <a:extLst>
            <a:ext uri="{909E8E84-426E-40DD-AFC4-6F175D3DCCD1}">
              <a14:hiddenFill xmlns:a14="http://schemas.microsoft.com/office/drawing/2010/main">
                <a:solidFill>
                  <a:srgbClr val="FFFFFF"/>
                </a:solidFill>
              </a14:hiddenFill>
            </a:ext>
          </a:extLst>
        </p:spPr>
      </p:pic>
      <p:sp>
        <p:nvSpPr>
          <p:cNvPr id="545802" name="Line 10"/>
          <p:cNvSpPr>
            <a:spLocks noChangeShapeType="1"/>
          </p:cNvSpPr>
          <p:nvPr/>
        </p:nvSpPr>
        <p:spPr bwMode="auto">
          <a:xfrm>
            <a:off x="4171961" y="3384"/>
            <a:ext cx="182563" cy="0"/>
          </a:xfrm>
          <a:prstGeom prst="line">
            <a:avLst/>
          </a:prstGeom>
          <a:noFill/>
          <a:ln w="19050">
            <a:solidFill>
              <a:srgbClr val="00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 name="TextBox 2"/>
          <p:cNvSpPr txBox="1"/>
          <p:nvPr/>
        </p:nvSpPr>
        <p:spPr>
          <a:xfrm>
            <a:off x="130629" y="1066800"/>
            <a:ext cx="8610600" cy="1107996"/>
          </a:xfrm>
          <a:prstGeom prst="rect">
            <a:avLst/>
          </a:prstGeom>
          <a:noFill/>
        </p:spPr>
        <p:txBody>
          <a:bodyPr wrap="square" rtlCol="0">
            <a:spAutoFit/>
          </a:bodyPr>
          <a:lstStyle/>
          <a:p>
            <a:pPr>
              <a:lnSpc>
                <a:spcPct val="100000"/>
              </a:lnSpc>
              <a:spcBef>
                <a:spcPct val="50000"/>
              </a:spcBef>
            </a:pPr>
            <a:r>
              <a:rPr lang="en-US" sz="2200" i="0" dirty="0" smtClean="0">
                <a:solidFill>
                  <a:srgbClr val="0070C0"/>
                </a:solidFill>
                <a:latin typeface="+mn-lt"/>
              </a:rPr>
              <a:t>The NCSU cafeteria manager wants a 95%</a:t>
            </a:r>
          </a:p>
          <a:p>
            <a:pPr>
              <a:lnSpc>
                <a:spcPct val="100000"/>
              </a:lnSpc>
              <a:spcBef>
                <a:spcPts val="0"/>
              </a:spcBef>
            </a:pPr>
            <a:r>
              <a:rPr lang="en-US" sz="2200" i="0" dirty="0" smtClean="0">
                <a:solidFill>
                  <a:srgbClr val="0070C0"/>
                </a:solidFill>
                <a:latin typeface="+mn-lt"/>
              </a:rPr>
              <a:t>confidence interval to estimate the fat content of the </a:t>
            </a:r>
            <a:r>
              <a:rPr lang="en-US" sz="2200" i="0" dirty="0">
                <a:solidFill>
                  <a:srgbClr val="0070C0"/>
                </a:solidFill>
                <a:latin typeface="+mn-lt"/>
              </a:rPr>
              <a:t>brand </a:t>
            </a:r>
            <a:r>
              <a:rPr lang="en-US" sz="2200" i="0" dirty="0" smtClean="0">
                <a:solidFill>
                  <a:srgbClr val="0070C0"/>
                </a:solidFill>
                <a:latin typeface="+mn-lt"/>
              </a:rPr>
              <a:t>of hot dogs served in the campus cafeterias. </a:t>
            </a:r>
            <a:endParaRPr lang="en-US" sz="2200" i="0" dirty="0">
              <a:solidFill>
                <a:srgbClr val="0070C0"/>
              </a:solidFill>
              <a:latin typeface="+mn-lt"/>
            </a:endParaRPr>
          </a:p>
        </p:txBody>
      </p:sp>
      <mc:AlternateContent xmlns:mc="http://schemas.openxmlformats.org/markup-compatibility/2006" xmlns:a14="http://schemas.microsoft.com/office/drawing/2010/main">
        <mc:Choice Requires="a14">
          <p:sp>
            <p:nvSpPr>
              <p:cNvPr id="5" name="TextBox 4"/>
              <p:cNvSpPr txBox="1"/>
              <p:nvPr/>
            </p:nvSpPr>
            <p:spPr>
              <a:xfrm>
                <a:off x="179615" y="2286000"/>
                <a:ext cx="8610600" cy="1138773"/>
              </a:xfrm>
              <a:prstGeom prst="rect">
                <a:avLst/>
              </a:prstGeom>
              <a:noFill/>
            </p:spPr>
            <p:txBody>
              <a:bodyPr wrap="square" rtlCol="0">
                <a:spAutoFit/>
              </a:bodyPr>
              <a:lstStyle/>
              <a:p>
                <a:r>
                  <a:rPr lang="en-US" sz="2200" i="0" dirty="0" smtClean="0">
                    <a:latin typeface="+mn-lt"/>
                  </a:rPr>
                  <a:t>A </a:t>
                </a:r>
                <a:r>
                  <a:rPr lang="en-US" sz="2200" i="0" dirty="0">
                    <a:latin typeface="+mn-lt"/>
                  </a:rPr>
                  <a:t>random sample of 36 hot </a:t>
                </a:r>
                <a:r>
                  <a:rPr lang="en-US" sz="2200" i="0" dirty="0" smtClean="0">
                    <a:latin typeface="+mn-lt"/>
                  </a:rPr>
                  <a:t>dogs is analyzed by the Dept. of Food Science </a:t>
                </a:r>
                <a:r>
                  <a:rPr lang="en-US" sz="2200" i="0" dirty="0">
                    <a:latin typeface="+mn-lt"/>
                  </a:rPr>
                  <a:t>The </a:t>
                </a:r>
                <a:r>
                  <a:rPr lang="en-US" sz="2200" i="0" dirty="0" smtClean="0">
                    <a:latin typeface="+mn-lt"/>
                  </a:rPr>
                  <a:t>sample mean fat content of the 36 hot dogs </a:t>
                </a:r>
                <a:r>
                  <a:rPr lang="en-US" sz="2200" i="0" dirty="0">
                    <a:latin typeface="+mn-lt"/>
                  </a:rPr>
                  <a:t>is </a:t>
                </a:r>
                <a14:m>
                  <m:oMath xmlns:m="http://schemas.openxmlformats.org/officeDocument/2006/math">
                    <m:acc>
                      <m:accPr>
                        <m:chr m:val="̅"/>
                        <m:ctrlPr>
                          <a:rPr lang="en-US" i="1" smtClean="0">
                            <a:solidFill>
                              <a:srgbClr val="C00000"/>
                            </a:solidFill>
                            <a:latin typeface="Cambria Math" panose="02040503050406030204" pitchFamily="18" charset="0"/>
                          </a:rPr>
                        </m:ctrlPr>
                      </m:accPr>
                      <m:e>
                        <m:r>
                          <m:rPr>
                            <m:sty m:val="p"/>
                          </m:rPr>
                          <a:rPr lang="en-US" i="0">
                            <a:solidFill>
                              <a:srgbClr val="C00000"/>
                            </a:solidFill>
                            <a:latin typeface="Cambria Math"/>
                          </a:rPr>
                          <m:t>x</m:t>
                        </m:r>
                      </m:e>
                    </m:acc>
                    <m:r>
                      <a:rPr lang="en-US" i="0">
                        <a:solidFill>
                          <a:srgbClr val="C00000"/>
                        </a:solidFill>
                        <a:latin typeface="Cambria Math"/>
                      </a:rPr>
                      <m:t>=18.4</m:t>
                    </m:r>
                  </m:oMath>
                </a14:m>
                <a:r>
                  <a:rPr lang="en-US" i="0" dirty="0">
                    <a:solidFill>
                      <a:srgbClr val="C00000"/>
                    </a:solidFill>
                    <a:latin typeface="+mn-lt"/>
                  </a:rPr>
                  <a:t> </a:t>
                </a:r>
                <a:r>
                  <a:rPr lang="en-US" i="0" dirty="0" smtClean="0">
                    <a:solidFill>
                      <a:srgbClr val="C00000"/>
                    </a:solidFill>
                    <a:latin typeface="+mn-lt"/>
                  </a:rPr>
                  <a:t> </a:t>
                </a:r>
                <a:r>
                  <a:rPr lang="en-US" i="0" dirty="0" smtClean="0">
                    <a:latin typeface="+mn-lt"/>
                  </a:rPr>
                  <a:t>with sample standard </a:t>
                </a:r>
                <a:r>
                  <a:rPr lang="en-US" i="0" dirty="0" smtClean="0">
                    <a:solidFill>
                      <a:srgbClr val="C00000"/>
                    </a:solidFill>
                    <a:latin typeface="+mn-lt"/>
                  </a:rPr>
                  <a:t>s = 1 </a:t>
                </a:r>
                <a:r>
                  <a:rPr lang="en-US" sz="2200" i="0" dirty="0" smtClean="0">
                    <a:latin typeface="+mn-lt"/>
                  </a:rPr>
                  <a:t>gram.  </a:t>
                </a:r>
                <a:endParaRPr lang="en-US" sz="2200" i="0" dirty="0"/>
              </a:p>
            </p:txBody>
          </p:sp>
        </mc:Choice>
        <mc:Fallback xmlns="">
          <p:sp>
            <p:nvSpPr>
              <p:cNvPr id="5" name="TextBox 4"/>
              <p:cNvSpPr txBox="1">
                <a:spLocks noRot="1" noChangeAspect="1" noMove="1" noResize="1" noEditPoints="1" noAdjustHandles="1" noChangeArrowheads="1" noChangeShapeType="1" noTextEdit="1"/>
              </p:cNvSpPr>
              <p:nvPr/>
            </p:nvSpPr>
            <p:spPr>
              <a:xfrm>
                <a:off x="179615" y="2286000"/>
                <a:ext cx="8610600" cy="1138773"/>
              </a:xfrm>
              <a:prstGeom prst="rect">
                <a:avLst/>
              </a:prstGeom>
              <a:blipFill rotWithShape="1">
                <a:blip r:embed="rId4"/>
                <a:stretch>
                  <a:fillRect l="-849" t="-3743" r="-1911" b="-11230"/>
                </a:stretch>
              </a:blipFill>
            </p:spPr>
            <p:txBody>
              <a:bodyPr/>
              <a:lstStyle/>
              <a:p>
                <a:r>
                  <a:rPr lang="en-US">
                    <a:noFill/>
                  </a:rPr>
                  <a:t> </a:t>
                </a:r>
              </a:p>
            </p:txBody>
          </p:sp>
        </mc:Fallback>
      </mc:AlternateContent>
      <p:sp>
        <p:nvSpPr>
          <p:cNvPr id="2" name="TextBox 1"/>
          <p:cNvSpPr txBox="1"/>
          <p:nvPr/>
        </p:nvSpPr>
        <p:spPr>
          <a:xfrm>
            <a:off x="304800" y="3603141"/>
            <a:ext cx="7787109" cy="461665"/>
          </a:xfrm>
          <a:prstGeom prst="rect">
            <a:avLst/>
          </a:prstGeom>
          <a:solidFill>
            <a:srgbClr val="FFC000"/>
          </a:solidFill>
        </p:spPr>
        <p:txBody>
          <a:bodyPr wrap="square" rtlCol="0">
            <a:spAutoFit/>
          </a:bodyPr>
          <a:lstStyle/>
          <a:p>
            <a:r>
              <a:rPr lang="en-US" i="0" dirty="0" smtClean="0">
                <a:latin typeface="+mn-lt"/>
              </a:rPr>
              <a:t>Degrees of freedom = 35; for 95%, t = 2.0301 </a:t>
            </a:r>
            <a:endParaRPr lang="en-US" i="0" dirty="0">
              <a:latin typeface="+mn-lt"/>
            </a:endParaRPr>
          </a:p>
        </p:txBody>
      </p:sp>
      <p:graphicFrame>
        <p:nvGraphicFramePr>
          <p:cNvPr id="7" name="Object 6"/>
          <p:cNvGraphicFramePr>
            <a:graphicFrameLocks noChangeAspect="1"/>
          </p:cNvGraphicFramePr>
          <p:nvPr>
            <p:extLst>
              <p:ext uri="{D42A27DB-BD31-4B8C-83A1-F6EECF244321}">
                <p14:modId xmlns:p14="http://schemas.microsoft.com/office/powerpoint/2010/main" val="2736914844"/>
              </p:ext>
            </p:extLst>
          </p:nvPr>
        </p:nvGraphicFramePr>
        <p:xfrm>
          <a:off x="2336240" y="4191000"/>
          <a:ext cx="3854003" cy="1600200"/>
        </p:xfrm>
        <a:graphic>
          <a:graphicData uri="http://schemas.openxmlformats.org/presentationml/2006/ole">
            <mc:AlternateContent xmlns:mc="http://schemas.openxmlformats.org/markup-compatibility/2006">
              <mc:Choice xmlns:v="urn:schemas-microsoft-com:vml" Requires="v">
                <p:oleObj spid="_x0000_s45082" name="Equation" r:id="rId5" imgW="2171520" imgH="901440" progId="Equation.DSMT4">
                  <p:embed/>
                </p:oleObj>
              </mc:Choice>
              <mc:Fallback>
                <p:oleObj name="Equation" r:id="rId5" imgW="2171520" imgH="901440" progId="Equation.DSMT4">
                  <p:embed/>
                  <p:pic>
                    <p:nvPicPr>
                      <p:cNvPr id="0" name=""/>
                      <p:cNvPicPr/>
                      <p:nvPr/>
                    </p:nvPicPr>
                    <p:blipFill>
                      <a:blip r:embed="rId6"/>
                      <a:stretch>
                        <a:fillRect/>
                      </a:stretch>
                    </p:blipFill>
                    <p:spPr>
                      <a:xfrm>
                        <a:off x="2336240" y="4191000"/>
                        <a:ext cx="3854003" cy="1600200"/>
                      </a:xfrm>
                      <a:prstGeom prst="rect">
                        <a:avLst/>
                      </a:prstGeom>
                      <a:solidFill>
                        <a:srgbClr val="FFC000"/>
                      </a:solidFill>
                    </p:spPr>
                  </p:pic>
                </p:oleObj>
              </mc:Fallback>
            </mc:AlternateContent>
          </a:graphicData>
        </a:graphic>
      </p:graphicFrame>
      <p:sp>
        <p:nvSpPr>
          <p:cNvPr id="8" name="TextBox 7"/>
          <p:cNvSpPr txBox="1"/>
          <p:nvPr/>
        </p:nvSpPr>
        <p:spPr>
          <a:xfrm>
            <a:off x="560615" y="5867400"/>
            <a:ext cx="8229600" cy="707886"/>
          </a:xfrm>
          <a:prstGeom prst="rect">
            <a:avLst/>
          </a:prstGeom>
          <a:noFill/>
        </p:spPr>
        <p:txBody>
          <a:bodyPr wrap="square" rtlCol="0">
            <a:spAutoFit/>
          </a:bodyPr>
          <a:lstStyle/>
          <a:p>
            <a:r>
              <a:rPr lang="en-US" sz="2000" i="0" dirty="0" smtClean="0">
                <a:solidFill>
                  <a:srgbClr val="FF0000"/>
                </a:solidFill>
                <a:latin typeface="+mn-lt"/>
              </a:rPr>
              <a:t>We are 95% confident that the interval (18.0616, 18.7384) contains the true mean fat content of the hot dogs.</a:t>
            </a:r>
            <a:endParaRPr lang="en-US" sz="2000" i="0" dirty="0">
              <a:solidFill>
                <a:srgbClr val="FF0000"/>
              </a:solidFill>
              <a:latin typeface="+mn-lt"/>
            </a:endParaRPr>
          </a:p>
        </p:txBody>
      </p:sp>
      <p:graphicFrame>
        <p:nvGraphicFramePr>
          <p:cNvPr id="9" name="Object 8"/>
          <p:cNvGraphicFramePr>
            <a:graphicFrameLocks noChangeAspect="1"/>
          </p:cNvGraphicFramePr>
          <p:nvPr>
            <p:extLst>
              <p:ext uri="{D42A27DB-BD31-4B8C-83A1-F6EECF244321}">
                <p14:modId xmlns:p14="http://schemas.microsoft.com/office/powerpoint/2010/main" val="2259628951"/>
              </p:ext>
            </p:extLst>
          </p:nvPr>
        </p:nvGraphicFramePr>
        <p:xfrm>
          <a:off x="5029200" y="76200"/>
          <a:ext cx="3930878" cy="990600"/>
        </p:xfrm>
        <a:graphic>
          <a:graphicData uri="http://schemas.openxmlformats.org/presentationml/2006/ole">
            <mc:AlternateContent xmlns:mc="http://schemas.openxmlformats.org/markup-compatibility/2006">
              <mc:Choice xmlns:v="urn:schemas-microsoft-com:vml" Requires="v">
                <p:oleObj spid="_x0000_s45083" name="Equation" r:id="rId7" imgW="1435100" imgH="419100" progId="Equation.3">
                  <p:embed/>
                </p:oleObj>
              </mc:Choice>
              <mc:Fallback>
                <p:oleObj name="Equation" r:id="rId7" imgW="1435100" imgH="419100" progId="Equation.3">
                  <p:embed/>
                  <p:pic>
                    <p:nvPicPr>
                      <p:cNvPr id="0" name="Object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029200" y="76200"/>
                        <a:ext cx="3930878" cy="990600"/>
                      </a:xfrm>
                      <a:prstGeom prst="rect">
                        <a:avLst/>
                      </a:prstGeom>
                      <a:solidFill>
                        <a:srgbClr val="00FFFF"/>
                      </a:solidFill>
                      <a:ln w="9525">
                        <a:solidFill>
                          <a:schemeClr val="tx1"/>
                        </a:solidFill>
                        <a:miter lim="800000"/>
                        <a:headEnd/>
                        <a:tailEnd/>
                      </a:ln>
                      <a:effectLst>
                        <a:outerShdw dist="80322" dir="20493903" algn="ctr" rotWithShape="0">
                          <a:schemeClr val="accent2"/>
                        </a:outerShdw>
                      </a:effectLst>
                    </p:spPr>
                  </p:pic>
                </p:oleObj>
              </mc:Fallback>
            </mc:AlternateContent>
          </a:graphicData>
        </a:graphic>
      </p:graphicFrame>
    </p:spTree>
    <p:extLst>
      <p:ext uri="{BB962C8B-B14F-4D97-AF65-F5344CB8AC3E}">
        <p14:creationId xmlns:p14="http://schemas.microsoft.com/office/powerpoint/2010/main" val="44876711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04800" y="228600"/>
            <a:ext cx="8229600" cy="1785104"/>
          </a:xfrm>
          <a:prstGeom prst="rect">
            <a:avLst/>
          </a:prstGeom>
          <a:noFill/>
        </p:spPr>
        <p:txBody>
          <a:bodyPr wrap="square" rtlCol="0">
            <a:spAutoFit/>
          </a:bodyPr>
          <a:lstStyle/>
          <a:p>
            <a:r>
              <a:rPr lang="en-US" sz="2200" i="0" dirty="0" smtClean="0">
                <a:solidFill>
                  <a:srgbClr val="FF0000"/>
                </a:solidFill>
                <a:latin typeface="Comic Sans MS" panose="030F0702030302020204" pitchFamily="66" charset="0"/>
              </a:rPr>
              <a:t>During a flu outbreak, many people visit emergency rooms.  Before being treated, they often spend time in crowded waiting rooms where other patients may be exposed.  A study was performed investigating a drive-through model where flu patients are evaluated while they remain in their cars.</a:t>
            </a:r>
            <a:endParaRPr lang="en-US" sz="2200" i="0" dirty="0">
              <a:solidFill>
                <a:srgbClr val="FF0000"/>
              </a:solidFill>
              <a:latin typeface="Comic Sans MS" panose="030F0702030302020204" pitchFamily="66" charset="0"/>
            </a:endParaRPr>
          </a:p>
        </p:txBody>
      </p:sp>
      <p:sp>
        <p:nvSpPr>
          <p:cNvPr id="6" name="TextBox 5"/>
          <p:cNvSpPr txBox="1"/>
          <p:nvPr/>
        </p:nvSpPr>
        <p:spPr>
          <a:xfrm>
            <a:off x="304800" y="2013704"/>
            <a:ext cx="8534400" cy="2123658"/>
          </a:xfrm>
          <a:prstGeom prst="rect">
            <a:avLst/>
          </a:prstGeom>
          <a:noFill/>
        </p:spPr>
        <p:txBody>
          <a:bodyPr wrap="square" rtlCol="0">
            <a:spAutoFit/>
          </a:bodyPr>
          <a:lstStyle/>
          <a:p>
            <a:r>
              <a:rPr lang="en-US" sz="2200" i="0" dirty="0" smtClean="0">
                <a:solidFill>
                  <a:srgbClr val="0070C0"/>
                </a:solidFill>
                <a:latin typeface="Comic Sans MS" panose="030F0702030302020204" pitchFamily="66" charset="0"/>
              </a:rPr>
              <a:t>In the study, 38 people were each given a scenario for a flu case that was selected at random from the set of all flu cases actually seen in the emergency room.  The scenarios provided the “patient” with a medical history and a description of symptoms that would allow the patient to respond to questions from the examining physician.</a:t>
            </a:r>
            <a:endParaRPr lang="en-US" sz="2200" i="0" dirty="0">
              <a:solidFill>
                <a:srgbClr val="0070C0"/>
              </a:solidFill>
              <a:latin typeface="Comic Sans MS" panose="030F0702030302020204" pitchFamily="66" charset="0"/>
            </a:endParaRPr>
          </a:p>
        </p:txBody>
      </p:sp>
      <p:pic>
        <p:nvPicPr>
          <p:cNvPr id="98306" name="Picture 2" descr="C:\Users\Owner\AppData\Local\Microsoft\Windows\Temporary Internet Files\Content.IE5\P8LNCK69\MP900439333[1].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58200" y="5154168"/>
            <a:ext cx="1206680" cy="1703832"/>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304800" y="4116050"/>
            <a:ext cx="8534400" cy="1446550"/>
          </a:xfrm>
          <a:prstGeom prst="rect">
            <a:avLst/>
          </a:prstGeom>
          <a:noFill/>
        </p:spPr>
        <p:txBody>
          <a:bodyPr wrap="square" rtlCol="0">
            <a:spAutoFit/>
          </a:bodyPr>
          <a:lstStyle/>
          <a:p>
            <a:r>
              <a:rPr lang="en-US" sz="2200" i="0" dirty="0" smtClean="0">
                <a:solidFill>
                  <a:srgbClr val="C00000"/>
                </a:solidFill>
                <a:latin typeface="+mn-lt"/>
              </a:rPr>
              <a:t>The patients were processed using a drive-through procedure that was implemented in the parking structure of Stanford University Hospital.  The time to process each case from admission to discharge was recorded.</a:t>
            </a:r>
            <a:endParaRPr lang="en-US" sz="2200" i="0" dirty="0">
              <a:solidFill>
                <a:srgbClr val="C00000"/>
              </a:solidFill>
              <a:latin typeface="+mn-lt"/>
            </a:endParaRPr>
          </a:p>
        </p:txBody>
      </p:sp>
      <mc:AlternateContent xmlns:mc="http://schemas.openxmlformats.org/markup-compatibility/2006" xmlns:a14="http://schemas.microsoft.com/office/drawing/2010/main">
        <mc:Choice Requires="a14">
          <p:sp>
            <p:nvSpPr>
              <p:cNvPr id="9" name="TextBox 8"/>
              <p:cNvSpPr txBox="1"/>
              <p:nvPr/>
            </p:nvSpPr>
            <p:spPr>
              <a:xfrm>
                <a:off x="304800" y="5562600"/>
                <a:ext cx="7653400" cy="1137940"/>
              </a:xfrm>
              <a:prstGeom prst="rect">
                <a:avLst/>
              </a:prstGeom>
              <a:noFill/>
            </p:spPr>
            <p:txBody>
              <a:bodyPr wrap="square" rtlCol="0">
                <a:spAutoFit/>
              </a:bodyPr>
              <a:lstStyle/>
              <a:p>
                <a:r>
                  <a:rPr lang="en-US" sz="2200" i="0" dirty="0" smtClean="0">
                    <a:latin typeface="+mn-lt"/>
                  </a:rPr>
                  <a:t>The following sample statistics were computed from the data:</a:t>
                </a:r>
              </a:p>
              <a:p>
                <a:pPr algn="ctr"/>
                <a:r>
                  <a:rPr lang="en-US" sz="2200" b="1" i="0" dirty="0" smtClean="0">
                    <a:solidFill>
                      <a:srgbClr val="669900"/>
                    </a:solidFill>
                    <a:latin typeface="+mn-lt"/>
                  </a:rPr>
                  <a:t>n = 38	</a:t>
                </a:r>
                <a:r>
                  <a:rPr lang="en-US" sz="2200" b="1" dirty="0" smtClean="0">
                    <a:solidFill>
                      <a:srgbClr val="669900"/>
                    </a:solidFill>
                    <a:latin typeface="+mn-lt"/>
                  </a:rPr>
                  <a:t>	</a:t>
                </a:r>
                <a14:m>
                  <m:oMath xmlns:m="http://schemas.openxmlformats.org/officeDocument/2006/math">
                    <m:acc>
                      <m:accPr>
                        <m:chr m:val="̅"/>
                        <m:ctrlPr>
                          <a:rPr lang="en-US" b="1" i="1" smtClean="0">
                            <a:solidFill>
                              <a:srgbClr val="669900"/>
                            </a:solidFill>
                            <a:latin typeface="Cambria Math" panose="02040503050406030204" pitchFamily="18" charset="0"/>
                          </a:rPr>
                        </m:ctrlPr>
                      </m:accPr>
                      <m:e>
                        <m:r>
                          <a:rPr lang="en-US" b="1" i="0" smtClean="0">
                            <a:solidFill>
                              <a:srgbClr val="669900"/>
                            </a:solidFill>
                            <a:latin typeface="Cambria Math"/>
                          </a:rPr>
                          <m:t>𝐱</m:t>
                        </m:r>
                      </m:e>
                    </m:acc>
                  </m:oMath>
                </a14:m>
                <a:r>
                  <a:rPr lang="en-US" b="1" i="0" dirty="0" smtClean="0">
                    <a:solidFill>
                      <a:srgbClr val="669900"/>
                    </a:solidFill>
                    <a:latin typeface="+mn-lt"/>
                  </a:rPr>
                  <a:t> </a:t>
                </a:r>
                <a:r>
                  <a:rPr lang="en-US" sz="2200" b="1" i="0" dirty="0" smtClean="0">
                    <a:solidFill>
                      <a:srgbClr val="669900"/>
                    </a:solidFill>
                    <a:latin typeface="+mn-lt"/>
                  </a:rPr>
                  <a:t>= 26 minutes</a:t>
                </a:r>
                <a:r>
                  <a:rPr lang="en-US" sz="2200" b="1" dirty="0" smtClean="0">
                    <a:solidFill>
                      <a:srgbClr val="669900"/>
                    </a:solidFill>
                    <a:latin typeface="+mn-lt"/>
                  </a:rPr>
                  <a:t>	</a:t>
                </a:r>
                <a:r>
                  <a:rPr lang="en-US" sz="2200" b="1" i="0" dirty="0" smtClean="0">
                    <a:solidFill>
                      <a:srgbClr val="669900"/>
                    </a:solidFill>
                    <a:latin typeface="+mn-lt"/>
                  </a:rPr>
                  <a:t>s = 1.57 minutes</a:t>
                </a:r>
              </a:p>
            </p:txBody>
          </p:sp>
        </mc:Choice>
        <mc:Fallback xmlns="">
          <p:sp>
            <p:nvSpPr>
              <p:cNvPr id="9" name="TextBox 8"/>
              <p:cNvSpPr txBox="1">
                <a:spLocks noRot="1" noChangeAspect="1" noMove="1" noResize="1" noEditPoints="1" noAdjustHandles="1" noChangeArrowheads="1" noChangeShapeType="1" noTextEdit="1"/>
              </p:cNvSpPr>
              <p:nvPr/>
            </p:nvSpPr>
            <p:spPr>
              <a:xfrm>
                <a:off x="304800" y="5562600"/>
                <a:ext cx="7653400" cy="1137940"/>
              </a:xfrm>
              <a:prstGeom prst="rect">
                <a:avLst/>
              </a:prstGeom>
              <a:blipFill rotWithShape="1">
                <a:blip r:embed="rId3"/>
                <a:stretch>
                  <a:fillRect l="-956" t="-3763" r="-398" b="-8602"/>
                </a:stretch>
              </a:blipFill>
            </p:spPr>
            <p:txBody>
              <a:bodyPr/>
              <a:lstStyle/>
              <a:p>
                <a:r>
                  <a:rPr lang="en-US">
                    <a:noFill/>
                  </a:rPr>
                  <a:t> </a:t>
                </a:r>
              </a:p>
            </p:txBody>
          </p:sp>
        </mc:Fallback>
      </mc:AlternateContent>
      <p:sp>
        <p:nvSpPr>
          <p:cNvPr id="10" name="Rounded Rectangular Callout 9"/>
          <p:cNvSpPr/>
          <p:nvPr/>
        </p:nvSpPr>
        <p:spPr bwMode="auto">
          <a:xfrm>
            <a:off x="1202500" y="1447800"/>
            <a:ext cx="7331900" cy="2209800"/>
          </a:xfrm>
          <a:prstGeom prst="wedgeRoundRectCallout">
            <a:avLst/>
          </a:prstGeom>
          <a:solidFill>
            <a:srgbClr val="669900"/>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bg1"/>
                </a:solidFill>
                <a:effectLst/>
                <a:latin typeface="+mn-lt"/>
              </a:rPr>
              <a:t>Researchers were interested</a:t>
            </a:r>
            <a:r>
              <a:rPr kumimoji="0" lang="en-US" sz="2400" b="0" i="0" u="none" strike="noStrike" cap="none" normalizeH="0" dirty="0" smtClean="0">
                <a:ln>
                  <a:noFill/>
                </a:ln>
                <a:solidFill>
                  <a:schemeClr val="bg1"/>
                </a:solidFill>
                <a:effectLst/>
                <a:latin typeface="+mn-lt"/>
              </a:rPr>
              <a:t> in estimating the mean processing time for flu patients using the drive-through model.</a:t>
            </a:r>
          </a:p>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smtClean="0">
              <a:ln>
                <a:noFill/>
              </a:ln>
              <a:solidFill>
                <a:schemeClr val="bg1"/>
              </a:solidFill>
              <a:effectLst/>
              <a:latin typeface="+mn-lt"/>
            </a:endParaRPr>
          </a:p>
          <a:p>
            <a:pPr marL="0" marR="0" indent="0" algn="ctr" defTabSz="914400" rtl="0" eaLnBrk="0" fontAlgn="base" latinLnBrk="0" hangingPunct="0">
              <a:lnSpc>
                <a:spcPct val="100000"/>
              </a:lnSpc>
              <a:spcBef>
                <a:spcPct val="0"/>
              </a:spcBef>
              <a:spcAft>
                <a:spcPct val="0"/>
              </a:spcAft>
              <a:buClrTx/>
              <a:buSzTx/>
              <a:buFontTx/>
              <a:buNone/>
              <a:tabLst/>
            </a:pPr>
            <a:r>
              <a:rPr lang="en-US" dirty="0" smtClean="0">
                <a:solidFill>
                  <a:schemeClr val="bg1"/>
                </a:solidFill>
                <a:latin typeface="+mn-lt"/>
              </a:rPr>
              <a:t>Use 95% confidence to estimate this mean.</a:t>
            </a:r>
            <a:endParaRPr kumimoji="0" lang="en-US" sz="2400" b="0" i="0" u="none" strike="noStrike" cap="none" normalizeH="0" baseline="0" dirty="0" smtClean="0">
              <a:ln>
                <a:noFill/>
              </a:ln>
              <a:solidFill>
                <a:schemeClr val="bg1"/>
              </a:solidFill>
              <a:effectLst/>
              <a:latin typeface="+mn-lt"/>
            </a:endParaRPr>
          </a:p>
        </p:txBody>
      </p:sp>
    </p:spTree>
    <p:extLst>
      <p:ext uri="{BB962C8B-B14F-4D97-AF65-F5344CB8AC3E}">
        <p14:creationId xmlns:p14="http://schemas.microsoft.com/office/powerpoint/2010/main" val="227131609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9" grpId="0"/>
      <p:bldP spid="10"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8306" name="Picture 2" descr="C:\Users\Owner\AppData\Local\Microsoft\Windows\Temporary Internet Files\Content.IE5\P8LNCK69\MP900439333[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40969" y="2590800"/>
            <a:ext cx="1206680" cy="1703832"/>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9" name="TextBox 8"/>
              <p:cNvSpPr txBox="1"/>
              <p:nvPr/>
            </p:nvSpPr>
            <p:spPr>
              <a:xfrm>
                <a:off x="292808" y="152400"/>
                <a:ext cx="8613732" cy="1569660"/>
              </a:xfrm>
              <a:prstGeom prst="rect">
                <a:avLst/>
              </a:prstGeom>
              <a:noFill/>
            </p:spPr>
            <p:txBody>
              <a:bodyPr wrap="square" rtlCol="0">
                <a:spAutoFit/>
              </a:bodyPr>
              <a:lstStyle/>
              <a:p>
                <a:pPr eaLnBrk="1" hangingPunct="1"/>
                <a:r>
                  <a:rPr lang="en-US" sz="2800" i="0" dirty="0">
                    <a:solidFill>
                      <a:srgbClr val="669900"/>
                    </a:solidFill>
                    <a:latin typeface="Comic Sans MS"/>
                  </a:rPr>
                  <a:t>Drive-through Model Continued . . .</a:t>
                </a:r>
              </a:p>
              <a:p>
                <a:pPr eaLnBrk="1" hangingPunct="1"/>
                <a:endParaRPr lang="en-US" sz="2200" i="0" dirty="0">
                  <a:solidFill>
                    <a:srgbClr val="000000"/>
                  </a:solidFill>
                  <a:latin typeface="Comic Sans MS"/>
                </a:endParaRPr>
              </a:p>
              <a:p>
                <a:pPr eaLnBrk="1" hangingPunct="1"/>
                <a:r>
                  <a:rPr lang="en-US" sz="2200" i="0" dirty="0">
                    <a:solidFill>
                      <a:srgbClr val="000000"/>
                    </a:solidFill>
                    <a:latin typeface="Comic Sans MS"/>
                  </a:rPr>
                  <a:t>The following sample statistics were computed from the data:</a:t>
                </a:r>
              </a:p>
              <a:p>
                <a:pPr algn="ctr" eaLnBrk="1" hangingPunct="1"/>
                <a:r>
                  <a:rPr lang="en-US" sz="2200" dirty="0">
                    <a:solidFill>
                      <a:srgbClr val="669900"/>
                    </a:solidFill>
                    <a:latin typeface="Comic Sans MS"/>
                  </a:rPr>
                  <a:t>n</a:t>
                </a:r>
                <a:r>
                  <a:rPr lang="en-US" sz="2200" i="0" dirty="0">
                    <a:solidFill>
                      <a:srgbClr val="669900"/>
                    </a:solidFill>
                    <a:latin typeface="Comic Sans MS"/>
                  </a:rPr>
                  <a:t> = 38		</a:t>
                </a:r>
                <a14:m>
                  <m:oMath xmlns:m="http://schemas.openxmlformats.org/officeDocument/2006/math">
                    <m:acc>
                      <m:accPr>
                        <m:chr m:val="̅"/>
                        <m:ctrlPr>
                          <a:rPr lang="en-US" i="1">
                            <a:solidFill>
                              <a:srgbClr val="669900"/>
                            </a:solidFill>
                            <a:latin typeface="Cambria Math" panose="02040503050406030204" pitchFamily="18" charset="0"/>
                          </a:rPr>
                        </m:ctrlPr>
                      </m:accPr>
                      <m:e>
                        <m:r>
                          <a:rPr lang="en-US">
                            <a:solidFill>
                              <a:srgbClr val="669900"/>
                            </a:solidFill>
                            <a:latin typeface="Cambria Math"/>
                          </a:rPr>
                          <m:t>𝑥</m:t>
                        </m:r>
                      </m:e>
                    </m:acc>
                  </m:oMath>
                </a14:m>
                <a:r>
                  <a:rPr lang="en-US" i="0" dirty="0">
                    <a:solidFill>
                      <a:srgbClr val="669900"/>
                    </a:solidFill>
                    <a:latin typeface="Comic Sans MS"/>
                  </a:rPr>
                  <a:t> </a:t>
                </a:r>
                <a:r>
                  <a:rPr lang="en-US" sz="2200" i="0" dirty="0">
                    <a:solidFill>
                      <a:srgbClr val="669900"/>
                    </a:solidFill>
                    <a:latin typeface="Comic Sans MS"/>
                  </a:rPr>
                  <a:t>= 26 minutes	</a:t>
                </a:r>
                <a:r>
                  <a:rPr lang="en-US" sz="2200" dirty="0">
                    <a:solidFill>
                      <a:srgbClr val="669900"/>
                    </a:solidFill>
                    <a:latin typeface="Comic Sans MS"/>
                  </a:rPr>
                  <a:t>s</a:t>
                </a:r>
                <a:r>
                  <a:rPr lang="en-US" sz="2200" i="0" dirty="0">
                    <a:solidFill>
                      <a:srgbClr val="669900"/>
                    </a:solidFill>
                    <a:latin typeface="Comic Sans MS"/>
                  </a:rPr>
                  <a:t> = 1.57 minutes</a:t>
                </a:r>
              </a:p>
            </p:txBody>
          </p:sp>
        </mc:Choice>
        <mc:Fallback xmlns="">
          <p:sp>
            <p:nvSpPr>
              <p:cNvPr id="9" name="TextBox 8"/>
              <p:cNvSpPr txBox="1">
                <a:spLocks noRot="1" noChangeAspect="1" noMove="1" noResize="1" noEditPoints="1" noAdjustHandles="1" noChangeArrowheads="1" noChangeShapeType="1" noTextEdit="1"/>
              </p:cNvSpPr>
              <p:nvPr/>
            </p:nvSpPr>
            <p:spPr>
              <a:xfrm>
                <a:off x="292808" y="152400"/>
                <a:ext cx="8613732" cy="1569660"/>
              </a:xfrm>
              <a:prstGeom prst="rect">
                <a:avLst/>
              </a:prstGeom>
              <a:blipFill rotWithShape="1">
                <a:blip r:embed="rId4"/>
                <a:stretch>
                  <a:fillRect l="-1415" t="-3891" b="-6226"/>
                </a:stretch>
              </a:blipFill>
            </p:spPr>
            <p:txBody>
              <a:bodyPr/>
              <a:lstStyle/>
              <a:p>
                <a:r>
                  <a:rPr lang="en-US">
                    <a:noFill/>
                  </a:rPr>
                  <a:t> </a:t>
                </a:r>
              </a:p>
            </p:txBody>
          </p:sp>
        </mc:Fallback>
      </mc:AlternateContent>
      <p:sp>
        <p:nvSpPr>
          <p:cNvPr id="6" name="TextBox 5"/>
          <p:cNvSpPr txBox="1"/>
          <p:nvPr/>
        </p:nvSpPr>
        <p:spPr>
          <a:xfrm>
            <a:off x="457200" y="1905000"/>
            <a:ext cx="7787109" cy="461665"/>
          </a:xfrm>
          <a:prstGeom prst="rect">
            <a:avLst/>
          </a:prstGeom>
          <a:solidFill>
            <a:srgbClr val="FFC000"/>
          </a:solidFill>
        </p:spPr>
        <p:txBody>
          <a:bodyPr wrap="square" rtlCol="0">
            <a:spAutoFit/>
          </a:bodyPr>
          <a:lstStyle/>
          <a:p>
            <a:r>
              <a:rPr lang="en-US" i="0" dirty="0" smtClean="0">
                <a:latin typeface="+mn-lt"/>
              </a:rPr>
              <a:t>Degrees of freedom = 37; for 95%, t = 2.0262 </a:t>
            </a:r>
            <a:endParaRPr lang="en-US" i="0" dirty="0">
              <a:latin typeface="+mn-lt"/>
            </a:endParaRPr>
          </a:p>
        </p:txBody>
      </p:sp>
      <p:graphicFrame>
        <p:nvGraphicFramePr>
          <p:cNvPr id="3" name="Object 2"/>
          <p:cNvGraphicFramePr>
            <a:graphicFrameLocks noChangeAspect="1"/>
          </p:cNvGraphicFramePr>
          <p:nvPr>
            <p:extLst>
              <p:ext uri="{D42A27DB-BD31-4B8C-83A1-F6EECF244321}">
                <p14:modId xmlns:p14="http://schemas.microsoft.com/office/powerpoint/2010/main" val="2240795697"/>
              </p:ext>
            </p:extLst>
          </p:nvPr>
        </p:nvGraphicFramePr>
        <p:xfrm>
          <a:off x="2865438" y="2514600"/>
          <a:ext cx="3730625" cy="1766888"/>
        </p:xfrm>
        <a:graphic>
          <a:graphicData uri="http://schemas.openxmlformats.org/presentationml/2006/ole">
            <mc:AlternateContent xmlns:mc="http://schemas.openxmlformats.org/markup-compatibility/2006">
              <mc:Choice xmlns:v="urn:schemas-microsoft-com:vml" Requires="v">
                <p:oleObj spid="_x0000_s46091" name="Equation" r:id="rId5" imgW="1904760" imgH="901440" progId="Equation.DSMT4">
                  <p:embed/>
                </p:oleObj>
              </mc:Choice>
              <mc:Fallback>
                <p:oleObj name="Equation" r:id="rId5" imgW="1904760" imgH="901440" progId="Equation.DSMT4">
                  <p:embed/>
                  <p:pic>
                    <p:nvPicPr>
                      <p:cNvPr id="0" name="Object 6"/>
                      <p:cNvPicPr>
                        <a:picLocks noChangeAspect="1" noChangeArrowheads="1"/>
                      </p:cNvPicPr>
                      <p:nvPr/>
                    </p:nvPicPr>
                    <p:blipFill>
                      <a:blip r:embed="rId6"/>
                      <a:srcRect/>
                      <a:stretch>
                        <a:fillRect/>
                      </a:stretch>
                    </p:blipFill>
                    <p:spPr bwMode="auto">
                      <a:xfrm>
                        <a:off x="2865438" y="2514600"/>
                        <a:ext cx="3730625" cy="1766888"/>
                      </a:xfrm>
                      <a:prstGeom prst="rect">
                        <a:avLst/>
                      </a:prstGeom>
                      <a:solidFill>
                        <a:srgbClr val="FFC000"/>
                      </a:solidFill>
                      <a:ln>
                        <a:noFill/>
                      </a:ln>
                    </p:spPr>
                  </p:pic>
                </p:oleObj>
              </mc:Fallback>
            </mc:AlternateContent>
          </a:graphicData>
        </a:graphic>
      </p:graphicFrame>
      <p:sp>
        <p:nvSpPr>
          <p:cNvPr id="8" name="TextBox 7"/>
          <p:cNvSpPr txBox="1"/>
          <p:nvPr/>
        </p:nvSpPr>
        <p:spPr>
          <a:xfrm>
            <a:off x="460744" y="4724400"/>
            <a:ext cx="8229600" cy="1015663"/>
          </a:xfrm>
          <a:prstGeom prst="rect">
            <a:avLst/>
          </a:prstGeom>
          <a:solidFill>
            <a:srgbClr val="FFC000"/>
          </a:solidFill>
        </p:spPr>
        <p:txBody>
          <a:bodyPr wrap="square" rtlCol="0">
            <a:spAutoFit/>
          </a:bodyPr>
          <a:lstStyle/>
          <a:p>
            <a:r>
              <a:rPr lang="en-US" sz="2000" i="0" dirty="0" smtClean="0">
                <a:solidFill>
                  <a:srgbClr val="FF0000"/>
                </a:solidFill>
                <a:latin typeface="+mn-lt"/>
              </a:rPr>
              <a:t>We are 95% confident that the interval (25.484, 26.516) contains the true mean processing time for emergency room flu cases using the drive-thru model.</a:t>
            </a:r>
            <a:endParaRPr lang="en-US" sz="2000" i="0" dirty="0">
              <a:solidFill>
                <a:srgbClr val="FF0000"/>
              </a:solidFill>
              <a:latin typeface="+mn-lt"/>
            </a:endParaRPr>
          </a:p>
        </p:txBody>
      </p:sp>
    </p:spTree>
    <p:extLst>
      <p:ext uri="{BB962C8B-B14F-4D97-AF65-F5344CB8AC3E}">
        <p14:creationId xmlns:p14="http://schemas.microsoft.com/office/powerpoint/2010/main" val="65638458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a:xfrm>
            <a:off x="685800" y="2286000"/>
            <a:ext cx="7772400" cy="1143000"/>
          </a:xfrm>
        </p:spPr>
        <p:txBody>
          <a:bodyPr/>
          <a:lstStyle/>
          <a:p>
            <a:pPr>
              <a:defRPr/>
            </a:pPr>
            <a:r>
              <a:rPr lang="en-US" dirty="0" smtClean="0">
                <a:solidFill>
                  <a:srgbClr val="FF0000"/>
                </a:solidFill>
                <a:effectLst/>
              </a:rPr>
              <a:t>Determining Sample Size to Estimate </a:t>
            </a:r>
            <a:r>
              <a:rPr lang="en-US" dirty="0" smtClean="0">
                <a:solidFill>
                  <a:srgbClr val="FF0000"/>
                </a:solidFill>
                <a:effectLst/>
                <a:sym typeface="Symbol"/>
              </a:rPr>
              <a:t></a:t>
            </a:r>
            <a:endParaRPr lang="en-US" dirty="0" smtClean="0">
              <a:solidFill>
                <a:srgbClr val="FF0000"/>
              </a:solidFill>
            </a:endParaRPr>
          </a:p>
        </p:txBody>
      </p:sp>
      <p:sp>
        <p:nvSpPr>
          <p:cNvPr id="2051" name="Rectangle 3"/>
          <p:cNvSpPr>
            <a:spLocks noGrp="1" noChangeArrowheads="1"/>
          </p:cNvSpPr>
          <p:nvPr>
            <p:ph type="subTitle" idx="1"/>
          </p:nvPr>
        </p:nvSpPr>
        <p:spPr>
          <a:noFill/>
          <a:extLst>
            <a:ext uri="{909E8E84-426E-40DD-AFC4-6F175D3DCCD1}">
              <a14:hiddenFill xmlns:a14="http://schemas.microsoft.com/office/drawing/2010/main">
                <a:solidFill>
                  <a:srgbClr val="FFFFFF"/>
                </a:solidFill>
              </a14:hiddenFill>
            </a:ext>
          </a:extLst>
        </p:spPr>
        <p:txBody>
          <a:bodyPr/>
          <a:lstStyle/>
          <a:p>
            <a:pPr marL="342900" indent="-342900"/>
            <a:endParaRPr lang="en-US" altLang="en-US" smtClean="0">
              <a:effectLst/>
            </a:endParaRPr>
          </a:p>
        </p:txBody>
      </p:sp>
    </p:spTree>
    <p:custDataLst>
      <p:tags r:id="rId1"/>
    </p:custDataLst>
    <p:extLst>
      <p:ext uri="{BB962C8B-B14F-4D97-AF65-F5344CB8AC3E}">
        <p14:creationId xmlns:p14="http://schemas.microsoft.com/office/powerpoint/2010/main" val="3588306917"/>
      </p:ext>
    </p:extLst>
  </p:cSld>
  <p:clrMapOvr>
    <a:masterClrMapping/>
  </p:clrMapOvr>
  <p:transition>
    <p:random/>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solidFill>
            <a:srgbClr val="FFC000"/>
          </a:solidFill>
        </p:spPr>
        <p:txBody>
          <a:bodyPr/>
          <a:lstStyle/>
          <a:p>
            <a:r>
              <a:rPr lang="en-US" altLang="en-US" sz="4000" dirty="0" smtClean="0">
                <a:solidFill>
                  <a:schemeClr val="accent2"/>
                </a:solidFill>
                <a:effectLst/>
              </a:rPr>
              <a:t>Required Sample Size To Estimate a Population Mean </a:t>
            </a:r>
            <a:r>
              <a:rPr lang="en-US" altLang="en-US" sz="4000" dirty="0" smtClean="0">
                <a:solidFill>
                  <a:schemeClr val="accent2"/>
                </a:solidFill>
                <a:effectLst/>
                <a:latin typeface="Symbol" charset="2"/>
              </a:rPr>
              <a:t></a:t>
            </a:r>
          </a:p>
        </p:txBody>
      </p:sp>
      <p:sp>
        <p:nvSpPr>
          <p:cNvPr id="3075" name="Rectangle 3"/>
          <p:cNvSpPr>
            <a:spLocks noGrp="1" noChangeArrowheads="1"/>
          </p:cNvSpPr>
          <p:nvPr>
            <p:ph idx="1"/>
          </p:nvPr>
        </p:nvSpPr>
        <p:spPr>
          <a:solidFill>
            <a:srgbClr val="FFC000"/>
          </a:solidFill>
          <a:ln w="38100">
            <a:solidFill>
              <a:schemeClr val="tx1"/>
            </a:solidFill>
          </a:ln>
        </p:spPr>
        <p:txBody>
          <a:bodyPr/>
          <a:lstStyle/>
          <a:p>
            <a:r>
              <a:rPr lang="en-US" altLang="en-US" dirty="0" smtClean="0">
                <a:solidFill>
                  <a:srgbClr val="FF0000"/>
                </a:solidFill>
                <a:effectLst/>
              </a:rPr>
              <a:t>If you desire a C% confidence interval for a population mean </a:t>
            </a:r>
            <a:r>
              <a:rPr lang="en-US" altLang="en-US" b="1" dirty="0" smtClean="0">
                <a:solidFill>
                  <a:srgbClr val="FF0000"/>
                </a:solidFill>
                <a:effectLst/>
                <a:latin typeface="Symbol" charset="2"/>
              </a:rPr>
              <a:t> </a:t>
            </a:r>
            <a:r>
              <a:rPr lang="en-US" altLang="en-US" dirty="0" smtClean="0">
                <a:solidFill>
                  <a:srgbClr val="FF0000"/>
                </a:solidFill>
                <a:effectLst/>
              </a:rPr>
              <a:t> with an accuracy specified by you, how large does the sample size need to be?</a:t>
            </a:r>
          </a:p>
          <a:p>
            <a:r>
              <a:rPr lang="en-US" altLang="en-US" dirty="0" smtClean="0">
                <a:solidFill>
                  <a:srgbClr val="FF0000"/>
                </a:solidFill>
                <a:effectLst/>
              </a:rPr>
              <a:t>We will denote the accuracy by ME, which stands for </a:t>
            </a:r>
            <a:r>
              <a:rPr lang="en-US" altLang="en-US" b="1" dirty="0" smtClean="0">
                <a:solidFill>
                  <a:srgbClr val="FF0000"/>
                </a:solidFill>
                <a:effectLst/>
              </a:rPr>
              <a:t>M</a:t>
            </a:r>
            <a:r>
              <a:rPr lang="en-US" altLang="en-US" dirty="0" smtClean="0">
                <a:solidFill>
                  <a:srgbClr val="FF0000"/>
                </a:solidFill>
                <a:effectLst/>
              </a:rPr>
              <a:t>argin of </a:t>
            </a:r>
            <a:r>
              <a:rPr lang="en-US" altLang="en-US" b="1" dirty="0" smtClean="0">
                <a:solidFill>
                  <a:srgbClr val="FF0000"/>
                </a:solidFill>
                <a:effectLst/>
              </a:rPr>
              <a:t>E</a:t>
            </a:r>
            <a:r>
              <a:rPr lang="en-US" altLang="en-US" dirty="0" smtClean="0">
                <a:solidFill>
                  <a:srgbClr val="FF0000"/>
                </a:solidFill>
                <a:effectLst/>
              </a:rPr>
              <a:t>rror.</a:t>
            </a:r>
          </a:p>
        </p:txBody>
      </p:sp>
    </p:spTree>
    <p:custDataLst>
      <p:tags r:id="rId1"/>
    </p:custDataLst>
    <p:extLst>
      <p:ext uri="{BB962C8B-B14F-4D97-AF65-F5344CB8AC3E}">
        <p14:creationId xmlns:p14="http://schemas.microsoft.com/office/powerpoint/2010/main" val="615841581"/>
      </p:ext>
    </p:extLst>
  </p:cSld>
  <p:clrMapOvr>
    <a:masterClrMapping/>
  </p:clrMapOvr>
  <p:transition>
    <p:random/>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solidFill>
            <a:srgbClr val="FFC000"/>
          </a:solidFill>
        </p:spPr>
        <p:txBody>
          <a:bodyPr/>
          <a:lstStyle/>
          <a:p>
            <a:r>
              <a:rPr lang="en-US" altLang="en-US" sz="4000" dirty="0" smtClean="0">
                <a:solidFill>
                  <a:schemeClr val="accent2"/>
                </a:solidFill>
                <a:effectLst/>
              </a:rPr>
              <a:t>Example: Sample Size to Estimate a Population</a:t>
            </a:r>
            <a:r>
              <a:rPr lang="en-US" altLang="en-US" sz="3200" dirty="0" smtClean="0">
                <a:solidFill>
                  <a:schemeClr val="accent2"/>
                </a:solidFill>
                <a:effectLst/>
              </a:rPr>
              <a:t> </a:t>
            </a:r>
            <a:r>
              <a:rPr lang="en-US" altLang="en-US" sz="4000" dirty="0" smtClean="0">
                <a:solidFill>
                  <a:schemeClr val="accent2"/>
                </a:solidFill>
                <a:effectLst/>
              </a:rPr>
              <a:t>Mean </a:t>
            </a:r>
            <a:r>
              <a:rPr lang="en-US" altLang="en-US" sz="4000" dirty="0" smtClean="0">
                <a:solidFill>
                  <a:schemeClr val="accent2"/>
                </a:solidFill>
                <a:effectLst/>
                <a:latin typeface="Symbol" charset="2"/>
              </a:rPr>
              <a:t></a:t>
            </a:r>
          </a:p>
        </p:txBody>
      </p:sp>
      <p:sp>
        <p:nvSpPr>
          <p:cNvPr id="8195" name="Rectangle 3"/>
          <p:cNvSpPr>
            <a:spLocks noGrp="1" noChangeArrowheads="1"/>
          </p:cNvSpPr>
          <p:nvPr>
            <p:ph idx="1"/>
          </p:nvPr>
        </p:nvSpPr>
        <p:spPr>
          <a:solidFill>
            <a:srgbClr val="FFC000"/>
          </a:solidFill>
        </p:spPr>
        <p:txBody>
          <a:bodyPr/>
          <a:lstStyle/>
          <a:p>
            <a:pPr>
              <a:lnSpc>
                <a:spcPct val="90000"/>
              </a:lnSpc>
              <a:defRPr/>
            </a:pPr>
            <a:r>
              <a:rPr lang="en-US" dirty="0" smtClean="0">
                <a:solidFill>
                  <a:srgbClr val="FF0000"/>
                </a:solidFill>
                <a:effectLst/>
              </a:rPr>
              <a:t>Suppose we want to estimate the unknown mean height </a:t>
            </a:r>
            <a:r>
              <a:rPr lang="en-US" dirty="0" smtClean="0">
                <a:solidFill>
                  <a:srgbClr val="FF0000"/>
                </a:solidFill>
                <a:effectLst/>
                <a:latin typeface="Symbol" pitchFamily="18" charset="2"/>
              </a:rPr>
              <a:t></a:t>
            </a:r>
            <a:r>
              <a:rPr lang="en-US" dirty="0" smtClean="0">
                <a:solidFill>
                  <a:srgbClr val="FF0000"/>
                </a:solidFill>
                <a:effectLst/>
              </a:rPr>
              <a:t> of male students at NC State with a confidence interval.</a:t>
            </a:r>
          </a:p>
          <a:p>
            <a:pPr>
              <a:lnSpc>
                <a:spcPct val="90000"/>
              </a:lnSpc>
              <a:defRPr/>
            </a:pPr>
            <a:r>
              <a:rPr lang="en-US" dirty="0" smtClean="0">
                <a:solidFill>
                  <a:srgbClr val="FF0000"/>
                </a:solidFill>
                <a:effectLst/>
              </a:rPr>
              <a:t>We want to be 95% confident that our estimate is within .5 inch of </a:t>
            </a:r>
            <a:r>
              <a:rPr lang="en-US" dirty="0" smtClean="0">
                <a:solidFill>
                  <a:srgbClr val="FF0000"/>
                </a:solidFill>
                <a:effectLst/>
                <a:latin typeface="Symbol" pitchFamily="18" charset="2"/>
              </a:rPr>
              <a:t></a:t>
            </a:r>
            <a:endParaRPr lang="en-US" dirty="0" smtClean="0">
              <a:solidFill>
                <a:srgbClr val="FF0000"/>
              </a:solidFill>
              <a:effectLst/>
            </a:endParaRPr>
          </a:p>
          <a:p>
            <a:pPr>
              <a:lnSpc>
                <a:spcPct val="90000"/>
              </a:lnSpc>
              <a:defRPr/>
            </a:pPr>
            <a:r>
              <a:rPr lang="en-US" dirty="0" smtClean="0">
                <a:solidFill>
                  <a:srgbClr val="FF0000"/>
                </a:solidFill>
                <a:effectLst/>
              </a:rPr>
              <a:t>How large does our sample size need to be?</a:t>
            </a:r>
            <a:endParaRPr lang="en-US" dirty="0" smtClean="0">
              <a:solidFill>
                <a:srgbClr val="FF0000"/>
              </a:solidFill>
            </a:endParaRPr>
          </a:p>
        </p:txBody>
      </p:sp>
    </p:spTree>
    <p:custDataLst>
      <p:tags r:id="rId1"/>
    </p:custDataLst>
    <p:extLst>
      <p:ext uri="{BB962C8B-B14F-4D97-AF65-F5344CB8AC3E}">
        <p14:creationId xmlns:p14="http://schemas.microsoft.com/office/powerpoint/2010/main" val="3356363348"/>
      </p:ext>
    </p:extLst>
  </p:cSld>
  <p:clrMapOvr>
    <a:masterClrMapping/>
  </p:clrMapOvr>
  <p:transition spd="slow"/>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a:xfrm>
            <a:off x="685800" y="228600"/>
            <a:ext cx="7772400" cy="990600"/>
          </a:xfrm>
          <a:solidFill>
            <a:srgbClr val="FFC000"/>
          </a:solidFill>
        </p:spPr>
        <p:txBody>
          <a:bodyPr/>
          <a:lstStyle/>
          <a:p>
            <a:r>
              <a:rPr lang="en-US" altLang="en-US" dirty="0" smtClean="0">
                <a:solidFill>
                  <a:srgbClr val="FF0000"/>
                </a:solidFill>
                <a:effectLst/>
              </a:rPr>
              <a:t>Confidence Interval for </a:t>
            </a:r>
            <a:r>
              <a:rPr lang="en-US" altLang="en-US" dirty="0" smtClean="0">
                <a:solidFill>
                  <a:srgbClr val="FF0000"/>
                </a:solidFill>
                <a:effectLst/>
                <a:sym typeface="Symbol" charset="2"/>
              </a:rPr>
              <a:t></a:t>
            </a:r>
            <a:endParaRPr lang="en-US" altLang="en-US" dirty="0" smtClean="0">
              <a:solidFill>
                <a:srgbClr val="FF0000"/>
              </a:solidFill>
              <a:effectLst/>
            </a:endParaRPr>
          </a:p>
        </p:txBody>
      </p:sp>
      <p:graphicFrame>
        <p:nvGraphicFramePr>
          <p:cNvPr id="5123" name="Object 2"/>
          <p:cNvGraphicFramePr>
            <a:graphicFrameLocks noChangeAspect="1"/>
          </p:cNvGraphicFramePr>
          <p:nvPr>
            <p:extLst>
              <p:ext uri="{D42A27DB-BD31-4B8C-83A1-F6EECF244321}">
                <p14:modId xmlns:p14="http://schemas.microsoft.com/office/powerpoint/2010/main" val="3035527204"/>
              </p:ext>
            </p:extLst>
          </p:nvPr>
        </p:nvGraphicFramePr>
        <p:xfrm>
          <a:off x="1752600" y="1371600"/>
          <a:ext cx="5757863" cy="4224338"/>
        </p:xfrm>
        <a:graphic>
          <a:graphicData uri="http://schemas.openxmlformats.org/presentationml/2006/ole">
            <mc:AlternateContent xmlns:mc="http://schemas.openxmlformats.org/markup-compatibility/2006">
              <mc:Choice xmlns:v="urn:schemas-microsoft-com:vml" Requires="v">
                <p:oleObj spid="_x0000_s47112" name="Equation" r:id="rId4" imgW="2197080" imgH="1828800" progId="Equation.DSMT4">
                  <p:embed/>
                </p:oleObj>
              </mc:Choice>
              <mc:Fallback>
                <p:oleObj name="Equation" r:id="rId4" imgW="2197080" imgH="1828800" progId="Equation.DSMT4">
                  <p:embed/>
                  <p:pic>
                    <p:nvPicPr>
                      <p:cNvPr id="0" name=""/>
                      <p:cNvPicPr>
                        <a:picLocks noChangeAspect="1" noChangeArrowheads="1"/>
                      </p:cNvPicPr>
                      <p:nvPr/>
                    </p:nvPicPr>
                    <p:blipFill>
                      <a:blip r:embed="rId5"/>
                      <a:srcRect/>
                      <a:stretch>
                        <a:fillRect/>
                      </a:stretch>
                    </p:blipFill>
                    <p:spPr bwMode="auto">
                      <a:xfrm>
                        <a:off x="1752600" y="1371600"/>
                        <a:ext cx="5757863" cy="4224338"/>
                      </a:xfrm>
                      <a:prstGeom prst="rect">
                        <a:avLst/>
                      </a:prstGeom>
                      <a:solidFill>
                        <a:srgbClr val="FFC000"/>
                      </a:solidFill>
                      <a:ln>
                        <a:noFill/>
                      </a:ln>
                      <a:effectLst/>
                    </p:spPr>
                  </p:pic>
                </p:oleObj>
              </mc:Fallback>
            </mc:AlternateContent>
          </a:graphicData>
        </a:graphic>
      </p:graphicFrame>
    </p:spTree>
    <p:custDataLst>
      <p:tags r:id="rId2"/>
    </p:custDataLst>
    <p:extLst>
      <p:ext uri="{BB962C8B-B14F-4D97-AF65-F5344CB8AC3E}">
        <p14:creationId xmlns:p14="http://schemas.microsoft.com/office/powerpoint/2010/main" val="2464369120"/>
      </p:ext>
    </p:extLst>
  </p:cSld>
  <p:clrMapOvr>
    <a:masterClrMapping/>
  </p:clrMapOvr>
  <p:transition spd="slow">
    <p:pull dir="lu"/>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
            <a:ext cx="7772400" cy="152400"/>
          </a:xfrm>
        </p:spPr>
        <p:txBody>
          <a:bodyPr/>
          <a:lstStyle/>
          <a:p>
            <a:pPr>
              <a:defRPr/>
            </a:pPr>
            <a:endParaRPr lang="en-US" dirty="0" smtClean="0"/>
          </a:p>
        </p:txBody>
      </p:sp>
      <p:sp>
        <p:nvSpPr>
          <p:cNvPr id="6147" name="Content Placeholder 2"/>
          <p:cNvSpPr>
            <a:spLocks noGrp="1"/>
          </p:cNvSpPr>
          <p:nvPr>
            <p:ph idx="1"/>
          </p:nvPr>
        </p:nvSpPr>
        <p:spPr>
          <a:xfrm>
            <a:off x="685800" y="3505200"/>
            <a:ext cx="7772400" cy="2743200"/>
          </a:xfrm>
          <a:solidFill>
            <a:srgbClr val="FFC000"/>
          </a:solidFill>
        </p:spPr>
        <p:txBody>
          <a:bodyPr/>
          <a:lstStyle/>
          <a:p>
            <a:r>
              <a:rPr lang="en-US" altLang="en-US" b="1" dirty="0" smtClean="0">
                <a:solidFill>
                  <a:schemeClr val="accent2"/>
                </a:solidFill>
                <a:effectLst/>
              </a:rPr>
              <a:t>Good news:</a:t>
            </a:r>
            <a:r>
              <a:rPr lang="en-US" altLang="en-US" dirty="0" smtClean="0">
                <a:solidFill>
                  <a:schemeClr val="accent2"/>
                </a:solidFill>
                <a:effectLst/>
              </a:rPr>
              <a:t> </a:t>
            </a:r>
            <a:r>
              <a:rPr lang="en-US" altLang="en-US" dirty="0" smtClean="0">
                <a:solidFill>
                  <a:srgbClr val="FF0000"/>
                </a:solidFill>
                <a:effectLst/>
              </a:rPr>
              <a:t>we have an equation</a:t>
            </a:r>
          </a:p>
          <a:p>
            <a:r>
              <a:rPr lang="en-US" altLang="en-US" b="1" dirty="0" smtClean="0">
                <a:solidFill>
                  <a:schemeClr val="accent2"/>
                </a:solidFill>
                <a:effectLst/>
              </a:rPr>
              <a:t>Bad news:</a:t>
            </a:r>
          </a:p>
          <a:p>
            <a:pPr marL="971550" lvl="1" indent="-514350">
              <a:buFont typeface="Times New Roman" pitchFamily="18" charset="0"/>
              <a:buAutoNum type="arabicPeriod"/>
            </a:pPr>
            <a:r>
              <a:rPr lang="en-US" altLang="en-US" dirty="0" smtClean="0">
                <a:solidFill>
                  <a:srgbClr val="FF0000"/>
                </a:solidFill>
                <a:effectLst/>
              </a:rPr>
              <a:t>Need to know </a:t>
            </a:r>
            <a:r>
              <a:rPr lang="en-US" altLang="en-US" i="1" dirty="0" smtClean="0">
                <a:solidFill>
                  <a:srgbClr val="FF0000"/>
                </a:solidFill>
                <a:effectLst/>
              </a:rPr>
              <a:t>s</a:t>
            </a:r>
          </a:p>
          <a:p>
            <a:pPr marL="971550" lvl="1" indent="-514350">
              <a:buFont typeface="Times New Roman" pitchFamily="18" charset="0"/>
              <a:buAutoNum type="arabicPeriod"/>
            </a:pPr>
            <a:r>
              <a:rPr lang="en-US" altLang="en-US" dirty="0" smtClean="0">
                <a:solidFill>
                  <a:srgbClr val="FF0000"/>
                </a:solidFill>
                <a:effectLst/>
              </a:rPr>
              <a:t>We don’t know n so we don’t know the degrees of freedom to find </a:t>
            </a:r>
            <a:r>
              <a:rPr lang="en-US" altLang="en-US" i="1" dirty="0" smtClean="0">
                <a:solidFill>
                  <a:srgbClr val="FF0000"/>
                </a:solidFill>
                <a:effectLst/>
              </a:rPr>
              <a:t>t</a:t>
            </a:r>
            <a:r>
              <a:rPr lang="en-US" altLang="en-US" i="1" baseline="30000" dirty="0" smtClean="0">
                <a:solidFill>
                  <a:srgbClr val="FF0000"/>
                </a:solidFill>
                <a:effectLst/>
              </a:rPr>
              <a:t>*</a:t>
            </a:r>
            <a:r>
              <a:rPr lang="en-US" altLang="en-US" i="1" baseline="-25000" dirty="0" smtClean="0">
                <a:solidFill>
                  <a:srgbClr val="FF0000"/>
                </a:solidFill>
                <a:effectLst/>
              </a:rPr>
              <a:t>n-1</a:t>
            </a:r>
            <a:endParaRPr lang="en-US" altLang="en-US" dirty="0" smtClean="0">
              <a:solidFill>
                <a:srgbClr val="FF0000"/>
              </a:solidFill>
              <a:effectLst/>
            </a:endParaRPr>
          </a:p>
        </p:txBody>
      </p:sp>
      <p:graphicFrame>
        <p:nvGraphicFramePr>
          <p:cNvPr id="6148" name="Object 2"/>
          <p:cNvGraphicFramePr>
            <a:graphicFrameLocks noChangeAspect="1"/>
          </p:cNvGraphicFramePr>
          <p:nvPr>
            <p:extLst>
              <p:ext uri="{D42A27DB-BD31-4B8C-83A1-F6EECF244321}">
                <p14:modId xmlns:p14="http://schemas.microsoft.com/office/powerpoint/2010/main" val="869240230"/>
              </p:ext>
            </p:extLst>
          </p:nvPr>
        </p:nvGraphicFramePr>
        <p:xfrm>
          <a:off x="849313" y="200025"/>
          <a:ext cx="6754812" cy="3286125"/>
        </p:xfrm>
        <a:graphic>
          <a:graphicData uri="http://schemas.openxmlformats.org/presentationml/2006/ole">
            <mc:AlternateContent xmlns:mc="http://schemas.openxmlformats.org/markup-compatibility/2006">
              <mc:Choice xmlns:v="urn:schemas-microsoft-com:vml" Requires="v">
                <p:oleObj spid="_x0000_s48136" name="Equation" r:id="rId4" imgW="2577960" imgH="1422360" progId="Equation.DSMT4">
                  <p:embed/>
                </p:oleObj>
              </mc:Choice>
              <mc:Fallback>
                <p:oleObj name="Equation" r:id="rId4" imgW="2577960" imgH="1422360" progId="Equation.DSMT4">
                  <p:embed/>
                  <p:pic>
                    <p:nvPicPr>
                      <p:cNvPr id="0" name=""/>
                      <p:cNvPicPr>
                        <a:picLocks noChangeAspect="1" noChangeArrowheads="1"/>
                      </p:cNvPicPr>
                      <p:nvPr/>
                    </p:nvPicPr>
                    <p:blipFill>
                      <a:blip r:embed="rId5"/>
                      <a:srcRect/>
                      <a:stretch>
                        <a:fillRect/>
                      </a:stretch>
                    </p:blipFill>
                    <p:spPr bwMode="auto">
                      <a:xfrm>
                        <a:off x="849313" y="200025"/>
                        <a:ext cx="6754812" cy="3286125"/>
                      </a:xfrm>
                      <a:prstGeom prst="rect">
                        <a:avLst/>
                      </a:prstGeom>
                      <a:solidFill>
                        <a:srgbClr val="FFC000"/>
                      </a:solidFill>
                      <a:ln>
                        <a:noFill/>
                      </a:ln>
                      <a:effectLst/>
                    </p:spPr>
                  </p:pic>
                </p:oleObj>
              </mc:Fallback>
            </mc:AlternateContent>
          </a:graphicData>
        </a:graphic>
      </p:graphicFrame>
    </p:spTree>
    <p:custDataLst>
      <p:tags r:id="rId2"/>
    </p:custDataLst>
    <p:extLst>
      <p:ext uri="{BB962C8B-B14F-4D97-AF65-F5344CB8AC3E}">
        <p14:creationId xmlns:p14="http://schemas.microsoft.com/office/powerpoint/2010/main" val="3363390839"/>
      </p:ext>
    </p:extLst>
  </p:cSld>
  <p:clrMapOvr>
    <a:masterClrMapping/>
  </p:clrMapOvr>
  <p:transition spd="slow">
    <p:pull dir="lu"/>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3"/>
          <p:cNvSpPr>
            <a:spLocks noGrp="1"/>
          </p:cNvSpPr>
          <p:nvPr>
            <p:ph type="title"/>
          </p:nvPr>
        </p:nvSpPr>
        <p:spPr>
          <a:solidFill>
            <a:srgbClr val="FFC000"/>
          </a:solidFill>
        </p:spPr>
        <p:txBody>
          <a:bodyPr/>
          <a:lstStyle/>
          <a:p>
            <a:r>
              <a:rPr lang="en-US" altLang="en-US" dirty="0" smtClean="0">
                <a:solidFill>
                  <a:schemeClr val="accent2"/>
                </a:solidFill>
                <a:effectLst/>
              </a:rPr>
              <a:t>A Way Around this Problem: Use the Standard Normal</a:t>
            </a:r>
          </a:p>
        </p:txBody>
      </p:sp>
      <p:graphicFrame>
        <p:nvGraphicFramePr>
          <p:cNvPr id="7171" name="Object 2"/>
          <p:cNvGraphicFramePr>
            <a:graphicFrameLocks noChangeAspect="1"/>
          </p:cNvGraphicFramePr>
          <p:nvPr>
            <p:extLst>
              <p:ext uri="{D42A27DB-BD31-4B8C-83A1-F6EECF244321}">
                <p14:modId xmlns:p14="http://schemas.microsoft.com/office/powerpoint/2010/main" val="2682065837"/>
              </p:ext>
            </p:extLst>
          </p:nvPr>
        </p:nvGraphicFramePr>
        <p:xfrm>
          <a:off x="1150938" y="1905000"/>
          <a:ext cx="6892925" cy="3657600"/>
        </p:xfrm>
        <a:graphic>
          <a:graphicData uri="http://schemas.openxmlformats.org/presentationml/2006/ole">
            <mc:AlternateContent xmlns:mc="http://schemas.openxmlformats.org/markup-compatibility/2006">
              <mc:Choice xmlns:v="urn:schemas-microsoft-com:vml" Requires="v">
                <p:oleObj spid="_x0000_s49160" name="Equation" r:id="rId4" imgW="3136680" imgH="1676160" progId="Equation.DSMT4">
                  <p:embed/>
                </p:oleObj>
              </mc:Choice>
              <mc:Fallback>
                <p:oleObj name="Equation" r:id="rId4" imgW="3136680" imgH="1676160" progId="Equation.DSMT4">
                  <p:embed/>
                  <p:pic>
                    <p:nvPicPr>
                      <p:cNvPr id="0" name=""/>
                      <p:cNvPicPr>
                        <a:picLocks noChangeAspect="1" noChangeArrowheads="1"/>
                      </p:cNvPicPr>
                      <p:nvPr/>
                    </p:nvPicPr>
                    <p:blipFill>
                      <a:blip r:embed="rId5"/>
                      <a:srcRect/>
                      <a:stretch>
                        <a:fillRect/>
                      </a:stretch>
                    </p:blipFill>
                    <p:spPr bwMode="auto">
                      <a:xfrm>
                        <a:off x="1150938" y="1905000"/>
                        <a:ext cx="6892925" cy="3657600"/>
                      </a:xfrm>
                      <a:prstGeom prst="rect">
                        <a:avLst/>
                      </a:prstGeom>
                      <a:solidFill>
                        <a:srgbClr val="FFC000"/>
                      </a:solidFill>
                      <a:ln>
                        <a:noFill/>
                      </a:ln>
                      <a:effectLst/>
                    </p:spPr>
                  </p:pic>
                </p:oleObj>
              </mc:Fallback>
            </mc:AlternateContent>
          </a:graphicData>
        </a:graphic>
      </p:graphicFrame>
    </p:spTree>
    <p:custDataLst>
      <p:tags r:id="rId2"/>
    </p:custDataLst>
    <p:extLst>
      <p:ext uri="{BB962C8B-B14F-4D97-AF65-F5344CB8AC3E}">
        <p14:creationId xmlns:p14="http://schemas.microsoft.com/office/powerpoint/2010/main" val="2129328845"/>
      </p:ext>
    </p:extLst>
  </p:cSld>
  <p:clrMapOvr>
    <a:masterClrMapping/>
  </p:clrMapOvr>
  <p:transition spd="slow">
    <p:pull dir="lu"/>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685800" y="228600"/>
            <a:ext cx="7772400" cy="1143000"/>
          </a:xfrm>
          <a:solidFill>
            <a:srgbClr val="FFC000"/>
          </a:solidFill>
        </p:spPr>
        <p:txBody>
          <a:bodyPr/>
          <a:lstStyle/>
          <a:p>
            <a:pPr>
              <a:defRPr/>
            </a:pPr>
            <a:r>
              <a:rPr lang="en-US" b="1" dirty="0" smtClean="0">
                <a:solidFill>
                  <a:schemeClr val="accent2"/>
                </a:solidFill>
                <a:effectLst/>
              </a:rPr>
              <a:t>Estimating </a:t>
            </a:r>
            <a:r>
              <a:rPr lang="en-US" b="1" i="1" dirty="0" smtClean="0">
                <a:solidFill>
                  <a:schemeClr val="accent2"/>
                </a:solidFill>
                <a:effectLst/>
                <a:sym typeface="Symbol" pitchFamily="18" charset="2"/>
              </a:rPr>
              <a:t>s</a:t>
            </a:r>
            <a:endParaRPr lang="en-US" dirty="0" smtClean="0">
              <a:solidFill>
                <a:schemeClr val="accent2"/>
              </a:solidFill>
            </a:endParaRPr>
          </a:p>
        </p:txBody>
      </p:sp>
      <p:sp>
        <p:nvSpPr>
          <p:cNvPr id="27651" name="Rectangle 3"/>
          <p:cNvSpPr>
            <a:spLocks noGrp="1" noChangeArrowheads="1"/>
          </p:cNvSpPr>
          <p:nvPr>
            <p:ph idx="1"/>
          </p:nvPr>
        </p:nvSpPr>
        <p:spPr>
          <a:xfrm>
            <a:off x="609600" y="1600200"/>
            <a:ext cx="7772400" cy="4800600"/>
          </a:xfrm>
          <a:solidFill>
            <a:srgbClr val="FFC000"/>
          </a:solidFill>
        </p:spPr>
        <p:txBody>
          <a:bodyPr/>
          <a:lstStyle/>
          <a:p>
            <a:pPr>
              <a:defRPr/>
            </a:pPr>
            <a:r>
              <a:rPr lang="en-US" b="1" dirty="0" smtClean="0">
                <a:solidFill>
                  <a:srgbClr val="FF0000"/>
                </a:solidFill>
                <a:effectLst/>
              </a:rPr>
              <a:t>Previously collected data or prior knowledge of the population</a:t>
            </a:r>
          </a:p>
          <a:p>
            <a:pPr>
              <a:defRPr/>
            </a:pPr>
            <a:r>
              <a:rPr lang="en-US" b="1" dirty="0" smtClean="0">
                <a:solidFill>
                  <a:srgbClr val="FF0000"/>
                </a:solidFill>
                <a:effectLst/>
              </a:rPr>
              <a:t>If the population is normal or near-normal, then </a:t>
            </a:r>
            <a:r>
              <a:rPr lang="en-US" b="1" i="1" dirty="0" smtClean="0">
                <a:solidFill>
                  <a:srgbClr val="FF0000"/>
                </a:solidFill>
                <a:effectLst/>
                <a:sym typeface="Symbol" pitchFamily="18" charset="2"/>
              </a:rPr>
              <a:t>s</a:t>
            </a:r>
            <a:r>
              <a:rPr lang="en-US" b="1" dirty="0" smtClean="0">
                <a:solidFill>
                  <a:srgbClr val="FF0000"/>
                </a:solidFill>
                <a:effectLst/>
                <a:sym typeface="Symbol" pitchFamily="18" charset="2"/>
              </a:rPr>
              <a:t> can be conservatively estimated</a:t>
            </a:r>
            <a:r>
              <a:rPr lang="en-US" b="1" dirty="0" smtClean="0">
                <a:solidFill>
                  <a:srgbClr val="FF0000"/>
                </a:solidFill>
                <a:effectLst/>
              </a:rPr>
              <a:t> by</a:t>
            </a:r>
          </a:p>
          <a:p>
            <a:pPr algn="ctr">
              <a:buFontTx/>
              <a:buNone/>
              <a:defRPr/>
            </a:pPr>
            <a:r>
              <a:rPr lang="en-US" b="1" i="1" dirty="0" smtClean="0">
                <a:solidFill>
                  <a:srgbClr val="FF0000"/>
                </a:solidFill>
                <a:effectLst/>
                <a:sym typeface="Symbol" pitchFamily="18" charset="2"/>
              </a:rPr>
              <a:t>s</a:t>
            </a:r>
            <a:r>
              <a:rPr lang="en-US" b="1" dirty="0" smtClean="0">
                <a:solidFill>
                  <a:srgbClr val="FF0000"/>
                </a:solidFill>
                <a:effectLst/>
                <a:sym typeface="Symbol" pitchFamily="18" charset="2"/>
              </a:rPr>
              <a:t>  	range</a:t>
            </a:r>
          </a:p>
          <a:p>
            <a:pPr algn="ctr">
              <a:buFontTx/>
              <a:buNone/>
              <a:defRPr/>
            </a:pPr>
            <a:r>
              <a:rPr lang="en-US" b="1" dirty="0" smtClean="0">
                <a:solidFill>
                  <a:srgbClr val="FF0000"/>
                </a:solidFill>
                <a:effectLst/>
                <a:sym typeface="Symbol" pitchFamily="18" charset="2"/>
              </a:rPr>
              <a:t>		6</a:t>
            </a:r>
          </a:p>
          <a:p>
            <a:pPr>
              <a:defRPr/>
            </a:pPr>
            <a:r>
              <a:rPr lang="en-US" b="1" dirty="0" smtClean="0">
                <a:solidFill>
                  <a:srgbClr val="FF0000"/>
                </a:solidFill>
                <a:effectLst/>
                <a:sym typeface="Symbol" pitchFamily="18" charset="2"/>
              </a:rPr>
              <a:t>99.7% of obs. Within 3  of the mean</a:t>
            </a:r>
            <a:endParaRPr lang="en-US" dirty="0" smtClean="0">
              <a:solidFill>
                <a:srgbClr val="FF0000"/>
              </a:solidFill>
              <a:sym typeface="Symbol" pitchFamily="18" charset="2"/>
            </a:endParaRPr>
          </a:p>
        </p:txBody>
      </p:sp>
      <p:sp>
        <p:nvSpPr>
          <p:cNvPr id="9220" name="Line 4"/>
          <p:cNvSpPr>
            <a:spLocks noChangeShapeType="1"/>
          </p:cNvSpPr>
          <p:nvPr/>
        </p:nvSpPr>
        <p:spPr bwMode="auto">
          <a:xfrm>
            <a:off x="4267200" y="4800600"/>
            <a:ext cx="12954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i="0">
              <a:solidFill>
                <a:srgbClr val="009688"/>
              </a:solidFill>
              <a:latin typeface="Times New Roman" pitchFamily="18" charset="0"/>
            </a:endParaRPr>
          </a:p>
        </p:txBody>
      </p:sp>
    </p:spTree>
    <p:custDataLst>
      <p:tags r:id="rId1"/>
    </p:custDataLst>
    <p:extLst>
      <p:ext uri="{BB962C8B-B14F-4D97-AF65-F5344CB8AC3E}">
        <p14:creationId xmlns:p14="http://schemas.microsoft.com/office/powerpoint/2010/main" val="3014555906"/>
      </p:ext>
    </p:extLst>
  </p:cSld>
  <p:clrMapOvr>
    <a:masterClrMapping/>
  </p:clrMapOvr>
  <p:transition spd="slow">
    <p:pull dir="lu"/>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152400" y="152400"/>
            <a:ext cx="6629400" cy="1447800"/>
          </a:xfrm>
        </p:spPr>
        <p:txBody>
          <a:bodyPr/>
          <a:lstStyle/>
          <a:p>
            <a:pPr algn="l">
              <a:defRPr/>
            </a:pPr>
            <a:r>
              <a:rPr lang="en-US" sz="3200" dirty="0" smtClean="0">
                <a:solidFill>
                  <a:srgbClr val="FF0000"/>
                </a:solidFill>
                <a:effectLst/>
              </a:rPr>
              <a:t>Example:</a:t>
            </a:r>
            <a:r>
              <a:rPr lang="en-US" sz="4000" dirty="0" smtClean="0">
                <a:solidFill>
                  <a:srgbClr val="FF0000"/>
                </a:solidFill>
                <a:effectLst/>
              </a:rPr>
              <a:t> </a:t>
            </a:r>
            <a:r>
              <a:rPr lang="en-US" sz="3200" dirty="0" smtClean="0">
                <a:solidFill>
                  <a:srgbClr val="FF0000"/>
                </a:solidFill>
                <a:effectLst/>
              </a:rPr>
              <a:t>sample</a:t>
            </a:r>
            <a:r>
              <a:rPr lang="en-US" sz="4000" dirty="0" smtClean="0">
                <a:solidFill>
                  <a:srgbClr val="FF0000"/>
                </a:solidFill>
                <a:effectLst/>
              </a:rPr>
              <a:t> </a:t>
            </a:r>
            <a:r>
              <a:rPr lang="en-US" sz="3200" dirty="0" smtClean="0">
                <a:solidFill>
                  <a:srgbClr val="FF0000"/>
                </a:solidFill>
                <a:effectLst/>
              </a:rPr>
              <a:t>size to estimate mean height </a:t>
            </a:r>
            <a:r>
              <a:rPr lang="en-US" sz="3200" dirty="0" smtClean="0">
                <a:solidFill>
                  <a:srgbClr val="FF0000"/>
                </a:solidFill>
                <a:effectLst/>
                <a:cs typeface="Times New Roman" pitchFamily="18" charset="0"/>
              </a:rPr>
              <a:t>µ of NCSU undergrad. male students</a:t>
            </a:r>
            <a:endParaRPr lang="en-US" sz="4000" dirty="0" smtClean="0">
              <a:solidFill>
                <a:srgbClr val="FF0000"/>
              </a:solidFill>
              <a:cs typeface="Times New Roman" pitchFamily="18" charset="0"/>
            </a:endParaRPr>
          </a:p>
        </p:txBody>
      </p:sp>
      <p:sp>
        <p:nvSpPr>
          <p:cNvPr id="10243" name="Rectangle 3"/>
          <p:cNvSpPr>
            <a:spLocks noGrp="1" noChangeArrowheads="1"/>
          </p:cNvSpPr>
          <p:nvPr>
            <p:ph idx="1"/>
          </p:nvPr>
        </p:nvSpPr>
        <p:spPr>
          <a:xfrm>
            <a:off x="609600" y="1752600"/>
            <a:ext cx="7772400" cy="4800600"/>
          </a:xfrm>
          <a:solidFill>
            <a:srgbClr val="FFC000"/>
          </a:solidFill>
        </p:spPr>
        <p:txBody>
          <a:bodyPr/>
          <a:lstStyle/>
          <a:p>
            <a:pPr>
              <a:buFontTx/>
              <a:buNone/>
            </a:pPr>
            <a:r>
              <a:rPr lang="en-US" altLang="en-US" dirty="0" smtClean="0">
                <a:solidFill>
                  <a:srgbClr val="FF0000"/>
                </a:solidFill>
                <a:effectLst/>
              </a:rPr>
              <a:t>We want to be 95% confident that we are within .5 inch of </a:t>
            </a:r>
            <a:r>
              <a:rPr lang="en-US" altLang="en-US" dirty="0" smtClean="0">
                <a:solidFill>
                  <a:srgbClr val="FF0000"/>
                </a:solidFill>
                <a:effectLst/>
                <a:latin typeface="Symbol" charset="2"/>
              </a:rPr>
              <a:t>, </a:t>
            </a:r>
            <a:r>
              <a:rPr lang="en-US" altLang="en-US" dirty="0" smtClean="0">
                <a:solidFill>
                  <a:srgbClr val="FF0000"/>
                </a:solidFill>
                <a:effectLst/>
                <a:latin typeface="Times New Roman" pitchFamily="18" charset="0"/>
              </a:rPr>
              <a:t>so</a:t>
            </a:r>
          </a:p>
          <a:p>
            <a:pPr lvl="1">
              <a:buFont typeface="Wingdings" charset="2"/>
              <a:buChar char="Ø"/>
            </a:pPr>
            <a:r>
              <a:rPr lang="en-US" altLang="en-US" dirty="0" smtClean="0">
                <a:solidFill>
                  <a:srgbClr val="FF0000"/>
                </a:solidFill>
                <a:effectLst/>
              </a:rPr>
              <a:t> ME = .5; z*=1.96</a:t>
            </a:r>
          </a:p>
          <a:p>
            <a:r>
              <a:rPr lang="en-US" altLang="en-US" dirty="0" smtClean="0">
                <a:solidFill>
                  <a:srgbClr val="FF0000"/>
                </a:solidFill>
                <a:effectLst/>
              </a:rPr>
              <a:t>Suppose previous data indicates that s is about 2 inches.</a:t>
            </a:r>
          </a:p>
          <a:p>
            <a:r>
              <a:rPr lang="en-US" altLang="en-US" dirty="0" smtClean="0">
                <a:solidFill>
                  <a:srgbClr val="FF0000"/>
                </a:solidFill>
                <a:effectLst/>
              </a:rPr>
              <a:t>n= [(1.96)(2)/(.5)]</a:t>
            </a:r>
            <a:r>
              <a:rPr lang="en-US" altLang="en-US" baseline="30000" dirty="0" smtClean="0">
                <a:solidFill>
                  <a:srgbClr val="FF0000"/>
                </a:solidFill>
                <a:effectLst/>
              </a:rPr>
              <a:t>2 </a:t>
            </a:r>
            <a:r>
              <a:rPr lang="en-US" altLang="en-US" dirty="0" smtClean="0">
                <a:solidFill>
                  <a:srgbClr val="FF0000"/>
                </a:solidFill>
                <a:effectLst/>
              </a:rPr>
              <a:t>= 61.47</a:t>
            </a:r>
          </a:p>
          <a:p>
            <a:r>
              <a:rPr lang="en-US" altLang="en-US" dirty="0" smtClean="0">
                <a:solidFill>
                  <a:srgbClr val="FF0000"/>
                </a:solidFill>
                <a:effectLst/>
              </a:rPr>
              <a:t>We should sample 62 male students</a:t>
            </a:r>
          </a:p>
        </p:txBody>
      </p:sp>
      <p:sp>
        <p:nvSpPr>
          <p:cNvPr id="10244" name="Text Box 4"/>
          <p:cNvSpPr txBox="1">
            <a:spLocks noChangeArrowheads="1"/>
          </p:cNvSpPr>
          <p:nvPr/>
        </p:nvSpPr>
        <p:spPr bwMode="auto">
          <a:xfrm>
            <a:off x="4953000" y="1143000"/>
            <a:ext cx="2667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tx1"/>
              </a:buClr>
              <a:buSzPct val="100000"/>
              <a:buChar char="•"/>
              <a:defRPr sz="3200">
                <a:solidFill>
                  <a:schemeClr val="tx1"/>
                </a:solidFill>
                <a:latin typeface="Arial" charset="0"/>
              </a:defRPr>
            </a:lvl1pPr>
            <a:lvl2pPr marL="742950" indent="-285750">
              <a:spcBef>
                <a:spcPct val="20000"/>
              </a:spcBef>
              <a:buClr>
                <a:schemeClr val="tx1"/>
              </a:buClr>
              <a:buSzPct val="100000"/>
              <a:buChar char="–"/>
              <a:defRPr sz="2800">
                <a:solidFill>
                  <a:schemeClr val="tx1"/>
                </a:solidFill>
                <a:latin typeface="Arial" charset="0"/>
              </a:defRPr>
            </a:lvl2pPr>
            <a:lvl3pPr marL="1143000" indent="-228600">
              <a:spcBef>
                <a:spcPct val="20000"/>
              </a:spcBef>
              <a:buClr>
                <a:schemeClr val="tx1"/>
              </a:buClr>
              <a:buSzPct val="100000"/>
              <a:buChar char="•"/>
              <a:defRPr sz="2400">
                <a:solidFill>
                  <a:schemeClr val="tx1"/>
                </a:solidFill>
                <a:latin typeface="Arial" charset="0"/>
              </a:defRPr>
            </a:lvl3pPr>
            <a:lvl4pPr marL="1600200" indent="-228600">
              <a:spcBef>
                <a:spcPct val="20000"/>
              </a:spcBef>
              <a:buClr>
                <a:schemeClr val="tx1"/>
              </a:buClr>
              <a:buSzPct val="100000"/>
              <a:buChar char="–"/>
              <a:defRPr sz="2000">
                <a:solidFill>
                  <a:schemeClr val="tx1"/>
                </a:solidFill>
                <a:latin typeface="Arial" charset="0"/>
              </a:defRPr>
            </a:lvl4pPr>
            <a:lvl5pPr marL="2057400" indent="-228600">
              <a:spcBef>
                <a:spcPct val="20000"/>
              </a:spcBef>
              <a:buClr>
                <a:schemeClr val="tx1"/>
              </a:buClr>
              <a:buSzPct val="100000"/>
              <a:buChar char="•"/>
              <a:defRPr sz="2000">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Arial" charset="0"/>
              </a:defRPr>
            </a:lvl9pPr>
          </a:lstStyle>
          <a:p>
            <a:pPr>
              <a:spcBef>
                <a:spcPct val="50000"/>
              </a:spcBef>
              <a:buClrTx/>
              <a:buSzTx/>
              <a:buFontTx/>
              <a:buNone/>
            </a:pPr>
            <a:endParaRPr lang="en-US" altLang="en-US" sz="2400" i="0">
              <a:solidFill>
                <a:srgbClr val="009688"/>
              </a:solidFill>
              <a:latin typeface="Times New Roman" pitchFamily="18" charset="0"/>
            </a:endParaRPr>
          </a:p>
        </p:txBody>
      </p:sp>
      <p:graphicFrame>
        <p:nvGraphicFramePr>
          <p:cNvPr id="10245" name="Object 6"/>
          <p:cNvGraphicFramePr>
            <a:graphicFrameLocks noChangeAspect="1"/>
          </p:cNvGraphicFramePr>
          <p:nvPr>
            <p:extLst>
              <p:ext uri="{D42A27DB-BD31-4B8C-83A1-F6EECF244321}">
                <p14:modId xmlns:p14="http://schemas.microsoft.com/office/powerpoint/2010/main" val="752457841"/>
              </p:ext>
            </p:extLst>
          </p:nvPr>
        </p:nvGraphicFramePr>
        <p:xfrm>
          <a:off x="7010400" y="228600"/>
          <a:ext cx="1905000" cy="1073150"/>
        </p:xfrm>
        <a:graphic>
          <a:graphicData uri="http://schemas.openxmlformats.org/presentationml/2006/ole">
            <mc:AlternateContent xmlns:mc="http://schemas.openxmlformats.org/markup-compatibility/2006">
              <mc:Choice xmlns:v="urn:schemas-microsoft-com:vml" Requires="v">
                <p:oleObj spid="_x0000_s50184" name="Equation" r:id="rId5" imgW="736600" imgH="508000" progId="Equation.DSMT4">
                  <p:embed/>
                </p:oleObj>
              </mc:Choice>
              <mc:Fallback>
                <p:oleObj name="Equation" r:id="rId5" imgW="736600" imgH="50800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010400" y="228600"/>
                        <a:ext cx="1905000" cy="1073150"/>
                      </a:xfrm>
                      <a:prstGeom prst="rect">
                        <a:avLst/>
                      </a:prstGeom>
                      <a:solidFill>
                        <a:schemeClr val="folHlink"/>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ustDataLst>
      <p:tags r:id="rId2"/>
    </p:custDataLst>
    <p:extLst>
      <p:ext uri="{BB962C8B-B14F-4D97-AF65-F5344CB8AC3E}">
        <p14:creationId xmlns:p14="http://schemas.microsoft.com/office/powerpoint/2010/main" val="1499195193"/>
      </p:ext>
    </p:extLst>
  </p:cSld>
  <p:clrMapOvr>
    <a:masterClrMapping/>
  </p:clrMapOvr>
  <p:transition spd="slow"/>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990600" y="76200"/>
            <a:ext cx="7772400" cy="1752599"/>
          </a:xfrm>
          <a:solidFill>
            <a:srgbClr val="FFC000"/>
          </a:solidFill>
        </p:spPr>
        <p:txBody>
          <a:bodyPr/>
          <a:lstStyle/>
          <a:p>
            <a:r>
              <a:rPr lang="en-US" altLang="en-US" sz="4000" dirty="0" smtClean="0">
                <a:solidFill>
                  <a:srgbClr val="FF0000"/>
                </a:solidFill>
                <a:effectLst/>
              </a:rPr>
              <a:t>Example: Sample Size to Estimate a Population</a:t>
            </a:r>
            <a:r>
              <a:rPr lang="en-US" altLang="en-US" sz="3200" dirty="0" smtClean="0">
                <a:solidFill>
                  <a:srgbClr val="FF0000"/>
                </a:solidFill>
                <a:effectLst/>
              </a:rPr>
              <a:t> </a:t>
            </a:r>
            <a:r>
              <a:rPr lang="en-US" altLang="en-US" sz="4000" dirty="0" smtClean="0">
                <a:solidFill>
                  <a:srgbClr val="FF0000"/>
                </a:solidFill>
                <a:effectLst/>
              </a:rPr>
              <a:t>Mean </a:t>
            </a:r>
            <a:r>
              <a:rPr lang="en-US" altLang="en-US" sz="4000" dirty="0" smtClean="0">
                <a:solidFill>
                  <a:srgbClr val="FF0000"/>
                </a:solidFill>
                <a:effectLst/>
                <a:latin typeface="Symbol" charset="2"/>
              </a:rPr>
              <a:t></a:t>
            </a:r>
            <a:r>
              <a:rPr lang="en-US" altLang="en-US" sz="4000" dirty="0" smtClean="0">
                <a:solidFill>
                  <a:srgbClr val="FF0000"/>
                </a:solidFill>
                <a:effectLst/>
                <a:cs typeface="Times New Roman" pitchFamily="18" charset="0"/>
              </a:rPr>
              <a:t>-Textbooks</a:t>
            </a:r>
            <a:endParaRPr lang="en-US" altLang="en-US" sz="4000" dirty="0" smtClean="0">
              <a:solidFill>
                <a:srgbClr val="FF0000"/>
              </a:solidFill>
              <a:effectLst/>
              <a:latin typeface="Symbol" charset="2"/>
            </a:endParaRPr>
          </a:p>
        </p:txBody>
      </p:sp>
      <p:sp>
        <p:nvSpPr>
          <p:cNvPr id="14339" name="Rectangle 3"/>
          <p:cNvSpPr>
            <a:spLocks noGrp="1" noChangeArrowheads="1"/>
          </p:cNvSpPr>
          <p:nvPr>
            <p:ph idx="1"/>
          </p:nvPr>
        </p:nvSpPr>
        <p:spPr>
          <a:xfrm>
            <a:off x="609600" y="2057400"/>
            <a:ext cx="7848600" cy="2590800"/>
          </a:xfrm>
          <a:solidFill>
            <a:srgbClr val="FFC000"/>
          </a:solidFill>
        </p:spPr>
        <p:txBody>
          <a:bodyPr/>
          <a:lstStyle/>
          <a:p>
            <a:pPr>
              <a:defRPr/>
            </a:pPr>
            <a:r>
              <a:rPr lang="en-US" sz="2800" dirty="0" smtClean="0">
                <a:solidFill>
                  <a:srgbClr val="FF0000"/>
                </a:solidFill>
                <a:effectLst/>
              </a:rPr>
              <a:t>Suppose the financial aid office wants to estimate the mean NCSU semester textbook cost </a:t>
            </a:r>
            <a:r>
              <a:rPr lang="en-US" sz="2800" dirty="0" smtClean="0">
                <a:solidFill>
                  <a:srgbClr val="FF0000"/>
                </a:solidFill>
                <a:effectLst/>
                <a:latin typeface="Symbol" pitchFamily="18" charset="2"/>
              </a:rPr>
              <a:t></a:t>
            </a:r>
            <a:r>
              <a:rPr lang="en-US" sz="2800" dirty="0" smtClean="0">
                <a:solidFill>
                  <a:srgbClr val="FF0000"/>
                </a:solidFill>
                <a:effectLst/>
              </a:rPr>
              <a:t> within ME=$25 with 98% confidence. How many students should be sampled? Previous data shows </a:t>
            </a:r>
            <a:r>
              <a:rPr lang="en-US" sz="2800" dirty="0" smtClean="0">
                <a:solidFill>
                  <a:srgbClr val="FF0000"/>
                </a:solidFill>
                <a:effectLst/>
                <a:latin typeface="Symbol" pitchFamily="18" charset="2"/>
              </a:rPr>
              <a:t></a:t>
            </a:r>
            <a:r>
              <a:rPr lang="en-US" sz="2800" dirty="0" smtClean="0">
                <a:solidFill>
                  <a:srgbClr val="FF0000"/>
                </a:solidFill>
                <a:effectLst/>
              </a:rPr>
              <a:t> is about $85.</a:t>
            </a:r>
            <a:endParaRPr lang="en-US" sz="2800" dirty="0" smtClean="0">
              <a:solidFill>
                <a:srgbClr val="FF0000"/>
              </a:solidFill>
            </a:endParaRPr>
          </a:p>
          <a:p>
            <a:pPr>
              <a:defRPr/>
            </a:pPr>
            <a:endParaRPr lang="en-US" sz="2800" dirty="0" smtClean="0"/>
          </a:p>
        </p:txBody>
      </p:sp>
      <p:graphicFrame>
        <p:nvGraphicFramePr>
          <p:cNvPr id="14340" name="Object 4">
            <a:hlinkClick r:id="" action="ppaction://ole?verb=0"/>
          </p:cNvPr>
          <p:cNvGraphicFramePr>
            <a:graphicFrameLocks/>
          </p:cNvGraphicFramePr>
          <p:nvPr>
            <p:extLst>
              <p:ext uri="{D42A27DB-BD31-4B8C-83A1-F6EECF244321}">
                <p14:modId xmlns:p14="http://schemas.microsoft.com/office/powerpoint/2010/main" val="1947330916"/>
              </p:ext>
            </p:extLst>
          </p:nvPr>
        </p:nvGraphicFramePr>
        <p:xfrm>
          <a:off x="1828800" y="4724400"/>
          <a:ext cx="5549900" cy="1579563"/>
        </p:xfrm>
        <a:graphic>
          <a:graphicData uri="http://schemas.openxmlformats.org/presentationml/2006/ole">
            <mc:AlternateContent xmlns:mc="http://schemas.openxmlformats.org/markup-compatibility/2006">
              <mc:Choice xmlns:v="urn:schemas-microsoft-com:vml" Requires="v">
                <p:oleObj spid="_x0000_s51208" name="Equation" r:id="rId7" imgW="2603160" imgH="736560" progId="Equation.DSMT4">
                  <p:embed/>
                </p:oleObj>
              </mc:Choice>
              <mc:Fallback>
                <p:oleObj name="Equation" r:id="rId7" imgW="2603160" imgH="736560" progId="Equation.DSMT4">
                  <p:embed/>
                  <p:pic>
                    <p:nvPicPr>
                      <p:cNvPr id="0" name=""/>
                      <p:cNvPicPr>
                        <a:picLocks noChangeArrowheads="1"/>
                      </p:cNvPicPr>
                      <p:nvPr/>
                    </p:nvPicPr>
                    <p:blipFill>
                      <a:blip r:embed="rId8"/>
                      <a:srcRect/>
                      <a:stretch>
                        <a:fillRect/>
                      </a:stretch>
                    </p:blipFill>
                    <p:spPr bwMode="auto">
                      <a:xfrm>
                        <a:off x="1828800" y="4724400"/>
                        <a:ext cx="5549900" cy="1579563"/>
                      </a:xfrm>
                      <a:prstGeom prst="rect">
                        <a:avLst/>
                      </a:prstGeom>
                      <a:solidFill>
                        <a:srgbClr val="FFC000"/>
                      </a:solidFill>
                      <a:ln>
                        <a:noFill/>
                      </a:ln>
                      <a:effectLst/>
                    </p:spPr>
                  </p:pic>
                </p:oleObj>
              </mc:Fallback>
            </mc:AlternateContent>
          </a:graphicData>
        </a:graphic>
      </p:graphicFrame>
      <p:pic>
        <p:nvPicPr>
          <p:cNvPr id="5" name="cash2382.wav">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9">
            <a:extLst>
              <a:ext uri="{28A0092B-C50C-407E-A947-70E740481C1C}">
                <a14:useLocalDpi xmlns:a14="http://schemas.microsoft.com/office/drawing/2010/main" val="0"/>
              </a:ext>
            </a:extLst>
          </a:blip>
          <a:srcRect/>
          <a:stretch>
            <a:fillRect/>
          </a:stretch>
        </p:blipFill>
        <p:spPr bwMode="auto">
          <a:xfrm>
            <a:off x="685800" y="58674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70" name="Picture 5" descr="cash_register_anim.gif"/>
          <p:cNvPicPr>
            <a:picLocks noChangeAspect="1"/>
          </p:cNvPicPr>
          <p:nvPr/>
        </p:nvPicPr>
        <p:blipFill>
          <a:blip r:embed="rId10">
            <a:extLst>
              <a:ext uri="{28A0092B-C50C-407E-A947-70E740481C1C}">
                <a14:useLocalDpi xmlns:a14="http://schemas.microsoft.com/office/drawing/2010/main" val="0"/>
              </a:ext>
            </a:extLst>
          </a:blip>
          <a:srcRect/>
          <a:stretch>
            <a:fillRect/>
          </a:stretch>
        </p:blipFill>
        <p:spPr bwMode="auto">
          <a:xfrm>
            <a:off x="185737" y="558209"/>
            <a:ext cx="1000125"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2"/>
    </p:custDataLst>
    <p:extLst>
      <p:ext uri="{BB962C8B-B14F-4D97-AF65-F5344CB8AC3E}">
        <p14:creationId xmlns:p14="http://schemas.microsoft.com/office/powerpoint/2010/main" val="3050477728"/>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mediacall" presetSubtype="0" fill="hold" nodeType="withEffect">
                                  <p:stCondLst>
                                    <p:cond delay="0"/>
                                  </p:stCondLst>
                                  <p:childTnLst>
                                    <p:cmd type="call" cmd="playFrom(0.0)">
                                      <p:cBhvr>
                                        <p:cTn id="6" dur="1" fill="hold"/>
                                        <p:tgtEl>
                                          <p:spTgt spid="5"/>
                                        </p:tgtEl>
                                      </p:cBhvr>
                                    </p:cmd>
                                  </p:childTnLst>
                                </p:cTn>
                              </p:par>
                            </p:childTnLst>
                          </p:cTn>
                        </p:par>
                      </p:childTnLst>
                    </p:cTn>
                  </p:par>
                  <p:par>
                    <p:cTn id="7" fill="hold" nodeType="clickPar">
                      <p:stCondLst>
                        <p:cond delay="indefinite"/>
                      </p:stCondLst>
                      <p:childTnLst>
                        <p:par>
                          <p:cTn id="8" fill="hold" nodeType="withGroup">
                            <p:stCondLst>
                              <p:cond delay="0"/>
                            </p:stCondLst>
                            <p:childTnLst>
                              <p:par>
                                <p:cTn id="9" presetID="2" presetClass="entr" presetSubtype="4" fill="hold" nodeType="clickEffect">
                                  <p:stCondLst>
                                    <p:cond delay="0"/>
                                  </p:stCondLst>
                                  <p:childTnLst>
                                    <p:set>
                                      <p:cBhvr>
                                        <p:cTn id="10" dur="1" fill="hold">
                                          <p:stCondLst>
                                            <p:cond delay="0"/>
                                          </p:stCondLst>
                                        </p:cTn>
                                        <p:tgtEl>
                                          <p:spTgt spid="14340"/>
                                        </p:tgtEl>
                                        <p:attrNameLst>
                                          <p:attrName>style.visibility</p:attrName>
                                        </p:attrNameLst>
                                      </p:cBhvr>
                                      <p:to>
                                        <p:strVal val="visible"/>
                                      </p:to>
                                    </p:set>
                                    <p:anim calcmode="lin" valueType="num">
                                      <p:cBhvr additive="base">
                                        <p:cTn id="11" dur="500" fill="hold"/>
                                        <p:tgtEl>
                                          <p:spTgt spid="14340"/>
                                        </p:tgtEl>
                                        <p:attrNameLst>
                                          <p:attrName>ppt_x</p:attrName>
                                        </p:attrNameLst>
                                      </p:cBhvr>
                                      <p:tavLst>
                                        <p:tav tm="0">
                                          <p:val>
                                            <p:strVal val="#ppt_x"/>
                                          </p:val>
                                        </p:tav>
                                        <p:tav tm="100000">
                                          <p:val>
                                            <p:strVal val="#ppt_x"/>
                                          </p:val>
                                        </p:tav>
                                      </p:tavLst>
                                    </p:anim>
                                    <p:anim calcmode="lin" valueType="num">
                                      <p:cBhvr additive="base">
                                        <p:cTn id="12" dur="500" fill="hold"/>
                                        <p:tgtEl>
                                          <p:spTgt spid="1434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audio>
              <p:cMediaNode>
                <p:cTn id="13" repeatCount="4000" fill="hold" display="0">
                  <p:stCondLst>
                    <p:cond delay="indefinite"/>
                  </p:stCondLst>
                  <p:endCondLst>
                    <p:cond evt="onPrev" delay="0">
                      <p:tgtEl>
                        <p:sldTgt/>
                      </p:tgtEl>
                    </p:cond>
                    <p:cond evt="onStopAudio" delay="0">
                      <p:tgtEl>
                        <p:sldTgt/>
                      </p:tgtEl>
                    </p:cond>
                  </p:endCondLst>
                </p:cTn>
                <p:tgtEl>
                  <p:spTgt spid="5"/>
                </p:tgtEl>
              </p:cMediaNode>
            </p:audio>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685800" y="228600"/>
            <a:ext cx="7772400" cy="1295400"/>
          </a:xfrm>
        </p:spPr>
        <p:txBody>
          <a:bodyPr/>
          <a:lstStyle/>
          <a:p>
            <a:r>
              <a:rPr lang="en-US" altLang="en-US" sz="2800" smtClean="0">
                <a:effectLst/>
              </a:rPr>
              <a:t>Example: Sample Size to Estimate a Population Mean </a:t>
            </a:r>
            <a:r>
              <a:rPr lang="en-US" altLang="en-US" sz="2800" smtClean="0">
                <a:effectLst/>
                <a:latin typeface="Symbol" panose="05050102010706020507" pitchFamily="18" charset="2"/>
              </a:rPr>
              <a:t></a:t>
            </a:r>
            <a:r>
              <a:rPr lang="en-US" altLang="en-US" sz="2800" smtClean="0">
                <a:effectLst/>
                <a:cs typeface="Times New Roman" panose="02020603050405020304" pitchFamily="18" charset="0"/>
              </a:rPr>
              <a:t>-NFL footballs</a:t>
            </a:r>
            <a:endParaRPr lang="en-US" altLang="en-US" sz="2800" smtClean="0">
              <a:effectLst/>
              <a:latin typeface="Symbol" panose="05050102010706020507" pitchFamily="18" charset="2"/>
            </a:endParaRPr>
          </a:p>
        </p:txBody>
      </p:sp>
      <p:sp>
        <p:nvSpPr>
          <p:cNvPr id="43011" name="Rectangle 3"/>
          <p:cNvSpPr>
            <a:spLocks noGrp="1" noChangeArrowheads="1"/>
          </p:cNvSpPr>
          <p:nvPr>
            <p:ph type="body" idx="1"/>
          </p:nvPr>
        </p:nvSpPr>
        <p:spPr>
          <a:xfrm>
            <a:off x="685800" y="1676400"/>
            <a:ext cx="7772400" cy="2971800"/>
          </a:xfrm>
        </p:spPr>
        <p:txBody>
          <a:bodyPr/>
          <a:lstStyle/>
          <a:p>
            <a:pPr>
              <a:lnSpc>
                <a:spcPct val="90000"/>
              </a:lnSpc>
            </a:pPr>
            <a:r>
              <a:rPr lang="en-US" altLang="en-US" sz="2400" smtClean="0">
                <a:effectLst/>
              </a:rPr>
              <a:t>The manufacturer of NFL footballs uses a machine to inflate new footballs</a:t>
            </a:r>
          </a:p>
          <a:p>
            <a:pPr>
              <a:lnSpc>
                <a:spcPct val="90000"/>
              </a:lnSpc>
            </a:pPr>
            <a:r>
              <a:rPr lang="en-US" altLang="en-US" sz="2400" smtClean="0">
                <a:effectLst/>
              </a:rPr>
              <a:t>The mean inflation pressure is 13.0 psi, but random factors cause the final inflation pressure of individual footballs to vary from 12.8 psi to 13.2 psi</a:t>
            </a:r>
          </a:p>
          <a:p>
            <a:pPr>
              <a:lnSpc>
                <a:spcPct val="90000"/>
              </a:lnSpc>
            </a:pPr>
            <a:r>
              <a:rPr lang="en-US" altLang="en-US" sz="2400" smtClean="0">
                <a:effectLst/>
              </a:rPr>
              <a:t> After throwing several interceptions in a game, Tom Brady complains that the balls are not properly inflated.</a:t>
            </a:r>
          </a:p>
        </p:txBody>
      </p:sp>
      <p:pic>
        <p:nvPicPr>
          <p:cNvPr id="6" name="mnf.wav">
            <a:hlinkClick r:id="" action="ppaction://media"/>
          </p:cNvPr>
          <p:cNvPicPr>
            <a:picLocks noChangeAspect="1"/>
          </p:cNvPicPr>
          <p:nvPr>
            <a:audioFile r:link="rId3"/>
            <p:extLst>
              <p:ext uri="{DAA4B4D4-6D71-4841-9C94-3DE7FCFB9230}">
                <p14:media xmlns:p14="http://schemas.microsoft.com/office/powerpoint/2010/main" r:link="rId2"/>
              </p:ext>
            </p:extLst>
          </p:nvPr>
        </p:nvPicPr>
        <p:blipFill>
          <a:blip r:embed="rId5">
            <a:extLst>
              <a:ext uri="{28A0092B-C50C-407E-A947-70E740481C1C}">
                <a14:useLocalDpi xmlns:a14="http://schemas.microsoft.com/office/drawing/2010/main" val="0"/>
              </a:ext>
            </a:extLst>
          </a:blip>
          <a:srcRect/>
          <a:stretch>
            <a:fillRect/>
          </a:stretch>
        </p:blipFill>
        <p:spPr bwMode="auto">
          <a:xfrm>
            <a:off x="685800" y="62484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38" name="Picture 6" descr="Football_anim.gif"/>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838200" y="838200"/>
            <a:ext cx="6858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39" name="Picture 7" descr="nfl_helmet_anim.gif"/>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7162800" y="914400"/>
            <a:ext cx="838200"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8" name="Picture 10" descr="Official game balls for NFL football's Super Bowl XLIX wait to be laced at the Wilson Sporting Goods Co. in Ada, Ohio, Tuesday, Jan. 20, 2015. The New England Patriots face the Seattle Seahawks for the NFL championship on Sunday, Feb. 1, 2015, in Glendale, Ariz. (AP Photo/Rick Osentoski)"/>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24000" y="1314450"/>
            <a:ext cx="2676525" cy="200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9" name="Picture 1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638800" y="1571625"/>
            <a:ext cx="2619375" cy="1743075"/>
          </a:xfrm>
          <a:prstGeom prst="rect">
            <a:avLst/>
          </a:prstGeom>
          <a:noFill/>
          <a:ln>
            <a:noFill/>
          </a:ln>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Lst>
        </p:spPr>
      </p:pic>
      <p:pic>
        <p:nvPicPr>
          <p:cNvPr id="12300" name="Picture 1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57250" y="4451350"/>
            <a:ext cx="2619375" cy="1743075"/>
          </a:xfrm>
          <a:prstGeom prst="rect">
            <a:avLst/>
          </a:prstGeom>
          <a:noFill/>
          <a:ln>
            <a:noFill/>
          </a:ln>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Lst>
        </p:spPr>
      </p:pic>
      <p:pic>
        <p:nvPicPr>
          <p:cNvPr id="12303" name="Picture 15" descr="https://encrypted-tbn3.gstatic.com/images?q=tbn:ANd9GcSkgILpOIln3I6gr2ODJsYC1gTRURtjVEmCef4yDSSIuTfZCAQs"/>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730875" y="4800600"/>
            <a:ext cx="2857500"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306" name="Picture 1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115050" y="4451350"/>
            <a:ext cx="2792413" cy="2101850"/>
          </a:xfrm>
          <a:prstGeom prst="rect">
            <a:avLst/>
          </a:prstGeom>
          <a:noFill/>
          <a:ln>
            <a:noFill/>
          </a:ln>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Lst>
        </p:spPr>
      </p:pic>
      <p:pic>
        <p:nvPicPr>
          <p:cNvPr id="12308" name="Picture 20" descr="https://encrypted-tbn1.gstatic.com/images?q=tbn:ANd9GcRBR6_VQarGcsc1S-JG3LHeLe5Uyme3F0hirGPcheGQafr3f0Tw"/>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921375" y="3048000"/>
            <a:ext cx="2857500"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310" name="Picture 22" descr="https://encrypted-tbn3.gstatic.com/images?q=tbn:ANd9GcSR4NOYPpLwg8bwg_DCSO2Kw8RTBLZ82umTzBecaG6X7ziJgbgKGQ"/>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581400" y="2862263"/>
            <a:ext cx="2324100" cy="197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312" name="Picture 24" descr="https://encrypted-tbn3.gstatic.com/images?q=tbn:ANd9GcTnbHX6nL06XIBDPX1nnY1O1j9MvWZ3hIB12wpHLOysjtp4nbktaA"/>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33400" y="2862263"/>
            <a:ext cx="2743200" cy="166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1"/>
          <p:cNvPicPr>
            <a:picLocks noChangeAspect="1"/>
          </p:cNvPicPr>
          <p:nvPr/>
        </p:nvPicPr>
        <p:blipFill>
          <a:blip r:embed="rId16">
            <a:extLst>
              <a:ext uri="{28A0092B-C50C-407E-A947-70E740481C1C}">
                <a14:useLocalDpi xmlns:a14="http://schemas.microsoft.com/office/drawing/2010/main" val="0"/>
              </a:ext>
            </a:extLst>
          </a:blip>
          <a:srcRect/>
          <a:stretch>
            <a:fillRect/>
          </a:stretch>
        </p:blipFill>
        <p:spPr bwMode="auto">
          <a:xfrm>
            <a:off x="6448425" y="1530350"/>
            <a:ext cx="2266950" cy="2624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Oval 3"/>
          <p:cNvSpPr/>
          <p:nvPr/>
        </p:nvSpPr>
        <p:spPr bwMode="auto">
          <a:xfrm>
            <a:off x="6019800" y="5165725"/>
            <a:ext cx="1066800" cy="1006475"/>
          </a:xfrm>
          <a:prstGeom prst="ellipse">
            <a:avLst/>
          </a:prstGeom>
          <a:noFill/>
          <a:ln w="31750" cap="flat" cmpd="sng" algn="ctr">
            <a:solidFill>
              <a:srgbClr val="FF0000"/>
            </a:solidFill>
            <a:prstDash val="solid"/>
            <a:round/>
            <a:headEnd type="none" w="med" len="med"/>
            <a:tailEnd type="none" w="med" len="med"/>
          </a:ln>
          <a:effectLst/>
        </p:spPr>
        <p:txBody>
          <a:bodyPr/>
          <a:lstStyle/>
          <a:p>
            <a:pPr>
              <a:defRPr/>
            </a:pPr>
            <a:endParaRPr lang="en-US">
              <a:solidFill>
                <a:srgbClr val="000000"/>
              </a:solidFill>
            </a:endParaRPr>
          </a:p>
        </p:txBody>
      </p:sp>
      <p:sp>
        <p:nvSpPr>
          <p:cNvPr id="5" name="Isosceles Triangle 4"/>
          <p:cNvSpPr/>
          <p:nvPr/>
        </p:nvSpPr>
        <p:spPr bwMode="auto">
          <a:xfrm flipV="1">
            <a:off x="6451600" y="4195763"/>
            <a:ext cx="2232025" cy="952500"/>
          </a:xfrm>
          <a:prstGeom prst="triangle">
            <a:avLst>
              <a:gd name="adj" fmla="val 16801"/>
            </a:avLst>
          </a:prstGeom>
          <a:noFill/>
          <a:ln w="28575" cap="flat" cmpd="sng" algn="ctr">
            <a:solidFill>
              <a:srgbClr val="FF0000"/>
            </a:solidFill>
            <a:prstDash val="solid"/>
            <a:round/>
            <a:headEnd type="none" w="med" len="med"/>
            <a:tailEnd type="none" w="med" len="med"/>
          </a:ln>
          <a:effectLst/>
        </p:spPr>
        <p:txBody>
          <a:bodyPr/>
          <a:lstStyle/>
          <a:p>
            <a:pPr>
              <a:defRPr/>
            </a:pPr>
            <a:endParaRPr lang="en-US">
              <a:solidFill>
                <a:srgbClr val="000000"/>
              </a:solidFill>
            </a:endParaRPr>
          </a:p>
        </p:txBody>
      </p:sp>
      <p:sp>
        <p:nvSpPr>
          <p:cNvPr id="43013" name="Text Box 5"/>
          <p:cNvSpPr txBox="1">
            <a:spLocks noChangeArrowheads="1"/>
          </p:cNvSpPr>
          <p:nvPr/>
        </p:nvSpPr>
        <p:spPr bwMode="auto">
          <a:xfrm>
            <a:off x="538163" y="4656138"/>
            <a:ext cx="5486400" cy="1568450"/>
          </a:xfrm>
          <a:prstGeom prst="rect">
            <a:avLst/>
          </a:prstGeom>
          <a:solidFill>
            <a:srgbClr val="FED58A"/>
          </a:solidFill>
          <a:ln>
            <a:noFill/>
          </a:ln>
        </p:spPr>
        <p:txBody>
          <a:bodyPr>
            <a:spAutoFit/>
          </a:bodyPr>
          <a:lstStyle>
            <a:lvl1pPr>
              <a:spcBef>
                <a:spcPct val="20000"/>
              </a:spcBef>
              <a:buClr>
                <a:schemeClr val="tx1"/>
              </a:buClr>
              <a:buSzPct val="100000"/>
              <a:buChar char="•"/>
              <a:defRPr sz="3200">
                <a:solidFill>
                  <a:schemeClr val="tx1"/>
                </a:solidFill>
                <a:latin typeface="Arial" panose="020B0604020202020204" pitchFamily="34" charset="0"/>
              </a:defRPr>
            </a:lvl1pPr>
            <a:lvl2pPr marL="742950" indent="-285750">
              <a:spcBef>
                <a:spcPct val="20000"/>
              </a:spcBef>
              <a:buClr>
                <a:schemeClr val="tx1"/>
              </a:buClr>
              <a:buSzPct val="100000"/>
              <a:buChar char="–"/>
              <a:defRPr sz="2800">
                <a:solidFill>
                  <a:schemeClr val="tx1"/>
                </a:solidFill>
                <a:latin typeface="Arial" panose="020B0604020202020204" pitchFamily="34" charset="0"/>
              </a:defRPr>
            </a:lvl2pPr>
            <a:lvl3pPr marL="1143000" indent="-228600">
              <a:spcBef>
                <a:spcPct val="20000"/>
              </a:spcBef>
              <a:buClr>
                <a:schemeClr val="tx1"/>
              </a:buClr>
              <a:buSzPct val="100000"/>
              <a:buChar char="•"/>
              <a:defRPr sz="2400">
                <a:solidFill>
                  <a:schemeClr val="tx1"/>
                </a:solidFill>
                <a:latin typeface="Arial" panose="020B0604020202020204" pitchFamily="34" charset="0"/>
              </a:defRPr>
            </a:lvl3pPr>
            <a:lvl4pPr marL="1600200" indent="-228600">
              <a:spcBef>
                <a:spcPct val="20000"/>
              </a:spcBef>
              <a:buClr>
                <a:schemeClr val="tx1"/>
              </a:buClr>
              <a:buSzPct val="100000"/>
              <a:buChar char="–"/>
              <a:defRPr sz="2000">
                <a:solidFill>
                  <a:schemeClr val="tx1"/>
                </a:solidFill>
                <a:latin typeface="Arial" panose="020B0604020202020204" pitchFamily="34" charset="0"/>
              </a:defRPr>
            </a:lvl4pPr>
            <a:lvl5pPr marL="2057400" indent="-228600">
              <a:spcBef>
                <a:spcPct val="20000"/>
              </a:spcBef>
              <a:buClr>
                <a:schemeClr val="tx1"/>
              </a:buClr>
              <a:buSzPct val="10000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Arial" panose="020B0604020202020204" pitchFamily="34" charset="0"/>
              </a:defRPr>
            </a:lvl9pPr>
          </a:lstStyle>
          <a:p>
            <a:pPr>
              <a:spcBef>
                <a:spcPct val="50000"/>
              </a:spcBef>
              <a:buClrTx/>
              <a:buSzTx/>
              <a:buFontTx/>
              <a:buNone/>
            </a:pPr>
            <a:r>
              <a:rPr lang="en-US" altLang="en-US" sz="2400" b="1" i="0" dirty="0">
                <a:solidFill>
                  <a:srgbClr val="FF0000"/>
                </a:solidFill>
                <a:latin typeface="Times New Roman" panose="02020603050405020304" pitchFamily="18" charset="0"/>
              </a:rPr>
              <a:t>The manufacturer wishes to estimate the mean inflation pressure to within .025 psi with a 99% confidence interval. How many footballs should be sampled?</a:t>
            </a:r>
          </a:p>
        </p:txBody>
      </p:sp>
    </p:spTree>
    <p:custDataLst>
      <p:tags r:id="rId1"/>
    </p:custDataLst>
    <p:extLst>
      <p:ext uri="{BB962C8B-B14F-4D97-AF65-F5344CB8AC3E}">
        <p14:creationId xmlns:p14="http://schemas.microsoft.com/office/powerpoint/2010/main" val="994697532"/>
      </p:ext>
    </p:extLst>
  </p:cSld>
  <p:clrMapOvr>
    <a:masterClrMapping/>
  </p:clrMapOvr>
  <p:transition spd="slow">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mediacall" presetSubtype="0" fill="hold" nodeType="afterEffect">
                                  <p:stCondLst>
                                    <p:cond delay="0"/>
                                  </p:stCondLst>
                                  <p:childTnLst>
                                    <p:cmd type="call" cmd="playFrom(0.0)">
                                      <p:cBhvr>
                                        <p:cTn id="6" dur="20168" fill="hold"/>
                                        <p:tgtEl>
                                          <p:spTgt spid="6"/>
                                        </p:tgtEl>
                                      </p:cBhvr>
                                    </p:cmd>
                                  </p:childTnLst>
                                </p:cTn>
                              </p:par>
                              <p:par>
                                <p:cTn id="7" presetID="2" presetClass="entr" presetSubtype="8" fill="hold" nodeType="withEffect">
                                  <p:stCondLst>
                                    <p:cond delay="500"/>
                                  </p:stCondLst>
                                  <p:childTnLst>
                                    <p:set>
                                      <p:cBhvr>
                                        <p:cTn id="8" dur="1" fill="hold">
                                          <p:stCondLst>
                                            <p:cond delay="0"/>
                                          </p:stCondLst>
                                        </p:cTn>
                                        <p:tgtEl>
                                          <p:spTgt spid="12298"/>
                                        </p:tgtEl>
                                        <p:attrNameLst>
                                          <p:attrName>style.visibility</p:attrName>
                                        </p:attrNameLst>
                                      </p:cBhvr>
                                      <p:to>
                                        <p:strVal val="visible"/>
                                      </p:to>
                                    </p:set>
                                    <p:anim calcmode="lin" valueType="num">
                                      <p:cBhvr additive="base">
                                        <p:cTn id="9" dur="2000" fill="hold"/>
                                        <p:tgtEl>
                                          <p:spTgt spid="12298"/>
                                        </p:tgtEl>
                                        <p:attrNameLst>
                                          <p:attrName>ppt_x</p:attrName>
                                        </p:attrNameLst>
                                      </p:cBhvr>
                                      <p:tavLst>
                                        <p:tav tm="0">
                                          <p:val>
                                            <p:strVal val="0-#ppt_w/2"/>
                                          </p:val>
                                        </p:tav>
                                        <p:tav tm="100000">
                                          <p:val>
                                            <p:strVal val="#ppt_x"/>
                                          </p:val>
                                        </p:tav>
                                      </p:tavLst>
                                    </p:anim>
                                    <p:anim calcmode="lin" valueType="num">
                                      <p:cBhvr additive="base">
                                        <p:cTn id="10" dur="2000" fill="hold"/>
                                        <p:tgtEl>
                                          <p:spTgt spid="12298"/>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12298"/>
                                        </p:tgtEl>
                                        <p:attrNameLst>
                                          <p:attrName>style.visibility</p:attrName>
                                        </p:attrNameLst>
                                      </p:cBhvr>
                                      <p:to>
                                        <p:strVal val="hidden"/>
                                      </p:to>
                                    </p:set>
                                  </p:subTnLst>
                                </p:cTn>
                              </p:par>
                              <p:par>
                                <p:cTn id="11" presetID="2" presetClass="entr" presetSubtype="2" fill="hold" nodeType="withEffect">
                                  <p:stCondLst>
                                    <p:cond delay="1500"/>
                                  </p:stCondLst>
                                  <p:childTnLst>
                                    <p:set>
                                      <p:cBhvr>
                                        <p:cTn id="12" dur="1" fill="hold">
                                          <p:stCondLst>
                                            <p:cond delay="0"/>
                                          </p:stCondLst>
                                        </p:cTn>
                                        <p:tgtEl>
                                          <p:spTgt spid="12299"/>
                                        </p:tgtEl>
                                        <p:attrNameLst>
                                          <p:attrName>style.visibility</p:attrName>
                                        </p:attrNameLst>
                                      </p:cBhvr>
                                      <p:to>
                                        <p:strVal val="visible"/>
                                      </p:to>
                                    </p:set>
                                    <p:anim calcmode="lin" valueType="num">
                                      <p:cBhvr additive="base">
                                        <p:cTn id="13" dur="2000" fill="hold"/>
                                        <p:tgtEl>
                                          <p:spTgt spid="12299"/>
                                        </p:tgtEl>
                                        <p:attrNameLst>
                                          <p:attrName>ppt_x</p:attrName>
                                        </p:attrNameLst>
                                      </p:cBhvr>
                                      <p:tavLst>
                                        <p:tav tm="0">
                                          <p:val>
                                            <p:strVal val="1+#ppt_w/2"/>
                                          </p:val>
                                        </p:tav>
                                        <p:tav tm="100000">
                                          <p:val>
                                            <p:strVal val="#ppt_x"/>
                                          </p:val>
                                        </p:tav>
                                      </p:tavLst>
                                    </p:anim>
                                    <p:anim calcmode="lin" valueType="num">
                                      <p:cBhvr additive="base">
                                        <p:cTn id="14" dur="2000" fill="hold"/>
                                        <p:tgtEl>
                                          <p:spTgt spid="12299"/>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12299"/>
                                        </p:tgtEl>
                                        <p:attrNameLst>
                                          <p:attrName>style.visibility</p:attrName>
                                        </p:attrNameLst>
                                      </p:cBhvr>
                                      <p:to>
                                        <p:strVal val="hidden"/>
                                      </p:to>
                                    </p:set>
                                  </p:subTnLst>
                                </p:cTn>
                              </p:par>
                              <p:par>
                                <p:cTn id="15" presetID="2" presetClass="entr" presetSubtype="8" fill="hold" nodeType="withEffect">
                                  <p:stCondLst>
                                    <p:cond delay="2500"/>
                                  </p:stCondLst>
                                  <p:childTnLst>
                                    <p:set>
                                      <p:cBhvr>
                                        <p:cTn id="16" dur="1" fill="hold">
                                          <p:stCondLst>
                                            <p:cond delay="0"/>
                                          </p:stCondLst>
                                        </p:cTn>
                                        <p:tgtEl>
                                          <p:spTgt spid="12300"/>
                                        </p:tgtEl>
                                        <p:attrNameLst>
                                          <p:attrName>style.visibility</p:attrName>
                                        </p:attrNameLst>
                                      </p:cBhvr>
                                      <p:to>
                                        <p:strVal val="visible"/>
                                      </p:to>
                                    </p:set>
                                    <p:anim calcmode="lin" valueType="num">
                                      <p:cBhvr additive="base">
                                        <p:cTn id="17" dur="2000" fill="hold"/>
                                        <p:tgtEl>
                                          <p:spTgt spid="12300"/>
                                        </p:tgtEl>
                                        <p:attrNameLst>
                                          <p:attrName>ppt_x</p:attrName>
                                        </p:attrNameLst>
                                      </p:cBhvr>
                                      <p:tavLst>
                                        <p:tav tm="0">
                                          <p:val>
                                            <p:strVal val="0-#ppt_w/2"/>
                                          </p:val>
                                        </p:tav>
                                        <p:tav tm="100000">
                                          <p:val>
                                            <p:strVal val="#ppt_x"/>
                                          </p:val>
                                        </p:tav>
                                      </p:tavLst>
                                    </p:anim>
                                    <p:anim calcmode="lin" valueType="num">
                                      <p:cBhvr additive="base">
                                        <p:cTn id="18" dur="2000" fill="hold"/>
                                        <p:tgtEl>
                                          <p:spTgt spid="12300"/>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12300"/>
                                        </p:tgtEl>
                                        <p:attrNameLst>
                                          <p:attrName>style.visibility</p:attrName>
                                        </p:attrNameLst>
                                      </p:cBhvr>
                                      <p:to>
                                        <p:strVal val="hidden"/>
                                      </p:to>
                                    </p:set>
                                  </p:subTnLst>
                                </p:cTn>
                              </p:par>
                              <p:par>
                                <p:cTn id="19" presetID="2" presetClass="entr" presetSubtype="4" fill="hold" nodeType="withEffect">
                                  <p:stCondLst>
                                    <p:cond delay="3500"/>
                                  </p:stCondLst>
                                  <p:childTnLst>
                                    <p:set>
                                      <p:cBhvr>
                                        <p:cTn id="20" dur="1" fill="hold">
                                          <p:stCondLst>
                                            <p:cond delay="0"/>
                                          </p:stCondLst>
                                        </p:cTn>
                                        <p:tgtEl>
                                          <p:spTgt spid="12303"/>
                                        </p:tgtEl>
                                        <p:attrNameLst>
                                          <p:attrName>style.visibility</p:attrName>
                                        </p:attrNameLst>
                                      </p:cBhvr>
                                      <p:to>
                                        <p:strVal val="visible"/>
                                      </p:to>
                                    </p:set>
                                    <p:anim calcmode="lin" valueType="num">
                                      <p:cBhvr additive="base">
                                        <p:cTn id="21" dur="2000" fill="hold"/>
                                        <p:tgtEl>
                                          <p:spTgt spid="12303"/>
                                        </p:tgtEl>
                                        <p:attrNameLst>
                                          <p:attrName>ppt_x</p:attrName>
                                        </p:attrNameLst>
                                      </p:cBhvr>
                                      <p:tavLst>
                                        <p:tav tm="0">
                                          <p:val>
                                            <p:strVal val="#ppt_x"/>
                                          </p:val>
                                        </p:tav>
                                        <p:tav tm="100000">
                                          <p:val>
                                            <p:strVal val="#ppt_x"/>
                                          </p:val>
                                        </p:tav>
                                      </p:tavLst>
                                    </p:anim>
                                    <p:anim calcmode="lin" valueType="num">
                                      <p:cBhvr additive="base">
                                        <p:cTn id="22" dur="2000" fill="hold"/>
                                        <p:tgtEl>
                                          <p:spTgt spid="12303"/>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12303"/>
                                        </p:tgtEl>
                                        <p:attrNameLst>
                                          <p:attrName>style.visibility</p:attrName>
                                        </p:attrNameLst>
                                      </p:cBhvr>
                                      <p:to>
                                        <p:strVal val="hidden"/>
                                      </p:to>
                                    </p:set>
                                  </p:subTnLst>
                                </p:cTn>
                              </p:par>
                              <p:par>
                                <p:cTn id="23" presetID="2" presetClass="entr" presetSubtype="4" fill="hold" nodeType="withEffect">
                                  <p:stCondLst>
                                    <p:cond delay="4500"/>
                                  </p:stCondLst>
                                  <p:childTnLst>
                                    <p:set>
                                      <p:cBhvr>
                                        <p:cTn id="24" dur="1" fill="hold">
                                          <p:stCondLst>
                                            <p:cond delay="0"/>
                                          </p:stCondLst>
                                        </p:cTn>
                                        <p:tgtEl>
                                          <p:spTgt spid="12310"/>
                                        </p:tgtEl>
                                        <p:attrNameLst>
                                          <p:attrName>style.visibility</p:attrName>
                                        </p:attrNameLst>
                                      </p:cBhvr>
                                      <p:to>
                                        <p:strVal val="visible"/>
                                      </p:to>
                                    </p:set>
                                    <p:anim calcmode="lin" valueType="num">
                                      <p:cBhvr additive="base">
                                        <p:cTn id="25" dur="2000" fill="hold"/>
                                        <p:tgtEl>
                                          <p:spTgt spid="12310"/>
                                        </p:tgtEl>
                                        <p:attrNameLst>
                                          <p:attrName>ppt_x</p:attrName>
                                        </p:attrNameLst>
                                      </p:cBhvr>
                                      <p:tavLst>
                                        <p:tav tm="0">
                                          <p:val>
                                            <p:strVal val="#ppt_x"/>
                                          </p:val>
                                        </p:tav>
                                        <p:tav tm="100000">
                                          <p:val>
                                            <p:strVal val="#ppt_x"/>
                                          </p:val>
                                        </p:tav>
                                      </p:tavLst>
                                    </p:anim>
                                    <p:anim calcmode="lin" valueType="num">
                                      <p:cBhvr additive="base">
                                        <p:cTn id="26" dur="2000" fill="hold"/>
                                        <p:tgtEl>
                                          <p:spTgt spid="12310"/>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12310"/>
                                        </p:tgtEl>
                                        <p:attrNameLst>
                                          <p:attrName>style.visibility</p:attrName>
                                        </p:attrNameLst>
                                      </p:cBhvr>
                                      <p:to>
                                        <p:strVal val="hidden"/>
                                      </p:to>
                                    </p:set>
                                  </p:subTnLst>
                                </p:cTn>
                              </p:par>
                              <p:par>
                                <p:cTn id="27" presetID="2" presetClass="entr" presetSubtype="4" fill="hold" nodeType="withEffect">
                                  <p:stCondLst>
                                    <p:cond delay="6500"/>
                                  </p:stCondLst>
                                  <p:childTnLst>
                                    <p:set>
                                      <p:cBhvr>
                                        <p:cTn id="28" dur="1" fill="hold">
                                          <p:stCondLst>
                                            <p:cond delay="0"/>
                                          </p:stCondLst>
                                        </p:cTn>
                                        <p:tgtEl>
                                          <p:spTgt spid="12308"/>
                                        </p:tgtEl>
                                        <p:attrNameLst>
                                          <p:attrName>style.visibility</p:attrName>
                                        </p:attrNameLst>
                                      </p:cBhvr>
                                      <p:to>
                                        <p:strVal val="visible"/>
                                      </p:to>
                                    </p:set>
                                    <p:anim calcmode="lin" valueType="num">
                                      <p:cBhvr additive="base">
                                        <p:cTn id="29" dur="2000" fill="hold"/>
                                        <p:tgtEl>
                                          <p:spTgt spid="12308"/>
                                        </p:tgtEl>
                                        <p:attrNameLst>
                                          <p:attrName>ppt_x</p:attrName>
                                        </p:attrNameLst>
                                      </p:cBhvr>
                                      <p:tavLst>
                                        <p:tav tm="0">
                                          <p:val>
                                            <p:strVal val="#ppt_x"/>
                                          </p:val>
                                        </p:tav>
                                        <p:tav tm="100000">
                                          <p:val>
                                            <p:strVal val="#ppt_x"/>
                                          </p:val>
                                        </p:tav>
                                      </p:tavLst>
                                    </p:anim>
                                    <p:anim calcmode="lin" valueType="num">
                                      <p:cBhvr additive="base">
                                        <p:cTn id="30" dur="2000" fill="hold"/>
                                        <p:tgtEl>
                                          <p:spTgt spid="12308"/>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12308"/>
                                        </p:tgtEl>
                                        <p:attrNameLst>
                                          <p:attrName>style.visibility</p:attrName>
                                        </p:attrNameLst>
                                      </p:cBhvr>
                                      <p:to>
                                        <p:strVal val="hidden"/>
                                      </p:to>
                                    </p:set>
                                  </p:subTnLst>
                                </p:cTn>
                              </p:par>
                              <p:par>
                                <p:cTn id="31" presetID="2" presetClass="entr" presetSubtype="4" fill="hold" nodeType="withEffect">
                                  <p:stCondLst>
                                    <p:cond delay="6500"/>
                                  </p:stCondLst>
                                  <p:childTnLst>
                                    <p:set>
                                      <p:cBhvr>
                                        <p:cTn id="32" dur="1" fill="hold">
                                          <p:stCondLst>
                                            <p:cond delay="0"/>
                                          </p:stCondLst>
                                        </p:cTn>
                                        <p:tgtEl>
                                          <p:spTgt spid="12312"/>
                                        </p:tgtEl>
                                        <p:attrNameLst>
                                          <p:attrName>style.visibility</p:attrName>
                                        </p:attrNameLst>
                                      </p:cBhvr>
                                      <p:to>
                                        <p:strVal val="visible"/>
                                      </p:to>
                                    </p:set>
                                    <p:anim calcmode="lin" valueType="num">
                                      <p:cBhvr additive="base">
                                        <p:cTn id="33" dur="2000" fill="hold"/>
                                        <p:tgtEl>
                                          <p:spTgt spid="12312"/>
                                        </p:tgtEl>
                                        <p:attrNameLst>
                                          <p:attrName>ppt_x</p:attrName>
                                        </p:attrNameLst>
                                      </p:cBhvr>
                                      <p:tavLst>
                                        <p:tav tm="0">
                                          <p:val>
                                            <p:strVal val="#ppt_x"/>
                                          </p:val>
                                        </p:tav>
                                        <p:tav tm="100000">
                                          <p:val>
                                            <p:strVal val="#ppt_x"/>
                                          </p:val>
                                        </p:tav>
                                      </p:tavLst>
                                    </p:anim>
                                    <p:anim calcmode="lin" valueType="num">
                                      <p:cBhvr additive="base">
                                        <p:cTn id="34" dur="2000" fill="hold"/>
                                        <p:tgtEl>
                                          <p:spTgt spid="12312"/>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12312"/>
                                        </p:tgtEl>
                                        <p:attrNameLst>
                                          <p:attrName>style.visibility</p:attrName>
                                        </p:attrNameLst>
                                      </p:cBhvr>
                                      <p:to>
                                        <p:strVal val="hidden"/>
                                      </p:to>
                                    </p:set>
                                  </p:subTnLst>
                                </p:cTn>
                              </p:par>
                            </p:childTnLst>
                          </p:cTn>
                        </p:par>
                      </p:childTnLst>
                    </p:cTn>
                  </p:par>
                  <p:par>
                    <p:cTn id="35" fill="hold" nodeType="clickPar">
                      <p:stCondLst>
                        <p:cond delay="indefinite"/>
                      </p:stCondLst>
                      <p:childTnLst>
                        <p:par>
                          <p:cTn id="36" fill="hold" nodeType="withGroup">
                            <p:stCondLst>
                              <p:cond delay="0"/>
                            </p:stCondLst>
                            <p:childTnLst>
                              <p:par>
                                <p:cTn id="37" presetID="2" presetClass="entr" presetSubtype="2" fill="hold" grpId="0" nodeType="clickEffect">
                                  <p:stCondLst>
                                    <p:cond delay="0"/>
                                  </p:stCondLst>
                                  <p:childTnLst>
                                    <p:set>
                                      <p:cBhvr>
                                        <p:cTn id="38" dur="1" fill="hold">
                                          <p:stCondLst>
                                            <p:cond delay="0"/>
                                          </p:stCondLst>
                                        </p:cTn>
                                        <p:tgtEl>
                                          <p:spTgt spid="43011">
                                            <p:txEl>
                                              <p:pRg st="0" end="0"/>
                                            </p:txEl>
                                          </p:spTgt>
                                        </p:tgtEl>
                                        <p:attrNameLst>
                                          <p:attrName>style.visibility</p:attrName>
                                        </p:attrNameLst>
                                      </p:cBhvr>
                                      <p:to>
                                        <p:strVal val="visible"/>
                                      </p:to>
                                    </p:set>
                                    <p:anim calcmode="lin" valueType="num">
                                      <p:cBhvr additive="base">
                                        <p:cTn id="39" dur="500" fill="hold"/>
                                        <p:tgtEl>
                                          <p:spTgt spid="43011">
                                            <p:txEl>
                                              <p:pRg st="0" end="0"/>
                                            </p:txEl>
                                          </p:spTgt>
                                        </p:tgtEl>
                                        <p:attrNameLst>
                                          <p:attrName>ppt_x</p:attrName>
                                        </p:attrNameLst>
                                      </p:cBhvr>
                                      <p:tavLst>
                                        <p:tav tm="0">
                                          <p:val>
                                            <p:strVal val="1+#ppt_w/2"/>
                                          </p:val>
                                        </p:tav>
                                        <p:tav tm="100000">
                                          <p:val>
                                            <p:strVal val="#ppt_x"/>
                                          </p:val>
                                        </p:tav>
                                      </p:tavLst>
                                    </p:anim>
                                    <p:anim calcmode="lin" valueType="num">
                                      <p:cBhvr additive="base">
                                        <p:cTn id="40" dur="500" fill="hold"/>
                                        <p:tgtEl>
                                          <p:spTgt spid="4301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41" fill="hold" nodeType="clickPar">
                      <p:stCondLst>
                        <p:cond delay="indefinite"/>
                      </p:stCondLst>
                      <p:childTnLst>
                        <p:par>
                          <p:cTn id="42" fill="hold" nodeType="withGroup">
                            <p:stCondLst>
                              <p:cond delay="0"/>
                            </p:stCondLst>
                            <p:childTnLst>
                              <p:par>
                                <p:cTn id="43" presetID="2" presetClass="entr" presetSubtype="2" fill="hold" grpId="0" nodeType="clickEffect">
                                  <p:stCondLst>
                                    <p:cond delay="0"/>
                                  </p:stCondLst>
                                  <p:childTnLst>
                                    <p:set>
                                      <p:cBhvr>
                                        <p:cTn id="44" dur="1" fill="hold">
                                          <p:stCondLst>
                                            <p:cond delay="0"/>
                                          </p:stCondLst>
                                        </p:cTn>
                                        <p:tgtEl>
                                          <p:spTgt spid="43011">
                                            <p:txEl>
                                              <p:pRg st="1" end="1"/>
                                            </p:txEl>
                                          </p:spTgt>
                                        </p:tgtEl>
                                        <p:attrNameLst>
                                          <p:attrName>style.visibility</p:attrName>
                                        </p:attrNameLst>
                                      </p:cBhvr>
                                      <p:to>
                                        <p:strVal val="visible"/>
                                      </p:to>
                                    </p:set>
                                    <p:anim calcmode="lin" valueType="num">
                                      <p:cBhvr additive="base">
                                        <p:cTn id="45" dur="500" fill="hold"/>
                                        <p:tgtEl>
                                          <p:spTgt spid="43011">
                                            <p:txEl>
                                              <p:pRg st="1" end="1"/>
                                            </p:txEl>
                                          </p:spTgt>
                                        </p:tgtEl>
                                        <p:attrNameLst>
                                          <p:attrName>ppt_x</p:attrName>
                                        </p:attrNameLst>
                                      </p:cBhvr>
                                      <p:tavLst>
                                        <p:tav tm="0">
                                          <p:val>
                                            <p:strVal val="1+#ppt_w/2"/>
                                          </p:val>
                                        </p:tav>
                                        <p:tav tm="100000">
                                          <p:val>
                                            <p:strVal val="#ppt_x"/>
                                          </p:val>
                                        </p:tav>
                                      </p:tavLst>
                                    </p:anim>
                                    <p:anim calcmode="lin" valueType="num">
                                      <p:cBhvr additive="base">
                                        <p:cTn id="46" dur="500" fill="hold"/>
                                        <p:tgtEl>
                                          <p:spTgt spid="4301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47" fill="hold" nodeType="clickPar">
                      <p:stCondLst>
                        <p:cond delay="indefinite"/>
                      </p:stCondLst>
                      <p:childTnLst>
                        <p:par>
                          <p:cTn id="48" fill="hold" nodeType="withGroup">
                            <p:stCondLst>
                              <p:cond delay="0"/>
                            </p:stCondLst>
                            <p:childTnLst>
                              <p:par>
                                <p:cTn id="49" presetID="2" presetClass="entr" presetSubtype="2" fill="hold" grpId="0" nodeType="clickEffect">
                                  <p:stCondLst>
                                    <p:cond delay="0"/>
                                  </p:stCondLst>
                                  <p:childTnLst>
                                    <p:set>
                                      <p:cBhvr>
                                        <p:cTn id="50" dur="1" fill="hold">
                                          <p:stCondLst>
                                            <p:cond delay="0"/>
                                          </p:stCondLst>
                                        </p:cTn>
                                        <p:tgtEl>
                                          <p:spTgt spid="43011">
                                            <p:txEl>
                                              <p:pRg st="2" end="2"/>
                                            </p:txEl>
                                          </p:spTgt>
                                        </p:tgtEl>
                                        <p:attrNameLst>
                                          <p:attrName>style.visibility</p:attrName>
                                        </p:attrNameLst>
                                      </p:cBhvr>
                                      <p:to>
                                        <p:strVal val="visible"/>
                                      </p:to>
                                    </p:set>
                                    <p:anim calcmode="lin" valueType="num">
                                      <p:cBhvr additive="base">
                                        <p:cTn id="51" dur="500" fill="hold"/>
                                        <p:tgtEl>
                                          <p:spTgt spid="43011">
                                            <p:txEl>
                                              <p:pRg st="2" end="2"/>
                                            </p:txEl>
                                          </p:spTgt>
                                        </p:tgtEl>
                                        <p:attrNameLst>
                                          <p:attrName>ppt_x</p:attrName>
                                        </p:attrNameLst>
                                      </p:cBhvr>
                                      <p:tavLst>
                                        <p:tav tm="0">
                                          <p:val>
                                            <p:strVal val="1+#ppt_w/2"/>
                                          </p:val>
                                        </p:tav>
                                        <p:tav tm="100000">
                                          <p:val>
                                            <p:strVal val="#ppt_x"/>
                                          </p:val>
                                        </p:tav>
                                      </p:tavLst>
                                    </p:anim>
                                    <p:anim calcmode="lin" valueType="num">
                                      <p:cBhvr additive="base">
                                        <p:cTn id="52" dur="500" fill="hold"/>
                                        <p:tgtEl>
                                          <p:spTgt spid="43011">
                                            <p:txEl>
                                              <p:pRg st="2" end="2"/>
                                            </p:txEl>
                                          </p:spTgt>
                                        </p:tgtEl>
                                        <p:attrNameLst>
                                          <p:attrName>ppt_y</p:attrName>
                                        </p:attrNameLst>
                                      </p:cBhvr>
                                      <p:tavLst>
                                        <p:tav tm="0">
                                          <p:val>
                                            <p:strVal val="#ppt_y"/>
                                          </p:val>
                                        </p:tav>
                                        <p:tav tm="100000">
                                          <p:val>
                                            <p:strVal val="#ppt_y"/>
                                          </p:val>
                                        </p:tav>
                                      </p:tavLst>
                                    </p:anim>
                                  </p:childTnLst>
                                </p:cTn>
                              </p:par>
                              <p:par>
                                <p:cTn id="53" presetID="1" presetClass="entr" presetSubtype="0" fill="hold" nodeType="withEffect">
                                  <p:stCondLst>
                                    <p:cond delay="0"/>
                                  </p:stCondLst>
                                  <p:childTnLst>
                                    <p:set>
                                      <p:cBhvr>
                                        <p:cTn id="54" dur="1" fill="hold">
                                          <p:stCondLst>
                                            <p:cond delay="0"/>
                                          </p:stCondLst>
                                        </p:cTn>
                                        <p:tgtEl>
                                          <p:spTgt spid="12306"/>
                                        </p:tgtEl>
                                        <p:attrNameLst>
                                          <p:attrName>style.visibility</p:attrName>
                                        </p:attrNameLst>
                                      </p:cBhvr>
                                      <p:to>
                                        <p:strVal val="visible"/>
                                      </p:to>
                                    </p:set>
                                  </p:childTnLst>
                                </p:cTn>
                              </p:par>
                            </p:childTnLst>
                          </p:cTn>
                        </p:par>
                      </p:childTnLst>
                    </p:cTn>
                  </p:par>
                  <p:par>
                    <p:cTn id="55" fill="hold" nodeType="clickPar">
                      <p:stCondLst>
                        <p:cond delay="indefinite"/>
                      </p:stCondLst>
                      <p:childTnLst>
                        <p:par>
                          <p:cTn id="56" fill="hold" nodeType="withGroup">
                            <p:stCondLst>
                              <p:cond delay="0"/>
                            </p:stCondLst>
                            <p:childTnLst>
                              <p:par>
                                <p:cTn id="57" presetID="2" presetClass="entr" presetSubtype="2" fill="hold" grpId="0" nodeType="clickEffect">
                                  <p:stCondLst>
                                    <p:cond delay="0"/>
                                  </p:stCondLst>
                                  <p:childTnLst>
                                    <p:set>
                                      <p:cBhvr>
                                        <p:cTn id="58" dur="1" fill="hold">
                                          <p:stCondLst>
                                            <p:cond delay="0"/>
                                          </p:stCondLst>
                                        </p:cTn>
                                        <p:tgtEl>
                                          <p:spTgt spid="4"/>
                                        </p:tgtEl>
                                        <p:attrNameLst>
                                          <p:attrName>style.visibility</p:attrName>
                                        </p:attrNameLst>
                                      </p:cBhvr>
                                      <p:to>
                                        <p:strVal val="visible"/>
                                      </p:to>
                                    </p:set>
                                    <p:anim calcmode="lin" valueType="num">
                                      <p:cBhvr additive="base">
                                        <p:cTn id="59" dur="500" fill="hold"/>
                                        <p:tgtEl>
                                          <p:spTgt spid="4"/>
                                        </p:tgtEl>
                                        <p:attrNameLst>
                                          <p:attrName>ppt_x</p:attrName>
                                        </p:attrNameLst>
                                      </p:cBhvr>
                                      <p:tavLst>
                                        <p:tav tm="0">
                                          <p:val>
                                            <p:strVal val="1+#ppt_w/2"/>
                                          </p:val>
                                        </p:tav>
                                        <p:tav tm="100000">
                                          <p:val>
                                            <p:strVal val="#ppt_x"/>
                                          </p:val>
                                        </p:tav>
                                      </p:tavLst>
                                    </p:anim>
                                    <p:anim calcmode="lin" valueType="num">
                                      <p:cBhvr additive="base">
                                        <p:cTn id="60" dur="500" fill="hold"/>
                                        <p:tgtEl>
                                          <p:spTgt spid="4"/>
                                        </p:tgtEl>
                                        <p:attrNameLst>
                                          <p:attrName>ppt_y</p:attrName>
                                        </p:attrNameLst>
                                      </p:cBhvr>
                                      <p:tavLst>
                                        <p:tav tm="0">
                                          <p:val>
                                            <p:strVal val="#ppt_y"/>
                                          </p:val>
                                        </p:tav>
                                        <p:tav tm="100000">
                                          <p:val>
                                            <p:strVal val="#ppt_y"/>
                                          </p:val>
                                        </p:tav>
                                      </p:tavLst>
                                    </p:anim>
                                  </p:childTnLst>
                                </p:cTn>
                              </p:par>
                              <p:par>
                                <p:cTn id="61" presetID="2" presetClass="entr" presetSubtype="2" fill="hold" grpId="0" nodeType="withEffect">
                                  <p:stCondLst>
                                    <p:cond delay="0"/>
                                  </p:stCondLst>
                                  <p:childTnLst>
                                    <p:set>
                                      <p:cBhvr>
                                        <p:cTn id="62" dur="1" fill="hold">
                                          <p:stCondLst>
                                            <p:cond delay="0"/>
                                          </p:stCondLst>
                                        </p:cTn>
                                        <p:tgtEl>
                                          <p:spTgt spid="5"/>
                                        </p:tgtEl>
                                        <p:attrNameLst>
                                          <p:attrName>style.visibility</p:attrName>
                                        </p:attrNameLst>
                                      </p:cBhvr>
                                      <p:to>
                                        <p:strVal val="visible"/>
                                      </p:to>
                                    </p:set>
                                    <p:anim calcmode="lin" valueType="num">
                                      <p:cBhvr additive="base">
                                        <p:cTn id="63" dur="500" fill="hold"/>
                                        <p:tgtEl>
                                          <p:spTgt spid="5"/>
                                        </p:tgtEl>
                                        <p:attrNameLst>
                                          <p:attrName>ppt_x</p:attrName>
                                        </p:attrNameLst>
                                      </p:cBhvr>
                                      <p:tavLst>
                                        <p:tav tm="0">
                                          <p:val>
                                            <p:strVal val="1+#ppt_w/2"/>
                                          </p:val>
                                        </p:tav>
                                        <p:tav tm="100000">
                                          <p:val>
                                            <p:strVal val="#ppt_x"/>
                                          </p:val>
                                        </p:tav>
                                      </p:tavLst>
                                    </p:anim>
                                    <p:anim calcmode="lin" valueType="num">
                                      <p:cBhvr additive="base">
                                        <p:cTn id="64" dur="500" fill="hold"/>
                                        <p:tgtEl>
                                          <p:spTgt spid="5"/>
                                        </p:tgtEl>
                                        <p:attrNameLst>
                                          <p:attrName>ppt_y</p:attrName>
                                        </p:attrNameLst>
                                      </p:cBhvr>
                                      <p:tavLst>
                                        <p:tav tm="0">
                                          <p:val>
                                            <p:strVal val="#ppt_y"/>
                                          </p:val>
                                        </p:tav>
                                        <p:tav tm="100000">
                                          <p:val>
                                            <p:strVal val="#ppt_y"/>
                                          </p:val>
                                        </p:tav>
                                      </p:tavLst>
                                    </p:anim>
                                  </p:childTnLst>
                                </p:cTn>
                              </p:par>
                              <p:par>
                                <p:cTn id="65" presetID="2" presetClass="entr" presetSubtype="2" fill="hold" nodeType="withEffect">
                                  <p:stCondLst>
                                    <p:cond delay="0"/>
                                  </p:stCondLst>
                                  <p:childTnLst>
                                    <p:set>
                                      <p:cBhvr>
                                        <p:cTn id="66" dur="1" fill="hold">
                                          <p:stCondLst>
                                            <p:cond delay="0"/>
                                          </p:stCondLst>
                                        </p:cTn>
                                        <p:tgtEl>
                                          <p:spTgt spid="2"/>
                                        </p:tgtEl>
                                        <p:attrNameLst>
                                          <p:attrName>style.visibility</p:attrName>
                                        </p:attrNameLst>
                                      </p:cBhvr>
                                      <p:to>
                                        <p:strVal val="visible"/>
                                      </p:to>
                                    </p:set>
                                    <p:anim calcmode="lin" valueType="num">
                                      <p:cBhvr additive="base">
                                        <p:cTn id="67" dur="500" fill="hold"/>
                                        <p:tgtEl>
                                          <p:spTgt spid="2"/>
                                        </p:tgtEl>
                                        <p:attrNameLst>
                                          <p:attrName>ppt_x</p:attrName>
                                        </p:attrNameLst>
                                      </p:cBhvr>
                                      <p:tavLst>
                                        <p:tav tm="0">
                                          <p:val>
                                            <p:strVal val="1+#ppt_w/2"/>
                                          </p:val>
                                        </p:tav>
                                        <p:tav tm="100000">
                                          <p:val>
                                            <p:strVal val="#ppt_x"/>
                                          </p:val>
                                        </p:tav>
                                      </p:tavLst>
                                    </p:anim>
                                    <p:anim calcmode="lin" valueType="num">
                                      <p:cBhvr additive="base">
                                        <p:cTn id="6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69" fill="hold" nodeType="clickPar">
                      <p:stCondLst>
                        <p:cond delay="indefinite"/>
                      </p:stCondLst>
                      <p:childTnLst>
                        <p:par>
                          <p:cTn id="70" fill="hold" nodeType="withGroup">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43013"/>
                                        </p:tgtEl>
                                        <p:attrNameLst>
                                          <p:attrName>style.visibility</p:attrName>
                                        </p:attrNameLst>
                                      </p:cBhvr>
                                      <p:to>
                                        <p:strVal val="visible"/>
                                      </p:to>
                                    </p:set>
                                    <p:anim calcmode="lin" valueType="num">
                                      <p:cBhvr additive="base">
                                        <p:cTn id="73" dur="500" fill="hold"/>
                                        <p:tgtEl>
                                          <p:spTgt spid="43013"/>
                                        </p:tgtEl>
                                        <p:attrNameLst>
                                          <p:attrName>ppt_x</p:attrName>
                                        </p:attrNameLst>
                                      </p:cBhvr>
                                      <p:tavLst>
                                        <p:tav tm="0">
                                          <p:val>
                                            <p:strVal val="#ppt_x"/>
                                          </p:val>
                                        </p:tav>
                                        <p:tav tm="100000">
                                          <p:val>
                                            <p:strVal val="#ppt_x"/>
                                          </p:val>
                                        </p:tav>
                                      </p:tavLst>
                                    </p:anim>
                                    <p:anim calcmode="lin" valueType="num">
                                      <p:cBhvr additive="base">
                                        <p:cTn id="74" dur="500" fill="hold"/>
                                        <p:tgtEl>
                                          <p:spTgt spid="430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audio>
              <p:cMediaNode vol="80000">
                <p:cTn id="75" fill="hold" display="0">
                  <p:stCondLst>
                    <p:cond delay="indefinite"/>
                  </p:stCondLst>
                  <p:endCondLst>
                    <p:cond evt="onStopAudio" delay="0">
                      <p:tgtEl>
                        <p:sldTgt/>
                      </p:tgtEl>
                    </p:cond>
                  </p:endCondLst>
                </p:cTn>
                <p:tgtEl>
                  <p:spTgt spid="6"/>
                </p:tgtEl>
              </p:cMediaNode>
            </p:audio>
          </p:childTnLst>
        </p:cTn>
      </p:par>
    </p:tnLst>
    <p:bldLst>
      <p:bldP spid="43011" grpId="0" build="p" autoUpdateAnimBg="0"/>
      <p:bldP spid="4" grpId="0" animBg="1"/>
      <p:bldP spid="5" grpId="0" animBg="1"/>
      <p:bldP spid="43013" grpId="0" animBg="1"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4" name="Rectangle 5"/>
          <p:cNvSpPr>
            <a:spLocks noGrp="1" noChangeArrowheads="1"/>
          </p:cNvSpPr>
          <p:nvPr>
            <p:ph type="title"/>
          </p:nvPr>
        </p:nvSpPr>
        <p:spPr>
          <a:xfrm>
            <a:off x="609600" y="152400"/>
            <a:ext cx="6553200" cy="1143000"/>
          </a:xfrm>
          <a:solidFill>
            <a:srgbClr val="FFC000"/>
          </a:solidFill>
        </p:spPr>
        <p:txBody>
          <a:bodyPr/>
          <a:lstStyle/>
          <a:p>
            <a:r>
              <a:rPr lang="en-US" altLang="en-US" sz="3200" dirty="0" smtClean="0">
                <a:solidFill>
                  <a:srgbClr val="FF0000"/>
                </a:solidFill>
                <a:effectLst/>
              </a:rPr>
              <a:t>Example: Sample Size to Estimate a Population Mean </a:t>
            </a:r>
            <a:r>
              <a:rPr lang="en-US" altLang="en-US" sz="3200" dirty="0" smtClean="0">
                <a:solidFill>
                  <a:srgbClr val="FF0000"/>
                </a:solidFill>
                <a:effectLst/>
                <a:latin typeface="Symbol" charset="2"/>
              </a:rPr>
              <a:t></a:t>
            </a:r>
          </a:p>
        </p:txBody>
      </p:sp>
      <p:sp>
        <p:nvSpPr>
          <p:cNvPr id="13315" name="Rectangle 8"/>
          <p:cNvSpPr>
            <a:spLocks noGrp="1" noChangeArrowheads="1"/>
          </p:cNvSpPr>
          <p:nvPr>
            <p:ph type="body" sz="half" idx="1"/>
          </p:nvPr>
        </p:nvSpPr>
        <p:spPr>
          <a:xfrm>
            <a:off x="609600" y="1447800"/>
            <a:ext cx="8077200" cy="3048000"/>
          </a:xfrm>
          <a:solidFill>
            <a:srgbClr val="FFC000"/>
          </a:solidFill>
        </p:spPr>
        <p:txBody>
          <a:bodyPr/>
          <a:lstStyle/>
          <a:p>
            <a:r>
              <a:rPr lang="en-US" altLang="en-US" sz="2400" dirty="0" smtClean="0">
                <a:solidFill>
                  <a:srgbClr val="FF0000"/>
                </a:solidFill>
                <a:effectLst/>
              </a:rPr>
              <a:t>The manufacturer wishes to estimate the mean inflation pressure to within .025 pound with a 99% confidence interval. How may footballs should be sampled?</a:t>
            </a:r>
          </a:p>
          <a:p>
            <a:r>
              <a:rPr lang="en-US" altLang="en-US" sz="2400" dirty="0" smtClean="0">
                <a:solidFill>
                  <a:srgbClr val="FF0000"/>
                </a:solidFill>
                <a:effectLst/>
              </a:rPr>
              <a:t>99% confidence </a:t>
            </a:r>
            <a:r>
              <a:rPr lang="en-US" altLang="en-US" sz="2400" dirty="0" smtClean="0">
                <a:solidFill>
                  <a:srgbClr val="FF0000"/>
                </a:solidFill>
                <a:effectLst/>
                <a:sym typeface="Symbol" charset="2"/>
              </a:rPr>
              <a:t> z* = 2.58; ME = .025</a:t>
            </a:r>
          </a:p>
          <a:p>
            <a:r>
              <a:rPr lang="en-US" altLang="en-US" sz="2400" dirty="0" smtClean="0">
                <a:solidFill>
                  <a:srgbClr val="FF0000"/>
                </a:solidFill>
                <a:effectLst/>
                <a:sym typeface="Symbol" charset="2"/>
              </a:rPr>
              <a:t> = ? Inflation pressures range from 12.8 to 13.2 psi</a:t>
            </a:r>
          </a:p>
          <a:p>
            <a:r>
              <a:rPr lang="en-US" altLang="en-US" sz="2400" dirty="0" smtClean="0">
                <a:solidFill>
                  <a:srgbClr val="FF0000"/>
                </a:solidFill>
                <a:effectLst/>
                <a:sym typeface="Symbol" charset="2"/>
              </a:rPr>
              <a:t>So range =13.2 – 12.8 = .4;   range/6 = .4/6 = .067</a:t>
            </a:r>
          </a:p>
        </p:txBody>
      </p:sp>
      <p:graphicFrame>
        <p:nvGraphicFramePr>
          <p:cNvPr id="8" name="Content Placeholder 7"/>
          <p:cNvGraphicFramePr>
            <a:graphicFrameLocks noGrp="1" noChangeAspect="1"/>
          </p:cNvGraphicFramePr>
          <p:nvPr>
            <p:ph sz="half" idx="2"/>
            <p:extLst>
              <p:ext uri="{D42A27DB-BD31-4B8C-83A1-F6EECF244321}">
                <p14:modId xmlns:p14="http://schemas.microsoft.com/office/powerpoint/2010/main" val="3090951352"/>
              </p:ext>
            </p:extLst>
          </p:nvPr>
        </p:nvGraphicFramePr>
        <p:xfrm>
          <a:off x="1219200" y="4572000"/>
          <a:ext cx="4710113" cy="1193800"/>
        </p:xfrm>
        <a:graphic>
          <a:graphicData uri="http://schemas.openxmlformats.org/presentationml/2006/ole">
            <mc:AlternateContent xmlns:mc="http://schemas.openxmlformats.org/markup-compatibility/2006">
              <mc:Choice xmlns:v="urn:schemas-microsoft-com:vml" Requires="v">
                <p:oleObj spid="_x0000_s52238" name="Equation" r:id="rId4" imgW="1854200" imgH="469900" progId="Equation.3">
                  <p:embed/>
                </p:oleObj>
              </mc:Choice>
              <mc:Fallback>
                <p:oleObj name="Equation" r:id="rId4" imgW="1854200" imgH="4699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19200" y="4572000"/>
                        <a:ext cx="4710113" cy="1193800"/>
                      </a:xfrm>
                      <a:prstGeom prst="rect">
                        <a:avLst/>
                      </a:prstGeom>
                      <a:solidFill>
                        <a:srgbClr val="FFC000"/>
                      </a:solidFill>
                      <a:ln>
                        <a:noFill/>
                      </a:ln>
                      <a:effectLst/>
                    </p:spPr>
                  </p:pic>
                </p:oleObj>
              </mc:Fallback>
            </mc:AlternateContent>
          </a:graphicData>
        </a:graphic>
      </p:graphicFrame>
      <p:graphicFrame>
        <p:nvGraphicFramePr>
          <p:cNvPr id="13316" name="Object 4"/>
          <p:cNvGraphicFramePr>
            <a:graphicFrameLocks noGrp="1" noChangeAspect="1"/>
          </p:cNvGraphicFramePr>
          <p:nvPr>
            <p:ph idx="4294967295"/>
          </p:nvPr>
        </p:nvGraphicFramePr>
        <p:xfrm>
          <a:off x="7213600" y="152400"/>
          <a:ext cx="1930400" cy="1241425"/>
        </p:xfrm>
        <a:graphic>
          <a:graphicData uri="http://schemas.openxmlformats.org/presentationml/2006/ole">
            <mc:AlternateContent xmlns:mc="http://schemas.openxmlformats.org/markup-compatibility/2006">
              <mc:Choice xmlns:v="urn:schemas-microsoft-com:vml" Requires="v">
                <p:oleObj spid="_x0000_s52239" name="Equation" r:id="rId6" imgW="939800" imgH="508000" progId="Equation.DSMT4">
                  <p:embed/>
                </p:oleObj>
              </mc:Choice>
              <mc:Fallback>
                <p:oleObj name="Equation" r:id="rId6" imgW="939800" imgH="508000"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213600" y="152400"/>
                        <a:ext cx="1930400" cy="1241425"/>
                      </a:xfrm>
                      <a:prstGeom prst="rect">
                        <a:avLst/>
                      </a:prstGeom>
                      <a:solidFill>
                        <a:schemeClr val="fo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7175" name="Picture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09600" y="5791200"/>
            <a:ext cx="914400" cy="62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9" name="Picture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00200" y="5791200"/>
            <a:ext cx="914400" cy="62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0" name="Picture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590800" y="5791200"/>
            <a:ext cx="914400" cy="62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1" name="Picture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86300" y="5791200"/>
            <a:ext cx="914400" cy="62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12" name="TextBox 11"/>
          <p:cNvSpPr txBox="1">
            <a:spLocks noChangeArrowheads="1"/>
          </p:cNvSpPr>
          <p:nvPr/>
        </p:nvSpPr>
        <p:spPr bwMode="auto">
          <a:xfrm>
            <a:off x="914400" y="6396038"/>
            <a:ext cx="3048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100000"/>
              <a:buChar char="•"/>
              <a:defRPr sz="3200">
                <a:solidFill>
                  <a:schemeClr val="tx1"/>
                </a:solidFill>
                <a:latin typeface="Arial" charset="0"/>
              </a:defRPr>
            </a:lvl1pPr>
            <a:lvl2pPr marL="742950" indent="-285750">
              <a:spcBef>
                <a:spcPct val="20000"/>
              </a:spcBef>
              <a:buClr>
                <a:schemeClr val="tx1"/>
              </a:buClr>
              <a:buSzPct val="100000"/>
              <a:buChar char="–"/>
              <a:defRPr sz="2800">
                <a:solidFill>
                  <a:schemeClr val="tx1"/>
                </a:solidFill>
                <a:latin typeface="Arial" charset="0"/>
              </a:defRPr>
            </a:lvl2pPr>
            <a:lvl3pPr marL="1143000" indent="-228600">
              <a:spcBef>
                <a:spcPct val="20000"/>
              </a:spcBef>
              <a:buClr>
                <a:schemeClr val="tx1"/>
              </a:buClr>
              <a:buSzPct val="100000"/>
              <a:buChar char="•"/>
              <a:defRPr sz="2400">
                <a:solidFill>
                  <a:schemeClr val="tx1"/>
                </a:solidFill>
                <a:latin typeface="Arial" charset="0"/>
              </a:defRPr>
            </a:lvl3pPr>
            <a:lvl4pPr marL="1600200" indent="-228600">
              <a:spcBef>
                <a:spcPct val="20000"/>
              </a:spcBef>
              <a:buClr>
                <a:schemeClr val="tx1"/>
              </a:buClr>
              <a:buSzPct val="100000"/>
              <a:buChar char="–"/>
              <a:defRPr sz="2000">
                <a:solidFill>
                  <a:schemeClr val="tx1"/>
                </a:solidFill>
                <a:latin typeface="Arial" charset="0"/>
              </a:defRPr>
            </a:lvl4pPr>
            <a:lvl5pPr marL="2057400" indent="-228600">
              <a:spcBef>
                <a:spcPct val="20000"/>
              </a:spcBef>
              <a:buClr>
                <a:schemeClr val="tx1"/>
              </a:buClr>
              <a:buSzPct val="100000"/>
              <a:buChar char="•"/>
              <a:defRPr sz="2000">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Arial" charset="0"/>
              </a:defRPr>
            </a:lvl9pPr>
          </a:lstStyle>
          <a:p>
            <a:pPr>
              <a:spcBef>
                <a:spcPct val="0"/>
              </a:spcBef>
              <a:buClrTx/>
              <a:buSzTx/>
              <a:buFontTx/>
              <a:buNone/>
            </a:pPr>
            <a:r>
              <a:rPr lang="en-US" altLang="en-US" sz="2400" i="0">
                <a:solidFill>
                  <a:srgbClr val="009688"/>
                </a:solidFill>
                <a:latin typeface="Times New Roman" pitchFamily="18" charset="0"/>
              </a:rPr>
              <a:t>1</a:t>
            </a:r>
          </a:p>
        </p:txBody>
      </p:sp>
      <p:sp>
        <p:nvSpPr>
          <p:cNvPr id="13" name="TextBox 12"/>
          <p:cNvSpPr txBox="1">
            <a:spLocks noChangeArrowheads="1"/>
          </p:cNvSpPr>
          <p:nvPr/>
        </p:nvSpPr>
        <p:spPr bwMode="auto">
          <a:xfrm>
            <a:off x="1905000" y="6396038"/>
            <a:ext cx="3048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100000"/>
              <a:buChar char="•"/>
              <a:defRPr sz="3200">
                <a:solidFill>
                  <a:schemeClr val="tx1"/>
                </a:solidFill>
                <a:latin typeface="Arial" charset="0"/>
              </a:defRPr>
            </a:lvl1pPr>
            <a:lvl2pPr marL="742950" indent="-285750">
              <a:spcBef>
                <a:spcPct val="20000"/>
              </a:spcBef>
              <a:buClr>
                <a:schemeClr val="tx1"/>
              </a:buClr>
              <a:buSzPct val="100000"/>
              <a:buChar char="–"/>
              <a:defRPr sz="2800">
                <a:solidFill>
                  <a:schemeClr val="tx1"/>
                </a:solidFill>
                <a:latin typeface="Arial" charset="0"/>
              </a:defRPr>
            </a:lvl2pPr>
            <a:lvl3pPr marL="1143000" indent="-228600">
              <a:spcBef>
                <a:spcPct val="20000"/>
              </a:spcBef>
              <a:buClr>
                <a:schemeClr val="tx1"/>
              </a:buClr>
              <a:buSzPct val="100000"/>
              <a:buChar char="•"/>
              <a:defRPr sz="2400">
                <a:solidFill>
                  <a:schemeClr val="tx1"/>
                </a:solidFill>
                <a:latin typeface="Arial" charset="0"/>
              </a:defRPr>
            </a:lvl3pPr>
            <a:lvl4pPr marL="1600200" indent="-228600">
              <a:spcBef>
                <a:spcPct val="20000"/>
              </a:spcBef>
              <a:buClr>
                <a:schemeClr val="tx1"/>
              </a:buClr>
              <a:buSzPct val="100000"/>
              <a:buChar char="–"/>
              <a:defRPr sz="2000">
                <a:solidFill>
                  <a:schemeClr val="tx1"/>
                </a:solidFill>
                <a:latin typeface="Arial" charset="0"/>
              </a:defRPr>
            </a:lvl4pPr>
            <a:lvl5pPr marL="2057400" indent="-228600">
              <a:spcBef>
                <a:spcPct val="20000"/>
              </a:spcBef>
              <a:buClr>
                <a:schemeClr val="tx1"/>
              </a:buClr>
              <a:buSzPct val="100000"/>
              <a:buChar char="•"/>
              <a:defRPr sz="2000">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Arial" charset="0"/>
              </a:defRPr>
            </a:lvl9pPr>
          </a:lstStyle>
          <a:p>
            <a:pPr>
              <a:spcBef>
                <a:spcPct val="0"/>
              </a:spcBef>
              <a:buClrTx/>
              <a:buSzTx/>
              <a:buFontTx/>
              <a:buNone/>
            </a:pPr>
            <a:r>
              <a:rPr lang="en-US" altLang="en-US" sz="2400" i="0">
                <a:solidFill>
                  <a:srgbClr val="009688"/>
                </a:solidFill>
                <a:latin typeface="Times New Roman" pitchFamily="18" charset="0"/>
              </a:rPr>
              <a:t>2</a:t>
            </a:r>
          </a:p>
        </p:txBody>
      </p:sp>
      <p:sp>
        <p:nvSpPr>
          <p:cNvPr id="14" name="TextBox 13"/>
          <p:cNvSpPr txBox="1">
            <a:spLocks noChangeArrowheads="1"/>
          </p:cNvSpPr>
          <p:nvPr/>
        </p:nvSpPr>
        <p:spPr bwMode="auto">
          <a:xfrm>
            <a:off x="2895600" y="6396038"/>
            <a:ext cx="3048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100000"/>
              <a:buChar char="•"/>
              <a:defRPr sz="3200">
                <a:solidFill>
                  <a:schemeClr val="tx1"/>
                </a:solidFill>
                <a:latin typeface="Arial" charset="0"/>
              </a:defRPr>
            </a:lvl1pPr>
            <a:lvl2pPr marL="742950" indent="-285750">
              <a:spcBef>
                <a:spcPct val="20000"/>
              </a:spcBef>
              <a:buClr>
                <a:schemeClr val="tx1"/>
              </a:buClr>
              <a:buSzPct val="100000"/>
              <a:buChar char="–"/>
              <a:defRPr sz="2800">
                <a:solidFill>
                  <a:schemeClr val="tx1"/>
                </a:solidFill>
                <a:latin typeface="Arial" charset="0"/>
              </a:defRPr>
            </a:lvl2pPr>
            <a:lvl3pPr marL="1143000" indent="-228600">
              <a:spcBef>
                <a:spcPct val="20000"/>
              </a:spcBef>
              <a:buClr>
                <a:schemeClr val="tx1"/>
              </a:buClr>
              <a:buSzPct val="100000"/>
              <a:buChar char="•"/>
              <a:defRPr sz="2400">
                <a:solidFill>
                  <a:schemeClr val="tx1"/>
                </a:solidFill>
                <a:latin typeface="Arial" charset="0"/>
              </a:defRPr>
            </a:lvl3pPr>
            <a:lvl4pPr marL="1600200" indent="-228600">
              <a:spcBef>
                <a:spcPct val="20000"/>
              </a:spcBef>
              <a:buClr>
                <a:schemeClr val="tx1"/>
              </a:buClr>
              <a:buSzPct val="100000"/>
              <a:buChar char="–"/>
              <a:defRPr sz="2000">
                <a:solidFill>
                  <a:schemeClr val="tx1"/>
                </a:solidFill>
                <a:latin typeface="Arial" charset="0"/>
              </a:defRPr>
            </a:lvl4pPr>
            <a:lvl5pPr marL="2057400" indent="-228600">
              <a:spcBef>
                <a:spcPct val="20000"/>
              </a:spcBef>
              <a:buClr>
                <a:schemeClr val="tx1"/>
              </a:buClr>
              <a:buSzPct val="100000"/>
              <a:buChar char="•"/>
              <a:defRPr sz="2000">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Arial" charset="0"/>
              </a:defRPr>
            </a:lvl9pPr>
          </a:lstStyle>
          <a:p>
            <a:pPr>
              <a:spcBef>
                <a:spcPct val="0"/>
              </a:spcBef>
              <a:buClrTx/>
              <a:buSzTx/>
              <a:buFontTx/>
              <a:buNone/>
            </a:pPr>
            <a:r>
              <a:rPr lang="en-US" altLang="en-US" sz="2400" i="0">
                <a:solidFill>
                  <a:srgbClr val="009688"/>
                </a:solidFill>
                <a:latin typeface="Times New Roman" pitchFamily="18" charset="0"/>
              </a:rPr>
              <a:t>3</a:t>
            </a:r>
          </a:p>
        </p:txBody>
      </p:sp>
      <p:sp>
        <p:nvSpPr>
          <p:cNvPr id="15" name="TextBox 14"/>
          <p:cNvSpPr txBox="1">
            <a:spLocks noChangeArrowheads="1"/>
          </p:cNvSpPr>
          <p:nvPr/>
        </p:nvSpPr>
        <p:spPr bwMode="auto">
          <a:xfrm>
            <a:off x="5334000" y="6396038"/>
            <a:ext cx="5334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100000"/>
              <a:buChar char="•"/>
              <a:defRPr sz="3200">
                <a:solidFill>
                  <a:schemeClr val="tx1"/>
                </a:solidFill>
                <a:latin typeface="Arial" charset="0"/>
              </a:defRPr>
            </a:lvl1pPr>
            <a:lvl2pPr marL="742950" indent="-285750">
              <a:spcBef>
                <a:spcPct val="20000"/>
              </a:spcBef>
              <a:buClr>
                <a:schemeClr val="tx1"/>
              </a:buClr>
              <a:buSzPct val="100000"/>
              <a:buChar char="–"/>
              <a:defRPr sz="2800">
                <a:solidFill>
                  <a:schemeClr val="tx1"/>
                </a:solidFill>
                <a:latin typeface="Arial" charset="0"/>
              </a:defRPr>
            </a:lvl2pPr>
            <a:lvl3pPr marL="1143000" indent="-228600">
              <a:spcBef>
                <a:spcPct val="20000"/>
              </a:spcBef>
              <a:buClr>
                <a:schemeClr val="tx1"/>
              </a:buClr>
              <a:buSzPct val="100000"/>
              <a:buChar char="•"/>
              <a:defRPr sz="2400">
                <a:solidFill>
                  <a:schemeClr val="tx1"/>
                </a:solidFill>
                <a:latin typeface="Arial" charset="0"/>
              </a:defRPr>
            </a:lvl3pPr>
            <a:lvl4pPr marL="1600200" indent="-228600">
              <a:spcBef>
                <a:spcPct val="20000"/>
              </a:spcBef>
              <a:buClr>
                <a:schemeClr val="tx1"/>
              </a:buClr>
              <a:buSzPct val="100000"/>
              <a:buChar char="–"/>
              <a:defRPr sz="2000">
                <a:solidFill>
                  <a:schemeClr val="tx1"/>
                </a:solidFill>
                <a:latin typeface="Arial" charset="0"/>
              </a:defRPr>
            </a:lvl4pPr>
            <a:lvl5pPr marL="2057400" indent="-228600">
              <a:spcBef>
                <a:spcPct val="20000"/>
              </a:spcBef>
              <a:buClr>
                <a:schemeClr val="tx1"/>
              </a:buClr>
              <a:buSzPct val="100000"/>
              <a:buChar char="•"/>
              <a:defRPr sz="2000">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Arial" charset="0"/>
              </a:defRPr>
            </a:lvl9pPr>
          </a:lstStyle>
          <a:p>
            <a:pPr>
              <a:spcBef>
                <a:spcPct val="0"/>
              </a:spcBef>
              <a:buClrTx/>
              <a:buSzTx/>
              <a:buFontTx/>
              <a:buNone/>
            </a:pPr>
            <a:r>
              <a:rPr lang="en-US" altLang="en-US" sz="2400" i="0">
                <a:solidFill>
                  <a:srgbClr val="009688"/>
                </a:solidFill>
                <a:latin typeface="Times New Roman" pitchFamily="18" charset="0"/>
              </a:rPr>
              <a:t>48</a:t>
            </a:r>
          </a:p>
        </p:txBody>
      </p:sp>
      <p:sp>
        <p:nvSpPr>
          <p:cNvPr id="16" name="TextBox 15"/>
          <p:cNvSpPr txBox="1">
            <a:spLocks noChangeArrowheads="1"/>
          </p:cNvSpPr>
          <p:nvPr/>
        </p:nvSpPr>
        <p:spPr bwMode="auto">
          <a:xfrm>
            <a:off x="3733800" y="5953125"/>
            <a:ext cx="8382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100000"/>
              <a:buChar char="•"/>
              <a:defRPr sz="3200">
                <a:solidFill>
                  <a:schemeClr val="tx1"/>
                </a:solidFill>
                <a:latin typeface="Arial" charset="0"/>
              </a:defRPr>
            </a:lvl1pPr>
            <a:lvl2pPr marL="742950" indent="-285750">
              <a:spcBef>
                <a:spcPct val="20000"/>
              </a:spcBef>
              <a:buClr>
                <a:schemeClr val="tx1"/>
              </a:buClr>
              <a:buSzPct val="100000"/>
              <a:buChar char="–"/>
              <a:defRPr sz="2800">
                <a:solidFill>
                  <a:schemeClr val="tx1"/>
                </a:solidFill>
                <a:latin typeface="Arial" charset="0"/>
              </a:defRPr>
            </a:lvl2pPr>
            <a:lvl3pPr marL="1143000" indent="-228600">
              <a:spcBef>
                <a:spcPct val="20000"/>
              </a:spcBef>
              <a:buClr>
                <a:schemeClr val="tx1"/>
              </a:buClr>
              <a:buSzPct val="100000"/>
              <a:buChar char="•"/>
              <a:defRPr sz="2400">
                <a:solidFill>
                  <a:schemeClr val="tx1"/>
                </a:solidFill>
                <a:latin typeface="Arial" charset="0"/>
              </a:defRPr>
            </a:lvl3pPr>
            <a:lvl4pPr marL="1600200" indent="-228600">
              <a:spcBef>
                <a:spcPct val="20000"/>
              </a:spcBef>
              <a:buClr>
                <a:schemeClr val="tx1"/>
              </a:buClr>
              <a:buSzPct val="100000"/>
              <a:buChar char="–"/>
              <a:defRPr sz="2000">
                <a:solidFill>
                  <a:schemeClr val="tx1"/>
                </a:solidFill>
                <a:latin typeface="Arial" charset="0"/>
              </a:defRPr>
            </a:lvl4pPr>
            <a:lvl5pPr marL="2057400" indent="-228600">
              <a:spcBef>
                <a:spcPct val="20000"/>
              </a:spcBef>
              <a:buClr>
                <a:schemeClr val="tx1"/>
              </a:buClr>
              <a:buSzPct val="100000"/>
              <a:buChar char="•"/>
              <a:defRPr sz="2000">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Arial" charset="0"/>
              </a:defRPr>
            </a:lvl9pPr>
          </a:lstStyle>
          <a:p>
            <a:pPr>
              <a:spcBef>
                <a:spcPct val="0"/>
              </a:spcBef>
              <a:buClrTx/>
              <a:buSzTx/>
              <a:buFontTx/>
              <a:buNone/>
            </a:pPr>
            <a:r>
              <a:rPr lang="en-US" altLang="en-US" sz="2400" b="1" i="0">
                <a:solidFill>
                  <a:srgbClr val="009688"/>
                </a:solidFill>
                <a:latin typeface="Times New Roman" pitchFamily="18" charset="0"/>
              </a:rPr>
              <a:t>.  .  .</a:t>
            </a:r>
          </a:p>
        </p:txBody>
      </p:sp>
      <p:pic>
        <p:nvPicPr>
          <p:cNvPr id="13327" name="Picture 16" descr="nfl_helmet_anim.gif"/>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190500" y="304800"/>
            <a:ext cx="838200"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Picture 17" descr="https://encrypted-tbn2.gstatic.com/images?q=tbn:ANd9GcR5M39YIF0k3GSqtZ128ZuFvUOo7p7fdUrtSclGQafIraTJpFM_"/>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248400" y="4755356"/>
            <a:ext cx="2662238" cy="187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2"/>
    </p:custDataLst>
    <p:extLst>
      <p:ext uri="{BB962C8B-B14F-4D97-AF65-F5344CB8AC3E}">
        <p14:creationId xmlns:p14="http://schemas.microsoft.com/office/powerpoint/2010/main" val="2847420808"/>
      </p:ext>
    </p:extLst>
  </p:cSld>
  <p:clrMapOvr>
    <a:masterClrMapping/>
  </p:clrMapOvr>
  <p:transition spd="slow">
    <p:pull dir="l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500" fill="hold"/>
                                        <p:tgtEl>
                                          <p:spTgt spid="17"/>
                                        </p:tgtEl>
                                        <p:attrNameLst>
                                          <p:attrName>ppt_x</p:attrName>
                                        </p:attrNameLst>
                                      </p:cBhvr>
                                      <p:tavLst>
                                        <p:tav tm="0">
                                          <p:val>
                                            <p:strVal val="1+#ppt_w/2"/>
                                          </p:val>
                                        </p:tav>
                                        <p:tav tm="100000">
                                          <p:val>
                                            <p:strVal val="#ppt_x"/>
                                          </p:val>
                                        </p:tav>
                                      </p:tavLst>
                                    </p:anim>
                                    <p:anim calcmode="lin" valueType="num">
                                      <p:cBhvr additive="base">
                                        <p:cTn id="12" dur="500" fill="hold"/>
                                        <p:tgtEl>
                                          <p:spTgt spid="17"/>
                                        </p:tgtEl>
                                        <p:attrNameLst>
                                          <p:attrName>ppt_y</p:attrName>
                                        </p:attrNameLst>
                                      </p:cBhvr>
                                      <p:tavLst>
                                        <p:tav tm="0">
                                          <p:val>
                                            <p:strVal val="#ppt_y"/>
                                          </p:val>
                                        </p:tav>
                                        <p:tav tm="100000">
                                          <p:val>
                                            <p:strVal val="#ppt_y"/>
                                          </p:val>
                                        </p:tav>
                                      </p:tavLst>
                                    </p:anim>
                                  </p:childTnLst>
                                </p:cTn>
                              </p:par>
                            </p:childTnLst>
                          </p:cTn>
                        </p:par>
                        <p:par>
                          <p:cTn id="13" fill="hold" nodeType="afterGroup">
                            <p:stCondLst>
                              <p:cond delay="500"/>
                            </p:stCondLst>
                            <p:childTnLst>
                              <p:par>
                                <p:cTn id="14" presetID="2" presetClass="entr" presetSubtype="4" fill="hold" nodeType="afterEffect">
                                  <p:stCondLst>
                                    <p:cond delay="0"/>
                                  </p:stCondLst>
                                  <p:childTnLst>
                                    <p:set>
                                      <p:cBhvr>
                                        <p:cTn id="15" dur="1" fill="hold">
                                          <p:stCondLst>
                                            <p:cond delay="0"/>
                                          </p:stCondLst>
                                        </p:cTn>
                                        <p:tgtEl>
                                          <p:spTgt spid="7175"/>
                                        </p:tgtEl>
                                        <p:attrNameLst>
                                          <p:attrName>style.visibility</p:attrName>
                                        </p:attrNameLst>
                                      </p:cBhvr>
                                      <p:to>
                                        <p:strVal val="visible"/>
                                      </p:to>
                                    </p:set>
                                    <p:anim calcmode="lin" valueType="num">
                                      <p:cBhvr additive="base">
                                        <p:cTn id="16" dur="500" fill="hold"/>
                                        <p:tgtEl>
                                          <p:spTgt spid="7175"/>
                                        </p:tgtEl>
                                        <p:attrNameLst>
                                          <p:attrName>ppt_x</p:attrName>
                                        </p:attrNameLst>
                                      </p:cBhvr>
                                      <p:tavLst>
                                        <p:tav tm="0">
                                          <p:val>
                                            <p:strVal val="#ppt_x"/>
                                          </p:val>
                                        </p:tav>
                                        <p:tav tm="100000">
                                          <p:val>
                                            <p:strVal val="#ppt_x"/>
                                          </p:val>
                                        </p:tav>
                                      </p:tavLst>
                                    </p:anim>
                                    <p:anim calcmode="lin" valueType="num">
                                      <p:cBhvr additive="base">
                                        <p:cTn id="17" dur="500" fill="hold"/>
                                        <p:tgtEl>
                                          <p:spTgt spid="7175"/>
                                        </p:tgtEl>
                                        <p:attrNameLst>
                                          <p:attrName>ppt_y</p:attrName>
                                        </p:attrNameLst>
                                      </p:cBhvr>
                                      <p:tavLst>
                                        <p:tav tm="0">
                                          <p:val>
                                            <p:strVal val="1+#ppt_h/2"/>
                                          </p:val>
                                        </p:tav>
                                        <p:tav tm="100000">
                                          <p:val>
                                            <p:strVal val="#ppt_y"/>
                                          </p:val>
                                        </p:tav>
                                      </p:tavLst>
                                    </p:anim>
                                  </p:childTnLst>
                                </p:cTn>
                              </p:par>
                              <p:par>
                                <p:cTn id="18" presetID="2" presetClass="entr" presetSubtype="4" fill="hold" grpId="0" nodeType="withEffect">
                                  <p:stCondLst>
                                    <p:cond delay="0"/>
                                  </p:stCondLst>
                                  <p:childTnLst>
                                    <p:set>
                                      <p:cBhvr>
                                        <p:cTn id="19" dur="1" fill="hold">
                                          <p:stCondLst>
                                            <p:cond delay="0"/>
                                          </p:stCondLst>
                                        </p:cTn>
                                        <p:tgtEl>
                                          <p:spTgt spid="12"/>
                                        </p:tgtEl>
                                        <p:attrNameLst>
                                          <p:attrName>style.visibility</p:attrName>
                                        </p:attrNameLst>
                                      </p:cBhvr>
                                      <p:to>
                                        <p:strVal val="visible"/>
                                      </p:to>
                                    </p:set>
                                    <p:anim calcmode="lin" valueType="num">
                                      <p:cBhvr additive="base">
                                        <p:cTn id="20" dur="500" fill="hold"/>
                                        <p:tgtEl>
                                          <p:spTgt spid="12"/>
                                        </p:tgtEl>
                                        <p:attrNameLst>
                                          <p:attrName>ppt_x</p:attrName>
                                        </p:attrNameLst>
                                      </p:cBhvr>
                                      <p:tavLst>
                                        <p:tav tm="0">
                                          <p:val>
                                            <p:strVal val="#ppt_x"/>
                                          </p:val>
                                        </p:tav>
                                        <p:tav tm="100000">
                                          <p:val>
                                            <p:strVal val="#ppt_x"/>
                                          </p:val>
                                        </p:tav>
                                      </p:tavLst>
                                    </p:anim>
                                    <p:anim calcmode="lin" valueType="num">
                                      <p:cBhvr additive="base">
                                        <p:cTn id="21" dur="500" fill="hold"/>
                                        <p:tgtEl>
                                          <p:spTgt spid="12"/>
                                        </p:tgtEl>
                                        <p:attrNameLst>
                                          <p:attrName>ppt_y</p:attrName>
                                        </p:attrNameLst>
                                      </p:cBhvr>
                                      <p:tavLst>
                                        <p:tav tm="0">
                                          <p:val>
                                            <p:strVal val="1+#ppt_h/2"/>
                                          </p:val>
                                        </p:tav>
                                        <p:tav tm="100000">
                                          <p:val>
                                            <p:strVal val="#ppt_y"/>
                                          </p:val>
                                        </p:tav>
                                      </p:tavLst>
                                    </p:anim>
                                  </p:childTnLst>
                                </p:cTn>
                              </p:par>
                            </p:childTnLst>
                          </p:cTn>
                        </p:par>
                        <p:par>
                          <p:cTn id="22" fill="hold" nodeType="afterGroup">
                            <p:stCondLst>
                              <p:cond delay="1000"/>
                            </p:stCondLst>
                            <p:childTnLst>
                              <p:par>
                                <p:cTn id="23" presetID="2" presetClass="entr" presetSubtype="4" fill="hold" nodeType="afterEffect">
                                  <p:stCondLst>
                                    <p:cond delay="0"/>
                                  </p:stCondLst>
                                  <p:childTnLst>
                                    <p:set>
                                      <p:cBhvr>
                                        <p:cTn id="24" dur="1" fill="hold">
                                          <p:stCondLst>
                                            <p:cond delay="0"/>
                                          </p:stCondLst>
                                        </p:cTn>
                                        <p:tgtEl>
                                          <p:spTgt spid="9"/>
                                        </p:tgtEl>
                                        <p:attrNameLst>
                                          <p:attrName>style.visibility</p:attrName>
                                        </p:attrNameLst>
                                      </p:cBhvr>
                                      <p:to>
                                        <p:strVal val="visible"/>
                                      </p:to>
                                    </p:set>
                                    <p:anim calcmode="lin" valueType="num">
                                      <p:cBhvr additive="base">
                                        <p:cTn id="25" dur="500" fill="hold"/>
                                        <p:tgtEl>
                                          <p:spTgt spid="9"/>
                                        </p:tgtEl>
                                        <p:attrNameLst>
                                          <p:attrName>ppt_x</p:attrName>
                                        </p:attrNameLst>
                                      </p:cBhvr>
                                      <p:tavLst>
                                        <p:tav tm="0">
                                          <p:val>
                                            <p:strVal val="#ppt_x"/>
                                          </p:val>
                                        </p:tav>
                                        <p:tav tm="100000">
                                          <p:val>
                                            <p:strVal val="#ppt_x"/>
                                          </p:val>
                                        </p:tav>
                                      </p:tavLst>
                                    </p:anim>
                                    <p:anim calcmode="lin" valueType="num">
                                      <p:cBhvr additive="base">
                                        <p:cTn id="26" dur="500" fill="hold"/>
                                        <p:tgtEl>
                                          <p:spTgt spid="9"/>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anim calcmode="lin" valueType="num">
                                      <p:cBhvr additive="base">
                                        <p:cTn id="29" dur="500" fill="hold"/>
                                        <p:tgtEl>
                                          <p:spTgt spid="13"/>
                                        </p:tgtEl>
                                        <p:attrNameLst>
                                          <p:attrName>ppt_x</p:attrName>
                                        </p:attrNameLst>
                                      </p:cBhvr>
                                      <p:tavLst>
                                        <p:tav tm="0">
                                          <p:val>
                                            <p:strVal val="#ppt_x"/>
                                          </p:val>
                                        </p:tav>
                                        <p:tav tm="100000">
                                          <p:val>
                                            <p:strVal val="#ppt_x"/>
                                          </p:val>
                                        </p:tav>
                                      </p:tavLst>
                                    </p:anim>
                                    <p:anim calcmode="lin" valueType="num">
                                      <p:cBhvr additive="base">
                                        <p:cTn id="30" dur="500" fill="hold"/>
                                        <p:tgtEl>
                                          <p:spTgt spid="13"/>
                                        </p:tgtEl>
                                        <p:attrNameLst>
                                          <p:attrName>ppt_y</p:attrName>
                                        </p:attrNameLst>
                                      </p:cBhvr>
                                      <p:tavLst>
                                        <p:tav tm="0">
                                          <p:val>
                                            <p:strVal val="1+#ppt_h/2"/>
                                          </p:val>
                                        </p:tav>
                                        <p:tav tm="100000">
                                          <p:val>
                                            <p:strVal val="#ppt_y"/>
                                          </p:val>
                                        </p:tav>
                                      </p:tavLst>
                                    </p:anim>
                                  </p:childTnLst>
                                </p:cTn>
                              </p:par>
                            </p:childTnLst>
                          </p:cTn>
                        </p:par>
                        <p:par>
                          <p:cTn id="31" fill="hold" nodeType="afterGroup">
                            <p:stCondLst>
                              <p:cond delay="1500"/>
                            </p:stCondLst>
                            <p:childTnLst>
                              <p:par>
                                <p:cTn id="32" presetID="2" presetClass="entr" presetSubtype="4" fill="hold" nodeType="afterEffect">
                                  <p:stCondLst>
                                    <p:cond delay="0"/>
                                  </p:stCondLst>
                                  <p:childTnLst>
                                    <p:set>
                                      <p:cBhvr>
                                        <p:cTn id="33" dur="1" fill="hold">
                                          <p:stCondLst>
                                            <p:cond delay="0"/>
                                          </p:stCondLst>
                                        </p:cTn>
                                        <p:tgtEl>
                                          <p:spTgt spid="10"/>
                                        </p:tgtEl>
                                        <p:attrNameLst>
                                          <p:attrName>style.visibility</p:attrName>
                                        </p:attrNameLst>
                                      </p:cBhvr>
                                      <p:to>
                                        <p:strVal val="visible"/>
                                      </p:to>
                                    </p:set>
                                    <p:anim calcmode="lin" valueType="num">
                                      <p:cBhvr additive="base">
                                        <p:cTn id="34" dur="500" fill="hold"/>
                                        <p:tgtEl>
                                          <p:spTgt spid="10"/>
                                        </p:tgtEl>
                                        <p:attrNameLst>
                                          <p:attrName>ppt_x</p:attrName>
                                        </p:attrNameLst>
                                      </p:cBhvr>
                                      <p:tavLst>
                                        <p:tav tm="0">
                                          <p:val>
                                            <p:strVal val="#ppt_x"/>
                                          </p:val>
                                        </p:tav>
                                        <p:tav tm="100000">
                                          <p:val>
                                            <p:strVal val="#ppt_x"/>
                                          </p:val>
                                        </p:tav>
                                      </p:tavLst>
                                    </p:anim>
                                    <p:anim calcmode="lin" valueType="num">
                                      <p:cBhvr additive="base">
                                        <p:cTn id="35" dur="500" fill="hold"/>
                                        <p:tgtEl>
                                          <p:spTgt spid="10"/>
                                        </p:tgtEl>
                                        <p:attrNameLst>
                                          <p:attrName>ppt_y</p:attrName>
                                        </p:attrNameLst>
                                      </p:cBhvr>
                                      <p:tavLst>
                                        <p:tav tm="0">
                                          <p:val>
                                            <p:strVal val="1+#ppt_h/2"/>
                                          </p:val>
                                        </p:tav>
                                        <p:tav tm="100000">
                                          <p:val>
                                            <p:strVal val="#ppt_y"/>
                                          </p:val>
                                        </p:tav>
                                      </p:tavLst>
                                    </p:anim>
                                  </p:childTnLst>
                                </p:cTn>
                              </p:par>
                              <p:par>
                                <p:cTn id="36" presetID="2" presetClass="entr" presetSubtype="4"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 calcmode="lin" valueType="num">
                                      <p:cBhvr additive="base">
                                        <p:cTn id="38" dur="500" fill="hold"/>
                                        <p:tgtEl>
                                          <p:spTgt spid="14"/>
                                        </p:tgtEl>
                                        <p:attrNameLst>
                                          <p:attrName>ppt_x</p:attrName>
                                        </p:attrNameLst>
                                      </p:cBhvr>
                                      <p:tavLst>
                                        <p:tav tm="0">
                                          <p:val>
                                            <p:strVal val="#ppt_x"/>
                                          </p:val>
                                        </p:tav>
                                        <p:tav tm="100000">
                                          <p:val>
                                            <p:strVal val="#ppt_x"/>
                                          </p:val>
                                        </p:tav>
                                      </p:tavLst>
                                    </p:anim>
                                    <p:anim calcmode="lin" valueType="num">
                                      <p:cBhvr additive="base">
                                        <p:cTn id="39" dur="500" fill="hold"/>
                                        <p:tgtEl>
                                          <p:spTgt spid="14"/>
                                        </p:tgtEl>
                                        <p:attrNameLst>
                                          <p:attrName>ppt_y</p:attrName>
                                        </p:attrNameLst>
                                      </p:cBhvr>
                                      <p:tavLst>
                                        <p:tav tm="0">
                                          <p:val>
                                            <p:strVal val="1+#ppt_h/2"/>
                                          </p:val>
                                        </p:tav>
                                        <p:tav tm="100000">
                                          <p:val>
                                            <p:strVal val="#ppt_y"/>
                                          </p:val>
                                        </p:tav>
                                      </p:tavLst>
                                    </p:anim>
                                  </p:childTnLst>
                                </p:cTn>
                              </p:par>
                            </p:childTnLst>
                          </p:cTn>
                        </p:par>
                        <p:par>
                          <p:cTn id="40" fill="hold" nodeType="afterGroup">
                            <p:stCondLst>
                              <p:cond delay="2000"/>
                            </p:stCondLst>
                            <p:childTnLst>
                              <p:par>
                                <p:cTn id="41" presetID="2" presetClass="entr" presetSubtype="4" fill="hold" grpId="0" nodeType="afterEffect">
                                  <p:stCondLst>
                                    <p:cond delay="0"/>
                                  </p:stCondLst>
                                  <p:childTnLst>
                                    <p:set>
                                      <p:cBhvr>
                                        <p:cTn id="42" dur="1" fill="hold">
                                          <p:stCondLst>
                                            <p:cond delay="0"/>
                                          </p:stCondLst>
                                        </p:cTn>
                                        <p:tgtEl>
                                          <p:spTgt spid="16"/>
                                        </p:tgtEl>
                                        <p:attrNameLst>
                                          <p:attrName>style.visibility</p:attrName>
                                        </p:attrNameLst>
                                      </p:cBhvr>
                                      <p:to>
                                        <p:strVal val="visible"/>
                                      </p:to>
                                    </p:set>
                                    <p:anim calcmode="lin" valueType="num">
                                      <p:cBhvr additive="base">
                                        <p:cTn id="43" dur="500" fill="hold"/>
                                        <p:tgtEl>
                                          <p:spTgt spid="16"/>
                                        </p:tgtEl>
                                        <p:attrNameLst>
                                          <p:attrName>ppt_x</p:attrName>
                                        </p:attrNameLst>
                                      </p:cBhvr>
                                      <p:tavLst>
                                        <p:tav tm="0">
                                          <p:val>
                                            <p:strVal val="#ppt_x"/>
                                          </p:val>
                                        </p:tav>
                                        <p:tav tm="100000">
                                          <p:val>
                                            <p:strVal val="#ppt_x"/>
                                          </p:val>
                                        </p:tav>
                                      </p:tavLst>
                                    </p:anim>
                                    <p:anim calcmode="lin" valueType="num">
                                      <p:cBhvr additive="base">
                                        <p:cTn id="44" dur="500" fill="hold"/>
                                        <p:tgtEl>
                                          <p:spTgt spid="16"/>
                                        </p:tgtEl>
                                        <p:attrNameLst>
                                          <p:attrName>ppt_y</p:attrName>
                                        </p:attrNameLst>
                                      </p:cBhvr>
                                      <p:tavLst>
                                        <p:tav tm="0">
                                          <p:val>
                                            <p:strVal val="1+#ppt_h/2"/>
                                          </p:val>
                                        </p:tav>
                                        <p:tav tm="100000">
                                          <p:val>
                                            <p:strVal val="#ppt_y"/>
                                          </p:val>
                                        </p:tav>
                                      </p:tavLst>
                                    </p:anim>
                                  </p:childTnLst>
                                </p:cTn>
                              </p:par>
                            </p:childTnLst>
                          </p:cTn>
                        </p:par>
                        <p:par>
                          <p:cTn id="45" fill="hold" nodeType="afterGroup">
                            <p:stCondLst>
                              <p:cond delay="2500"/>
                            </p:stCondLst>
                            <p:childTnLst>
                              <p:par>
                                <p:cTn id="46" presetID="2" presetClass="entr" presetSubtype="4" fill="hold" nodeType="afterEffect">
                                  <p:stCondLst>
                                    <p:cond delay="0"/>
                                  </p:stCondLst>
                                  <p:childTnLst>
                                    <p:set>
                                      <p:cBhvr>
                                        <p:cTn id="47" dur="1" fill="hold">
                                          <p:stCondLst>
                                            <p:cond delay="0"/>
                                          </p:stCondLst>
                                        </p:cTn>
                                        <p:tgtEl>
                                          <p:spTgt spid="11"/>
                                        </p:tgtEl>
                                        <p:attrNameLst>
                                          <p:attrName>style.visibility</p:attrName>
                                        </p:attrNameLst>
                                      </p:cBhvr>
                                      <p:to>
                                        <p:strVal val="visible"/>
                                      </p:to>
                                    </p:set>
                                    <p:anim calcmode="lin" valueType="num">
                                      <p:cBhvr additive="base">
                                        <p:cTn id="48" dur="500" fill="hold"/>
                                        <p:tgtEl>
                                          <p:spTgt spid="11"/>
                                        </p:tgtEl>
                                        <p:attrNameLst>
                                          <p:attrName>ppt_x</p:attrName>
                                        </p:attrNameLst>
                                      </p:cBhvr>
                                      <p:tavLst>
                                        <p:tav tm="0">
                                          <p:val>
                                            <p:strVal val="#ppt_x"/>
                                          </p:val>
                                        </p:tav>
                                        <p:tav tm="100000">
                                          <p:val>
                                            <p:strVal val="#ppt_x"/>
                                          </p:val>
                                        </p:tav>
                                      </p:tavLst>
                                    </p:anim>
                                    <p:anim calcmode="lin" valueType="num">
                                      <p:cBhvr additive="base">
                                        <p:cTn id="49" dur="500" fill="hold"/>
                                        <p:tgtEl>
                                          <p:spTgt spid="11"/>
                                        </p:tgtEl>
                                        <p:attrNameLst>
                                          <p:attrName>ppt_y</p:attrName>
                                        </p:attrNameLst>
                                      </p:cBhvr>
                                      <p:tavLst>
                                        <p:tav tm="0">
                                          <p:val>
                                            <p:strVal val="1+#ppt_h/2"/>
                                          </p:val>
                                        </p:tav>
                                        <p:tav tm="100000">
                                          <p:val>
                                            <p:strVal val="#ppt_y"/>
                                          </p:val>
                                        </p:tav>
                                      </p:tavLst>
                                    </p:anim>
                                  </p:childTnLst>
                                </p:cTn>
                              </p:par>
                              <p:par>
                                <p:cTn id="50" presetID="2" presetClass="entr" presetSubtype="4" fill="hold" grpId="0" nodeType="withEffect">
                                  <p:stCondLst>
                                    <p:cond delay="0"/>
                                  </p:stCondLst>
                                  <p:childTnLst>
                                    <p:set>
                                      <p:cBhvr>
                                        <p:cTn id="51" dur="1" fill="hold">
                                          <p:stCondLst>
                                            <p:cond delay="0"/>
                                          </p:stCondLst>
                                        </p:cTn>
                                        <p:tgtEl>
                                          <p:spTgt spid="15"/>
                                        </p:tgtEl>
                                        <p:attrNameLst>
                                          <p:attrName>style.visibility</p:attrName>
                                        </p:attrNameLst>
                                      </p:cBhvr>
                                      <p:to>
                                        <p:strVal val="visible"/>
                                      </p:to>
                                    </p:set>
                                    <p:anim calcmode="lin" valueType="num">
                                      <p:cBhvr additive="base">
                                        <p:cTn id="52" dur="500" fill="hold"/>
                                        <p:tgtEl>
                                          <p:spTgt spid="15"/>
                                        </p:tgtEl>
                                        <p:attrNameLst>
                                          <p:attrName>ppt_x</p:attrName>
                                        </p:attrNameLst>
                                      </p:cBhvr>
                                      <p:tavLst>
                                        <p:tav tm="0">
                                          <p:val>
                                            <p:strVal val="#ppt_x"/>
                                          </p:val>
                                        </p:tav>
                                        <p:tav tm="100000">
                                          <p:val>
                                            <p:strVal val="#ppt_x"/>
                                          </p:val>
                                        </p:tav>
                                      </p:tavLst>
                                    </p:anim>
                                    <p:anim calcmode="lin" valueType="num">
                                      <p:cBhvr additive="base">
                                        <p:cTn id="53"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utoUpdateAnimBg="0"/>
      <p:bldP spid="13" grpId="0" autoUpdateAnimBg="0"/>
      <p:bldP spid="14" grpId="0" autoUpdateAnimBg="0"/>
      <p:bldP spid="15" grpId="0" autoUpdateAnimBg="0"/>
      <p:bldP spid="16" grpId="0"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3"/>
          <p:cNvSpPr>
            <a:spLocks noChangeArrowheads="1"/>
          </p:cNvSpPr>
          <p:nvPr/>
        </p:nvSpPr>
        <p:spPr bwMode="auto">
          <a:xfrm>
            <a:off x="609600" y="1143000"/>
            <a:ext cx="7772400" cy="2971800"/>
          </a:xfrm>
          <a:prstGeom prst="rect">
            <a:avLst/>
          </a:prstGeom>
          <a:solidFill>
            <a:srgbClr val="FFC000"/>
          </a:solidFill>
          <a:ln>
            <a:noFill/>
          </a:ln>
        </p:spPr>
        <p:txBody>
          <a:bodyPr lIns="45720" rIns="45720"/>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lgn="ctr">
              <a:spcBef>
                <a:spcPts val="400"/>
              </a:spcBef>
              <a:buClr>
                <a:schemeClr val="accent1"/>
              </a:buClr>
              <a:buSzPct val="68000"/>
              <a:buFont typeface="Wingdings 3" pitchFamily="18" charset="2"/>
              <a:buNone/>
            </a:pPr>
            <a:r>
              <a:rPr lang="en-US" altLang="en-US" sz="4400" b="1" i="0" dirty="0">
                <a:solidFill>
                  <a:srgbClr val="FF0000"/>
                </a:solidFill>
                <a:latin typeface="Times New Roman" pitchFamily="18" charset="0"/>
              </a:rPr>
              <a:t>Chapter 23</a:t>
            </a:r>
          </a:p>
          <a:p>
            <a:pPr algn="ctr">
              <a:spcBef>
                <a:spcPts val="400"/>
              </a:spcBef>
              <a:buClr>
                <a:schemeClr val="accent1"/>
              </a:buClr>
              <a:buSzPct val="68000"/>
              <a:buFont typeface="Wingdings 3" pitchFamily="18" charset="2"/>
              <a:buNone/>
            </a:pPr>
            <a:r>
              <a:rPr lang="en-US" altLang="en-US" sz="4400" b="1" i="0" dirty="0">
                <a:solidFill>
                  <a:srgbClr val="FF0000"/>
                </a:solidFill>
                <a:latin typeface="Times New Roman" pitchFamily="18" charset="0"/>
              </a:rPr>
              <a:t>Testing Hypotheses</a:t>
            </a:r>
          </a:p>
          <a:p>
            <a:pPr algn="ctr">
              <a:spcBef>
                <a:spcPts val="400"/>
              </a:spcBef>
              <a:buClr>
                <a:schemeClr val="accent1"/>
              </a:buClr>
              <a:buSzPct val="68000"/>
              <a:buFont typeface="Wingdings 3" pitchFamily="18" charset="2"/>
              <a:buNone/>
            </a:pPr>
            <a:r>
              <a:rPr lang="en-US" altLang="en-US" sz="4400" b="1" i="0" dirty="0">
                <a:solidFill>
                  <a:srgbClr val="FF0000"/>
                </a:solidFill>
                <a:latin typeface="Times New Roman" pitchFamily="18" charset="0"/>
              </a:rPr>
              <a:t>about Means</a:t>
            </a:r>
          </a:p>
        </p:txBody>
      </p:sp>
      <p:sp>
        <p:nvSpPr>
          <p:cNvPr id="23555" name="Date Placeholder 29"/>
          <p:cNvSpPr>
            <a:spLocks/>
          </p:cNvSpPr>
          <p:nvPr/>
        </p:nvSpPr>
        <p:spPr bwMode="auto">
          <a:xfrm>
            <a:off x="152400" y="6324600"/>
            <a:ext cx="2246313"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endParaRPr lang="en-US" altLang="en-US" sz="1000" b="1" dirty="0">
              <a:solidFill>
                <a:srgbClr val="FFFFFF"/>
              </a:solidFill>
              <a:latin typeface="Verdana" pitchFamily="34" charset="0"/>
            </a:endParaRPr>
          </a:p>
        </p:txBody>
      </p:sp>
      <p:sp>
        <p:nvSpPr>
          <p:cNvPr id="23556" name="Slide Number Placeholder 5"/>
          <p:cNvSpPr txBox="1">
            <a:spLocks noGrp="1"/>
          </p:cNvSpPr>
          <p:nvPr/>
        </p:nvSpPr>
        <p:spPr bwMode="auto">
          <a:xfrm>
            <a:off x="8291513" y="6107113"/>
            <a:ext cx="36671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lgn="r" eaLnBrk="1" hangingPunct="1">
              <a:spcBef>
                <a:spcPct val="0"/>
              </a:spcBef>
              <a:buClrTx/>
              <a:buSzTx/>
              <a:buFontTx/>
              <a:buNone/>
            </a:pPr>
            <a:fld id="{1101281E-BD59-4456-B5F7-16C180F2576C}" type="slidenum">
              <a:rPr lang="en-US" altLang="en-US" sz="1000" b="1">
                <a:latin typeface="Verdana" pitchFamily="34" charset="0"/>
                <a:cs typeface="Arial" charset="0"/>
              </a:rPr>
              <a:pPr algn="r" eaLnBrk="1" hangingPunct="1">
                <a:spcBef>
                  <a:spcPct val="0"/>
                </a:spcBef>
                <a:buClrTx/>
                <a:buSzTx/>
                <a:buFontTx/>
                <a:buNone/>
              </a:pPr>
              <a:t>32</a:t>
            </a:fld>
            <a:endParaRPr lang="en-US" altLang="en-US" sz="1000" b="1" dirty="0">
              <a:latin typeface="Verdana" pitchFamily="34" charset="0"/>
              <a:cs typeface="Arial" charset="0"/>
            </a:endParaRPr>
          </a:p>
        </p:txBody>
      </p:sp>
    </p:spTree>
    <p:custDataLst>
      <p:tags r:id="rId1"/>
    </p:custDataLst>
  </p:cSld>
  <p:clrMapOvr>
    <a:masterClrMapping/>
  </p:clrMapOvr>
  <p:transition spd="slow">
    <p:pull dir="lu"/>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idx="1"/>
          </p:nvPr>
        </p:nvSpPr>
        <p:spPr>
          <a:xfrm>
            <a:off x="457200" y="304800"/>
            <a:ext cx="7391400" cy="4876800"/>
          </a:xfrm>
        </p:spPr>
        <p:txBody>
          <a:bodyPr/>
          <a:lstStyle/>
          <a:p>
            <a:pPr marL="0" indent="0" eaLnBrk="1" hangingPunct="1">
              <a:buFont typeface="Wingdings" charset="2"/>
              <a:buNone/>
            </a:pPr>
            <a:r>
              <a:rPr lang="en-US" altLang="en-US" dirty="0" smtClean="0">
                <a:solidFill>
                  <a:srgbClr val="333399"/>
                </a:solidFill>
                <a:cs typeface="Times New Roman" pitchFamily="18" charset="0"/>
              </a:rPr>
              <a:t>Sweetness in cola soft drinks</a:t>
            </a:r>
          </a:p>
          <a:p>
            <a:pPr marL="0" indent="0" eaLnBrk="1" hangingPunct="1">
              <a:spcBef>
                <a:spcPct val="0"/>
              </a:spcBef>
              <a:buFont typeface="Wingdings" charset="2"/>
              <a:buNone/>
            </a:pPr>
            <a:endParaRPr lang="en-US" altLang="en-US" sz="800" dirty="0" smtClean="0">
              <a:solidFill>
                <a:srgbClr val="333399"/>
              </a:solidFill>
              <a:cs typeface="Times New Roman" pitchFamily="18" charset="0"/>
            </a:endParaRPr>
          </a:p>
          <a:p>
            <a:pPr marL="0" indent="0" eaLnBrk="1" hangingPunct="1">
              <a:buFont typeface="Wingdings" charset="2"/>
              <a:buNone/>
            </a:pPr>
            <a:r>
              <a:rPr lang="en-US" altLang="en-US" sz="1800" dirty="0" smtClean="0">
                <a:cs typeface="Times New Roman" pitchFamily="18" charset="0"/>
              </a:rPr>
              <a:t>Cola manufacturers want to test how much the sweetness of cola drinks is affected by storage. The sweetness loss due to storage was evaluated by 10 professional tasters by comparing the sweetness before and after storage (a positive value indicates a loss of sweetness):</a:t>
            </a:r>
          </a:p>
          <a:p>
            <a:pPr marL="0" indent="0" eaLnBrk="1" hangingPunct="1">
              <a:lnSpc>
                <a:spcPct val="90000"/>
              </a:lnSpc>
              <a:spcBef>
                <a:spcPct val="45000"/>
              </a:spcBef>
              <a:buFont typeface="Wingdings" charset="2"/>
              <a:buNone/>
            </a:pPr>
            <a:r>
              <a:rPr lang="en-US" altLang="en-US" dirty="0" smtClean="0">
                <a:cs typeface="Times New Roman" pitchFamily="18" charset="0"/>
              </a:rPr>
              <a:t>     	</a:t>
            </a:r>
            <a:r>
              <a:rPr lang="en-US" altLang="en-US" sz="1400" dirty="0" smtClean="0">
                <a:cs typeface="Times New Roman" pitchFamily="18" charset="0"/>
              </a:rPr>
              <a:t>Taster	      	Sweetness loss</a:t>
            </a:r>
          </a:p>
          <a:p>
            <a:pPr marL="0" indent="0" eaLnBrk="1" hangingPunct="1">
              <a:lnSpc>
                <a:spcPct val="90000"/>
              </a:lnSpc>
            </a:pPr>
            <a:r>
              <a:rPr lang="en-US" altLang="en-US" sz="1400" dirty="0" smtClean="0">
                <a:cs typeface="Times New Roman" pitchFamily="18" charset="0"/>
              </a:rPr>
              <a:t>	 1		   2.0	</a:t>
            </a:r>
          </a:p>
          <a:p>
            <a:pPr marL="0" indent="0" eaLnBrk="1" hangingPunct="1">
              <a:lnSpc>
                <a:spcPct val="90000"/>
              </a:lnSpc>
            </a:pPr>
            <a:r>
              <a:rPr lang="en-US" altLang="en-US" sz="1400" dirty="0" smtClean="0">
                <a:cs typeface="Times New Roman" pitchFamily="18" charset="0"/>
              </a:rPr>
              <a:t>	 2		   0.4	</a:t>
            </a:r>
          </a:p>
          <a:p>
            <a:pPr marL="0" indent="0" eaLnBrk="1" hangingPunct="1">
              <a:lnSpc>
                <a:spcPct val="90000"/>
              </a:lnSpc>
            </a:pPr>
            <a:r>
              <a:rPr lang="en-US" altLang="en-US" sz="1400" dirty="0" smtClean="0">
                <a:cs typeface="Times New Roman" pitchFamily="18" charset="0"/>
              </a:rPr>
              <a:t>	 3		   0.7	</a:t>
            </a:r>
          </a:p>
          <a:p>
            <a:pPr marL="0" indent="0" eaLnBrk="1" hangingPunct="1">
              <a:lnSpc>
                <a:spcPct val="90000"/>
              </a:lnSpc>
            </a:pPr>
            <a:r>
              <a:rPr lang="en-US" altLang="en-US" sz="1400" dirty="0" smtClean="0">
                <a:cs typeface="Times New Roman" pitchFamily="18" charset="0"/>
              </a:rPr>
              <a:t>	 4		   2.0	</a:t>
            </a:r>
          </a:p>
          <a:p>
            <a:pPr marL="0" indent="0" eaLnBrk="1" hangingPunct="1">
              <a:lnSpc>
                <a:spcPct val="90000"/>
              </a:lnSpc>
            </a:pPr>
            <a:r>
              <a:rPr lang="en-US" altLang="en-US" sz="1400" dirty="0" smtClean="0">
                <a:cs typeface="Times New Roman" pitchFamily="18" charset="0"/>
              </a:rPr>
              <a:t>	 5		 </a:t>
            </a:r>
            <a:r>
              <a:rPr lang="en-US" altLang="en-US" sz="1400" dirty="0" smtClean="0"/>
              <a:t>−</a:t>
            </a:r>
            <a:r>
              <a:rPr lang="en-US" altLang="en-US" sz="1400" dirty="0" smtClean="0">
                <a:cs typeface="Times New Roman" pitchFamily="18" charset="0"/>
              </a:rPr>
              <a:t>0.4	</a:t>
            </a:r>
          </a:p>
          <a:p>
            <a:pPr marL="0" indent="0" eaLnBrk="1" hangingPunct="1">
              <a:lnSpc>
                <a:spcPct val="90000"/>
              </a:lnSpc>
            </a:pPr>
            <a:r>
              <a:rPr lang="en-US" altLang="en-US" sz="1400" dirty="0" smtClean="0">
                <a:cs typeface="Times New Roman" pitchFamily="18" charset="0"/>
              </a:rPr>
              <a:t>	 6		   2.2	</a:t>
            </a:r>
          </a:p>
          <a:p>
            <a:pPr marL="0" indent="0" eaLnBrk="1" hangingPunct="1">
              <a:lnSpc>
                <a:spcPct val="90000"/>
              </a:lnSpc>
            </a:pPr>
            <a:r>
              <a:rPr lang="en-US" altLang="en-US" sz="1400" dirty="0" smtClean="0">
                <a:cs typeface="Times New Roman" pitchFamily="18" charset="0"/>
              </a:rPr>
              <a:t>	 7		 </a:t>
            </a:r>
            <a:r>
              <a:rPr lang="en-US" altLang="en-US" sz="1400" dirty="0" smtClean="0"/>
              <a:t>−</a:t>
            </a:r>
            <a:r>
              <a:rPr lang="en-US" altLang="en-US" sz="1400" dirty="0" smtClean="0">
                <a:cs typeface="Times New Roman" pitchFamily="18" charset="0"/>
              </a:rPr>
              <a:t>1.3	</a:t>
            </a:r>
          </a:p>
          <a:p>
            <a:pPr marL="0" indent="0" eaLnBrk="1" hangingPunct="1">
              <a:lnSpc>
                <a:spcPct val="90000"/>
              </a:lnSpc>
            </a:pPr>
            <a:r>
              <a:rPr lang="en-US" altLang="en-US" sz="1400" dirty="0" smtClean="0">
                <a:cs typeface="Times New Roman" pitchFamily="18" charset="0"/>
              </a:rPr>
              <a:t>	 8		   1.2	</a:t>
            </a:r>
          </a:p>
          <a:p>
            <a:pPr marL="0" indent="0" eaLnBrk="1" hangingPunct="1">
              <a:lnSpc>
                <a:spcPct val="90000"/>
              </a:lnSpc>
            </a:pPr>
            <a:r>
              <a:rPr lang="en-US" altLang="en-US" sz="1400" dirty="0" smtClean="0">
                <a:cs typeface="Times New Roman" pitchFamily="18" charset="0"/>
              </a:rPr>
              <a:t>	 9 		   1.1</a:t>
            </a:r>
          </a:p>
          <a:p>
            <a:pPr marL="0" indent="0" eaLnBrk="1" hangingPunct="1">
              <a:lnSpc>
                <a:spcPct val="90000"/>
              </a:lnSpc>
            </a:pPr>
            <a:r>
              <a:rPr lang="en-US" altLang="en-US" sz="1400" dirty="0" smtClean="0">
                <a:cs typeface="Times New Roman" pitchFamily="18" charset="0"/>
              </a:rPr>
              <a:t>	10 		   2.3</a:t>
            </a:r>
          </a:p>
        </p:txBody>
      </p:sp>
      <p:sp>
        <p:nvSpPr>
          <p:cNvPr id="24579" name="Text Box 3"/>
          <p:cNvSpPr txBox="1">
            <a:spLocks noChangeArrowheads="1"/>
          </p:cNvSpPr>
          <p:nvPr/>
        </p:nvSpPr>
        <p:spPr bwMode="auto">
          <a:xfrm>
            <a:off x="4648200" y="2133600"/>
            <a:ext cx="3886200" cy="2554545"/>
          </a:xfrm>
          <a:prstGeom prst="rect">
            <a:avLst/>
          </a:prstGeom>
          <a:solidFill>
            <a:srgbClr val="FFC000"/>
          </a:solidFill>
          <a:ln>
            <a:noFill/>
          </a:ln>
        </p:spPr>
        <p:txBody>
          <a:bodyPr>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eaLnBrk="1" hangingPunct="1">
              <a:spcBef>
                <a:spcPct val="0"/>
              </a:spcBef>
              <a:buClrTx/>
              <a:buSzTx/>
              <a:buFontTx/>
              <a:buNone/>
            </a:pPr>
            <a:r>
              <a:rPr lang="en-US" altLang="en-US" sz="2000" i="0" dirty="0">
                <a:latin typeface="Comic Sans MS" panose="030F0702030302020204" pitchFamily="66" charset="0"/>
                <a:cs typeface="Arial" charset="0"/>
              </a:rPr>
              <a:t>We want to test if storage results in a loss of sweetness, thus: </a:t>
            </a:r>
          </a:p>
          <a:p>
            <a:pPr eaLnBrk="1" hangingPunct="1">
              <a:spcBef>
                <a:spcPct val="0"/>
              </a:spcBef>
              <a:buClrTx/>
              <a:buSzTx/>
              <a:buFontTx/>
              <a:buNone/>
            </a:pPr>
            <a:endParaRPr lang="en-US" altLang="en-US" sz="2000" b="1" dirty="0">
              <a:cs typeface="Arial" charset="0"/>
            </a:endParaRPr>
          </a:p>
          <a:p>
            <a:pPr eaLnBrk="1" hangingPunct="1">
              <a:spcBef>
                <a:spcPct val="0"/>
              </a:spcBef>
              <a:buClrTx/>
              <a:buSzTx/>
              <a:buFontTx/>
              <a:buNone/>
            </a:pPr>
            <a:r>
              <a:rPr lang="en-US" altLang="en-US" sz="2000" b="1" dirty="0">
                <a:solidFill>
                  <a:srgbClr val="FF0000"/>
                </a:solidFill>
                <a:cs typeface="Arial" charset="0"/>
              </a:rPr>
              <a:t>H</a:t>
            </a:r>
            <a:r>
              <a:rPr lang="en-US" altLang="en-US" sz="2000" b="1" baseline="-25000" dirty="0">
                <a:solidFill>
                  <a:srgbClr val="FF0000"/>
                </a:solidFill>
                <a:cs typeface="Arial" charset="0"/>
              </a:rPr>
              <a:t>0</a:t>
            </a:r>
            <a:r>
              <a:rPr lang="en-US" altLang="en-US" sz="2000" b="1" dirty="0">
                <a:solidFill>
                  <a:srgbClr val="FF0000"/>
                </a:solidFill>
                <a:cs typeface="Arial" charset="0"/>
              </a:rPr>
              <a:t>: </a:t>
            </a:r>
            <a:r>
              <a:rPr lang="en-US" altLang="en-US" sz="2000" b="1" dirty="0">
                <a:solidFill>
                  <a:srgbClr val="FF0000"/>
                </a:solidFill>
                <a:latin typeface="Symbol" charset="2"/>
                <a:cs typeface="Arial" charset="0"/>
              </a:rPr>
              <a:t>m</a:t>
            </a:r>
            <a:r>
              <a:rPr lang="en-US" altLang="en-US" sz="2000" b="1" dirty="0">
                <a:solidFill>
                  <a:srgbClr val="FF0000"/>
                </a:solidFill>
                <a:cs typeface="Arial" charset="0"/>
              </a:rPr>
              <a:t> = 0 versus H</a:t>
            </a:r>
            <a:r>
              <a:rPr lang="en-US" altLang="en-US" sz="2000" b="1" baseline="-25000" dirty="0">
                <a:solidFill>
                  <a:srgbClr val="FF0000"/>
                </a:solidFill>
                <a:cs typeface="Arial" charset="0"/>
              </a:rPr>
              <a:t>A</a:t>
            </a:r>
            <a:r>
              <a:rPr lang="en-US" altLang="en-US" sz="2000" b="1" dirty="0">
                <a:solidFill>
                  <a:srgbClr val="FF0000"/>
                </a:solidFill>
                <a:cs typeface="Arial" charset="0"/>
              </a:rPr>
              <a:t>: </a:t>
            </a:r>
            <a:r>
              <a:rPr lang="en-US" altLang="en-US" sz="2000" b="1" dirty="0">
                <a:solidFill>
                  <a:srgbClr val="FF0000"/>
                </a:solidFill>
                <a:latin typeface="Symbol" charset="2"/>
                <a:cs typeface="Arial" charset="0"/>
              </a:rPr>
              <a:t>m</a:t>
            </a:r>
            <a:r>
              <a:rPr lang="en-US" altLang="en-US" sz="2000" b="1" dirty="0">
                <a:solidFill>
                  <a:srgbClr val="FF0000"/>
                </a:solidFill>
                <a:cs typeface="Arial" charset="0"/>
              </a:rPr>
              <a:t> &gt; 0</a:t>
            </a:r>
          </a:p>
          <a:p>
            <a:pPr eaLnBrk="1" hangingPunct="1">
              <a:spcBef>
                <a:spcPct val="0"/>
              </a:spcBef>
              <a:buClrTx/>
              <a:buSzTx/>
              <a:buFontTx/>
              <a:buNone/>
            </a:pPr>
            <a:endParaRPr lang="en-US" altLang="en-US" sz="2000" dirty="0">
              <a:cs typeface="Arial" charset="0"/>
            </a:endParaRPr>
          </a:p>
          <a:p>
            <a:pPr eaLnBrk="1" hangingPunct="1">
              <a:spcBef>
                <a:spcPct val="0"/>
              </a:spcBef>
              <a:buClrTx/>
              <a:buSzTx/>
              <a:buFontTx/>
              <a:buNone/>
            </a:pPr>
            <a:r>
              <a:rPr lang="en-US" altLang="en-US" sz="2000" i="0" dirty="0">
                <a:latin typeface="Comic Sans MS" panose="030F0702030302020204" pitchFamily="66" charset="0"/>
                <a:cs typeface="Arial" charset="0"/>
              </a:rPr>
              <a:t>where m is the mean sweetness loss due to storage.</a:t>
            </a:r>
          </a:p>
        </p:txBody>
      </p:sp>
      <p:sp>
        <p:nvSpPr>
          <p:cNvPr id="963588" name="Text Box 4"/>
          <p:cNvSpPr txBox="1">
            <a:spLocks noChangeArrowheads="1"/>
          </p:cNvSpPr>
          <p:nvPr/>
        </p:nvSpPr>
        <p:spPr bwMode="auto">
          <a:xfrm>
            <a:off x="457200" y="5410200"/>
            <a:ext cx="824547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eaLnBrk="1" hangingPunct="1">
              <a:spcBef>
                <a:spcPct val="0"/>
              </a:spcBef>
              <a:buClrTx/>
              <a:buSzTx/>
              <a:buFontTx/>
              <a:buNone/>
            </a:pPr>
            <a:r>
              <a:rPr lang="en-US" altLang="en-US" sz="1800" i="0" dirty="0">
                <a:latin typeface="Comic Sans MS" panose="030F0702030302020204" pitchFamily="66" charset="0"/>
                <a:cs typeface="Arial" charset="0"/>
              </a:rPr>
              <a:t>We also do not know the population parameter </a:t>
            </a:r>
            <a:r>
              <a:rPr lang="en-US" altLang="en-US" sz="1800" b="1" i="0" dirty="0">
                <a:latin typeface="Comic Sans MS" panose="030F0702030302020204" pitchFamily="66" charset="0"/>
                <a:cs typeface="Arial" charset="0"/>
              </a:rPr>
              <a:t>s</a:t>
            </a:r>
            <a:r>
              <a:rPr lang="en-US" altLang="en-US" sz="1800" i="0" dirty="0">
                <a:latin typeface="Comic Sans MS" panose="030F0702030302020204" pitchFamily="66" charset="0"/>
                <a:cs typeface="Arial" charset="0"/>
              </a:rPr>
              <a:t>, the standard deviation of the sweetness loss.</a:t>
            </a:r>
          </a:p>
        </p:txBody>
      </p:sp>
      <p:pic>
        <p:nvPicPr>
          <p:cNvPr id="24581" name="Picture 5" descr="drink-cola"/>
          <p:cNvPicPr>
            <a:picLocks noChangeAspect="1" noChangeArrowheads="1"/>
          </p:cNvPicPr>
          <p:nvPr/>
        </p:nvPicPr>
        <p:blipFill>
          <a:blip r:embed="rId3">
            <a:clrChange>
              <a:clrFrom>
                <a:srgbClr val="FCFFFF"/>
              </a:clrFrom>
              <a:clrTo>
                <a:srgbClr val="FCFFFF">
                  <a:alpha val="0"/>
                </a:srgbClr>
              </a:clrTo>
            </a:clrChange>
            <a:extLst>
              <a:ext uri="{28A0092B-C50C-407E-A947-70E740481C1C}">
                <a14:useLocalDpi xmlns:a14="http://schemas.microsoft.com/office/drawing/2010/main" val="0"/>
              </a:ext>
            </a:extLst>
          </a:blip>
          <a:srcRect l="26250" t="5000" r="25000"/>
          <a:stretch>
            <a:fillRect/>
          </a:stretch>
        </p:blipFill>
        <p:spPr bwMode="auto">
          <a:xfrm>
            <a:off x="8153400" y="0"/>
            <a:ext cx="990600"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transition spd="slow">
    <p:pull dir="l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96358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3588" grpId="0"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457200" y="152400"/>
            <a:ext cx="8229600" cy="914400"/>
          </a:xfrm>
        </p:spPr>
        <p:txBody>
          <a:bodyPr/>
          <a:lstStyle/>
          <a:p>
            <a:pPr eaLnBrk="1" hangingPunct="1"/>
            <a:r>
              <a:rPr lang="en-US" altLang="en-US" sz="3600" dirty="0" smtClean="0"/>
              <a:t>The one-sample t-test</a:t>
            </a:r>
          </a:p>
        </p:txBody>
      </p:sp>
      <p:sp>
        <p:nvSpPr>
          <p:cNvPr id="971779" name="Rectangle 3"/>
          <p:cNvSpPr>
            <a:spLocks noGrp="1" noChangeArrowheads="1"/>
          </p:cNvSpPr>
          <p:nvPr>
            <p:ph idx="1"/>
          </p:nvPr>
        </p:nvSpPr>
        <p:spPr>
          <a:xfrm>
            <a:off x="457200" y="1066800"/>
            <a:ext cx="8382000" cy="5029200"/>
          </a:xfrm>
          <a:solidFill>
            <a:srgbClr val="FFD243"/>
          </a:solidFill>
        </p:spPr>
        <p:txBody>
          <a:bodyPr/>
          <a:lstStyle/>
          <a:p>
            <a:pPr marL="0" indent="0" eaLnBrk="1" hangingPunct="1">
              <a:spcBef>
                <a:spcPct val="0"/>
              </a:spcBef>
              <a:buFont typeface="Wingdings" charset="2"/>
              <a:buNone/>
            </a:pPr>
            <a:r>
              <a:rPr lang="en-US" altLang="en-US" dirty="0" smtClean="0"/>
              <a:t>As in any hypothesis tests, a hypothesis test for </a:t>
            </a:r>
            <a:r>
              <a:rPr lang="en-US" altLang="en-US" dirty="0" smtClean="0">
                <a:sym typeface="Symbol" charset="2"/>
              </a:rPr>
              <a:t> </a:t>
            </a:r>
            <a:r>
              <a:rPr lang="en-US" altLang="en-US" dirty="0" smtClean="0"/>
              <a:t>requires a few steps:</a:t>
            </a:r>
          </a:p>
          <a:p>
            <a:pPr marL="901700" lvl="1" indent="-381000" eaLnBrk="1" hangingPunct="1">
              <a:lnSpc>
                <a:spcPct val="150000"/>
              </a:lnSpc>
              <a:buFont typeface="Times" pitchFamily="18" charset="0"/>
              <a:buAutoNum type="arabicPeriod"/>
            </a:pPr>
            <a:r>
              <a:rPr lang="en-US" altLang="en-US" sz="2000" dirty="0" smtClean="0"/>
              <a:t>State the null and alternative hypotheses (H</a:t>
            </a:r>
            <a:r>
              <a:rPr lang="en-US" altLang="en-US" sz="2000" baseline="-25000" dirty="0" smtClean="0"/>
              <a:t>0</a:t>
            </a:r>
            <a:r>
              <a:rPr lang="en-US" altLang="en-US" sz="2000" dirty="0" smtClean="0"/>
              <a:t> versus H</a:t>
            </a:r>
            <a:r>
              <a:rPr lang="en-US" altLang="en-US" sz="2000" baseline="-25000" dirty="0" smtClean="0"/>
              <a:t>A</a:t>
            </a:r>
            <a:r>
              <a:rPr lang="en-US" altLang="en-US" sz="2000" dirty="0" smtClean="0"/>
              <a:t>)</a:t>
            </a:r>
          </a:p>
          <a:p>
            <a:pPr marL="1139825" lvl="2" indent="-381000" eaLnBrk="1" hangingPunct="1">
              <a:lnSpc>
                <a:spcPct val="150000"/>
              </a:lnSpc>
              <a:buFont typeface="Lucida Sans Unicode" pitchFamily="34" charset="0"/>
              <a:buAutoNum type="alphaLcParenR"/>
            </a:pPr>
            <a:r>
              <a:rPr lang="en-US" altLang="en-US" sz="1800" dirty="0" smtClean="0"/>
              <a:t>Decide on a one-sided or two-sided test</a:t>
            </a:r>
          </a:p>
          <a:p>
            <a:pPr marL="901700" lvl="1" indent="-381000" eaLnBrk="1" hangingPunct="1">
              <a:lnSpc>
                <a:spcPct val="150000"/>
              </a:lnSpc>
              <a:buFont typeface="Times" pitchFamily="18" charset="0"/>
              <a:buAutoNum type="arabicPeriod"/>
            </a:pPr>
            <a:r>
              <a:rPr lang="en-US" altLang="en-US" sz="2000" dirty="0" smtClean="0"/>
              <a:t>Calculate the test statistic t and determining its degrees of freedom</a:t>
            </a:r>
          </a:p>
          <a:p>
            <a:pPr marL="901700" lvl="1" indent="-381000" eaLnBrk="1" hangingPunct="1">
              <a:lnSpc>
                <a:spcPct val="150000"/>
              </a:lnSpc>
              <a:buFont typeface="Times" pitchFamily="18" charset="0"/>
              <a:buAutoNum type="arabicPeriod"/>
            </a:pPr>
            <a:r>
              <a:rPr lang="en-US" altLang="en-US" sz="2000" dirty="0" smtClean="0"/>
              <a:t>Find the area under the t distribution with the t-table or technology</a:t>
            </a:r>
          </a:p>
          <a:p>
            <a:pPr marL="901700" lvl="1" indent="-381000" eaLnBrk="1" hangingPunct="1">
              <a:lnSpc>
                <a:spcPct val="150000"/>
              </a:lnSpc>
              <a:buFont typeface="Times" pitchFamily="18" charset="0"/>
              <a:buAutoNum type="arabicPeriod"/>
            </a:pPr>
            <a:r>
              <a:rPr lang="en-US" altLang="en-US" sz="2000" dirty="0" smtClean="0"/>
              <a:t>State the P-value (or find bounds on the P-value) and interpret the result</a:t>
            </a:r>
          </a:p>
        </p:txBody>
      </p:sp>
    </p:spTree>
    <p:custDataLst>
      <p:tags r:id="rId1"/>
    </p:custDataLst>
  </p:cSld>
  <p:clrMapOvr>
    <a:masterClrMapping/>
  </p:clrMapOvr>
  <p:transition spd="slow">
    <p:pull dir="l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971779">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971779">
                                            <p:txEl>
                                              <p:pRg st="3" end="3"/>
                                            </p:txEl>
                                          </p:spTgt>
                                        </p:tgtEl>
                                        <p:attrNameLst>
                                          <p:attrName>style.visibility</p:attrName>
                                        </p:attrNameLst>
                                      </p:cBhvr>
                                      <p:to>
                                        <p:strVal val="visible"/>
                                      </p:to>
                                    </p:set>
                                  </p:childTnLst>
                                </p:cTn>
                              </p:par>
                            </p:childTnLst>
                          </p:cTn>
                        </p:par>
                        <p:par>
                          <p:cTn id="11" fill="hold" nodeType="afterGroup">
                            <p:stCondLst>
                              <p:cond delay="500"/>
                            </p:stCondLst>
                            <p:childTnLst>
                              <p:par>
                                <p:cTn id="12" presetID="1" presetClass="entr" presetSubtype="0" fill="hold" grpId="0" nodeType="afterEffect">
                                  <p:stCondLst>
                                    <p:cond delay="0"/>
                                  </p:stCondLst>
                                  <p:childTnLst>
                                    <p:set>
                                      <p:cBhvr>
                                        <p:cTn id="13" dur="1" fill="hold">
                                          <p:stCondLst>
                                            <p:cond delay="499"/>
                                          </p:stCondLst>
                                        </p:cTn>
                                        <p:tgtEl>
                                          <p:spTgt spid="971779">
                                            <p:txEl>
                                              <p:pRg st="4" end="4"/>
                                            </p:txEl>
                                          </p:spTgt>
                                        </p:tgtEl>
                                        <p:attrNameLst>
                                          <p:attrName>style.visibility</p:attrName>
                                        </p:attrNameLst>
                                      </p:cBhvr>
                                      <p:to>
                                        <p:strVal val="visible"/>
                                      </p:to>
                                    </p:set>
                                  </p:childTnLst>
                                </p:cTn>
                              </p:par>
                            </p:childTnLst>
                          </p:cTn>
                        </p:par>
                        <p:par>
                          <p:cTn id="14" fill="hold" nodeType="afterGroup">
                            <p:stCondLst>
                              <p:cond delay="1000"/>
                            </p:stCondLst>
                            <p:childTnLst>
                              <p:par>
                                <p:cTn id="15" presetID="1" presetClass="entr" presetSubtype="0" fill="hold" grpId="0" nodeType="afterEffect">
                                  <p:stCondLst>
                                    <p:cond delay="0"/>
                                  </p:stCondLst>
                                  <p:childTnLst>
                                    <p:set>
                                      <p:cBhvr>
                                        <p:cTn id="16" dur="1" fill="hold">
                                          <p:stCondLst>
                                            <p:cond delay="499"/>
                                          </p:stCondLst>
                                        </p:cTn>
                                        <p:tgtEl>
                                          <p:spTgt spid="97177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1779" grpId="0" build="p" bldLvl="2"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457200" y="152400"/>
            <a:ext cx="8229600" cy="914400"/>
          </a:xfrm>
        </p:spPr>
        <p:txBody>
          <a:bodyPr/>
          <a:lstStyle/>
          <a:p>
            <a:pPr eaLnBrk="1" hangingPunct="1"/>
            <a:r>
              <a:rPr lang="en-US" altLang="en-US" sz="3600" dirty="0" smtClean="0"/>
              <a:t>The one-sample t-test; hypotheses</a:t>
            </a:r>
          </a:p>
        </p:txBody>
      </p:sp>
      <p:sp>
        <p:nvSpPr>
          <p:cNvPr id="971779" name="Rectangle 3"/>
          <p:cNvSpPr>
            <a:spLocks noGrp="1" noChangeArrowheads="1"/>
          </p:cNvSpPr>
          <p:nvPr>
            <p:ph idx="1"/>
          </p:nvPr>
        </p:nvSpPr>
        <p:spPr>
          <a:xfrm>
            <a:off x="457200" y="1066800"/>
            <a:ext cx="8382000" cy="4724400"/>
          </a:xfrm>
          <a:solidFill>
            <a:srgbClr val="FFD243"/>
          </a:solidFill>
        </p:spPr>
        <p:txBody>
          <a:bodyPr/>
          <a:lstStyle/>
          <a:p>
            <a:pPr marL="0" indent="0" eaLnBrk="1" hangingPunct="1">
              <a:spcBef>
                <a:spcPct val="0"/>
              </a:spcBef>
              <a:buFont typeface="Wingdings" charset="2"/>
              <a:buNone/>
            </a:pPr>
            <a:r>
              <a:rPr lang="en-US" altLang="en-US" dirty="0" smtClean="0"/>
              <a:t>Step 1:</a:t>
            </a:r>
          </a:p>
          <a:p>
            <a:pPr marL="901700" lvl="1" indent="-381000" eaLnBrk="1" hangingPunct="1">
              <a:lnSpc>
                <a:spcPct val="150000"/>
              </a:lnSpc>
              <a:buFont typeface="Times" pitchFamily="18" charset="0"/>
              <a:buAutoNum type="arabicPeriod"/>
            </a:pPr>
            <a:r>
              <a:rPr lang="en-US" altLang="en-US" sz="2000" dirty="0" smtClean="0"/>
              <a:t>State the null and alternative hypotheses (H</a:t>
            </a:r>
            <a:r>
              <a:rPr lang="en-US" altLang="en-US" sz="2000" baseline="-25000" dirty="0" smtClean="0"/>
              <a:t>0</a:t>
            </a:r>
            <a:r>
              <a:rPr lang="en-US" altLang="en-US" sz="2000" dirty="0" smtClean="0"/>
              <a:t> versus H</a:t>
            </a:r>
            <a:r>
              <a:rPr lang="en-US" altLang="en-US" sz="2000" baseline="-25000" dirty="0" smtClean="0"/>
              <a:t>A</a:t>
            </a:r>
            <a:r>
              <a:rPr lang="en-US" altLang="en-US" sz="2000" dirty="0" smtClean="0"/>
              <a:t>)</a:t>
            </a:r>
          </a:p>
          <a:p>
            <a:pPr marL="1139825" lvl="2" indent="-381000" eaLnBrk="1" hangingPunct="1">
              <a:lnSpc>
                <a:spcPct val="150000"/>
              </a:lnSpc>
              <a:buFont typeface="Lucida Sans Unicode" pitchFamily="34" charset="0"/>
              <a:buAutoNum type="alphaLcParenR"/>
            </a:pPr>
            <a:r>
              <a:rPr lang="en-US" altLang="en-US" sz="1800" dirty="0" smtClean="0"/>
              <a:t>Decide on a one-sided or two-sided test</a:t>
            </a:r>
          </a:p>
          <a:p>
            <a:pPr marL="901700" lvl="1" indent="-381000" eaLnBrk="1" hangingPunct="1">
              <a:lnSpc>
                <a:spcPct val="150000"/>
              </a:lnSpc>
              <a:buFont typeface="Verdana" pitchFamily="34" charset="0"/>
              <a:buNone/>
            </a:pPr>
            <a:r>
              <a:rPr lang="en-US" altLang="en-US" sz="2000" dirty="0" smtClean="0"/>
              <a:t>H</a:t>
            </a:r>
            <a:r>
              <a:rPr lang="en-US" altLang="en-US" sz="2000" baseline="-25000" dirty="0" smtClean="0"/>
              <a:t>0</a:t>
            </a:r>
            <a:r>
              <a:rPr lang="en-US" altLang="en-US" sz="2000" dirty="0" smtClean="0"/>
              <a:t>: </a:t>
            </a:r>
            <a:r>
              <a:rPr lang="en-US" altLang="en-US" sz="2000" dirty="0" smtClean="0">
                <a:latin typeface="Symbol" charset="2"/>
              </a:rPr>
              <a:t>m</a:t>
            </a:r>
            <a:r>
              <a:rPr lang="en-US" altLang="en-US" sz="2000" dirty="0" smtClean="0"/>
              <a:t> = </a:t>
            </a:r>
            <a:r>
              <a:rPr lang="en-US" altLang="en-US" sz="2000" dirty="0" smtClean="0">
                <a:latin typeface="Symbol" charset="2"/>
              </a:rPr>
              <a:t>m</a:t>
            </a:r>
            <a:r>
              <a:rPr lang="en-US" altLang="en-US" sz="2000" baseline="-25000" dirty="0" smtClean="0">
                <a:latin typeface="Symbol" charset="2"/>
              </a:rPr>
              <a:t>0</a:t>
            </a:r>
            <a:r>
              <a:rPr lang="en-US" altLang="en-US" sz="2000" dirty="0" smtClean="0"/>
              <a:t> versus H</a:t>
            </a:r>
            <a:r>
              <a:rPr lang="en-US" altLang="en-US" sz="2000" baseline="-25000" dirty="0" smtClean="0"/>
              <a:t>A</a:t>
            </a:r>
            <a:r>
              <a:rPr lang="en-US" altLang="en-US" sz="2000" dirty="0" smtClean="0"/>
              <a:t>: </a:t>
            </a:r>
            <a:r>
              <a:rPr lang="en-US" altLang="en-US" sz="2000" dirty="0" smtClean="0">
                <a:latin typeface="Symbol" charset="2"/>
              </a:rPr>
              <a:t>m</a:t>
            </a:r>
            <a:r>
              <a:rPr lang="en-US" altLang="en-US" sz="2000" dirty="0" smtClean="0"/>
              <a:t> &gt; </a:t>
            </a:r>
            <a:r>
              <a:rPr lang="en-US" altLang="en-US" sz="2000" dirty="0" smtClean="0">
                <a:latin typeface="Symbol" charset="2"/>
              </a:rPr>
              <a:t>m</a:t>
            </a:r>
            <a:r>
              <a:rPr lang="en-US" altLang="en-US" sz="2000" baseline="-25000" dirty="0" smtClean="0">
                <a:latin typeface="Symbol" charset="2"/>
              </a:rPr>
              <a:t>0</a:t>
            </a:r>
            <a:r>
              <a:rPr lang="en-US" altLang="en-US" sz="2000" dirty="0" smtClean="0"/>
              <a:t>  (1 –tail test)</a:t>
            </a:r>
          </a:p>
          <a:p>
            <a:pPr marL="901700" lvl="1" indent="-381000" eaLnBrk="1" hangingPunct="1">
              <a:lnSpc>
                <a:spcPct val="150000"/>
              </a:lnSpc>
              <a:buFont typeface="Verdana" pitchFamily="34" charset="0"/>
              <a:buNone/>
            </a:pPr>
            <a:r>
              <a:rPr lang="en-US" altLang="en-US" sz="2000" dirty="0" smtClean="0"/>
              <a:t>H</a:t>
            </a:r>
            <a:r>
              <a:rPr lang="en-US" altLang="en-US" sz="2000" baseline="-25000" dirty="0" smtClean="0"/>
              <a:t>0</a:t>
            </a:r>
            <a:r>
              <a:rPr lang="en-US" altLang="en-US" sz="2000" dirty="0" smtClean="0"/>
              <a:t>: </a:t>
            </a:r>
            <a:r>
              <a:rPr lang="en-US" altLang="en-US" sz="2000" dirty="0" smtClean="0">
                <a:latin typeface="Symbol" charset="2"/>
              </a:rPr>
              <a:t>m</a:t>
            </a:r>
            <a:r>
              <a:rPr lang="en-US" altLang="en-US" sz="2000" dirty="0" smtClean="0"/>
              <a:t> = </a:t>
            </a:r>
            <a:r>
              <a:rPr lang="en-US" altLang="en-US" sz="2000" dirty="0" smtClean="0">
                <a:latin typeface="Symbol" charset="2"/>
              </a:rPr>
              <a:t>m</a:t>
            </a:r>
            <a:r>
              <a:rPr lang="en-US" altLang="en-US" sz="2000" baseline="-25000" dirty="0" smtClean="0">
                <a:latin typeface="Symbol" charset="2"/>
              </a:rPr>
              <a:t>0</a:t>
            </a:r>
            <a:r>
              <a:rPr lang="en-US" altLang="en-US" sz="2000" dirty="0" smtClean="0"/>
              <a:t> versus H</a:t>
            </a:r>
            <a:r>
              <a:rPr lang="en-US" altLang="en-US" sz="2000" baseline="-25000" dirty="0" smtClean="0"/>
              <a:t>A</a:t>
            </a:r>
            <a:r>
              <a:rPr lang="en-US" altLang="en-US" sz="2000" dirty="0" smtClean="0"/>
              <a:t>: </a:t>
            </a:r>
            <a:r>
              <a:rPr lang="en-US" altLang="en-US" sz="2000" dirty="0" smtClean="0">
                <a:latin typeface="Symbol" charset="2"/>
              </a:rPr>
              <a:t>m</a:t>
            </a:r>
            <a:r>
              <a:rPr lang="en-US" altLang="en-US" sz="2000" dirty="0" smtClean="0"/>
              <a:t> &lt; </a:t>
            </a:r>
            <a:r>
              <a:rPr lang="en-US" altLang="en-US" sz="2000" dirty="0" smtClean="0">
                <a:latin typeface="Symbol" charset="2"/>
              </a:rPr>
              <a:t>m</a:t>
            </a:r>
            <a:r>
              <a:rPr lang="en-US" altLang="en-US" sz="2000" baseline="-25000" dirty="0" smtClean="0">
                <a:latin typeface="Symbol" charset="2"/>
              </a:rPr>
              <a:t>0</a:t>
            </a:r>
            <a:r>
              <a:rPr lang="en-US" altLang="en-US" sz="2000" dirty="0" smtClean="0"/>
              <a:t>  (1 –tail test)</a:t>
            </a:r>
          </a:p>
          <a:p>
            <a:pPr marL="901700" lvl="1" indent="-381000" eaLnBrk="1" hangingPunct="1">
              <a:lnSpc>
                <a:spcPct val="150000"/>
              </a:lnSpc>
              <a:buFont typeface="Verdana" pitchFamily="34" charset="0"/>
              <a:buNone/>
            </a:pPr>
            <a:r>
              <a:rPr lang="en-US" altLang="en-US" sz="2000" dirty="0" smtClean="0"/>
              <a:t>H</a:t>
            </a:r>
            <a:r>
              <a:rPr lang="en-US" altLang="en-US" sz="2000" baseline="-25000" dirty="0" smtClean="0"/>
              <a:t>0</a:t>
            </a:r>
            <a:r>
              <a:rPr lang="en-US" altLang="en-US" sz="2000" dirty="0" smtClean="0"/>
              <a:t>: </a:t>
            </a:r>
            <a:r>
              <a:rPr lang="en-US" altLang="en-US" sz="2000" dirty="0" smtClean="0">
                <a:latin typeface="Symbol" charset="2"/>
              </a:rPr>
              <a:t>m</a:t>
            </a:r>
            <a:r>
              <a:rPr lang="en-US" altLang="en-US" sz="2000" dirty="0" smtClean="0"/>
              <a:t> = </a:t>
            </a:r>
            <a:r>
              <a:rPr lang="en-US" altLang="en-US" sz="2000" dirty="0" smtClean="0">
                <a:latin typeface="Symbol" charset="2"/>
              </a:rPr>
              <a:t>m</a:t>
            </a:r>
            <a:r>
              <a:rPr lang="en-US" altLang="en-US" sz="2000" baseline="-25000" dirty="0" smtClean="0">
                <a:latin typeface="Symbol" charset="2"/>
              </a:rPr>
              <a:t>0</a:t>
            </a:r>
            <a:r>
              <a:rPr lang="en-US" altLang="en-US" sz="2000" dirty="0" smtClean="0"/>
              <a:t> versus H</a:t>
            </a:r>
            <a:r>
              <a:rPr lang="en-US" altLang="en-US" sz="2000" baseline="-25000" dirty="0" smtClean="0"/>
              <a:t>A</a:t>
            </a:r>
            <a:r>
              <a:rPr lang="en-US" altLang="en-US" sz="2000" dirty="0" smtClean="0"/>
              <a:t>: </a:t>
            </a:r>
            <a:r>
              <a:rPr lang="en-US" altLang="en-US" sz="2000" dirty="0" smtClean="0">
                <a:latin typeface="Symbol" charset="2"/>
              </a:rPr>
              <a:t>m</a:t>
            </a:r>
            <a:r>
              <a:rPr lang="en-US" altLang="en-US" sz="2000" dirty="0" smtClean="0"/>
              <a:t> ≠ </a:t>
            </a:r>
            <a:r>
              <a:rPr lang="en-US" altLang="en-US" sz="2000" dirty="0" smtClean="0">
                <a:latin typeface="Symbol" charset="2"/>
              </a:rPr>
              <a:t>m</a:t>
            </a:r>
            <a:r>
              <a:rPr lang="en-US" altLang="en-US" sz="2000" baseline="-25000" dirty="0" smtClean="0">
                <a:latin typeface="Symbol" charset="2"/>
              </a:rPr>
              <a:t>0 </a:t>
            </a:r>
            <a:r>
              <a:rPr lang="en-US" altLang="en-US" sz="2000" dirty="0" smtClean="0">
                <a:latin typeface="Symbol" charset="2"/>
              </a:rPr>
              <a:t> (2</a:t>
            </a:r>
            <a:r>
              <a:rPr lang="en-US" altLang="en-US" sz="2000" dirty="0" smtClean="0"/>
              <a:t> –tail test)</a:t>
            </a:r>
          </a:p>
          <a:p>
            <a:pPr marL="901700" lvl="1" indent="-381000" eaLnBrk="1" hangingPunct="1">
              <a:lnSpc>
                <a:spcPct val="150000"/>
              </a:lnSpc>
              <a:buFont typeface="Verdana" pitchFamily="34" charset="0"/>
              <a:buNone/>
            </a:pPr>
            <a:endParaRPr lang="en-US" altLang="en-US" sz="2000" dirty="0" smtClean="0"/>
          </a:p>
          <a:p>
            <a:pPr marL="901700" lvl="1" indent="-381000" eaLnBrk="1" hangingPunct="1">
              <a:lnSpc>
                <a:spcPct val="150000"/>
              </a:lnSpc>
              <a:buFont typeface="Verdana" pitchFamily="34" charset="0"/>
              <a:buNone/>
            </a:pPr>
            <a:endParaRPr lang="en-US" altLang="en-US" sz="2000" dirty="0" smtClean="0"/>
          </a:p>
        </p:txBody>
      </p:sp>
    </p:spTree>
    <p:custDataLst>
      <p:tags r:id="rId1"/>
    </p:custDataLst>
  </p:cSld>
  <p:clrMapOvr>
    <a:masterClrMapping/>
  </p:clrMapOvr>
  <p:transition spd="slow">
    <p:pull dir="l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971779">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971779">
                                            <p:txEl>
                                              <p:pRg st="3" end="3"/>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971779">
                                            <p:txEl>
                                              <p:pRg st="4" end="4"/>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97177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1779" grpId="0" build="p" bldLvl="2"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457200" y="152400"/>
            <a:ext cx="8229600" cy="762000"/>
          </a:xfrm>
        </p:spPr>
        <p:txBody>
          <a:bodyPr/>
          <a:lstStyle/>
          <a:p>
            <a:pPr eaLnBrk="1" hangingPunct="1"/>
            <a:r>
              <a:rPr lang="en-US" altLang="en-US" sz="3600" dirty="0" smtClean="0"/>
              <a:t>The one-sample t-test; test statistic</a:t>
            </a:r>
          </a:p>
        </p:txBody>
      </p:sp>
      <p:sp>
        <p:nvSpPr>
          <p:cNvPr id="27651" name="Rectangle 3"/>
          <p:cNvSpPr>
            <a:spLocks noGrp="1" noChangeArrowheads="1"/>
          </p:cNvSpPr>
          <p:nvPr>
            <p:ph idx="1"/>
          </p:nvPr>
        </p:nvSpPr>
        <p:spPr>
          <a:xfrm>
            <a:off x="457200" y="914400"/>
            <a:ext cx="8382000" cy="5791200"/>
          </a:xfrm>
          <a:solidFill>
            <a:srgbClr val="FFD243"/>
          </a:solidFill>
        </p:spPr>
        <p:txBody>
          <a:bodyPr/>
          <a:lstStyle/>
          <a:p>
            <a:pPr marL="0" indent="0" eaLnBrk="1" hangingPunct="1">
              <a:spcBef>
                <a:spcPct val="0"/>
              </a:spcBef>
              <a:buFont typeface="Wingdings" charset="2"/>
              <a:buNone/>
            </a:pPr>
            <a:r>
              <a:rPr lang="en-US" altLang="en-US" dirty="0" smtClean="0"/>
              <a:t>We perform a hypothesis test with null hypothesis</a:t>
            </a:r>
          </a:p>
          <a:p>
            <a:pPr marL="0" indent="0" eaLnBrk="1" hangingPunct="1">
              <a:spcBef>
                <a:spcPct val="0"/>
              </a:spcBef>
              <a:buFont typeface="Wingdings" charset="2"/>
              <a:buNone/>
            </a:pPr>
            <a:r>
              <a:rPr lang="en-US" altLang="en-US" dirty="0" smtClean="0"/>
              <a:t>H</a:t>
            </a:r>
            <a:r>
              <a:rPr lang="en-US" altLang="en-US" baseline="-25000" dirty="0" smtClean="0"/>
              <a:t>0</a:t>
            </a:r>
            <a:r>
              <a:rPr lang="en-US" altLang="en-US" dirty="0" smtClean="0"/>
              <a:t> : </a:t>
            </a:r>
            <a:r>
              <a:rPr lang="en-US" altLang="en-US" dirty="0" smtClean="0">
                <a:sym typeface="Symbol" charset="2"/>
              </a:rPr>
              <a:t></a:t>
            </a:r>
            <a:r>
              <a:rPr lang="en-US" altLang="en-US" dirty="0" smtClean="0"/>
              <a:t> = </a:t>
            </a:r>
            <a:r>
              <a:rPr lang="en-US" altLang="en-US" dirty="0" smtClean="0">
                <a:sym typeface="Symbol" charset="2"/>
              </a:rPr>
              <a:t></a:t>
            </a:r>
            <a:r>
              <a:rPr lang="en-US" altLang="en-US" baseline="-25000" dirty="0" smtClean="0">
                <a:sym typeface="Symbol" charset="2"/>
              </a:rPr>
              <a:t>0</a:t>
            </a:r>
            <a:r>
              <a:rPr lang="en-US" altLang="en-US" dirty="0" smtClean="0"/>
              <a:t> using the test statistic</a:t>
            </a:r>
          </a:p>
          <a:p>
            <a:pPr marL="0" indent="0" eaLnBrk="1" hangingPunct="1">
              <a:spcBef>
                <a:spcPct val="0"/>
              </a:spcBef>
              <a:buFont typeface="Wingdings" charset="2"/>
              <a:buNone/>
            </a:pPr>
            <a:endParaRPr lang="en-US" altLang="en-US" dirty="0" smtClean="0"/>
          </a:p>
          <a:p>
            <a:pPr marL="0" indent="0" eaLnBrk="1" hangingPunct="1">
              <a:spcBef>
                <a:spcPct val="0"/>
              </a:spcBef>
              <a:buFont typeface="Wingdings" charset="2"/>
              <a:buNone/>
            </a:pPr>
            <a:endParaRPr lang="en-US" altLang="en-US" dirty="0" smtClean="0"/>
          </a:p>
          <a:p>
            <a:pPr marL="0" indent="0" eaLnBrk="1" hangingPunct="1">
              <a:spcBef>
                <a:spcPct val="0"/>
              </a:spcBef>
              <a:buFont typeface="Wingdings" charset="2"/>
              <a:buNone/>
            </a:pPr>
            <a:r>
              <a:rPr lang="en-US" altLang="en-US" dirty="0" smtClean="0"/>
              <a:t>where the standard error of     is  .</a:t>
            </a:r>
          </a:p>
          <a:p>
            <a:pPr marL="0" indent="0" eaLnBrk="1" hangingPunct="1">
              <a:spcBef>
                <a:spcPct val="0"/>
              </a:spcBef>
              <a:buFont typeface="Wingdings" charset="2"/>
              <a:buNone/>
            </a:pPr>
            <a:endParaRPr lang="en-US" altLang="en-US" dirty="0" smtClean="0"/>
          </a:p>
          <a:p>
            <a:pPr marL="0" indent="0" eaLnBrk="1" hangingPunct="1">
              <a:spcBef>
                <a:spcPct val="0"/>
              </a:spcBef>
              <a:buFont typeface="Wingdings" charset="2"/>
              <a:buNone/>
            </a:pPr>
            <a:endParaRPr lang="en-US" altLang="en-US" dirty="0" smtClean="0"/>
          </a:p>
          <a:p>
            <a:pPr marL="0" indent="0" eaLnBrk="1" hangingPunct="1">
              <a:spcBef>
                <a:spcPct val="0"/>
              </a:spcBef>
              <a:buFont typeface="Wingdings" charset="2"/>
              <a:buNone/>
            </a:pPr>
            <a:r>
              <a:rPr lang="en-US" altLang="en-US" dirty="0" smtClean="0"/>
              <a:t>When the null hypothesis is true, the test statistic follows a  t distribution with n-1 degrees of freedom.  We use that model to obtain a P-value.</a:t>
            </a:r>
          </a:p>
        </p:txBody>
      </p:sp>
      <p:graphicFrame>
        <p:nvGraphicFramePr>
          <p:cNvPr id="27652" name="Object 2"/>
          <p:cNvGraphicFramePr>
            <a:graphicFrameLocks noChangeAspect="1"/>
          </p:cNvGraphicFramePr>
          <p:nvPr>
            <p:extLst>
              <p:ext uri="{D42A27DB-BD31-4B8C-83A1-F6EECF244321}">
                <p14:modId xmlns:p14="http://schemas.microsoft.com/office/powerpoint/2010/main" val="459813450"/>
              </p:ext>
            </p:extLst>
          </p:nvPr>
        </p:nvGraphicFramePr>
        <p:xfrm>
          <a:off x="3352800" y="2362200"/>
          <a:ext cx="1746250" cy="1176338"/>
        </p:xfrm>
        <a:graphic>
          <a:graphicData uri="http://schemas.openxmlformats.org/presentationml/2006/ole">
            <mc:AlternateContent xmlns:mc="http://schemas.openxmlformats.org/markup-compatibility/2006">
              <mc:Choice xmlns:v="urn:schemas-microsoft-com:vml" Requires="v">
                <p:oleObj spid="_x0000_s27709" name="Equation" r:id="rId4" imgW="622080" imgH="419040" progId="Equation.DSMT4">
                  <p:embed/>
                </p:oleObj>
              </mc:Choice>
              <mc:Fallback>
                <p:oleObj name="Equation" r:id="rId4" imgW="622080" imgH="419040" progId="Equation.DSMT4">
                  <p:embed/>
                  <p:pic>
                    <p:nvPicPr>
                      <p:cNvPr id="0" name="Object 2"/>
                      <p:cNvPicPr>
                        <a:picLocks noChangeAspect="1" noChangeArrowheads="1"/>
                      </p:cNvPicPr>
                      <p:nvPr/>
                    </p:nvPicPr>
                    <p:blipFill>
                      <a:blip r:embed="rId5"/>
                      <a:srcRect/>
                      <a:stretch>
                        <a:fillRect/>
                      </a:stretch>
                    </p:blipFill>
                    <p:spPr bwMode="auto">
                      <a:xfrm>
                        <a:off x="3352800" y="2362200"/>
                        <a:ext cx="1746250" cy="1176338"/>
                      </a:xfrm>
                      <a:prstGeom prst="rect">
                        <a:avLst/>
                      </a:prstGeom>
                      <a:solidFill>
                        <a:schemeClr val="bg1"/>
                      </a:solidFill>
                      <a:ln>
                        <a:noFill/>
                      </a:ln>
                      <a:effectLst/>
                    </p:spPr>
                  </p:pic>
                </p:oleObj>
              </mc:Fallback>
            </mc:AlternateContent>
          </a:graphicData>
        </a:graphic>
      </p:graphicFrame>
      <p:graphicFrame>
        <p:nvGraphicFramePr>
          <p:cNvPr id="27653" name="Object 3"/>
          <p:cNvGraphicFramePr>
            <a:graphicFrameLocks noChangeAspect="1"/>
          </p:cNvGraphicFramePr>
          <p:nvPr>
            <p:extLst>
              <p:ext uri="{D42A27DB-BD31-4B8C-83A1-F6EECF244321}">
                <p14:modId xmlns:p14="http://schemas.microsoft.com/office/powerpoint/2010/main" val="2554022359"/>
              </p:ext>
            </p:extLst>
          </p:nvPr>
        </p:nvGraphicFramePr>
        <p:xfrm>
          <a:off x="6096000" y="3429000"/>
          <a:ext cx="304800" cy="414338"/>
        </p:xfrm>
        <a:graphic>
          <a:graphicData uri="http://schemas.openxmlformats.org/presentationml/2006/ole">
            <mc:AlternateContent xmlns:mc="http://schemas.openxmlformats.org/markup-compatibility/2006">
              <mc:Choice xmlns:v="urn:schemas-microsoft-com:vml" Requires="v">
                <p:oleObj spid="_x0000_s27710" name="Equation" r:id="rId6" imgW="139639" imgH="190417" progId="Equation.DSMT4">
                  <p:embed/>
                </p:oleObj>
              </mc:Choice>
              <mc:Fallback>
                <p:oleObj name="Equation" r:id="rId6" imgW="139639" imgH="190417" progId="Equation.DSMT4">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96000" y="3429000"/>
                        <a:ext cx="304800" cy="414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7654" name="Object 4"/>
          <p:cNvGraphicFramePr>
            <a:graphicFrameLocks noChangeAspect="1"/>
          </p:cNvGraphicFramePr>
          <p:nvPr/>
        </p:nvGraphicFramePr>
        <p:xfrm>
          <a:off x="3429000" y="3962400"/>
          <a:ext cx="1600200" cy="838200"/>
        </p:xfrm>
        <a:graphic>
          <a:graphicData uri="http://schemas.openxmlformats.org/presentationml/2006/ole">
            <mc:AlternateContent xmlns:mc="http://schemas.openxmlformats.org/markup-compatibility/2006">
              <mc:Choice xmlns:v="urn:schemas-microsoft-com:vml" Requires="v">
                <p:oleObj spid="_x0000_s27711" name="Equation" r:id="rId8" imgW="800100" imgH="419100" progId="Equation.DSMT4">
                  <p:embed/>
                </p:oleObj>
              </mc:Choice>
              <mc:Fallback>
                <p:oleObj name="Equation" r:id="rId8" imgW="800100" imgH="419100" progId="Equation.DSMT4">
                  <p:embed/>
                  <p:pic>
                    <p:nvPicPr>
                      <p:cNvPr id="0"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429000" y="3962400"/>
                        <a:ext cx="1600200" cy="838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ustDataLst>
      <p:tags r:id="rId2"/>
    </p:custDataLst>
  </p:cSld>
  <p:clrMapOvr>
    <a:masterClrMapping/>
  </p:clrMapOvr>
  <p:transition spd="slow">
    <p:pull dir="lu"/>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5"/>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endParaRPr lang="en-US" altLang="en-US" sz="1800" dirty="0"/>
          </a:p>
        </p:txBody>
      </p:sp>
      <p:sp>
        <p:nvSpPr>
          <p:cNvPr id="28675" name="Rectangle 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endParaRPr lang="en-US" altLang="en-US" sz="1800" dirty="0"/>
          </a:p>
        </p:txBody>
      </p:sp>
      <p:sp>
        <p:nvSpPr>
          <p:cNvPr id="28676" name="Date Placeholder 29"/>
          <p:cNvSpPr>
            <a:spLocks/>
          </p:cNvSpPr>
          <p:nvPr/>
        </p:nvSpPr>
        <p:spPr bwMode="auto">
          <a:xfrm>
            <a:off x="152400" y="6324600"/>
            <a:ext cx="2246313"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endParaRPr lang="en-US" altLang="en-US" sz="1000" b="1" dirty="0">
              <a:solidFill>
                <a:srgbClr val="FFFFFF"/>
              </a:solidFill>
              <a:latin typeface="Verdana" pitchFamily="34" charset="0"/>
            </a:endParaRPr>
          </a:p>
        </p:txBody>
      </p:sp>
      <p:sp>
        <p:nvSpPr>
          <p:cNvPr id="28677" name="Slide Number Placeholder 5"/>
          <p:cNvSpPr txBox="1">
            <a:spLocks noGrp="1"/>
          </p:cNvSpPr>
          <p:nvPr/>
        </p:nvSpPr>
        <p:spPr bwMode="auto">
          <a:xfrm>
            <a:off x="8291513" y="6107113"/>
            <a:ext cx="36671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lgn="r" eaLnBrk="1" hangingPunct="1">
              <a:spcBef>
                <a:spcPct val="0"/>
              </a:spcBef>
              <a:buClrTx/>
              <a:buSzTx/>
              <a:buFontTx/>
              <a:buNone/>
            </a:pPr>
            <a:fld id="{B606BE51-F05A-4FD7-89C2-AE16ACB799BE}" type="slidenum">
              <a:rPr lang="en-US" altLang="en-US" sz="1000" b="1">
                <a:latin typeface="Verdana" pitchFamily="34" charset="0"/>
                <a:cs typeface="Arial" charset="0"/>
              </a:rPr>
              <a:pPr algn="r" eaLnBrk="1" hangingPunct="1">
                <a:spcBef>
                  <a:spcPct val="0"/>
                </a:spcBef>
                <a:buClrTx/>
                <a:buSzTx/>
                <a:buFontTx/>
                <a:buNone/>
              </a:pPr>
              <a:t>37</a:t>
            </a:fld>
            <a:endParaRPr lang="en-US" altLang="en-US" sz="1000" b="1" dirty="0">
              <a:latin typeface="Verdana" pitchFamily="34" charset="0"/>
              <a:cs typeface="Arial" charset="0"/>
            </a:endParaRPr>
          </a:p>
        </p:txBody>
      </p:sp>
      <p:sp>
        <p:nvSpPr>
          <p:cNvPr id="28678" name="Text Box 6"/>
          <p:cNvSpPr txBox="1">
            <a:spLocks noChangeArrowheads="1"/>
          </p:cNvSpPr>
          <p:nvPr/>
        </p:nvSpPr>
        <p:spPr bwMode="auto">
          <a:xfrm>
            <a:off x="304800" y="152400"/>
            <a:ext cx="8610600" cy="523875"/>
          </a:xfrm>
          <a:prstGeom prst="rect">
            <a:avLst/>
          </a:prstGeom>
          <a:solidFill>
            <a:srgbClr val="FFC000"/>
          </a:solidFill>
          <a:ln>
            <a:noFill/>
          </a:ln>
        </p:spPr>
        <p:txBody>
          <a:bodyPr>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lgn="ctr" eaLnBrk="1" hangingPunct="1">
              <a:spcBef>
                <a:spcPct val="0"/>
              </a:spcBef>
              <a:buClrTx/>
              <a:buSzTx/>
              <a:buFontTx/>
              <a:buNone/>
            </a:pPr>
            <a:r>
              <a:rPr lang="en-US" altLang="en-US" sz="2800" dirty="0">
                <a:cs typeface="Arial" charset="0"/>
              </a:rPr>
              <a:t>The one-sample t-test; </a:t>
            </a:r>
            <a:r>
              <a:rPr lang="en-US" altLang="en-US" sz="2800" dirty="0">
                <a:solidFill>
                  <a:srgbClr val="0033CC"/>
                </a:solidFill>
                <a:cs typeface="Arial" charset="0"/>
              </a:rPr>
              <a:t>P-Values</a:t>
            </a:r>
          </a:p>
        </p:txBody>
      </p:sp>
      <p:sp>
        <p:nvSpPr>
          <p:cNvPr id="28679" name="Text Box 7"/>
          <p:cNvSpPr txBox="1">
            <a:spLocks noChangeArrowheads="1"/>
          </p:cNvSpPr>
          <p:nvPr/>
        </p:nvSpPr>
        <p:spPr bwMode="auto">
          <a:xfrm>
            <a:off x="381000" y="1066800"/>
            <a:ext cx="8458200" cy="4524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eaLnBrk="1" hangingPunct="1">
              <a:spcBef>
                <a:spcPct val="0"/>
              </a:spcBef>
              <a:buClrTx/>
              <a:buSzTx/>
              <a:buFontTx/>
              <a:buNone/>
            </a:pPr>
            <a:r>
              <a:rPr lang="en-US" altLang="en-US" sz="2400" i="0" dirty="0">
                <a:latin typeface="Comic Sans MS" panose="030F0702030302020204" pitchFamily="66" charset="0"/>
                <a:cs typeface="Arial" charset="0"/>
              </a:rPr>
              <a:t>Recall:</a:t>
            </a:r>
          </a:p>
          <a:p>
            <a:pPr eaLnBrk="1" hangingPunct="1">
              <a:spcBef>
                <a:spcPct val="0"/>
              </a:spcBef>
              <a:buClrTx/>
              <a:buSzTx/>
              <a:buFontTx/>
              <a:buNone/>
            </a:pPr>
            <a:r>
              <a:rPr lang="en-US" altLang="en-US" sz="2400" i="0" dirty="0">
                <a:solidFill>
                  <a:srgbClr val="FF0000"/>
                </a:solidFill>
                <a:latin typeface="Comic Sans MS" panose="030F0702030302020204" pitchFamily="66" charset="0"/>
                <a:cs typeface="Arial" charset="0"/>
              </a:rPr>
              <a:t>The</a:t>
            </a:r>
            <a:r>
              <a:rPr lang="en-US" altLang="en-US" sz="2400" i="0" dirty="0">
                <a:latin typeface="Comic Sans MS" panose="030F0702030302020204" pitchFamily="66" charset="0"/>
                <a:cs typeface="Arial" charset="0"/>
              </a:rPr>
              <a:t> </a:t>
            </a:r>
            <a:r>
              <a:rPr lang="en-US" altLang="en-US" sz="2400" i="0" dirty="0">
                <a:solidFill>
                  <a:srgbClr val="0000FF"/>
                </a:solidFill>
                <a:latin typeface="Comic Sans MS" panose="030F0702030302020204" pitchFamily="66" charset="0"/>
                <a:cs typeface="Arial" charset="0"/>
              </a:rPr>
              <a:t>P-value</a:t>
            </a:r>
            <a:r>
              <a:rPr lang="en-US" altLang="en-US" sz="2400" i="0" dirty="0">
                <a:latin typeface="Comic Sans MS" panose="030F0702030302020204" pitchFamily="66" charset="0"/>
                <a:cs typeface="Arial" charset="0"/>
              </a:rPr>
              <a:t> </a:t>
            </a:r>
            <a:r>
              <a:rPr lang="en-US" altLang="en-US" sz="2400" i="0" dirty="0">
                <a:solidFill>
                  <a:srgbClr val="FF0000"/>
                </a:solidFill>
                <a:latin typeface="Comic Sans MS" panose="030F0702030302020204" pitchFamily="66" charset="0"/>
                <a:cs typeface="Arial" charset="0"/>
              </a:rPr>
              <a:t>is the probability, calculated assuming the null hypothesis H</a:t>
            </a:r>
            <a:r>
              <a:rPr lang="en-US" altLang="en-US" sz="2400" i="0" baseline="-25000" dirty="0">
                <a:solidFill>
                  <a:srgbClr val="FF0000"/>
                </a:solidFill>
                <a:latin typeface="Comic Sans MS" panose="030F0702030302020204" pitchFamily="66" charset="0"/>
                <a:cs typeface="Arial" charset="0"/>
              </a:rPr>
              <a:t>0</a:t>
            </a:r>
            <a:r>
              <a:rPr lang="en-US" altLang="en-US" sz="2400" i="0" dirty="0">
                <a:solidFill>
                  <a:srgbClr val="FF0000"/>
                </a:solidFill>
                <a:latin typeface="Comic Sans MS" panose="030F0702030302020204" pitchFamily="66" charset="0"/>
                <a:cs typeface="Arial" charset="0"/>
              </a:rPr>
              <a:t> is true, of observing a value of the test statistic more extreme than the value we actually observed.</a:t>
            </a:r>
          </a:p>
          <a:p>
            <a:pPr eaLnBrk="1" hangingPunct="1">
              <a:spcBef>
                <a:spcPct val="0"/>
              </a:spcBef>
              <a:buClrTx/>
              <a:buSzTx/>
              <a:buFontTx/>
              <a:buNone/>
            </a:pPr>
            <a:endParaRPr lang="en-US" altLang="en-US" sz="2400" dirty="0">
              <a:cs typeface="Arial" charset="0"/>
            </a:endParaRPr>
          </a:p>
          <a:p>
            <a:pPr eaLnBrk="1" hangingPunct="1">
              <a:spcBef>
                <a:spcPct val="0"/>
              </a:spcBef>
              <a:buClrTx/>
              <a:buSzTx/>
              <a:buFontTx/>
              <a:buNone/>
            </a:pPr>
            <a:r>
              <a:rPr lang="en-US" altLang="en-US" sz="2400" i="0" dirty="0">
                <a:latin typeface="Comic Sans MS" panose="030F0702030302020204" pitchFamily="66" charset="0"/>
                <a:cs typeface="Arial" charset="0"/>
              </a:rPr>
              <a:t>The calculation of the P-value depends on whether the hypothesis test is </a:t>
            </a:r>
            <a:r>
              <a:rPr lang="en-US" altLang="en-US" sz="2400" i="0" dirty="0">
                <a:solidFill>
                  <a:srgbClr val="FF0000"/>
                </a:solidFill>
                <a:latin typeface="Comic Sans MS" panose="030F0702030302020204" pitchFamily="66" charset="0"/>
                <a:cs typeface="Arial" charset="0"/>
              </a:rPr>
              <a:t>1-tailed</a:t>
            </a:r>
          </a:p>
          <a:p>
            <a:pPr eaLnBrk="1" hangingPunct="1">
              <a:spcBef>
                <a:spcPct val="0"/>
              </a:spcBef>
              <a:buClrTx/>
              <a:buSzTx/>
              <a:buFontTx/>
              <a:buNone/>
            </a:pPr>
            <a:r>
              <a:rPr lang="en-US" altLang="en-US" sz="2400" i="0" dirty="0">
                <a:latin typeface="Comic Sans MS" panose="030F0702030302020204" pitchFamily="66" charset="0"/>
                <a:cs typeface="Arial" charset="0"/>
              </a:rPr>
              <a:t>(that is, the alternative hypothesis is</a:t>
            </a:r>
          </a:p>
          <a:p>
            <a:pPr eaLnBrk="1" hangingPunct="1">
              <a:spcBef>
                <a:spcPct val="0"/>
              </a:spcBef>
              <a:buClrTx/>
              <a:buSzTx/>
              <a:buFontTx/>
              <a:buNone/>
            </a:pPr>
            <a:r>
              <a:rPr lang="en-US" altLang="en-US" sz="2400" i="0" dirty="0">
                <a:latin typeface="Comic Sans MS" panose="030F0702030302020204" pitchFamily="66" charset="0"/>
                <a:cs typeface="Arial" charset="0"/>
              </a:rPr>
              <a:t>H</a:t>
            </a:r>
            <a:r>
              <a:rPr lang="en-US" altLang="en-US" sz="2400" i="0" baseline="-25000" dirty="0">
                <a:latin typeface="Comic Sans MS" panose="030F0702030302020204" pitchFamily="66" charset="0"/>
                <a:cs typeface="Arial" charset="0"/>
              </a:rPr>
              <a:t>A</a:t>
            </a:r>
            <a:r>
              <a:rPr lang="en-US" altLang="en-US" sz="2400" i="0" dirty="0">
                <a:latin typeface="Comic Sans MS" panose="030F0702030302020204" pitchFamily="66" charset="0"/>
                <a:cs typeface="Arial" charset="0"/>
              </a:rPr>
              <a:t> :</a:t>
            </a:r>
            <a:r>
              <a:rPr lang="en-US" altLang="en-US" sz="2400" i="0" dirty="0">
                <a:latin typeface="Comic Sans MS" panose="030F0702030302020204" pitchFamily="66" charset="0"/>
                <a:cs typeface="Arial" charset="0"/>
                <a:sym typeface="Symbol" charset="2"/>
              </a:rPr>
              <a:t></a:t>
            </a:r>
            <a:r>
              <a:rPr lang="en-US" altLang="en-US" sz="2400" i="0" dirty="0">
                <a:latin typeface="Comic Sans MS" panose="030F0702030302020204" pitchFamily="66" charset="0"/>
                <a:cs typeface="Arial" charset="0"/>
              </a:rPr>
              <a:t> &lt; </a:t>
            </a:r>
            <a:r>
              <a:rPr lang="en-US" altLang="en-US" sz="2400" i="0" dirty="0">
                <a:latin typeface="Comic Sans MS" panose="030F0702030302020204" pitchFamily="66" charset="0"/>
                <a:cs typeface="Arial" charset="0"/>
                <a:sym typeface="Symbol" charset="2"/>
              </a:rPr>
              <a:t></a:t>
            </a:r>
            <a:r>
              <a:rPr lang="en-US" altLang="en-US" sz="2400" i="0" baseline="-25000" dirty="0">
                <a:latin typeface="Comic Sans MS" panose="030F0702030302020204" pitchFamily="66" charset="0"/>
                <a:cs typeface="Arial" charset="0"/>
              </a:rPr>
              <a:t>0</a:t>
            </a:r>
            <a:r>
              <a:rPr lang="en-US" altLang="en-US" sz="2400" i="0" dirty="0">
                <a:latin typeface="Comic Sans MS" panose="030F0702030302020204" pitchFamily="66" charset="0"/>
                <a:cs typeface="Arial" charset="0"/>
              </a:rPr>
              <a:t> or H</a:t>
            </a:r>
            <a:r>
              <a:rPr lang="en-US" altLang="en-US" sz="2400" i="0" baseline="-25000" dirty="0">
                <a:latin typeface="Comic Sans MS" panose="030F0702030302020204" pitchFamily="66" charset="0"/>
                <a:cs typeface="Arial" charset="0"/>
              </a:rPr>
              <a:t>A</a:t>
            </a:r>
            <a:r>
              <a:rPr lang="en-US" altLang="en-US" sz="2400" i="0" dirty="0">
                <a:latin typeface="Comic Sans MS" panose="030F0702030302020204" pitchFamily="66" charset="0"/>
                <a:cs typeface="Arial" charset="0"/>
              </a:rPr>
              <a:t> :</a:t>
            </a:r>
            <a:r>
              <a:rPr lang="en-US" altLang="en-US" sz="2400" i="0" dirty="0">
                <a:latin typeface="Comic Sans MS" panose="030F0702030302020204" pitchFamily="66" charset="0"/>
                <a:cs typeface="Arial" charset="0"/>
                <a:sym typeface="Symbol" charset="2"/>
              </a:rPr>
              <a:t> </a:t>
            </a:r>
            <a:r>
              <a:rPr lang="en-US" altLang="en-US" sz="2400" i="0" dirty="0">
                <a:latin typeface="Comic Sans MS" panose="030F0702030302020204" pitchFamily="66" charset="0"/>
                <a:cs typeface="Arial" charset="0"/>
              </a:rPr>
              <a:t> &gt; </a:t>
            </a:r>
            <a:r>
              <a:rPr lang="en-US" altLang="en-US" sz="2400" i="0" dirty="0">
                <a:latin typeface="Comic Sans MS" panose="030F0702030302020204" pitchFamily="66" charset="0"/>
                <a:cs typeface="Arial" charset="0"/>
                <a:sym typeface="Symbol" charset="2"/>
              </a:rPr>
              <a:t></a:t>
            </a:r>
            <a:r>
              <a:rPr lang="en-US" altLang="en-US" sz="2400" i="0" baseline="-25000" dirty="0">
                <a:latin typeface="Comic Sans MS" panose="030F0702030302020204" pitchFamily="66" charset="0"/>
                <a:cs typeface="Arial" charset="0"/>
              </a:rPr>
              <a:t>0</a:t>
            </a:r>
            <a:r>
              <a:rPr lang="en-US" altLang="en-US" sz="2400" i="0" dirty="0">
                <a:latin typeface="Comic Sans MS" panose="030F0702030302020204" pitchFamily="66" charset="0"/>
                <a:cs typeface="Arial" charset="0"/>
              </a:rPr>
              <a:t>)</a:t>
            </a:r>
          </a:p>
          <a:p>
            <a:pPr eaLnBrk="1" hangingPunct="1">
              <a:spcBef>
                <a:spcPct val="0"/>
              </a:spcBef>
              <a:buClrTx/>
              <a:buSzTx/>
              <a:buFontTx/>
              <a:buNone/>
            </a:pPr>
            <a:r>
              <a:rPr lang="en-US" altLang="en-US" sz="2400" i="0" dirty="0">
                <a:latin typeface="Comic Sans MS" panose="030F0702030302020204" pitchFamily="66" charset="0"/>
                <a:cs typeface="Arial" charset="0"/>
              </a:rPr>
              <a:t>or </a:t>
            </a:r>
            <a:r>
              <a:rPr lang="en-US" altLang="en-US" sz="2400" i="0" dirty="0">
                <a:solidFill>
                  <a:srgbClr val="FF0000"/>
                </a:solidFill>
                <a:latin typeface="Comic Sans MS" panose="030F0702030302020204" pitchFamily="66" charset="0"/>
                <a:cs typeface="Arial" charset="0"/>
              </a:rPr>
              <a:t>2-tailed</a:t>
            </a:r>
          </a:p>
          <a:p>
            <a:pPr eaLnBrk="1" hangingPunct="1">
              <a:spcBef>
                <a:spcPct val="0"/>
              </a:spcBef>
              <a:buClrTx/>
              <a:buSzTx/>
              <a:buFontTx/>
              <a:buNone/>
            </a:pPr>
            <a:r>
              <a:rPr lang="en-US" altLang="en-US" sz="2400" i="0" dirty="0">
                <a:latin typeface="Comic Sans MS" panose="030F0702030302020204" pitchFamily="66" charset="0"/>
                <a:cs typeface="Arial" charset="0"/>
              </a:rPr>
              <a:t>(that is, the alternative hypothesis is H</a:t>
            </a:r>
            <a:r>
              <a:rPr lang="en-US" altLang="en-US" sz="2400" i="0" baseline="-25000" dirty="0">
                <a:latin typeface="Comic Sans MS" panose="030F0702030302020204" pitchFamily="66" charset="0"/>
                <a:cs typeface="Arial" charset="0"/>
              </a:rPr>
              <a:t>A</a:t>
            </a:r>
            <a:r>
              <a:rPr lang="en-US" altLang="en-US" sz="2400" i="0" dirty="0">
                <a:latin typeface="Comic Sans MS" panose="030F0702030302020204" pitchFamily="66" charset="0"/>
                <a:cs typeface="Arial" charset="0"/>
              </a:rPr>
              <a:t> :</a:t>
            </a:r>
            <a:r>
              <a:rPr lang="en-US" altLang="en-US" sz="2400" i="0" dirty="0">
                <a:latin typeface="Comic Sans MS" panose="030F0702030302020204" pitchFamily="66" charset="0"/>
                <a:cs typeface="Arial" charset="0"/>
                <a:sym typeface="Symbol" charset="2"/>
              </a:rPr>
              <a:t> </a:t>
            </a:r>
            <a:r>
              <a:rPr lang="en-US" altLang="en-US" sz="2400" i="0" dirty="0">
                <a:latin typeface="Comic Sans MS" panose="030F0702030302020204" pitchFamily="66" charset="0"/>
                <a:cs typeface="Arial" charset="0"/>
              </a:rPr>
              <a:t> ≠ </a:t>
            </a:r>
            <a:r>
              <a:rPr lang="en-US" altLang="en-US" sz="2400" i="0" dirty="0">
                <a:latin typeface="Comic Sans MS" panose="030F0702030302020204" pitchFamily="66" charset="0"/>
                <a:cs typeface="Arial" charset="0"/>
                <a:sym typeface="Symbol" charset="2"/>
              </a:rPr>
              <a:t></a:t>
            </a:r>
            <a:r>
              <a:rPr lang="en-US" altLang="en-US" sz="2400" i="0" baseline="-25000" dirty="0">
                <a:latin typeface="Comic Sans MS" panose="030F0702030302020204" pitchFamily="66" charset="0"/>
                <a:cs typeface="Arial" charset="0"/>
              </a:rPr>
              <a:t>0</a:t>
            </a:r>
            <a:r>
              <a:rPr lang="en-US" altLang="en-US" sz="2400" i="0" dirty="0">
                <a:latin typeface="Comic Sans MS" panose="030F0702030302020204" pitchFamily="66" charset="0"/>
                <a:cs typeface="Arial" charset="0"/>
              </a:rPr>
              <a:t>).</a:t>
            </a:r>
          </a:p>
        </p:txBody>
      </p:sp>
    </p:spTree>
    <p:custDataLst>
      <p:tags r:id="rId1"/>
    </p:custDataLst>
  </p:cSld>
  <p:clrMapOvr>
    <a:masterClrMapping/>
  </p:clrMapOvr>
  <p:transition spd="slow">
    <p:pull dir="lu"/>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5"/>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endParaRPr lang="en-US" altLang="en-US" sz="1800" dirty="0"/>
          </a:p>
        </p:txBody>
      </p:sp>
      <p:sp>
        <p:nvSpPr>
          <p:cNvPr id="29699" name="Rectangle 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endParaRPr lang="en-US" altLang="en-US" sz="1800" dirty="0"/>
          </a:p>
        </p:txBody>
      </p:sp>
      <p:sp>
        <p:nvSpPr>
          <p:cNvPr id="29700" name="Date Placeholder 29"/>
          <p:cNvSpPr>
            <a:spLocks/>
          </p:cNvSpPr>
          <p:nvPr/>
        </p:nvSpPr>
        <p:spPr bwMode="auto">
          <a:xfrm>
            <a:off x="152400" y="6324600"/>
            <a:ext cx="2246313"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endParaRPr lang="en-US" altLang="en-US" sz="1000" b="1" dirty="0">
              <a:solidFill>
                <a:srgbClr val="FFFFFF"/>
              </a:solidFill>
              <a:latin typeface="Verdana" pitchFamily="34" charset="0"/>
            </a:endParaRPr>
          </a:p>
        </p:txBody>
      </p:sp>
      <p:sp>
        <p:nvSpPr>
          <p:cNvPr id="29701" name="Slide Number Placeholder 5"/>
          <p:cNvSpPr txBox="1">
            <a:spLocks noGrp="1"/>
          </p:cNvSpPr>
          <p:nvPr/>
        </p:nvSpPr>
        <p:spPr bwMode="auto">
          <a:xfrm>
            <a:off x="8291513" y="6107113"/>
            <a:ext cx="36671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lgn="r" eaLnBrk="1" hangingPunct="1">
              <a:spcBef>
                <a:spcPct val="0"/>
              </a:spcBef>
              <a:buClrTx/>
              <a:buSzTx/>
              <a:buFontTx/>
              <a:buNone/>
            </a:pPr>
            <a:fld id="{6E01DA83-6B06-40C8-9B8B-A7E5ED8E2DF5}" type="slidenum">
              <a:rPr lang="en-US" altLang="en-US" sz="1000" b="1">
                <a:latin typeface="Verdana" pitchFamily="34" charset="0"/>
                <a:cs typeface="Arial" charset="0"/>
              </a:rPr>
              <a:pPr algn="r" eaLnBrk="1" hangingPunct="1">
                <a:spcBef>
                  <a:spcPct val="0"/>
                </a:spcBef>
                <a:buClrTx/>
                <a:buSzTx/>
                <a:buFontTx/>
                <a:buNone/>
              </a:pPr>
              <a:t>38</a:t>
            </a:fld>
            <a:endParaRPr lang="en-US" altLang="en-US" sz="1000" b="1" dirty="0">
              <a:latin typeface="Verdana" pitchFamily="34" charset="0"/>
              <a:cs typeface="Arial" charset="0"/>
            </a:endParaRPr>
          </a:p>
        </p:txBody>
      </p:sp>
      <p:sp>
        <p:nvSpPr>
          <p:cNvPr id="29702" name="Text Box 6"/>
          <p:cNvSpPr txBox="1">
            <a:spLocks noChangeArrowheads="1"/>
          </p:cNvSpPr>
          <p:nvPr/>
        </p:nvSpPr>
        <p:spPr bwMode="auto">
          <a:xfrm>
            <a:off x="304800" y="152400"/>
            <a:ext cx="86106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eaLnBrk="1" hangingPunct="1">
              <a:spcBef>
                <a:spcPct val="0"/>
              </a:spcBef>
              <a:buClrTx/>
              <a:buSzTx/>
              <a:buFontTx/>
              <a:buNone/>
            </a:pPr>
            <a:r>
              <a:rPr lang="en-US" altLang="en-US" b="1" dirty="0">
                <a:solidFill>
                  <a:srgbClr val="0033CC"/>
                </a:solidFill>
                <a:cs typeface="Arial" charset="0"/>
              </a:rPr>
              <a:t>P-Values</a:t>
            </a:r>
          </a:p>
        </p:txBody>
      </p:sp>
      <p:sp>
        <p:nvSpPr>
          <p:cNvPr id="9" name="TextBox 8"/>
          <p:cNvSpPr txBox="1"/>
          <p:nvPr/>
        </p:nvSpPr>
        <p:spPr>
          <a:xfrm>
            <a:off x="152400" y="1295400"/>
            <a:ext cx="5257800" cy="461665"/>
          </a:xfrm>
          <a:prstGeom prst="rect">
            <a:avLst/>
          </a:prstGeom>
          <a:noFill/>
        </p:spPr>
        <p:txBody>
          <a:bodyPr wrap="square">
            <a:spAutoFit/>
          </a:bodyPr>
          <a:lstStyle/>
          <a:p>
            <a:pPr>
              <a:defRPr/>
            </a:pPr>
            <a:r>
              <a:rPr lang="en-US" i="0" dirty="0">
                <a:latin typeface="+mn-lt"/>
              </a:rPr>
              <a:t>If H</a:t>
            </a:r>
            <a:r>
              <a:rPr lang="en-US" i="0" baseline="-25000" dirty="0">
                <a:latin typeface="+mn-lt"/>
              </a:rPr>
              <a:t>A</a:t>
            </a:r>
            <a:r>
              <a:rPr lang="en-US" i="0" dirty="0">
                <a:latin typeface="+mn-lt"/>
              </a:rPr>
              <a:t>: </a:t>
            </a:r>
            <a:r>
              <a:rPr lang="en-US" i="0" dirty="0">
                <a:latin typeface="+mn-lt"/>
                <a:sym typeface="Symbol"/>
              </a:rPr>
              <a:t></a:t>
            </a:r>
            <a:r>
              <a:rPr lang="en-US" i="0" dirty="0">
                <a:latin typeface="+mn-lt"/>
              </a:rPr>
              <a:t> &gt; </a:t>
            </a:r>
            <a:r>
              <a:rPr lang="en-US" i="0" dirty="0">
                <a:sym typeface="Symbol"/>
              </a:rPr>
              <a:t></a:t>
            </a:r>
            <a:r>
              <a:rPr lang="en-US" i="0" baseline="-25000" dirty="0">
                <a:latin typeface="+mn-lt"/>
              </a:rPr>
              <a:t>0</a:t>
            </a:r>
            <a:r>
              <a:rPr lang="en-US" i="0" dirty="0">
                <a:latin typeface="+mn-lt"/>
              </a:rPr>
              <a:t>, then P-value=P(t &gt; t</a:t>
            </a:r>
            <a:r>
              <a:rPr lang="en-US" i="0" baseline="-25000" dirty="0">
                <a:latin typeface="+mn-lt"/>
              </a:rPr>
              <a:t>0</a:t>
            </a:r>
            <a:r>
              <a:rPr lang="en-US" i="0" dirty="0">
                <a:latin typeface="+mn-lt"/>
              </a:rPr>
              <a:t>) </a:t>
            </a:r>
          </a:p>
        </p:txBody>
      </p:sp>
      <p:sp>
        <p:nvSpPr>
          <p:cNvPr id="29704" name="TextBox 9"/>
          <p:cNvSpPr txBox="1">
            <a:spLocks noChangeArrowheads="1"/>
          </p:cNvSpPr>
          <p:nvPr/>
        </p:nvSpPr>
        <p:spPr bwMode="auto">
          <a:xfrm>
            <a:off x="2209800" y="228600"/>
            <a:ext cx="60960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eaLnBrk="1" hangingPunct="1">
              <a:spcBef>
                <a:spcPct val="0"/>
              </a:spcBef>
              <a:buClrTx/>
              <a:buSzTx/>
              <a:buFontTx/>
              <a:buNone/>
            </a:pPr>
            <a:r>
              <a:rPr lang="en-US" altLang="en-US" sz="2400" dirty="0">
                <a:cs typeface="Arial" charset="0"/>
              </a:rPr>
              <a:t>Assume the value of the test statistic t is t</a:t>
            </a:r>
            <a:r>
              <a:rPr lang="en-US" altLang="en-US" sz="2400" baseline="-25000" dirty="0">
                <a:cs typeface="Arial" charset="0"/>
              </a:rPr>
              <a:t>0</a:t>
            </a:r>
            <a:endParaRPr lang="en-US" altLang="en-US" sz="2400" dirty="0">
              <a:cs typeface="Arial" charset="0"/>
            </a:endParaRPr>
          </a:p>
        </p:txBody>
      </p:sp>
      <p:sp>
        <p:nvSpPr>
          <p:cNvPr id="11" name="TextBox 10"/>
          <p:cNvSpPr txBox="1"/>
          <p:nvPr/>
        </p:nvSpPr>
        <p:spPr>
          <a:xfrm>
            <a:off x="152400" y="2971800"/>
            <a:ext cx="5334000" cy="461665"/>
          </a:xfrm>
          <a:prstGeom prst="rect">
            <a:avLst/>
          </a:prstGeom>
          <a:noFill/>
        </p:spPr>
        <p:txBody>
          <a:bodyPr wrap="square">
            <a:spAutoFit/>
          </a:bodyPr>
          <a:lstStyle/>
          <a:p>
            <a:pPr>
              <a:defRPr/>
            </a:pPr>
            <a:r>
              <a:rPr lang="en-US" i="0" dirty="0">
                <a:latin typeface="+mn-lt"/>
              </a:rPr>
              <a:t>If H</a:t>
            </a:r>
            <a:r>
              <a:rPr lang="en-US" i="0" baseline="-25000" dirty="0">
                <a:latin typeface="+mn-lt"/>
              </a:rPr>
              <a:t>A</a:t>
            </a:r>
            <a:r>
              <a:rPr lang="en-US" i="0" dirty="0">
                <a:latin typeface="+mn-lt"/>
              </a:rPr>
              <a:t>: </a:t>
            </a:r>
            <a:r>
              <a:rPr lang="en-US" i="0" dirty="0">
                <a:sym typeface="Symbol"/>
              </a:rPr>
              <a:t></a:t>
            </a:r>
            <a:r>
              <a:rPr lang="en-US" i="0" dirty="0">
                <a:latin typeface="+mn-lt"/>
              </a:rPr>
              <a:t> &lt; </a:t>
            </a:r>
            <a:r>
              <a:rPr lang="en-US" i="0" dirty="0">
                <a:sym typeface="Symbol"/>
              </a:rPr>
              <a:t></a:t>
            </a:r>
            <a:r>
              <a:rPr lang="en-US" i="0" baseline="-25000" dirty="0">
                <a:latin typeface="+mn-lt"/>
              </a:rPr>
              <a:t>0</a:t>
            </a:r>
            <a:r>
              <a:rPr lang="en-US" i="0" dirty="0">
                <a:latin typeface="+mn-lt"/>
              </a:rPr>
              <a:t>, then P-value=P(t &lt; </a:t>
            </a:r>
            <a:r>
              <a:rPr lang="en-US" i="0" dirty="0">
                <a:latin typeface="+mn-lt"/>
                <a:sym typeface="Symbol"/>
              </a:rPr>
              <a:t>t</a:t>
            </a:r>
            <a:r>
              <a:rPr lang="en-US" i="0" baseline="-25000" dirty="0">
                <a:latin typeface="+mn-lt"/>
              </a:rPr>
              <a:t>0</a:t>
            </a:r>
            <a:r>
              <a:rPr lang="en-US" i="0" dirty="0">
                <a:latin typeface="+mn-lt"/>
              </a:rPr>
              <a:t>)</a:t>
            </a:r>
          </a:p>
        </p:txBody>
      </p:sp>
      <p:sp>
        <p:nvSpPr>
          <p:cNvPr id="14" name="TextBox 13"/>
          <p:cNvSpPr txBox="1"/>
          <p:nvPr/>
        </p:nvSpPr>
        <p:spPr>
          <a:xfrm>
            <a:off x="152400" y="4648200"/>
            <a:ext cx="5410200" cy="430887"/>
          </a:xfrm>
          <a:prstGeom prst="rect">
            <a:avLst/>
          </a:prstGeom>
          <a:noFill/>
        </p:spPr>
        <p:txBody>
          <a:bodyPr wrap="square">
            <a:spAutoFit/>
          </a:bodyPr>
          <a:lstStyle/>
          <a:p>
            <a:pPr>
              <a:defRPr/>
            </a:pPr>
            <a:r>
              <a:rPr lang="en-US" sz="2200" i="0" dirty="0">
                <a:latin typeface="+mn-lt"/>
              </a:rPr>
              <a:t>If H</a:t>
            </a:r>
            <a:r>
              <a:rPr lang="en-US" sz="2200" i="0" baseline="-25000" dirty="0">
                <a:latin typeface="+mn-lt"/>
              </a:rPr>
              <a:t>A</a:t>
            </a:r>
            <a:r>
              <a:rPr lang="en-US" sz="2200" i="0" dirty="0">
                <a:latin typeface="+mn-lt"/>
              </a:rPr>
              <a:t>: </a:t>
            </a:r>
            <a:r>
              <a:rPr lang="en-US" sz="2200" i="0" dirty="0">
                <a:sym typeface="Symbol"/>
              </a:rPr>
              <a:t></a:t>
            </a:r>
            <a:r>
              <a:rPr lang="en-US" sz="2200" i="0" dirty="0">
                <a:latin typeface="+mn-lt"/>
              </a:rPr>
              <a:t> ≠ </a:t>
            </a:r>
            <a:r>
              <a:rPr lang="en-US" sz="2200" i="0" dirty="0">
                <a:sym typeface="Symbol"/>
              </a:rPr>
              <a:t></a:t>
            </a:r>
            <a:r>
              <a:rPr lang="en-US" sz="2200" i="0" baseline="-25000" dirty="0">
                <a:latin typeface="+mn-lt"/>
              </a:rPr>
              <a:t>0</a:t>
            </a:r>
            <a:r>
              <a:rPr lang="en-US" sz="2200" i="0" dirty="0">
                <a:latin typeface="+mn-lt"/>
              </a:rPr>
              <a:t>, then P-value=2P(t &gt; |t</a:t>
            </a:r>
            <a:r>
              <a:rPr lang="en-US" sz="2200" i="0" baseline="-25000" dirty="0">
                <a:latin typeface="+mn-lt"/>
              </a:rPr>
              <a:t>0</a:t>
            </a:r>
            <a:r>
              <a:rPr lang="en-US" sz="2200" i="0" dirty="0">
                <a:latin typeface="+mn-lt"/>
              </a:rPr>
              <a:t>|)</a:t>
            </a:r>
          </a:p>
        </p:txBody>
      </p:sp>
      <p:pic>
        <p:nvPicPr>
          <p:cNvPr id="2970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62600" y="762000"/>
            <a:ext cx="2819400" cy="1681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08"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62600" y="2590800"/>
            <a:ext cx="2819400" cy="1684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09"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38800" y="4572000"/>
            <a:ext cx="2743200" cy="1643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transition spd="slow">
    <p:pull dir="lu"/>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81346" name="Rectangle 2"/>
          <p:cNvSpPr>
            <a:spLocks noGrp="1" noChangeArrowheads="1"/>
          </p:cNvSpPr>
          <p:nvPr>
            <p:ph type="body" sz="half" idx="4294967295"/>
          </p:nvPr>
        </p:nvSpPr>
        <p:spPr>
          <a:xfrm>
            <a:off x="0" y="304800"/>
            <a:ext cx="7315200" cy="1371600"/>
          </a:xfrm>
        </p:spPr>
        <p:txBody>
          <a:bodyPr/>
          <a:lstStyle/>
          <a:p>
            <a:pPr marL="0" indent="0" eaLnBrk="1" hangingPunct="1">
              <a:lnSpc>
                <a:spcPct val="120000"/>
              </a:lnSpc>
              <a:spcBef>
                <a:spcPct val="0"/>
              </a:spcBef>
              <a:buFont typeface="Wingdings" charset="2"/>
              <a:buNone/>
            </a:pPr>
            <a:r>
              <a:rPr lang="en-US" altLang="en-US" sz="1800" dirty="0" smtClean="0">
                <a:solidFill>
                  <a:srgbClr val="333399"/>
                </a:solidFill>
                <a:cs typeface="Times New Roman" pitchFamily="18" charset="0"/>
              </a:rPr>
              <a:t>Sweetening colas (continued)</a:t>
            </a:r>
          </a:p>
          <a:p>
            <a:pPr marL="0" indent="0" eaLnBrk="1" hangingPunct="1">
              <a:lnSpc>
                <a:spcPct val="150000"/>
              </a:lnSpc>
              <a:spcBef>
                <a:spcPct val="0"/>
              </a:spcBef>
              <a:spcAft>
                <a:spcPct val="50000"/>
              </a:spcAft>
              <a:buFont typeface="Wingdings" charset="2"/>
              <a:buNone/>
            </a:pPr>
            <a:r>
              <a:rPr lang="en-US" altLang="en-US" sz="1800" dirty="0" smtClean="0">
                <a:cs typeface="Times New Roman" pitchFamily="18" charset="0"/>
              </a:rPr>
              <a:t>Is there evidence that storage results in sweetness loss in colas?</a:t>
            </a:r>
            <a:br>
              <a:rPr lang="en-US" altLang="en-US" sz="1800" dirty="0" smtClean="0">
                <a:cs typeface="Times New Roman" pitchFamily="18" charset="0"/>
              </a:rPr>
            </a:br>
            <a:r>
              <a:rPr lang="en-US" altLang="en-US" sz="1800" dirty="0" smtClean="0">
                <a:cs typeface="Times New Roman" pitchFamily="18" charset="0"/>
              </a:rPr>
              <a:t>H</a:t>
            </a:r>
            <a:r>
              <a:rPr lang="en-US" altLang="en-US" sz="1800" baseline="-25000" dirty="0" smtClean="0">
                <a:cs typeface="Times New Roman" pitchFamily="18" charset="0"/>
              </a:rPr>
              <a:t>0</a:t>
            </a:r>
            <a:r>
              <a:rPr lang="en-US" altLang="en-US" sz="1800" dirty="0" smtClean="0">
                <a:cs typeface="Times New Roman" pitchFamily="18" charset="0"/>
              </a:rPr>
              <a:t>: </a:t>
            </a:r>
            <a:r>
              <a:rPr lang="en-US" altLang="en-US" sz="1800" dirty="0" smtClean="0">
                <a:cs typeface="Times New Roman" pitchFamily="18" charset="0"/>
                <a:sym typeface="Symbol" charset="2"/>
              </a:rPr>
              <a:t></a:t>
            </a:r>
            <a:r>
              <a:rPr lang="en-US" altLang="en-US" sz="1800" dirty="0" smtClean="0">
                <a:cs typeface="Times New Roman" pitchFamily="18" charset="0"/>
              </a:rPr>
              <a:t> = </a:t>
            </a:r>
            <a:r>
              <a:rPr lang="en-US" altLang="en-US" sz="1800" dirty="0" smtClean="0">
                <a:cs typeface="Times New Roman" pitchFamily="18" charset="0"/>
                <a:sym typeface="Symbol" charset="2"/>
              </a:rPr>
              <a:t>0</a:t>
            </a:r>
            <a:r>
              <a:rPr lang="en-US" altLang="en-US" sz="1800" dirty="0" smtClean="0">
                <a:cs typeface="Times New Roman" pitchFamily="18" charset="0"/>
              </a:rPr>
              <a:t> versus H</a:t>
            </a:r>
            <a:r>
              <a:rPr lang="en-US" altLang="en-US" sz="1800" baseline="-25000" dirty="0" smtClean="0">
                <a:cs typeface="Times New Roman" pitchFamily="18" charset="0"/>
              </a:rPr>
              <a:t>a</a:t>
            </a:r>
            <a:r>
              <a:rPr lang="en-US" altLang="en-US" sz="1800" dirty="0" smtClean="0">
                <a:cs typeface="Times New Roman" pitchFamily="18" charset="0"/>
              </a:rPr>
              <a:t>: </a:t>
            </a:r>
            <a:r>
              <a:rPr lang="en-US" altLang="en-US" sz="1800" dirty="0" smtClean="0">
                <a:cs typeface="Times New Roman" pitchFamily="18" charset="0"/>
                <a:sym typeface="Symbol" charset="2"/>
              </a:rPr>
              <a:t></a:t>
            </a:r>
            <a:r>
              <a:rPr lang="en-US" altLang="en-US" sz="1800" dirty="0" smtClean="0">
                <a:cs typeface="Times New Roman" pitchFamily="18" charset="0"/>
              </a:rPr>
              <a:t> &gt; </a:t>
            </a:r>
            <a:r>
              <a:rPr lang="en-US" altLang="en-US" sz="1800" dirty="0" smtClean="0">
                <a:cs typeface="Times New Roman" pitchFamily="18" charset="0"/>
                <a:sym typeface="Symbol" charset="2"/>
              </a:rPr>
              <a:t>0 (one-sided test)</a:t>
            </a:r>
            <a:endParaRPr lang="en-US" altLang="en-US" sz="1600" dirty="0" smtClean="0">
              <a:cs typeface="Times New Roman" pitchFamily="18" charset="0"/>
            </a:endParaRPr>
          </a:p>
          <a:p>
            <a:pPr marL="571500" lvl="1" eaLnBrk="1" hangingPunct="1">
              <a:lnSpc>
                <a:spcPct val="120000"/>
              </a:lnSpc>
              <a:spcAft>
                <a:spcPct val="50000"/>
              </a:spcAft>
              <a:buFont typeface="Verdana" pitchFamily="34" charset="0"/>
              <a:buNone/>
            </a:pPr>
            <a:endParaRPr lang="en-US" altLang="en-US" sz="1600" dirty="0" smtClean="0">
              <a:cs typeface="Times New Roman" pitchFamily="18" charset="0"/>
            </a:endParaRPr>
          </a:p>
        </p:txBody>
      </p:sp>
      <p:graphicFrame>
        <p:nvGraphicFramePr>
          <p:cNvPr id="30724" name="Rectangle 7"/>
          <p:cNvGraphicFramePr>
            <a:graphicFrameLocks noGrp="1"/>
          </p:cNvGraphicFramePr>
          <p:nvPr>
            <p:ph sz="quarter" idx="4294967295"/>
          </p:nvPr>
        </p:nvGraphicFramePr>
        <p:xfrm>
          <a:off x="5143500" y="3962400"/>
          <a:ext cx="4000500" cy="2667000"/>
        </p:xfrm>
        <a:graphic>
          <a:graphicData uri="http://schemas.openxmlformats.org/presentationml/2006/ole">
            <mc:AlternateContent xmlns:mc="http://schemas.openxmlformats.org/markup-compatibility/2006">
              <mc:Choice xmlns:v="urn:schemas-microsoft-com:vml" Requires="v">
                <p:oleObj spid="_x0000_s30851" name="Equation" r:id="rId4" imgW="0" imgH="0" progId="Equation.BREE4">
                  <p:embed/>
                </p:oleObj>
              </mc:Choice>
              <mc:Fallback>
                <p:oleObj name="Equation" r:id="rId4" imgW="0" imgH="0" progId="Equation.BREE4">
                  <p:embed/>
                  <p:pic>
                    <p:nvPicPr>
                      <p:cNvPr id="0" name="Rectangle 7"/>
                      <p:cNvPicPr>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5143500" y="3962400"/>
                        <a:ext cx="4000500" cy="2667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723" name="Text Box 3"/>
          <p:cNvSpPr txBox="1">
            <a:spLocks noChangeArrowheads="1"/>
          </p:cNvSpPr>
          <p:nvPr/>
        </p:nvSpPr>
        <p:spPr bwMode="auto">
          <a:xfrm>
            <a:off x="6172200" y="1524000"/>
            <a:ext cx="2927350" cy="283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eaLnBrk="1" hangingPunct="1">
              <a:spcBef>
                <a:spcPct val="0"/>
              </a:spcBef>
              <a:buClrTx/>
              <a:buSzTx/>
              <a:buFontTx/>
              <a:buNone/>
            </a:pPr>
            <a:r>
              <a:rPr lang="en-US" altLang="en-US" sz="1200" dirty="0">
                <a:cs typeface="Arial" charset="0"/>
              </a:rPr>
              <a:t> </a:t>
            </a:r>
            <a:r>
              <a:rPr lang="en-US" altLang="en-US" sz="1200" b="1" dirty="0">
                <a:cs typeface="Arial" charset="0"/>
              </a:rPr>
              <a:t>Taster	      Sweetness loss</a:t>
            </a:r>
            <a:endParaRPr lang="en-US" altLang="en-US" sz="1200" dirty="0">
              <a:cs typeface="Arial" charset="0"/>
            </a:endParaRPr>
          </a:p>
          <a:p>
            <a:pPr eaLnBrk="1" hangingPunct="1">
              <a:spcBef>
                <a:spcPct val="0"/>
              </a:spcBef>
              <a:buClrTx/>
              <a:buSzTx/>
              <a:buFontTx/>
              <a:buNone/>
            </a:pPr>
            <a:r>
              <a:rPr lang="en-US" altLang="en-US" sz="1200" dirty="0">
                <a:cs typeface="Arial" charset="0"/>
              </a:rPr>
              <a:t> 1		   2.0	</a:t>
            </a:r>
          </a:p>
          <a:p>
            <a:pPr eaLnBrk="1" hangingPunct="1">
              <a:spcBef>
                <a:spcPct val="0"/>
              </a:spcBef>
              <a:buClrTx/>
              <a:buSzTx/>
              <a:buFontTx/>
              <a:buNone/>
            </a:pPr>
            <a:r>
              <a:rPr lang="en-US" altLang="en-US" sz="1200" dirty="0">
                <a:cs typeface="Arial" charset="0"/>
              </a:rPr>
              <a:t> 2		   0.4	</a:t>
            </a:r>
          </a:p>
          <a:p>
            <a:pPr eaLnBrk="1" hangingPunct="1">
              <a:spcBef>
                <a:spcPct val="0"/>
              </a:spcBef>
              <a:buClrTx/>
              <a:buSzTx/>
              <a:buFontTx/>
              <a:buNone/>
            </a:pPr>
            <a:r>
              <a:rPr lang="en-US" altLang="en-US" sz="1200" dirty="0">
                <a:cs typeface="Arial" charset="0"/>
              </a:rPr>
              <a:t> 3		   0.7	</a:t>
            </a:r>
          </a:p>
          <a:p>
            <a:pPr eaLnBrk="1" hangingPunct="1">
              <a:spcBef>
                <a:spcPct val="0"/>
              </a:spcBef>
              <a:buClrTx/>
              <a:buSzTx/>
              <a:buFontTx/>
              <a:buNone/>
            </a:pPr>
            <a:r>
              <a:rPr lang="en-US" altLang="en-US" sz="1200" dirty="0">
                <a:cs typeface="Arial" charset="0"/>
              </a:rPr>
              <a:t> 4		   2.0	</a:t>
            </a:r>
          </a:p>
          <a:p>
            <a:pPr eaLnBrk="1" hangingPunct="1">
              <a:spcBef>
                <a:spcPct val="0"/>
              </a:spcBef>
              <a:buClrTx/>
              <a:buSzTx/>
              <a:buFontTx/>
              <a:buNone/>
            </a:pPr>
            <a:r>
              <a:rPr lang="en-US" altLang="en-US" sz="1200" dirty="0">
                <a:cs typeface="Arial" charset="0"/>
              </a:rPr>
              <a:t> 5		  -0.4	</a:t>
            </a:r>
          </a:p>
          <a:p>
            <a:pPr eaLnBrk="1" hangingPunct="1">
              <a:spcBef>
                <a:spcPct val="0"/>
              </a:spcBef>
              <a:buClrTx/>
              <a:buSzTx/>
              <a:buFontTx/>
              <a:buNone/>
            </a:pPr>
            <a:r>
              <a:rPr lang="en-US" altLang="en-US" sz="1200" dirty="0">
                <a:cs typeface="Arial" charset="0"/>
              </a:rPr>
              <a:t> 6		   2.2	</a:t>
            </a:r>
          </a:p>
          <a:p>
            <a:pPr eaLnBrk="1" hangingPunct="1">
              <a:spcBef>
                <a:spcPct val="0"/>
              </a:spcBef>
              <a:buClrTx/>
              <a:buSzTx/>
              <a:buFontTx/>
              <a:buNone/>
            </a:pPr>
            <a:r>
              <a:rPr lang="en-US" altLang="en-US" sz="1200" dirty="0">
                <a:cs typeface="Arial" charset="0"/>
              </a:rPr>
              <a:t> 7		  -1.3	</a:t>
            </a:r>
          </a:p>
          <a:p>
            <a:pPr eaLnBrk="1" hangingPunct="1">
              <a:spcBef>
                <a:spcPct val="0"/>
              </a:spcBef>
              <a:buClrTx/>
              <a:buSzTx/>
              <a:buFontTx/>
              <a:buNone/>
            </a:pPr>
            <a:r>
              <a:rPr lang="en-US" altLang="en-US" sz="1200" dirty="0">
                <a:cs typeface="Arial" charset="0"/>
              </a:rPr>
              <a:t> 8		   1.2	</a:t>
            </a:r>
          </a:p>
          <a:p>
            <a:pPr eaLnBrk="1" hangingPunct="1">
              <a:spcBef>
                <a:spcPct val="0"/>
              </a:spcBef>
              <a:buClrTx/>
              <a:buSzTx/>
              <a:buFontTx/>
              <a:buNone/>
            </a:pPr>
            <a:r>
              <a:rPr lang="en-US" altLang="en-US" sz="1200" dirty="0">
                <a:cs typeface="Arial" charset="0"/>
              </a:rPr>
              <a:t> 9 		   1.1</a:t>
            </a:r>
          </a:p>
          <a:p>
            <a:pPr eaLnBrk="1" hangingPunct="1">
              <a:spcBef>
                <a:spcPct val="0"/>
              </a:spcBef>
              <a:buClrTx/>
              <a:buSzTx/>
              <a:buFontTx/>
              <a:buNone/>
            </a:pPr>
            <a:r>
              <a:rPr lang="en-US" altLang="en-US" sz="1200" dirty="0">
                <a:cs typeface="Arial" charset="0"/>
              </a:rPr>
              <a:t>10 		   2.3</a:t>
            </a:r>
          </a:p>
          <a:p>
            <a:pPr eaLnBrk="1" hangingPunct="1">
              <a:spcBef>
                <a:spcPct val="0"/>
              </a:spcBef>
              <a:buClrTx/>
              <a:buSzTx/>
              <a:buFontTx/>
              <a:buNone/>
            </a:pPr>
            <a:r>
              <a:rPr lang="en-US" altLang="en-US" sz="1200" dirty="0">
                <a:cs typeface="Arial" charset="0"/>
              </a:rPr>
              <a:t>___________________________</a:t>
            </a:r>
          </a:p>
          <a:p>
            <a:pPr eaLnBrk="1" hangingPunct="1">
              <a:spcBef>
                <a:spcPct val="0"/>
              </a:spcBef>
              <a:buClrTx/>
              <a:buSzTx/>
              <a:buFontTx/>
              <a:buNone/>
            </a:pPr>
            <a:r>
              <a:rPr lang="en-US" altLang="en-US" sz="1200" b="1" dirty="0">
                <a:cs typeface="Arial" charset="0"/>
              </a:rPr>
              <a:t>Average		  1.02</a:t>
            </a:r>
          </a:p>
          <a:p>
            <a:pPr eaLnBrk="1" hangingPunct="1">
              <a:spcBef>
                <a:spcPct val="0"/>
              </a:spcBef>
              <a:buClrTx/>
              <a:buSzTx/>
              <a:buFontTx/>
              <a:buNone/>
            </a:pPr>
            <a:r>
              <a:rPr lang="en-US" altLang="en-US" sz="1200" b="1" dirty="0">
                <a:cs typeface="Arial" charset="0"/>
              </a:rPr>
              <a:t>Standard deviation	  1.196</a:t>
            </a:r>
          </a:p>
          <a:p>
            <a:pPr eaLnBrk="1" hangingPunct="1">
              <a:spcBef>
                <a:spcPct val="0"/>
              </a:spcBef>
              <a:buClrTx/>
              <a:buSzTx/>
              <a:buFontTx/>
              <a:buNone/>
            </a:pPr>
            <a:r>
              <a:rPr lang="en-US" altLang="en-US" sz="1200" b="1" dirty="0">
                <a:cs typeface="Arial" charset="0"/>
              </a:rPr>
              <a:t>Degrees of freedom	  n − 1 = 9</a:t>
            </a:r>
          </a:p>
        </p:txBody>
      </p:sp>
      <p:pic>
        <p:nvPicPr>
          <p:cNvPr id="30725" name="Picture 8" descr="drink-cola"/>
          <p:cNvPicPr>
            <a:picLocks noChangeAspect="1" noChangeArrowheads="1"/>
          </p:cNvPicPr>
          <p:nvPr/>
        </p:nvPicPr>
        <p:blipFill>
          <a:blip r:embed="rId5">
            <a:clrChange>
              <a:clrFrom>
                <a:srgbClr val="FCFFFF"/>
              </a:clrFrom>
              <a:clrTo>
                <a:srgbClr val="FCFFFF">
                  <a:alpha val="0"/>
                </a:srgbClr>
              </a:clrTo>
            </a:clrChange>
            <a:extLst>
              <a:ext uri="{28A0092B-C50C-407E-A947-70E740481C1C}">
                <a14:useLocalDpi xmlns:a14="http://schemas.microsoft.com/office/drawing/2010/main" val="0"/>
              </a:ext>
            </a:extLst>
          </a:blip>
          <a:srcRect l="26250" t="5000" r="25000"/>
          <a:stretch>
            <a:fillRect/>
          </a:stretch>
        </p:blipFill>
        <p:spPr bwMode="auto">
          <a:xfrm>
            <a:off x="8153400" y="0"/>
            <a:ext cx="990600"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2" name="Table 11"/>
          <p:cNvGraphicFramePr>
            <a:graphicFrameLocks noGrp="1"/>
          </p:cNvGraphicFramePr>
          <p:nvPr/>
        </p:nvGraphicFramePr>
        <p:xfrm>
          <a:off x="0" y="3505200"/>
          <a:ext cx="6096000" cy="963612"/>
        </p:xfrm>
        <a:graphic>
          <a:graphicData uri="http://schemas.openxmlformats.org/drawingml/2006/table">
            <a:tbl>
              <a:tblPr/>
              <a:tblGrid>
                <a:gridCol w="864000"/>
                <a:gridCol w="576000"/>
                <a:gridCol w="576000"/>
                <a:gridCol w="576000"/>
                <a:gridCol w="576000"/>
                <a:gridCol w="624000"/>
                <a:gridCol w="576000"/>
                <a:gridCol w="576000"/>
                <a:gridCol w="576000"/>
                <a:gridCol w="576000"/>
              </a:tblGrid>
              <a:tr h="189120">
                <a:tc>
                  <a:txBody>
                    <a:bodyPr/>
                    <a:lstStyle/>
                    <a:p>
                      <a:pPr algn="l" fontAlgn="b"/>
                      <a:r>
                        <a:rPr lang="en-US" sz="1100" b="1" i="0" u="none" strike="noStrike" dirty="0">
                          <a:latin typeface="Arial"/>
                        </a:rPr>
                        <a:t>Conf. Level</a:t>
                      </a:r>
                    </a:p>
                  </a:txBody>
                  <a:tcPr marL="9000" marR="9000" marT="9006"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tcPr>
                </a:tc>
                <a:tc>
                  <a:txBody>
                    <a:bodyPr/>
                    <a:lstStyle/>
                    <a:p>
                      <a:pPr algn="r" fontAlgn="b"/>
                      <a:r>
                        <a:rPr lang="en-US" sz="1100" b="1" i="0" u="none" strike="noStrike" dirty="0">
                          <a:latin typeface="Arial"/>
                        </a:rPr>
                        <a:t>0.1</a:t>
                      </a:r>
                    </a:p>
                  </a:txBody>
                  <a:tcPr marL="9000" marR="9000" marT="9006"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b"/>
                      <a:r>
                        <a:rPr lang="en-US" sz="1100" b="1" i="0" u="none" strike="noStrike" dirty="0">
                          <a:latin typeface="Arial"/>
                        </a:rPr>
                        <a:t>0.3</a:t>
                      </a:r>
                    </a:p>
                  </a:txBody>
                  <a:tcPr marL="9000" marR="9000" marT="9006"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b"/>
                      <a:r>
                        <a:rPr lang="en-US" sz="1100" b="1" i="0" u="none" strike="noStrike" dirty="0">
                          <a:latin typeface="Arial"/>
                        </a:rPr>
                        <a:t>0.5</a:t>
                      </a:r>
                    </a:p>
                  </a:txBody>
                  <a:tcPr marL="9000" marR="9000" marT="9006"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b"/>
                      <a:r>
                        <a:rPr lang="en-US" sz="1100" b="1" i="0" u="none" strike="noStrike" dirty="0">
                          <a:latin typeface="Arial"/>
                        </a:rPr>
                        <a:t>0.7</a:t>
                      </a:r>
                    </a:p>
                  </a:txBody>
                  <a:tcPr marL="9000" marR="9000" marT="9006"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b"/>
                      <a:r>
                        <a:rPr lang="en-US" sz="1100" b="1" i="0" u="none" strike="noStrike" dirty="0">
                          <a:latin typeface="Arial"/>
                        </a:rPr>
                        <a:t>0.8</a:t>
                      </a:r>
                    </a:p>
                  </a:txBody>
                  <a:tcPr marL="9000" marR="9000" marT="9006"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b"/>
                      <a:r>
                        <a:rPr lang="en-US" sz="1100" b="1" i="0" u="none" strike="noStrike" dirty="0">
                          <a:latin typeface="Arial"/>
                        </a:rPr>
                        <a:t>0.9</a:t>
                      </a:r>
                    </a:p>
                  </a:txBody>
                  <a:tcPr marL="9000" marR="9000" marT="9006"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b"/>
                      <a:r>
                        <a:rPr lang="en-US" sz="1100" b="1" i="0" u="none" strike="noStrike" dirty="0">
                          <a:latin typeface="Arial"/>
                        </a:rPr>
                        <a:t>0.95</a:t>
                      </a:r>
                    </a:p>
                  </a:txBody>
                  <a:tcPr marL="9000" marR="9000" marT="9006"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b"/>
                      <a:r>
                        <a:rPr lang="en-US" sz="1100" b="1" i="0" u="none" strike="noStrike" dirty="0">
                          <a:latin typeface="Arial"/>
                        </a:rPr>
                        <a:t>0.98</a:t>
                      </a:r>
                    </a:p>
                  </a:txBody>
                  <a:tcPr marL="9000" marR="9000" marT="9006"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b"/>
                      <a:r>
                        <a:rPr lang="en-US" sz="1100" b="1" i="0" u="none" strike="noStrike" dirty="0">
                          <a:latin typeface="Arial"/>
                        </a:rPr>
                        <a:t>0.99</a:t>
                      </a:r>
                    </a:p>
                  </a:txBody>
                  <a:tcPr marL="9000" marR="9000" marT="9006"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r>
              <a:tr h="189120">
                <a:tc>
                  <a:txBody>
                    <a:bodyPr/>
                    <a:lstStyle/>
                    <a:p>
                      <a:pPr algn="l" fontAlgn="b"/>
                      <a:r>
                        <a:rPr lang="en-US" sz="1100" b="1" i="0" u="none" strike="noStrike" dirty="0">
                          <a:latin typeface="Arial"/>
                        </a:rPr>
                        <a:t>Two Tail</a:t>
                      </a:r>
                    </a:p>
                  </a:txBody>
                  <a:tcPr marL="9000" marR="9000" marT="9006" marB="0" anchor="b">
                    <a:lnL w="6350" cap="flat" cmpd="sng" algn="ctr">
                      <a:solidFill>
                        <a:srgbClr val="000000"/>
                      </a:solidFill>
                      <a:prstDash val="solid"/>
                      <a:round/>
                      <a:headEnd type="none" w="med" len="med"/>
                      <a:tailEnd type="none" w="med" len="med"/>
                    </a:lnL>
                    <a:lnR>
                      <a:noFill/>
                    </a:lnR>
                    <a:lnT>
                      <a:noFill/>
                    </a:lnT>
                    <a:lnB w="6350" cap="flat" cmpd="sng" algn="ctr">
                      <a:solidFill>
                        <a:srgbClr val="FF0000"/>
                      </a:solidFill>
                      <a:prstDash val="solid"/>
                      <a:round/>
                      <a:headEnd type="none" w="med" len="med"/>
                      <a:tailEnd type="none" w="med" len="med"/>
                    </a:lnB>
                  </a:tcPr>
                </a:tc>
                <a:tc>
                  <a:txBody>
                    <a:bodyPr/>
                    <a:lstStyle/>
                    <a:p>
                      <a:pPr algn="r" fontAlgn="b"/>
                      <a:r>
                        <a:rPr lang="en-US" sz="1100" b="1" i="0" u="none" strike="noStrike" dirty="0">
                          <a:latin typeface="Arial"/>
                        </a:rPr>
                        <a:t>0.9</a:t>
                      </a:r>
                    </a:p>
                  </a:txBody>
                  <a:tcPr marL="9000" marR="9000" marT="9006" marB="0" anchor="b">
                    <a:lnL>
                      <a:noFill/>
                    </a:lnL>
                    <a:lnR>
                      <a:noFill/>
                    </a:lnR>
                    <a:lnT>
                      <a:noFill/>
                    </a:lnT>
                    <a:lnB>
                      <a:noFill/>
                    </a:lnB>
                  </a:tcPr>
                </a:tc>
                <a:tc>
                  <a:txBody>
                    <a:bodyPr/>
                    <a:lstStyle/>
                    <a:p>
                      <a:pPr algn="r" fontAlgn="b"/>
                      <a:r>
                        <a:rPr lang="en-US" sz="1100" b="1" i="0" u="none" strike="noStrike" dirty="0">
                          <a:latin typeface="Arial"/>
                        </a:rPr>
                        <a:t>0.7</a:t>
                      </a:r>
                    </a:p>
                  </a:txBody>
                  <a:tcPr marL="9000" marR="9000" marT="9006" marB="0" anchor="b">
                    <a:lnL>
                      <a:noFill/>
                    </a:lnL>
                    <a:lnR>
                      <a:noFill/>
                    </a:lnR>
                    <a:lnT>
                      <a:noFill/>
                    </a:lnT>
                    <a:lnB>
                      <a:noFill/>
                    </a:lnB>
                  </a:tcPr>
                </a:tc>
                <a:tc>
                  <a:txBody>
                    <a:bodyPr/>
                    <a:lstStyle/>
                    <a:p>
                      <a:pPr algn="r" fontAlgn="b"/>
                      <a:r>
                        <a:rPr lang="en-US" sz="1100" b="1" i="0" u="none" strike="noStrike" dirty="0">
                          <a:latin typeface="Arial"/>
                        </a:rPr>
                        <a:t>0.5</a:t>
                      </a:r>
                    </a:p>
                  </a:txBody>
                  <a:tcPr marL="9000" marR="9000" marT="9006" marB="0" anchor="b">
                    <a:lnL>
                      <a:noFill/>
                    </a:lnL>
                    <a:lnR>
                      <a:noFill/>
                    </a:lnR>
                    <a:lnT>
                      <a:noFill/>
                    </a:lnT>
                    <a:lnB>
                      <a:noFill/>
                    </a:lnB>
                  </a:tcPr>
                </a:tc>
                <a:tc>
                  <a:txBody>
                    <a:bodyPr/>
                    <a:lstStyle/>
                    <a:p>
                      <a:pPr algn="r" fontAlgn="b"/>
                      <a:r>
                        <a:rPr lang="en-US" sz="1100" b="1" i="0" u="none" strike="noStrike" dirty="0">
                          <a:latin typeface="Arial"/>
                        </a:rPr>
                        <a:t>0.3</a:t>
                      </a:r>
                    </a:p>
                  </a:txBody>
                  <a:tcPr marL="9000" marR="9000" marT="9006" marB="0" anchor="b">
                    <a:lnL>
                      <a:noFill/>
                    </a:lnL>
                    <a:lnR>
                      <a:noFill/>
                    </a:lnR>
                    <a:lnT>
                      <a:noFill/>
                    </a:lnT>
                    <a:lnB>
                      <a:noFill/>
                    </a:lnB>
                  </a:tcPr>
                </a:tc>
                <a:tc>
                  <a:txBody>
                    <a:bodyPr/>
                    <a:lstStyle/>
                    <a:p>
                      <a:pPr algn="r" fontAlgn="b"/>
                      <a:r>
                        <a:rPr lang="en-US" sz="1100" b="1" i="0" u="none" strike="noStrike" dirty="0">
                          <a:latin typeface="Arial"/>
                        </a:rPr>
                        <a:t>0.2</a:t>
                      </a:r>
                    </a:p>
                  </a:txBody>
                  <a:tcPr marL="9000" marR="9000" marT="9006" marB="0" anchor="b">
                    <a:lnL>
                      <a:noFill/>
                    </a:lnL>
                    <a:lnR>
                      <a:noFill/>
                    </a:lnR>
                    <a:lnT>
                      <a:noFill/>
                    </a:lnT>
                    <a:lnB>
                      <a:noFill/>
                    </a:lnB>
                  </a:tcPr>
                </a:tc>
                <a:tc>
                  <a:txBody>
                    <a:bodyPr/>
                    <a:lstStyle/>
                    <a:p>
                      <a:pPr algn="r" fontAlgn="b"/>
                      <a:r>
                        <a:rPr lang="en-US" sz="1100" b="1" i="0" u="none" strike="noStrike" dirty="0">
                          <a:latin typeface="Arial"/>
                        </a:rPr>
                        <a:t>0.1</a:t>
                      </a:r>
                    </a:p>
                  </a:txBody>
                  <a:tcPr marL="9000" marR="9000" marT="9006" marB="0" anchor="b">
                    <a:lnL>
                      <a:noFill/>
                    </a:lnL>
                    <a:lnR>
                      <a:noFill/>
                    </a:lnR>
                    <a:lnT>
                      <a:noFill/>
                    </a:lnT>
                    <a:lnB>
                      <a:noFill/>
                    </a:lnB>
                  </a:tcPr>
                </a:tc>
                <a:tc>
                  <a:txBody>
                    <a:bodyPr/>
                    <a:lstStyle/>
                    <a:p>
                      <a:pPr algn="r" fontAlgn="b"/>
                      <a:r>
                        <a:rPr lang="en-US" sz="1100" b="1" i="0" u="none" strike="noStrike" dirty="0">
                          <a:latin typeface="Arial"/>
                        </a:rPr>
                        <a:t>0.05</a:t>
                      </a:r>
                    </a:p>
                  </a:txBody>
                  <a:tcPr marL="9000" marR="9000" marT="9006" marB="0" anchor="b">
                    <a:lnL>
                      <a:noFill/>
                    </a:lnL>
                    <a:lnR>
                      <a:noFill/>
                    </a:lnR>
                    <a:lnT>
                      <a:noFill/>
                    </a:lnT>
                    <a:lnB w="6350" cap="flat" cmpd="sng" algn="ctr">
                      <a:solidFill>
                        <a:srgbClr val="FF0000"/>
                      </a:solidFill>
                      <a:prstDash val="solid"/>
                      <a:round/>
                      <a:headEnd type="none" w="med" len="med"/>
                      <a:tailEnd type="none" w="med" len="med"/>
                    </a:lnB>
                  </a:tcPr>
                </a:tc>
                <a:tc>
                  <a:txBody>
                    <a:bodyPr/>
                    <a:lstStyle/>
                    <a:p>
                      <a:pPr algn="r" fontAlgn="b"/>
                      <a:r>
                        <a:rPr lang="en-US" sz="1100" b="1" i="0" u="none" strike="noStrike" dirty="0">
                          <a:latin typeface="Arial"/>
                        </a:rPr>
                        <a:t>0.02</a:t>
                      </a:r>
                    </a:p>
                  </a:txBody>
                  <a:tcPr marL="9000" marR="9000" marT="9006" marB="0" anchor="b">
                    <a:lnL>
                      <a:noFill/>
                    </a:lnL>
                    <a:lnR>
                      <a:noFill/>
                    </a:lnR>
                    <a:lnT>
                      <a:noFill/>
                    </a:lnT>
                    <a:lnB w="6350" cap="flat" cmpd="sng" algn="ctr">
                      <a:solidFill>
                        <a:srgbClr val="FF0000"/>
                      </a:solidFill>
                      <a:prstDash val="solid"/>
                      <a:round/>
                      <a:headEnd type="none" w="med" len="med"/>
                      <a:tailEnd type="none" w="med" len="med"/>
                    </a:lnB>
                  </a:tcPr>
                </a:tc>
                <a:tc>
                  <a:txBody>
                    <a:bodyPr/>
                    <a:lstStyle/>
                    <a:p>
                      <a:pPr algn="r" fontAlgn="b"/>
                      <a:r>
                        <a:rPr lang="en-US" sz="1100" b="1" i="0" u="none" strike="noStrike" dirty="0">
                          <a:latin typeface="Arial"/>
                        </a:rPr>
                        <a:t>0.01</a:t>
                      </a:r>
                    </a:p>
                  </a:txBody>
                  <a:tcPr marL="9000" marR="9000" marT="9006" marB="0" anchor="b">
                    <a:lnL>
                      <a:noFill/>
                    </a:lnL>
                    <a:lnR w="6350" cap="flat" cmpd="sng" algn="ctr">
                      <a:solidFill>
                        <a:srgbClr val="000000"/>
                      </a:solidFill>
                      <a:prstDash val="solid"/>
                      <a:round/>
                      <a:headEnd type="none" w="med" len="med"/>
                      <a:tailEnd type="none" w="med" len="med"/>
                    </a:lnR>
                    <a:lnT>
                      <a:noFill/>
                    </a:lnT>
                    <a:lnB>
                      <a:noFill/>
                    </a:lnB>
                  </a:tcPr>
                </a:tc>
              </a:tr>
              <a:tr h="198126">
                <a:tc>
                  <a:txBody>
                    <a:bodyPr/>
                    <a:lstStyle/>
                    <a:p>
                      <a:pPr algn="l" fontAlgn="b"/>
                      <a:r>
                        <a:rPr lang="en-US" sz="1100" b="1" i="0" u="none" strike="noStrike" dirty="0">
                          <a:latin typeface="Arial"/>
                        </a:rPr>
                        <a:t>One Tail</a:t>
                      </a:r>
                    </a:p>
                  </a:txBody>
                  <a:tcPr marL="9000" marR="9000" marT="9006" marB="0" anchor="b">
                    <a:lnL w="6350" cap="flat" cmpd="sng" algn="ctr">
                      <a:solidFill>
                        <a:srgbClr val="FF0000"/>
                      </a:solidFill>
                      <a:prstDash val="solid"/>
                      <a:round/>
                      <a:headEnd type="none" w="med" len="med"/>
                      <a:tailEnd type="none" w="med" len="med"/>
                    </a:lnL>
                    <a:lnR w="6350" cap="flat" cmpd="sng" algn="ctr">
                      <a:solidFill>
                        <a:srgbClr val="FF0000"/>
                      </a:solidFill>
                      <a:prstDash val="solid"/>
                      <a:round/>
                      <a:headEnd type="none" w="med" len="med"/>
                      <a:tailEnd type="none" w="med" len="med"/>
                    </a:lnR>
                    <a:lnT w="6350" cap="flat" cmpd="sng" algn="ctr">
                      <a:solidFill>
                        <a:srgbClr val="FF0000"/>
                      </a:solidFill>
                      <a:prstDash val="solid"/>
                      <a:round/>
                      <a:headEnd type="none" w="med" len="med"/>
                      <a:tailEnd type="none" w="med" len="med"/>
                    </a:lnT>
                    <a:lnB w="25400" cap="flat" cmpd="dbl" algn="ctr">
                      <a:solidFill>
                        <a:srgbClr val="000000"/>
                      </a:solidFill>
                      <a:prstDash val="solid"/>
                      <a:round/>
                      <a:headEnd type="none" w="med" len="med"/>
                      <a:tailEnd type="none" w="med" len="med"/>
                    </a:lnB>
                  </a:tcPr>
                </a:tc>
                <a:tc>
                  <a:txBody>
                    <a:bodyPr/>
                    <a:lstStyle/>
                    <a:p>
                      <a:pPr algn="r" fontAlgn="b"/>
                      <a:r>
                        <a:rPr lang="en-US" sz="1100" b="1" i="0" u="none" strike="noStrike" dirty="0">
                          <a:latin typeface="Arial"/>
                        </a:rPr>
                        <a:t>0.45</a:t>
                      </a:r>
                    </a:p>
                  </a:txBody>
                  <a:tcPr marL="9000" marR="9000" marT="9006" marB="0" anchor="b">
                    <a:lnL w="6350" cap="flat" cmpd="sng" algn="ctr">
                      <a:solidFill>
                        <a:srgbClr val="FF0000"/>
                      </a:solidFill>
                      <a:prstDash val="solid"/>
                      <a:round/>
                      <a:headEnd type="none" w="med" len="med"/>
                      <a:tailEnd type="none" w="med" len="med"/>
                    </a:lnL>
                    <a:lnR>
                      <a:noFill/>
                    </a:lnR>
                    <a:lnT>
                      <a:noFill/>
                    </a:lnT>
                    <a:lnB w="25400" cap="flat" cmpd="dbl" algn="ctr">
                      <a:solidFill>
                        <a:srgbClr val="000000"/>
                      </a:solidFill>
                      <a:prstDash val="solid"/>
                      <a:round/>
                      <a:headEnd type="none" w="med" len="med"/>
                      <a:tailEnd type="none" w="med" len="med"/>
                    </a:lnB>
                  </a:tcPr>
                </a:tc>
                <a:tc>
                  <a:txBody>
                    <a:bodyPr/>
                    <a:lstStyle/>
                    <a:p>
                      <a:pPr algn="r" fontAlgn="b"/>
                      <a:r>
                        <a:rPr lang="en-US" sz="1100" b="1" i="0" u="none" strike="noStrike" dirty="0">
                          <a:latin typeface="Arial"/>
                        </a:rPr>
                        <a:t>0.35</a:t>
                      </a:r>
                    </a:p>
                  </a:txBody>
                  <a:tcPr marL="9000" marR="9000" marT="9006" marB="0" anchor="b">
                    <a:lnL>
                      <a:noFill/>
                    </a:lnL>
                    <a:lnR>
                      <a:noFill/>
                    </a:lnR>
                    <a:lnT>
                      <a:noFill/>
                    </a:lnT>
                    <a:lnB w="25400" cap="flat" cmpd="dbl" algn="ctr">
                      <a:solidFill>
                        <a:srgbClr val="000000"/>
                      </a:solidFill>
                      <a:prstDash val="solid"/>
                      <a:round/>
                      <a:headEnd type="none" w="med" len="med"/>
                      <a:tailEnd type="none" w="med" len="med"/>
                    </a:lnB>
                  </a:tcPr>
                </a:tc>
                <a:tc>
                  <a:txBody>
                    <a:bodyPr/>
                    <a:lstStyle/>
                    <a:p>
                      <a:pPr algn="r" fontAlgn="b"/>
                      <a:r>
                        <a:rPr lang="en-US" sz="1100" b="1" i="0" u="none" strike="noStrike" dirty="0">
                          <a:latin typeface="Arial"/>
                        </a:rPr>
                        <a:t>0.25</a:t>
                      </a:r>
                    </a:p>
                  </a:txBody>
                  <a:tcPr marL="9000" marR="9000" marT="9006" marB="0" anchor="b">
                    <a:lnL>
                      <a:noFill/>
                    </a:lnL>
                    <a:lnR>
                      <a:noFill/>
                    </a:lnR>
                    <a:lnT>
                      <a:noFill/>
                    </a:lnT>
                    <a:lnB w="25400" cap="flat" cmpd="dbl" algn="ctr">
                      <a:solidFill>
                        <a:srgbClr val="000000"/>
                      </a:solidFill>
                      <a:prstDash val="solid"/>
                      <a:round/>
                      <a:headEnd type="none" w="med" len="med"/>
                      <a:tailEnd type="none" w="med" len="med"/>
                    </a:lnB>
                  </a:tcPr>
                </a:tc>
                <a:tc>
                  <a:txBody>
                    <a:bodyPr/>
                    <a:lstStyle/>
                    <a:p>
                      <a:pPr algn="r" fontAlgn="b"/>
                      <a:r>
                        <a:rPr lang="en-US" sz="1100" b="1" i="0" u="none" strike="noStrike" dirty="0">
                          <a:latin typeface="Arial"/>
                        </a:rPr>
                        <a:t>0.15</a:t>
                      </a:r>
                    </a:p>
                  </a:txBody>
                  <a:tcPr marL="9000" marR="9000" marT="9006" marB="0" anchor="b">
                    <a:lnL>
                      <a:noFill/>
                    </a:lnL>
                    <a:lnR>
                      <a:noFill/>
                    </a:lnR>
                    <a:lnT>
                      <a:noFill/>
                    </a:lnT>
                    <a:lnB w="25400" cap="flat" cmpd="dbl" algn="ctr">
                      <a:solidFill>
                        <a:srgbClr val="000000"/>
                      </a:solidFill>
                      <a:prstDash val="solid"/>
                      <a:round/>
                      <a:headEnd type="none" w="med" len="med"/>
                      <a:tailEnd type="none" w="med" len="med"/>
                    </a:lnB>
                  </a:tcPr>
                </a:tc>
                <a:tc>
                  <a:txBody>
                    <a:bodyPr/>
                    <a:lstStyle/>
                    <a:p>
                      <a:pPr algn="r" fontAlgn="b"/>
                      <a:r>
                        <a:rPr lang="en-US" sz="1100" b="1" i="0" u="none" strike="noStrike" dirty="0">
                          <a:latin typeface="Arial"/>
                        </a:rPr>
                        <a:t>0.1</a:t>
                      </a:r>
                    </a:p>
                  </a:txBody>
                  <a:tcPr marL="9000" marR="9000" marT="9006" marB="0" anchor="b">
                    <a:lnL>
                      <a:noFill/>
                    </a:lnL>
                    <a:lnR>
                      <a:noFill/>
                    </a:lnR>
                    <a:lnT>
                      <a:noFill/>
                    </a:lnT>
                    <a:lnB w="25400" cap="flat" cmpd="dbl" algn="ctr">
                      <a:solidFill>
                        <a:srgbClr val="000000"/>
                      </a:solidFill>
                      <a:prstDash val="solid"/>
                      <a:round/>
                      <a:headEnd type="none" w="med" len="med"/>
                      <a:tailEnd type="none" w="med" len="med"/>
                    </a:lnB>
                  </a:tcPr>
                </a:tc>
                <a:tc>
                  <a:txBody>
                    <a:bodyPr/>
                    <a:lstStyle/>
                    <a:p>
                      <a:pPr algn="r" fontAlgn="b"/>
                      <a:r>
                        <a:rPr lang="en-US" sz="1100" b="1" i="0" u="none" strike="noStrike" dirty="0">
                          <a:latin typeface="Arial"/>
                        </a:rPr>
                        <a:t>0.05</a:t>
                      </a:r>
                    </a:p>
                  </a:txBody>
                  <a:tcPr marL="9000" marR="9000" marT="9006" marB="0" anchor="b">
                    <a:lnL>
                      <a:noFill/>
                    </a:lnL>
                    <a:lnR w="6350" cap="flat" cmpd="sng" algn="ctr">
                      <a:solidFill>
                        <a:srgbClr val="FF0000"/>
                      </a:solidFill>
                      <a:prstDash val="solid"/>
                      <a:round/>
                      <a:headEnd type="none" w="med" len="med"/>
                      <a:tailEnd type="none" w="med" len="med"/>
                    </a:lnR>
                    <a:lnT>
                      <a:noFill/>
                    </a:lnT>
                    <a:lnB w="25400" cap="flat" cmpd="dbl" algn="ctr">
                      <a:solidFill>
                        <a:srgbClr val="000000"/>
                      </a:solidFill>
                      <a:prstDash val="solid"/>
                      <a:round/>
                      <a:headEnd type="none" w="med" len="med"/>
                      <a:tailEnd type="none" w="med" len="med"/>
                    </a:lnB>
                  </a:tcPr>
                </a:tc>
                <a:tc>
                  <a:txBody>
                    <a:bodyPr/>
                    <a:lstStyle/>
                    <a:p>
                      <a:pPr algn="r" fontAlgn="b"/>
                      <a:r>
                        <a:rPr lang="en-US" sz="1100" b="1" i="0" u="none" strike="noStrike" dirty="0">
                          <a:latin typeface="Arial"/>
                        </a:rPr>
                        <a:t>0.025</a:t>
                      </a:r>
                    </a:p>
                  </a:txBody>
                  <a:tcPr marL="9000" marR="9000" marT="9006" marB="0" anchor="b">
                    <a:lnL w="6350" cap="flat" cmpd="sng" algn="ctr">
                      <a:solidFill>
                        <a:srgbClr val="FF0000"/>
                      </a:solidFill>
                      <a:prstDash val="solid"/>
                      <a:round/>
                      <a:headEnd type="none" w="med" len="med"/>
                      <a:tailEnd type="none" w="med" len="med"/>
                    </a:lnL>
                    <a:lnR>
                      <a:noFill/>
                    </a:lnR>
                    <a:lnT w="6350" cap="flat" cmpd="sng" algn="ctr">
                      <a:solidFill>
                        <a:srgbClr val="FF0000"/>
                      </a:solidFill>
                      <a:prstDash val="solid"/>
                      <a:round/>
                      <a:headEnd type="none" w="med" len="med"/>
                      <a:tailEnd type="none" w="med" len="med"/>
                    </a:lnT>
                    <a:lnB w="25400" cap="flat" cmpd="dbl" algn="ctr">
                      <a:solidFill>
                        <a:srgbClr val="000000"/>
                      </a:solidFill>
                      <a:prstDash val="solid"/>
                      <a:round/>
                      <a:headEnd type="none" w="med" len="med"/>
                      <a:tailEnd type="none" w="med" len="med"/>
                    </a:lnB>
                  </a:tcPr>
                </a:tc>
                <a:tc>
                  <a:txBody>
                    <a:bodyPr/>
                    <a:lstStyle/>
                    <a:p>
                      <a:pPr algn="r" fontAlgn="b"/>
                      <a:r>
                        <a:rPr lang="en-US" sz="1100" b="1" i="0" u="none" strike="noStrike" dirty="0">
                          <a:latin typeface="Arial"/>
                        </a:rPr>
                        <a:t>0.01</a:t>
                      </a:r>
                    </a:p>
                  </a:txBody>
                  <a:tcPr marL="9000" marR="9000" marT="9006" marB="0" anchor="b">
                    <a:lnL>
                      <a:noFill/>
                    </a:lnL>
                    <a:lnR w="6350" cap="flat" cmpd="sng" algn="ctr">
                      <a:solidFill>
                        <a:srgbClr val="FF0000"/>
                      </a:solidFill>
                      <a:prstDash val="solid"/>
                      <a:round/>
                      <a:headEnd type="none" w="med" len="med"/>
                      <a:tailEnd type="none" w="med" len="med"/>
                    </a:lnR>
                    <a:lnT w="6350" cap="flat" cmpd="sng" algn="ctr">
                      <a:solidFill>
                        <a:srgbClr val="FF0000"/>
                      </a:solidFill>
                      <a:prstDash val="solid"/>
                      <a:round/>
                      <a:headEnd type="none" w="med" len="med"/>
                      <a:tailEnd type="none" w="med" len="med"/>
                    </a:lnT>
                    <a:lnB w="25400" cap="flat" cmpd="dbl" algn="ctr">
                      <a:solidFill>
                        <a:srgbClr val="000000"/>
                      </a:solidFill>
                      <a:prstDash val="solid"/>
                      <a:round/>
                      <a:headEnd type="none" w="med" len="med"/>
                      <a:tailEnd type="none" w="med" len="med"/>
                    </a:lnB>
                  </a:tcPr>
                </a:tc>
                <a:tc>
                  <a:txBody>
                    <a:bodyPr/>
                    <a:lstStyle/>
                    <a:p>
                      <a:pPr algn="r" fontAlgn="b"/>
                      <a:r>
                        <a:rPr lang="en-US" sz="1100" b="1" i="0" u="none" strike="noStrike" dirty="0">
                          <a:latin typeface="Arial"/>
                        </a:rPr>
                        <a:t>0.005</a:t>
                      </a:r>
                    </a:p>
                  </a:txBody>
                  <a:tcPr marL="9000" marR="9000" marT="9006" marB="0" anchor="b">
                    <a:lnL w="6350" cap="flat" cmpd="sng" algn="ctr">
                      <a:solidFill>
                        <a:srgbClr val="FF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25400" cap="flat" cmpd="dbl" algn="ctr">
                      <a:solidFill>
                        <a:srgbClr val="000000"/>
                      </a:solidFill>
                      <a:prstDash val="solid"/>
                      <a:round/>
                      <a:headEnd type="none" w="med" len="med"/>
                      <a:tailEnd type="none" w="med" len="med"/>
                    </a:lnB>
                  </a:tcPr>
                </a:tc>
              </a:tr>
              <a:tr h="198126">
                <a:tc>
                  <a:txBody>
                    <a:bodyPr/>
                    <a:lstStyle/>
                    <a:p>
                      <a:pPr algn="ctr" fontAlgn="b"/>
                      <a:r>
                        <a:rPr lang="en-US" sz="1100" b="1" i="0" u="none" strike="noStrike" dirty="0" err="1">
                          <a:latin typeface="Arial"/>
                        </a:rPr>
                        <a:t>df</a:t>
                      </a:r>
                      <a:endParaRPr lang="en-US" sz="1100" b="1" i="0" u="none" strike="noStrike" dirty="0">
                        <a:latin typeface="Arial"/>
                      </a:endParaRPr>
                    </a:p>
                  </a:txBody>
                  <a:tcPr marL="9000" marR="9000" marT="9006" marB="0" anchor="b">
                    <a:lnL w="6350" cap="flat" cmpd="sng" algn="ctr">
                      <a:solidFill>
                        <a:srgbClr val="000000"/>
                      </a:solidFill>
                      <a:prstDash val="solid"/>
                      <a:round/>
                      <a:headEnd type="none" w="med" len="med"/>
                      <a:tailEnd type="none" w="med" len="med"/>
                    </a:lnL>
                    <a:lnR>
                      <a:noFill/>
                    </a:lnR>
                    <a:lnT w="25400" cap="flat" cmpd="dbl" algn="ctr">
                      <a:solidFill>
                        <a:srgbClr val="000000"/>
                      </a:solidFill>
                      <a:prstDash val="solid"/>
                      <a:round/>
                      <a:headEnd type="none" w="med" len="med"/>
                      <a:tailEnd type="none" w="med" len="med"/>
                    </a:lnT>
                    <a:lnB>
                      <a:noFill/>
                    </a:lnB>
                  </a:tcPr>
                </a:tc>
                <a:tc>
                  <a:txBody>
                    <a:bodyPr/>
                    <a:lstStyle/>
                    <a:p>
                      <a:pPr algn="l" fontAlgn="b"/>
                      <a:endParaRPr lang="en-US" sz="1100" b="1" i="0" u="none" strike="noStrike">
                        <a:latin typeface="Arial"/>
                      </a:endParaRPr>
                    </a:p>
                  </a:txBody>
                  <a:tcPr marL="9000" marR="9000" marT="9006" marB="0" anchor="b">
                    <a:lnL>
                      <a:noFill/>
                    </a:lnL>
                    <a:lnR>
                      <a:noFill/>
                    </a:lnR>
                    <a:lnT w="25400" cap="flat" cmpd="dbl" algn="ctr">
                      <a:solidFill>
                        <a:srgbClr val="000000"/>
                      </a:solidFill>
                      <a:prstDash val="solid"/>
                      <a:round/>
                      <a:headEnd type="none" w="med" len="med"/>
                      <a:tailEnd type="none" w="med" len="med"/>
                    </a:lnT>
                    <a:lnB>
                      <a:noFill/>
                    </a:lnB>
                  </a:tcPr>
                </a:tc>
                <a:tc>
                  <a:txBody>
                    <a:bodyPr/>
                    <a:lstStyle/>
                    <a:p>
                      <a:pPr algn="l" fontAlgn="b"/>
                      <a:endParaRPr lang="en-US" sz="1100" b="1" i="0" u="none" strike="noStrike">
                        <a:latin typeface="Arial"/>
                      </a:endParaRPr>
                    </a:p>
                  </a:txBody>
                  <a:tcPr marL="9000" marR="9000" marT="9006" marB="0" anchor="b">
                    <a:lnL>
                      <a:noFill/>
                    </a:lnL>
                    <a:lnR>
                      <a:noFill/>
                    </a:lnR>
                    <a:lnT w="25400" cap="flat" cmpd="dbl" algn="ctr">
                      <a:solidFill>
                        <a:srgbClr val="000000"/>
                      </a:solidFill>
                      <a:prstDash val="solid"/>
                      <a:round/>
                      <a:headEnd type="none" w="med" len="med"/>
                      <a:tailEnd type="none" w="med" len="med"/>
                    </a:lnT>
                    <a:lnB>
                      <a:noFill/>
                    </a:lnB>
                  </a:tcPr>
                </a:tc>
                <a:tc>
                  <a:txBody>
                    <a:bodyPr/>
                    <a:lstStyle/>
                    <a:p>
                      <a:pPr algn="l" fontAlgn="b"/>
                      <a:endParaRPr lang="en-US" sz="1100" b="1" i="0" u="none" strike="noStrike">
                        <a:latin typeface="Arial"/>
                      </a:endParaRPr>
                    </a:p>
                  </a:txBody>
                  <a:tcPr marL="9000" marR="9000" marT="9006" marB="0" anchor="b">
                    <a:lnL>
                      <a:noFill/>
                    </a:lnL>
                    <a:lnR>
                      <a:noFill/>
                    </a:lnR>
                    <a:lnT w="25400" cap="flat" cmpd="dbl" algn="ctr">
                      <a:solidFill>
                        <a:srgbClr val="000000"/>
                      </a:solidFill>
                      <a:prstDash val="solid"/>
                      <a:round/>
                      <a:headEnd type="none" w="med" len="med"/>
                      <a:tailEnd type="none" w="med" len="med"/>
                    </a:lnT>
                    <a:lnB>
                      <a:noFill/>
                    </a:lnB>
                  </a:tcPr>
                </a:tc>
                <a:tc>
                  <a:txBody>
                    <a:bodyPr/>
                    <a:lstStyle/>
                    <a:p>
                      <a:pPr algn="l" fontAlgn="b"/>
                      <a:endParaRPr lang="en-US" sz="1100" b="1" i="0" u="none" strike="noStrike">
                        <a:latin typeface="Arial"/>
                      </a:endParaRPr>
                    </a:p>
                  </a:txBody>
                  <a:tcPr marL="9000" marR="9000" marT="9006" marB="0" anchor="b">
                    <a:lnL>
                      <a:noFill/>
                    </a:lnL>
                    <a:lnR>
                      <a:noFill/>
                    </a:lnR>
                    <a:lnT w="25400" cap="flat" cmpd="dbl" algn="ctr">
                      <a:solidFill>
                        <a:srgbClr val="000000"/>
                      </a:solidFill>
                      <a:prstDash val="solid"/>
                      <a:round/>
                      <a:headEnd type="none" w="med" len="med"/>
                      <a:tailEnd type="none" w="med" len="med"/>
                    </a:lnT>
                    <a:lnB>
                      <a:noFill/>
                    </a:lnB>
                  </a:tcPr>
                </a:tc>
                <a:tc gridSpan="2">
                  <a:txBody>
                    <a:bodyPr/>
                    <a:lstStyle/>
                    <a:p>
                      <a:pPr algn="l" fontAlgn="b"/>
                      <a:r>
                        <a:rPr lang="en-US" sz="1100" b="1" i="0" u="none" strike="noStrike">
                          <a:latin typeface="Arial"/>
                        </a:rPr>
                        <a:t>Values of t</a:t>
                      </a:r>
                    </a:p>
                  </a:txBody>
                  <a:tcPr marL="9000" marR="9000" marT="9006" marB="0" anchor="b">
                    <a:lnL>
                      <a:noFill/>
                    </a:lnL>
                    <a:lnR>
                      <a:noFill/>
                    </a:lnR>
                    <a:lnT w="25400" cap="flat" cmpd="dbl" algn="ctr">
                      <a:solidFill>
                        <a:srgbClr val="000000"/>
                      </a:solidFill>
                      <a:prstDash val="solid"/>
                      <a:round/>
                      <a:headEnd type="none" w="med" len="med"/>
                      <a:tailEnd type="none" w="med" len="med"/>
                    </a:lnT>
                    <a:lnB>
                      <a:noFill/>
                    </a:lnB>
                  </a:tcPr>
                </a:tc>
                <a:tc hMerge="1">
                  <a:txBody>
                    <a:bodyPr/>
                    <a:lstStyle/>
                    <a:p>
                      <a:endParaRPr lang="en-US"/>
                    </a:p>
                  </a:txBody>
                  <a:tcPr/>
                </a:tc>
                <a:tc>
                  <a:txBody>
                    <a:bodyPr/>
                    <a:lstStyle/>
                    <a:p>
                      <a:pPr algn="l" fontAlgn="b"/>
                      <a:r>
                        <a:rPr lang="en-US" sz="1100" b="1" i="0" u="none" strike="noStrike">
                          <a:latin typeface="Arial"/>
                        </a:rPr>
                        <a:t> </a:t>
                      </a:r>
                    </a:p>
                  </a:txBody>
                  <a:tcPr marL="9000" marR="9000" marT="9006" marB="0" anchor="b">
                    <a:lnL>
                      <a:noFill/>
                    </a:lnL>
                    <a:lnR>
                      <a:noFill/>
                    </a:lnR>
                    <a:lnT w="25400" cap="flat" cmpd="dbl" algn="ctr">
                      <a:solidFill>
                        <a:srgbClr val="000000"/>
                      </a:solidFill>
                      <a:prstDash val="solid"/>
                      <a:round/>
                      <a:headEnd type="none" w="med" len="med"/>
                      <a:tailEnd type="none" w="med" len="med"/>
                    </a:lnT>
                    <a:lnB w="6350" cap="flat" cmpd="sng" algn="ctr">
                      <a:solidFill>
                        <a:srgbClr val="FF0000"/>
                      </a:solidFill>
                      <a:prstDash val="solid"/>
                      <a:round/>
                      <a:headEnd type="none" w="med" len="med"/>
                      <a:tailEnd type="none" w="med" len="med"/>
                    </a:lnB>
                  </a:tcPr>
                </a:tc>
                <a:tc>
                  <a:txBody>
                    <a:bodyPr/>
                    <a:lstStyle/>
                    <a:p>
                      <a:pPr algn="l" fontAlgn="b"/>
                      <a:r>
                        <a:rPr lang="en-US" sz="1100" b="1" i="0" u="none" strike="noStrike">
                          <a:latin typeface="Arial"/>
                        </a:rPr>
                        <a:t> </a:t>
                      </a:r>
                    </a:p>
                  </a:txBody>
                  <a:tcPr marL="9000" marR="9000" marT="9006" marB="0" anchor="b">
                    <a:lnL>
                      <a:noFill/>
                    </a:lnL>
                    <a:lnR>
                      <a:noFill/>
                    </a:lnR>
                    <a:lnT w="25400" cap="flat" cmpd="dbl" algn="ctr">
                      <a:solidFill>
                        <a:srgbClr val="000000"/>
                      </a:solidFill>
                      <a:prstDash val="solid"/>
                      <a:round/>
                      <a:headEnd type="none" w="med" len="med"/>
                      <a:tailEnd type="none" w="med" len="med"/>
                    </a:lnT>
                    <a:lnB w="6350" cap="flat" cmpd="sng" algn="ctr">
                      <a:solidFill>
                        <a:srgbClr val="FF0000"/>
                      </a:solidFill>
                      <a:prstDash val="solid"/>
                      <a:round/>
                      <a:headEnd type="none" w="med" len="med"/>
                      <a:tailEnd type="none" w="med" len="med"/>
                    </a:lnB>
                  </a:tcPr>
                </a:tc>
                <a:tc>
                  <a:txBody>
                    <a:bodyPr/>
                    <a:lstStyle/>
                    <a:p>
                      <a:pPr algn="l" fontAlgn="b"/>
                      <a:r>
                        <a:rPr lang="en-US" sz="1100" b="1" i="0" u="none" strike="noStrike">
                          <a:latin typeface="Arial"/>
                        </a:rPr>
                        <a:t> </a:t>
                      </a:r>
                    </a:p>
                  </a:txBody>
                  <a:tcPr marL="9000" marR="9000" marT="9006" marB="0" anchor="b">
                    <a:lnL>
                      <a:noFill/>
                    </a:lnL>
                    <a:lnR w="6350" cap="flat" cmpd="sng" algn="ctr">
                      <a:solidFill>
                        <a:srgbClr val="000000"/>
                      </a:solidFill>
                      <a:prstDash val="solid"/>
                      <a:round/>
                      <a:headEnd type="none" w="med" len="med"/>
                      <a:tailEnd type="none" w="med" len="med"/>
                    </a:lnR>
                    <a:lnT w="25400" cap="flat" cmpd="dbl" algn="ctr">
                      <a:solidFill>
                        <a:srgbClr val="000000"/>
                      </a:solidFill>
                      <a:prstDash val="solid"/>
                      <a:round/>
                      <a:headEnd type="none" w="med" len="med"/>
                      <a:tailEnd type="none" w="med" len="med"/>
                    </a:lnT>
                    <a:lnB>
                      <a:noFill/>
                    </a:lnB>
                  </a:tcPr>
                </a:tc>
              </a:tr>
              <a:tr h="189120">
                <a:tc>
                  <a:txBody>
                    <a:bodyPr/>
                    <a:lstStyle/>
                    <a:p>
                      <a:pPr algn="r" fontAlgn="b"/>
                      <a:r>
                        <a:rPr lang="en-US" sz="1100" b="1" i="0" u="none" strike="noStrike">
                          <a:latin typeface="Arial"/>
                        </a:rPr>
                        <a:t>9</a:t>
                      </a:r>
                    </a:p>
                  </a:txBody>
                  <a:tcPr marL="9000" marR="9000" marT="9006"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r" fontAlgn="b"/>
                      <a:r>
                        <a:rPr lang="en-US" sz="1100" b="1" i="0" u="none" strike="noStrike">
                          <a:latin typeface="Arial"/>
                        </a:rPr>
                        <a:t>0.1293</a:t>
                      </a:r>
                    </a:p>
                  </a:txBody>
                  <a:tcPr marL="9000" marR="9000" marT="9006"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r" fontAlgn="b"/>
                      <a:r>
                        <a:rPr lang="en-US" sz="1100" b="1" i="0" u="none" strike="noStrike">
                          <a:latin typeface="Arial"/>
                        </a:rPr>
                        <a:t>0.3979</a:t>
                      </a:r>
                    </a:p>
                  </a:txBody>
                  <a:tcPr marL="9000" marR="9000" marT="9006"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r" fontAlgn="b"/>
                      <a:r>
                        <a:rPr lang="en-US" sz="1100" b="1" i="0" u="none" strike="noStrike">
                          <a:latin typeface="Arial"/>
                        </a:rPr>
                        <a:t>0.7027</a:t>
                      </a:r>
                    </a:p>
                  </a:txBody>
                  <a:tcPr marL="9000" marR="9000" marT="9006"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r" fontAlgn="b"/>
                      <a:r>
                        <a:rPr lang="en-US" sz="1100" b="1" i="0" u="none" strike="noStrike">
                          <a:latin typeface="Arial"/>
                        </a:rPr>
                        <a:t>1.0997</a:t>
                      </a:r>
                    </a:p>
                  </a:txBody>
                  <a:tcPr marL="9000" marR="9000" marT="9006"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r" fontAlgn="b"/>
                      <a:r>
                        <a:rPr lang="en-US" sz="1100" b="1" i="0" u="none" strike="noStrike">
                          <a:latin typeface="Arial"/>
                        </a:rPr>
                        <a:t>1.3830</a:t>
                      </a:r>
                    </a:p>
                  </a:txBody>
                  <a:tcPr marL="9000" marR="9000" marT="9006"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r" fontAlgn="b"/>
                      <a:r>
                        <a:rPr lang="en-US" sz="1100" b="1" i="0" u="none" strike="noStrike">
                          <a:latin typeface="Arial"/>
                        </a:rPr>
                        <a:t>1.8331</a:t>
                      </a:r>
                    </a:p>
                  </a:txBody>
                  <a:tcPr marL="9000" marR="9000" marT="9006" marB="0" anchor="b">
                    <a:lnL>
                      <a:noFill/>
                    </a:lnL>
                    <a:lnR w="6350" cap="flat" cmpd="sng" algn="ctr">
                      <a:solidFill>
                        <a:srgbClr val="FF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r" fontAlgn="b"/>
                      <a:r>
                        <a:rPr lang="en-US" sz="1100" b="1" i="0" u="none" strike="noStrike">
                          <a:latin typeface="Arial"/>
                        </a:rPr>
                        <a:t>2.2622</a:t>
                      </a:r>
                    </a:p>
                  </a:txBody>
                  <a:tcPr marL="9000" marR="9000" marT="9006" marB="0" anchor="b">
                    <a:lnL w="6350" cap="flat" cmpd="sng" algn="ctr">
                      <a:solidFill>
                        <a:srgbClr val="FF0000"/>
                      </a:solidFill>
                      <a:prstDash val="solid"/>
                      <a:round/>
                      <a:headEnd type="none" w="med" len="med"/>
                      <a:tailEnd type="none" w="med" len="med"/>
                    </a:lnL>
                    <a:lnR>
                      <a:noFill/>
                    </a:lnR>
                    <a:lnT w="6350" cap="flat" cmpd="sng" algn="ctr">
                      <a:solidFill>
                        <a:srgbClr val="FF0000"/>
                      </a:solidFill>
                      <a:prstDash val="solid"/>
                      <a:round/>
                      <a:headEnd type="none" w="med" len="med"/>
                      <a:tailEnd type="none" w="med" len="med"/>
                    </a:lnT>
                    <a:lnB w="6350" cap="flat" cmpd="sng" algn="ctr">
                      <a:solidFill>
                        <a:srgbClr val="FF0000"/>
                      </a:solidFill>
                      <a:prstDash val="solid"/>
                      <a:round/>
                      <a:headEnd type="none" w="med" len="med"/>
                      <a:tailEnd type="none" w="med" len="med"/>
                    </a:lnB>
                    <a:solidFill>
                      <a:srgbClr val="FFCC66"/>
                    </a:solidFill>
                  </a:tcPr>
                </a:tc>
                <a:tc>
                  <a:txBody>
                    <a:bodyPr/>
                    <a:lstStyle/>
                    <a:p>
                      <a:pPr algn="r" fontAlgn="b"/>
                      <a:r>
                        <a:rPr lang="en-US" sz="1100" b="1" i="0" u="none" strike="noStrike">
                          <a:latin typeface="Arial"/>
                        </a:rPr>
                        <a:t>2.8214</a:t>
                      </a:r>
                    </a:p>
                  </a:txBody>
                  <a:tcPr marL="9000" marR="9000" marT="9006" marB="0" anchor="b">
                    <a:lnL>
                      <a:noFill/>
                    </a:lnL>
                    <a:lnR w="6350" cap="flat" cmpd="sng" algn="ctr">
                      <a:solidFill>
                        <a:srgbClr val="FF0000"/>
                      </a:solidFill>
                      <a:prstDash val="solid"/>
                      <a:round/>
                      <a:headEnd type="none" w="med" len="med"/>
                      <a:tailEnd type="none" w="med" len="med"/>
                    </a:lnR>
                    <a:lnT w="6350" cap="flat" cmpd="sng" algn="ctr">
                      <a:solidFill>
                        <a:srgbClr val="FF0000"/>
                      </a:solidFill>
                      <a:prstDash val="solid"/>
                      <a:round/>
                      <a:headEnd type="none" w="med" len="med"/>
                      <a:tailEnd type="none" w="med" len="med"/>
                    </a:lnT>
                    <a:lnB w="6350" cap="flat" cmpd="sng" algn="ctr">
                      <a:solidFill>
                        <a:srgbClr val="FF0000"/>
                      </a:solidFill>
                      <a:prstDash val="solid"/>
                      <a:round/>
                      <a:headEnd type="none" w="med" len="med"/>
                      <a:tailEnd type="none" w="med" len="med"/>
                    </a:lnB>
                    <a:solidFill>
                      <a:srgbClr val="FFCC66"/>
                    </a:solidFill>
                  </a:tcPr>
                </a:tc>
                <a:tc>
                  <a:txBody>
                    <a:bodyPr/>
                    <a:lstStyle/>
                    <a:p>
                      <a:pPr algn="r" fontAlgn="b"/>
                      <a:r>
                        <a:rPr lang="en-US" sz="1100" b="1" i="0" u="none" strike="noStrike" dirty="0">
                          <a:latin typeface="Arial"/>
                        </a:rPr>
                        <a:t>3.2498</a:t>
                      </a:r>
                    </a:p>
                  </a:txBody>
                  <a:tcPr marL="9000" marR="9000" marT="9006" marB="0" anchor="b">
                    <a:lnL w="6350" cap="flat" cmpd="sng" algn="ctr">
                      <a:solidFill>
                        <a:srgbClr val="FF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r>
            </a:tbl>
          </a:graphicData>
        </a:graphic>
      </p:graphicFrame>
      <p:sp>
        <p:nvSpPr>
          <p:cNvPr id="13" name="TextBox 12"/>
          <p:cNvSpPr txBox="1">
            <a:spLocks noChangeArrowheads="1"/>
          </p:cNvSpPr>
          <p:nvPr/>
        </p:nvSpPr>
        <p:spPr bwMode="auto">
          <a:xfrm>
            <a:off x="304800" y="4648200"/>
            <a:ext cx="6248400" cy="369888"/>
          </a:xfrm>
          <a:prstGeom prst="rect">
            <a:avLst/>
          </a:prstGeom>
          <a:solidFill>
            <a:srgbClr val="EFC85B"/>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eaLnBrk="1" hangingPunct="1">
              <a:spcBef>
                <a:spcPct val="0"/>
              </a:spcBef>
              <a:buClrTx/>
              <a:buSzTx/>
              <a:buFontTx/>
              <a:buNone/>
            </a:pPr>
            <a:r>
              <a:rPr lang="en-US" altLang="en-US" sz="1800">
                <a:cs typeface="Times New Roman" pitchFamily="18" charset="0"/>
              </a:rPr>
              <a:t>2.2622 &lt; t = 2.70 &lt; 2.8214; thus  0.01 &lt; P-value &lt; 0.025.</a:t>
            </a:r>
            <a:endParaRPr lang="en-US" altLang="en-US" sz="1800">
              <a:cs typeface="Arial" charset="0"/>
            </a:endParaRPr>
          </a:p>
        </p:txBody>
      </p:sp>
      <p:sp>
        <p:nvSpPr>
          <p:cNvPr id="14" name="TextBox 13"/>
          <p:cNvSpPr txBox="1">
            <a:spLocks noChangeArrowheads="1"/>
          </p:cNvSpPr>
          <p:nvPr/>
        </p:nvSpPr>
        <p:spPr bwMode="auto">
          <a:xfrm>
            <a:off x="2057400" y="5181600"/>
            <a:ext cx="6324600" cy="757238"/>
          </a:xfrm>
          <a:prstGeom prst="rect">
            <a:avLst/>
          </a:prstGeom>
          <a:solidFill>
            <a:srgbClr val="EFC85B"/>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eaLnBrk="1" hangingPunct="1">
              <a:lnSpc>
                <a:spcPct val="120000"/>
              </a:lnSpc>
              <a:spcBef>
                <a:spcPct val="0"/>
              </a:spcBef>
              <a:buClrTx/>
              <a:buSzTx/>
              <a:buFont typeface="Wingdings" charset="2"/>
              <a:buNone/>
            </a:pPr>
            <a:r>
              <a:rPr lang="en-US" altLang="en-US" sz="1800">
                <a:cs typeface="Times New Roman" pitchFamily="18" charset="0"/>
              </a:rPr>
              <a:t>Since P-value &lt; .05, we reject H</a:t>
            </a:r>
            <a:r>
              <a:rPr lang="en-US" altLang="en-US" sz="1800" baseline="-25000">
                <a:cs typeface="Times New Roman" pitchFamily="18" charset="0"/>
              </a:rPr>
              <a:t>0</a:t>
            </a:r>
            <a:r>
              <a:rPr lang="en-US" altLang="en-US" sz="1800">
                <a:cs typeface="Times New Roman" pitchFamily="18" charset="0"/>
              </a:rPr>
              <a:t>. There is a significant loss of  sweetness, on average, following storage.</a:t>
            </a:r>
            <a:endParaRPr lang="en-US" altLang="en-US" sz="2400">
              <a:cs typeface="Arial" charset="0"/>
            </a:endParaRPr>
          </a:p>
        </p:txBody>
      </p:sp>
      <p:graphicFrame>
        <p:nvGraphicFramePr>
          <p:cNvPr id="2052" name="Object 11"/>
          <p:cNvGraphicFramePr>
            <a:graphicFrameLocks noChangeAspect="1"/>
          </p:cNvGraphicFramePr>
          <p:nvPr/>
        </p:nvGraphicFramePr>
        <p:xfrm>
          <a:off x="762000" y="2590800"/>
          <a:ext cx="3581400" cy="550863"/>
        </p:xfrm>
        <a:graphic>
          <a:graphicData uri="http://schemas.openxmlformats.org/presentationml/2006/ole">
            <mc:AlternateContent xmlns:mc="http://schemas.openxmlformats.org/markup-compatibility/2006">
              <mc:Choice xmlns:v="urn:schemas-microsoft-com:vml" Requires="v">
                <p:oleObj spid="_x0000_s30852" name="Equation" r:id="rId6" imgW="1485900" imgH="228600" progId="Equation.DSMT4">
                  <p:embed/>
                </p:oleObj>
              </mc:Choice>
              <mc:Fallback>
                <p:oleObj name="Equation" r:id="rId6" imgW="1485900" imgH="228600" progId="Equation.DSMT4">
                  <p:embed/>
                  <p:pic>
                    <p:nvPicPr>
                      <p:cNvPr id="0" name="Object 1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62000" y="2590800"/>
                        <a:ext cx="3581400" cy="5508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 name="Object 77"/>
          <p:cNvGraphicFramePr>
            <a:graphicFrameLocks noChangeAspect="1"/>
          </p:cNvGraphicFramePr>
          <p:nvPr/>
        </p:nvGraphicFramePr>
        <p:xfrm>
          <a:off x="609600" y="1600200"/>
          <a:ext cx="3892550" cy="914400"/>
        </p:xfrm>
        <a:graphic>
          <a:graphicData uri="http://schemas.openxmlformats.org/presentationml/2006/ole">
            <mc:AlternateContent xmlns:mc="http://schemas.openxmlformats.org/markup-compatibility/2006">
              <mc:Choice xmlns:v="urn:schemas-microsoft-com:vml" Requires="v">
                <p:oleObj spid="_x0000_s30853" name="Equation" r:id="rId8" imgW="1892300" imgH="444500" progId="Equation.DSMT4">
                  <p:embed/>
                </p:oleObj>
              </mc:Choice>
              <mc:Fallback>
                <p:oleObj name="Equation" r:id="rId8" imgW="1892300" imgH="444500" progId="Equation.DSMT4">
                  <p:embed/>
                  <p:pic>
                    <p:nvPicPr>
                      <p:cNvPr id="0" name="Object 7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09600" y="1600200"/>
                        <a:ext cx="389255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ustDataLst>
      <p:tags r:id="rId2"/>
    </p:custDataLst>
  </p:cSld>
  <p:clrMapOvr>
    <a:masterClrMapping/>
  </p:clrMapOvr>
  <p:transition spd="slow">
    <p:pull dir="l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08134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 presetClass="entr" presetSubtype="8"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fill="hold"/>
                                        <p:tgtEl>
                                          <p:spTgt spid="11"/>
                                        </p:tgtEl>
                                        <p:attrNameLst>
                                          <p:attrName>ppt_x</p:attrName>
                                        </p:attrNameLst>
                                      </p:cBhvr>
                                      <p:tavLst>
                                        <p:tav tm="0">
                                          <p:val>
                                            <p:strVal val="0-#ppt_w/2"/>
                                          </p:val>
                                        </p:tav>
                                        <p:tav tm="100000">
                                          <p:val>
                                            <p:strVal val="#ppt_x"/>
                                          </p:val>
                                        </p:tav>
                                      </p:tavLst>
                                    </p:anim>
                                    <p:anim calcmode="lin" valueType="num">
                                      <p:cBhvr additive="base">
                                        <p:cTn id="12"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8" fill="hold" nodeType="clickEffect">
                                  <p:stCondLst>
                                    <p:cond delay="0"/>
                                  </p:stCondLst>
                                  <p:childTnLst>
                                    <p:set>
                                      <p:cBhvr>
                                        <p:cTn id="16" dur="1" fill="hold">
                                          <p:stCondLst>
                                            <p:cond delay="0"/>
                                          </p:stCondLst>
                                        </p:cTn>
                                        <p:tgtEl>
                                          <p:spTgt spid="2052"/>
                                        </p:tgtEl>
                                        <p:attrNameLst>
                                          <p:attrName>style.visibility</p:attrName>
                                        </p:attrNameLst>
                                      </p:cBhvr>
                                      <p:to>
                                        <p:strVal val="visible"/>
                                      </p:to>
                                    </p:set>
                                    <p:anim calcmode="lin" valueType="num">
                                      <p:cBhvr additive="base">
                                        <p:cTn id="17" dur="500" fill="hold"/>
                                        <p:tgtEl>
                                          <p:spTgt spid="2052"/>
                                        </p:tgtEl>
                                        <p:attrNameLst>
                                          <p:attrName>ppt_x</p:attrName>
                                        </p:attrNameLst>
                                      </p:cBhvr>
                                      <p:tavLst>
                                        <p:tav tm="0">
                                          <p:val>
                                            <p:strVal val="0-#ppt_w/2"/>
                                          </p:val>
                                        </p:tav>
                                        <p:tav tm="100000">
                                          <p:val>
                                            <p:strVal val="#ppt_x"/>
                                          </p:val>
                                        </p:tav>
                                      </p:tavLst>
                                    </p:anim>
                                    <p:anim calcmode="lin" valueType="num">
                                      <p:cBhvr additive="base">
                                        <p:cTn id="18" dur="500" fill="hold"/>
                                        <p:tgtEl>
                                          <p:spTgt spid="2052"/>
                                        </p:tgtEl>
                                        <p:attrNameLst>
                                          <p:attrName>ppt_y</p:attrName>
                                        </p:attrNameLst>
                                      </p:cBhvr>
                                      <p:tavLst>
                                        <p:tav tm="0">
                                          <p:val>
                                            <p:strVal val="#ppt_y"/>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4"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anim calcmode="lin" valueType="num">
                                      <p:cBhvr additive="base">
                                        <p:cTn id="23" dur="500" fill="hold"/>
                                        <p:tgtEl>
                                          <p:spTgt spid="12"/>
                                        </p:tgtEl>
                                        <p:attrNameLst>
                                          <p:attrName>ppt_x</p:attrName>
                                        </p:attrNameLst>
                                      </p:cBhvr>
                                      <p:tavLst>
                                        <p:tav tm="0">
                                          <p:val>
                                            <p:strVal val="#ppt_x"/>
                                          </p:val>
                                        </p:tav>
                                        <p:tav tm="100000">
                                          <p:val>
                                            <p:strVal val="#ppt_x"/>
                                          </p:val>
                                        </p:tav>
                                      </p:tavLst>
                                    </p:anim>
                                    <p:anim calcmode="lin" valueType="num">
                                      <p:cBhvr additive="base">
                                        <p:cTn id="2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8" fill="hold" grpId="0" nodeType="clickEffect">
                                  <p:stCondLst>
                                    <p:cond delay="0"/>
                                  </p:stCondLst>
                                  <p:childTnLst>
                                    <p:set>
                                      <p:cBhvr>
                                        <p:cTn id="28" dur="1" fill="hold">
                                          <p:stCondLst>
                                            <p:cond delay="0"/>
                                          </p:stCondLst>
                                        </p:cTn>
                                        <p:tgtEl>
                                          <p:spTgt spid="13"/>
                                        </p:tgtEl>
                                        <p:attrNameLst>
                                          <p:attrName>style.visibility</p:attrName>
                                        </p:attrNameLst>
                                      </p:cBhvr>
                                      <p:to>
                                        <p:strVal val="visible"/>
                                      </p:to>
                                    </p:set>
                                    <p:anim calcmode="lin" valueType="num">
                                      <p:cBhvr additive="base">
                                        <p:cTn id="29" dur="500" fill="hold"/>
                                        <p:tgtEl>
                                          <p:spTgt spid="13"/>
                                        </p:tgtEl>
                                        <p:attrNameLst>
                                          <p:attrName>ppt_x</p:attrName>
                                        </p:attrNameLst>
                                      </p:cBhvr>
                                      <p:tavLst>
                                        <p:tav tm="0">
                                          <p:val>
                                            <p:strVal val="0-#ppt_w/2"/>
                                          </p:val>
                                        </p:tav>
                                        <p:tav tm="100000">
                                          <p:val>
                                            <p:strVal val="#ppt_x"/>
                                          </p:val>
                                        </p:tav>
                                      </p:tavLst>
                                    </p:anim>
                                    <p:anim calcmode="lin" valueType="num">
                                      <p:cBhvr additive="base">
                                        <p:cTn id="30"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14"/>
                                        </p:tgtEl>
                                        <p:attrNameLst>
                                          <p:attrName>style.visibility</p:attrName>
                                        </p:attrNameLst>
                                      </p:cBhvr>
                                      <p:to>
                                        <p:strVal val="visible"/>
                                      </p:to>
                                    </p:set>
                                    <p:anim calcmode="lin" valueType="num">
                                      <p:cBhvr additive="base">
                                        <p:cTn id="35" dur="500" fill="hold"/>
                                        <p:tgtEl>
                                          <p:spTgt spid="14"/>
                                        </p:tgtEl>
                                        <p:attrNameLst>
                                          <p:attrName>ppt_x</p:attrName>
                                        </p:attrNameLst>
                                      </p:cBhvr>
                                      <p:tavLst>
                                        <p:tav tm="0">
                                          <p:val>
                                            <p:strVal val="#ppt_x"/>
                                          </p:val>
                                        </p:tav>
                                        <p:tav tm="100000">
                                          <p:val>
                                            <p:strVal val="#ppt_x"/>
                                          </p:val>
                                        </p:tav>
                                      </p:tavLst>
                                    </p:anim>
                                    <p:anim calcmode="lin" valueType="num">
                                      <p:cBhvr additive="base">
                                        <p:cTn id="36"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1346" grpId="0" autoUpdateAnimBg="0"/>
      <p:bldP spid="13" grpId="0" animBg="1"/>
      <p:bldP spid="14"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Rectangle 2"/>
          <p:cNvSpPr>
            <a:spLocks noGrp="1" noChangeArrowheads="1"/>
          </p:cNvSpPr>
          <p:nvPr>
            <p:ph type="title"/>
          </p:nvPr>
        </p:nvSpPr>
        <p:spPr>
          <a:xfrm>
            <a:off x="990600" y="304800"/>
            <a:ext cx="7793038" cy="762000"/>
          </a:xfrm>
        </p:spPr>
        <p:txBody>
          <a:bodyPr>
            <a:normAutofit fontScale="90000"/>
          </a:bodyPr>
          <a:lstStyle/>
          <a:p>
            <a:pPr eaLnBrk="1" hangingPunct="1">
              <a:lnSpc>
                <a:spcPct val="85000"/>
              </a:lnSpc>
              <a:defRPr/>
            </a:pPr>
            <a:r>
              <a:rPr lang="en-US" dirty="0" smtClean="0"/>
              <a:t>New York City Hotel Room Costs</a:t>
            </a:r>
            <a:endParaRPr lang="en-US" dirty="0" smtClean="0">
              <a:sym typeface="Symbol" pitchFamily="18" charset="2"/>
            </a:endParaRPr>
          </a:p>
        </p:txBody>
      </p:sp>
      <p:sp>
        <p:nvSpPr>
          <p:cNvPr id="33796" name="Rectangle 3"/>
          <p:cNvSpPr>
            <a:spLocks noGrp="1" noChangeArrowheads="1"/>
          </p:cNvSpPr>
          <p:nvPr>
            <p:ph idx="1"/>
          </p:nvPr>
        </p:nvSpPr>
        <p:spPr>
          <a:xfrm>
            <a:off x="533400" y="1219200"/>
            <a:ext cx="5029200" cy="4648200"/>
          </a:xfrm>
          <a:solidFill>
            <a:srgbClr val="FFFFC3"/>
          </a:solidFill>
          <a:ln w="19050">
            <a:solidFill>
              <a:schemeClr val="tx1"/>
            </a:solidFill>
            <a:miter lim="800000"/>
            <a:headEnd/>
            <a:tailEnd/>
          </a:ln>
        </p:spPr>
        <p:txBody>
          <a:bodyPr/>
          <a:lstStyle/>
          <a:p>
            <a:pPr eaLnBrk="1" hangingPunct="1">
              <a:buFont typeface="Wingdings" charset="2"/>
              <a:buNone/>
            </a:pPr>
            <a:r>
              <a:rPr lang="en-US" altLang="en-US" sz="2300" smtClean="0"/>
              <a:t>   </a:t>
            </a:r>
            <a:r>
              <a:rPr lang="en-US" altLang="en-US" smtClean="0"/>
              <a:t>The NYC Visitors Bureau claims that the average cost of a hotel room is $168 per night.  A random sample of 25 hotels resulted in</a:t>
            </a:r>
          </a:p>
          <a:p>
            <a:pPr eaLnBrk="1" hangingPunct="1">
              <a:buFont typeface="Wingdings" charset="2"/>
              <a:buNone/>
            </a:pPr>
            <a:r>
              <a:rPr lang="en-US" altLang="en-US" smtClean="0"/>
              <a:t>	y  = $172.50  and  </a:t>
            </a:r>
          </a:p>
          <a:p>
            <a:pPr eaLnBrk="1" hangingPunct="1">
              <a:buFont typeface="Wingdings" charset="2"/>
              <a:buNone/>
            </a:pPr>
            <a:r>
              <a:rPr lang="en-US" altLang="en-US" smtClean="0"/>
              <a:t>   s = $15.40.</a:t>
            </a:r>
            <a:endParaRPr lang="en-US" altLang="en-US" sz="1500" smtClean="0"/>
          </a:p>
        </p:txBody>
      </p:sp>
      <p:sp>
        <p:nvSpPr>
          <p:cNvPr id="33794" name="Slide Number Placeholder 4"/>
          <p:cNvSpPr>
            <a:spLocks noGrp="1"/>
          </p:cNvSpPr>
          <p:nvPr>
            <p:ph type="sldNum" sz="quarter" idx="12"/>
          </p:nvPr>
        </p:nvSpPr>
        <p:spPr bwMode="auto">
          <a:xfrm>
            <a:off x="7086600" y="6400800"/>
            <a:ext cx="1905000" cy="30956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52488">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defTabSz="852488">
              <a:spcBef>
                <a:spcPct val="20000"/>
              </a:spcBef>
              <a:buClr>
                <a:schemeClr val="tx1"/>
              </a:buClr>
              <a:buSzPct val="100000"/>
              <a:buChar char="–"/>
              <a:defRPr sz="2800" i="1">
                <a:solidFill>
                  <a:schemeClr val="tx1"/>
                </a:solidFill>
                <a:latin typeface="Arial" charset="0"/>
              </a:defRPr>
            </a:lvl2pPr>
            <a:lvl3pPr marL="1143000" indent="-228600" defTabSz="852488">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defTabSz="852488">
              <a:spcBef>
                <a:spcPct val="20000"/>
              </a:spcBef>
              <a:buClr>
                <a:schemeClr val="tx1"/>
              </a:buClr>
              <a:buSzPct val="100000"/>
              <a:buChar char="–"/>
              <a:defRPr sz="2000" i="1">
                <a:solidFill>
                  <a:schemeClr val="tx1"/>
                </a:solidFill>
                <a:latin typeface="Arial" charset="0"/>
              </a:defRPr>
            </a:lvl4pPr>
            <a:lvl5pPr marL="2057400" indent="-228600" defTabSz="852488">
              <a:spcBef>
                <a:spcPct val="20000"/>
              </a:spcBef>
              <a:buClr>
                <a:schemeClr val="tx1"/>
              </a:buClr>
              <a:buSzPct val="100000"/>
              <a:buChar char="•"/>
              <a:defRPr sz="2000" i="1">
                <a:solidFill>
                  <a:schemeClr val="tx1"/>
                </a:solidFill>
                <a:latin typeface="Arial" charset="0"/>
              </a:defRPr>
            </a:lvl5pPr>
            <a:lvl6pPr marL="2514600" indent="-228600" defTabSz="852488"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defTabSz="852488"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defTabSz="852488"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defTabSz="852488"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eaLnBrk="1" hangingPunct="1">
              <a:spcBef>
                <a:spcPct val="0"/>
              </a:spcBef>
              <a:buClrTx/>
              <a:buSzTx/>
              <a:buFontTx/>
              <a:buNone/>
            </a:pPr>
            <a:endParaRPr lang="en-US" altLang="en-US" sz="2000">
              <a:latin typeface="Verdana" pitchFamily="34" charset="0"/>
              <a:cs typeface="Arial" charset="0"/>
            </a:endParaRPr>
          </a:p>
        </p:txBody>
      </p:sp>
      <p:sp>
        <p:nvSpPr>
          <p:cNvPr id="33797" name="Rectangle 8"/>
          <p:cNvSpPr>
            <a:spLocks noChangeArrowheads="1"/>
          </p:cNvSpPr>
          <p:nvPr/>
        </p:nvSpPr>
        <p:spPr bwMode="auto">
          <a:xfrm>
            <a:off x="6096000" y="4267200"/>
            <a:ext cx="2057400" cy="104775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90488" tIns="44450" rIns="90488" bIns="4445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lnSpc>
                <a:spcPct val="110000"/>
              </a:lnSpc>
              <a:spcBef>
                <a:spcPct val="50000"/>
              </a:spcBef>
              <a:buClrTx/>
              <a:buSzTx/>
              <a:buFontTx/>
              <a:buNone/>
            </a:pPr>
            <a:r>
              <a:rPr lang="en-US" altLang="en-US" sz="2800" b="1"/>
              <a:t>H</a:t>
            </a:r>
            <a:r>
              <a:rPr lang="en-US" altLang="en-US" sz="2800" b="1" baseline="-25000"/>
              <a:t>0</a:t>
            </a:r>
            <a:r>
              <a:rPr lang="en-US" altLang="en-US" sz="2800" b="1"/>
              <a:t>:</a:t>
            </a:r>
            <a:r>
              <a:rPr lang="en-US" altLang="en-US" sz="2800" b="1">
                <a:latin typeface="Times New Roman" pitchFamily="18" charset="0"/>
              </a:rPr>
              <a:t> </a:t>
            </a:r>
            <a:r>
              <a:rPr lang="el-GR" altLang="en-US" sz="2800" b="1"/>
              <a:t>μ</a:t>
            </a:r>
            <a:r>
              <a:rPr lang="en-US" altLang="en-US" sz="2800" b="1">
                <a:latin typeface="Symbol" charset="2"/>
              </a:rPr>
              <a:t> </a:t>
            </a:r>
            <a:r>
              <a:rPr lang="en-US" altLang="en-US" sz="2800" b="1"/>
              <a:t>= 168</a:t>
            </a:r>
            <a:r>
              <a:rPr lang="en-US" altLang="en-US" sz="2800" b="1">
                <a:latin typeface="Times New Roman" pitchFamily="18" charset="0"/>
              </a:rPr>
              <a:t>   </a:t>
            </a:r>
            <a:r>
              <a:rPr lang="en-US" altLang="en-US" sz="2800" b="1"/>
              <a:t>H</a:t>
            </a:r>
            <a:r>
              <a:rPr lang="en-US" altLang="en-US" sz="2800" b="1" baseline="-25000"/>
              <a:t>A</a:t>
            </a:r>
            <a:r>
              <a:rPr lang="en-US" altLang="en-US" sz="2800" b="1"/>
              <a:t>:</a:t>
            </a:r>
            <a:r>
              <a:rPr lang="en-US" altLang="en-US" sz="2800" b="1">
                <a:latin typeface="Times New Roman" pitchFamily="18" charset="0"/>
              </a:rPr>
              <a:t> </a:t>
            </a:r>
            <a:r>
              <a:rPr lang="el-GR" altLang="en-US" sz="2800" b="1"/>
              <a:t>μ</a:t>
            </a:r>
            <a:r>
              <a:rPr lang="en-US" altLang="en-US" sz="2800" b="1">
                <a:latin typeface="Symbol" charset="2"/>
              </a:rPr>
              <a:t> ¹</a:t>
            </a:r>
            <a:r>
              <a:rPr lang="en-US" altLang="en-US" sz="2800" b="1">
                <a:latin typeface="Times New Roman" pitchFamily="18" charset="0"/>
              </a:rPr>
              <a:t> </a:t>
            </a:r>
            <a:r>
              <a:rPr lang="en-US" altLang="en-US" sz="2800" b="1"/>
              <a:t>168</a:t>
            </a:r>
          </a:p>
        </p:txBody>
      </p:sp>
      <p:pic>
        <p:nvPicPr>
          <p:cNvPr id="33798" name="Picture 10" descr="j021201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67400" y="1676400"/>
            <a:ext cx="2566988" cy="218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9" name="Line 13"/>
          <p:cNvSpPr>
            <a:spLocks noChangeShapeType="1"/>
          </p:cNvSpPr>
          <p:nvPr/>
        </p:nvSpPr>
        <p:spPr bwMode="auto">
          <a:xfrm>
            <a:off x="990600" y="4343400"/>
            <a:ext cx="1524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Tree>
    <p:custDataLst>
      <p:tags r:id="rId1"/>
    </p:custDataLst>
  </p:cSld>
  <p:clrMapOvr>
    <a:masterClrMapping/>
  </p:clrMapOvr>
  <p:transition spd="slow">
    <p:pull dir="lu"/>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71" name="Rectangle 1032"/>
          <p:cNvSpPr>
            <a:spLocks noGrp="1" noChangeArrowheads="1"/>
          </p:cNvSpPr>
          <p:nvPr>
            <p:ph type="title"/>
          </p:nvPr>
        </p:nvSpPr>
        <p:spPr>
          <a:xfrm>
            <a:off x="685800" y="304800"/>
            <a:ext cx="7793038" cy="762000"/>
          </a:xfrm>
        </p:spPr>
        <p:txBody>
          <a:bodyPr>
            <a:normAutofit fontScale="90000"/>
          </a:bodyPr>
          <a:lstStyle/>
          <a:p>
            <a:pPr eaLnBrk="1" hangingPunct="1">
              <a:lnSpc>
                <a:spcPct val="110000"/>
              </a:lnSpc>
              <a:defRPr/>
            </a:pPr>
            <a:r>
              <a:rPr lang="en-US" dirty="0" smtClean="0"/>
              <a:t>New York City Hotel Room Costs</a:t>
            </a:r>
          </a:p>
        </p:txBody>
      </p:sp>
      <p:sp>
        <p:nvSpPr>
          <p:cNvPr id="34818" name="Rectangle 1031"/>
          <p:cNvSpPr>
            <a:spLocks noGrp="1" noChangeArrowheads="1"/>
          </p:cNvSpPr>
          <p:nvPr>
            <p:ph idx="1"/>
          </p:nvPr>
        </p:nvSpPr>
        <p:spPr>
          <a:xfrm>
            <a:off x="228600" y="2438400"/>
            <a:ext cx="3124200" cy="381000"/>
          </a:xfrm>
          <a:noFill/>
        </p:spPr>
        <p:txBody>
          <a:bodyPr/>
          <a:lstStyle/>
          <a:p>
            <a:pPr eaLnBrk="1" hangingPunct="1">
              <a:lnSpc>
                <a:spcPct val="85000"/>
              </a:lnSpc>
              <a:spcBef>
                <a:spcPct val="35000"/>
              </a:spcBef>
              <a:buSzTx/>
              <a:buFont typeface="Wingdings" charset="2"/>
              <a:buChar char="§"/>
            </a:pPr>
            <a:r>
              <a:rPr lang="en-US" altLang="en-US" sz="2400" smtClean="0"/>
              <a:t>n = 25; df = 24</a:t>
            </a:r>
          </a:p>
        </p:txBody>
      </p:sp>
      <p:sp>
        <p:nvSpPr>
          <p:cNvPr id="4103" name="Rectangle 1036"/>
          <p:cNvSpPr>
            <a:spLocks noChangeArrowheads="1"/>
          </p:cNvSpPr>
          <p:nvPr/>
        </p:nvSpPr>
        <p:spPr bwMode="auto">
          <a:xfrm>
            <a:off x="3276600" y="5638800"/>
            <a:ext cx="5562600" cy="708025"/>
          </a:xfrm>
          <a:prstGeom prst="rect">
            <a:avLst/>
          </a:prstGeom>
          <a:solidFill>
            <a:srgbClr val="FFFFC3"/>
          </a:solidFill>
          <a:ln w="9525">
            <a:solidFill>
              <a:schemeClr val="tx1"/>
            </a:solidFill>
            <a:miter lim="800000"/>
            <a:headEnd/>
            <a:tailEnd/>
          </a:ln>
        </p:spPr>
        <p:txBody>
          <a:bodyPr lIns="90488" tIns="44450" rIns="90488" bIns="4445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50000"/>
              </a:spcBef>
              <a:buClrTx/>
              <a:buSzTx/>
              <a:buFontTx/>
              <a:buNone/>
            </a:pPr>
            <a:r>
              <a:rPr lang="en-US" altLang="en-US" sz="2000" b="1"/>
              <a:t>Do not reject H</a:t>
            </a:r>
            <a:r>
              <a:rPr lang="en-US" altLang="en-US" sz="2000" b="1" baseline="-25000"/>
              <a:t>0</a:t>
            </a:r>
            <a:r>
              <a:rPr lang="en-US" altLang="en-US" sz="2000" b="1"/>
              <a:t>:</a:t>
            </a:r>
            <a:r>
              <a:rPr lang="en-US" altLang="en-US" sz="2000"/>
              <a:t> not sufficient evidence that true mean cost is different than $168</a:t>
            </a:r>
          </a:p>
        </p:txBody>
      </p:sp>
      <p:sp>
        <p:nvSpPr>
          <p:cNvPr id="4104" name="Freeform 1061"/>
          <p:cNvSpPr>
            <a:spLocks/>
          </p:cNvSpPr>
          <p:nvPr/>
        </p:nvSpPr>
        <p:spPr bwMode="auto">
          <a:xfrm flipH="1">
            <a:off x="7848600" y="2133600"/>
            <a:ext cx="842963" cy="228600"/>
          </a:xfrm>
          <a:custGeom>
            <a:avLst/>
            <a:gdLst>
              <a:gd name="T0" fmla="*/ 2147483647 w 582"/>
              <a:gd name="T1" fmla="*/ 2147483647 h 183"/>
              <a:gd name="T2" fmla="*/ 0 w 582"/>
              <a:gd name="T3" fmla="*/ 2147483647 h 183"/>
              <a:gd name="T4" fmla="*/ 2147483647 w 582"/>
              <a:gd name="T5" fmla="*/ 2147483647 h 183"/>
              <a:gd name="T6" fmla="*/ 2147483647 w 582"/>
              <a:gd name="T7" fmla="*/ 2147483647 h 183"/>
              <a:gd name="T8" fmla="*/ 2147483647 w 582"/>
              <a:gd name="T9" fmla="*/ 2147483647 h 183"/>
              <a:gd name="T10" fmla="*/ 2147483647 w 582"/>
              <a:gd name="T11" fmla="*/ 0 h 183"/>
              <a:gd name="T12" fmla="*/ 2147483647 w 582"/>
              <a:gd name="T13" fmla="*/ 2147483647 h 183"/>
              <a:gd name="T14" fmla="*/ 2147483647 w 582"/>
              <a:gd name="T15" fmla="*/ 2147483647 h 183"/>
              <a:gd name="T16" fmla="*/ 2147483647 w 582"/>
              <a:gd name="T17" fmla="*/ 2147483647 h 18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82"/>
              <a:gd name="T28" fmla="*/ 0 h 183"/>
              <a:gd name="T29" fmla="*/ 582 w 582"/>
              <a:gd name="T30" fmla="*/ 183 h 18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82" h="183">
                <a:moveTo>
                  <a:pt x="9" y="177"/>
                </a:moveTo>
                <a:lnTo>
                  <a:pt x="0" y="132"/>
                </a:lnTo>
                <a:lnTo>
                  <a:pt x="258" y="114"/>
                </a:lnTo>
                <a:lnTo>
                  <a:pt x="423" y="66"/>
                </a:lnTo>
                <a:lnTo>
                  <a:pt x="504" y="48"/>
                </a:lnTo>
                <a:lnTo>
                  <a:pt x="582" y="0"/>
                </a:lnTo>
                <a:lnTo>
                  <a:pt x="582" y="183"/>
                </a:lnTo>
                <a:lnTo>
                  <a:pt x="9" y="182"/>
                </a:lnTo>
                <a:lnTo>
                  <a:pt x="9" y="177"/>
                </a:lnTo>
              </a:path>
            </a:pathLst>
          </a:custGeom>
          <a:solidFill>
            <a:srgbClr val="C3DBFF"/>
          </a:solidFill>
          <a:ln>
            <a:noFill/>
          </a:ln>
          <a:extLst>
            <a:ext uri="{91240B29-F687-4F45-9708-019B960494DF}">
              <a14:hiddenLine xmlns:a14="http://schemas.microsoft.com/office/drawing/2010/main" w="12700" cap="rnd" cmpd="sng">
                <a:solidFill>
                  <a:srgbClr val="000000"/>
                </a:solidFill>
                <a:prstDash val="solid"/>
                <a:round/>
                <a:headEnd type="none" w="sm" len="sm"/>
                <a:tailEnd type="none" w="sm" len="sm"/>
              </a14:hiddenLine>
            </a:ext>
          </a:extLst>
        </p:spPr>
        <p:txBody>
          <a:bodyPr/>
          <a:lstStyle/>
          <a:p>
            <a:endParaRPr lang="en-US"/>
          </a:p>
        </p:txBody>
      </p:sp>
      <p:sp>
        <p:nvSpPr>
          <p:cNvPr id="4105" name="Freeform 1062"/>
          <p:cNvSpPr>
            <a:spLocks/>
          </p:cNvSpPr>
          <p:nvPr/>
        </p:nvSpPr>
        <p:spPr bwMode="auto">
          <a:xfrm>
            <a:off x="3962400" y="2133600"/>
            <a:ext cx="833438" cy="228600"/>
          </a:xfrm>
          <a:custGeom>
            <a:avLst/>
            <a:gdLst>
              <a:gd name="T0" fmla="*/ 2147483647 w 582"/>
              <a:gd name="T1" fmla="*/ 2147483647 h 183"/>
              <a:gd name="T2" fmla="*/ 0 w 582"/>
              <a:gd name="T3" fmla="*/ 2147483647 h 183"/>
              <a:gd name="T4" fmla="*/ 2147483647 w 582"/>
              <a:gd name="T5" fmla="*/ 2147483647 h 183"/>
              <a:gd name="T6" fmla="*/ 2147483647 w 582"/>
              <a:gd name="T7" fmla="*/ 2147483647 h 183"/>
              <a:gd name="T8" fmla="*/ 2147483647 w 582"/>
              <a:gd name="T9" fmla="*/ 2147483647 h 183"/>
              <a:gd name="T10" fmla="*/ 2147483647 w 582"/>
              <a:gd name="T11" fmla="*/ 0 h 183"/>
              <a:gd name="T12" fmla="*/ 2147483647 w 582"/>
              <a:gd name="T13" fmla="*/ 2147483647 h 183"/>
              <a:gd name="T14" fmla="*/ 2147483647 w 582"/>
              <a:gd name="T15" fmla="*/ 2147483647 h 183"/>
              <a:gd name="T16" fmla="*/ 2147483647 w 582"/>
              <a:gd name="T17" fmla="*/ 2147483647 h 18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82"/>
              <a:gd name="T28" fmla="*/ 0 h 183"/>
              <a:gd name="T29" fmla="*/ 582 w 582"/>
              <a:gd name="T30" fmla="*/ 183 h 18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82" h="183">
                <a:moveTo>
                  <a:pt x="9" y="177"/>
                </a:moveTo>
                <a:lnTo>
                  <a:pt x="0" y="132"/>
                </a:lnTo>
                <a:lnTo>
                  <a:pt x="258" y="114"/>
                </a:lnTo>
                <a:lnTo>
                  <a:pt x="423" y="66"/>
                </a:lnTo>
                <a:lnTo>
                  <a:pt x="504" y="48"/>
                </a:lnTo>
                <a:lnTo>
                  <a:pt x="582" y="0"/>
                </a:lnTo>
                <a:lnTo>
                  <a:pt x="582" y="183"/>
                </a:lnTo>
                <a:lnTo>
                  <a:pt x="9" y="182"/>
                </a:lnTo>
                <a:lnTo>
                  <a:pt x="9" y="177"/>
                </a:lnTo>
              </a:path>
            </a:pathLst>
          </a:custGeom>
          <a:solidFill>
            <a:srgbClr val="C3DBFF"/>
          </a:solidFill>
          <a:ln>
            <a:noFill/>
          </a:ln>
          <a:extLst>
            <a:ext uri="{91240B29-F687-4F45-9708-019B960494DF}">
              <a14:hiddenLine xmlns:a14="http://schemas.microsoft.com/office/drawing/2010/main" w="12700" cap="rnd" cmpd="sng">
                <a:solidFill>
                  <a:srgbClr val="000000"/>
                </a:solidFill>
                <a:prstDash val="solid"/>
                <a:round/>
                <a:headEnd type="none" w="sm" len="sm"/>
                <a:tailEnd type="none" w="sm" len="sm"/>
              </a14:hiddenLine>
            </a:ext>
          </a:extLst>
        </p:spPr>
        <p:txBody>
          <a:bodyPr/>
          <a:lstStyle/>
          <a:p>
            <a:endParaRPr lang="en-US"/>
          </a:p>
        </p:txBody>
      </p:sp>
      <p:sp>
        <p:nvSpPr>
          <p:cNvPr id="4106" name="Freeform 1063"/>
          <p:cNvSpPr>
            <a:spLocks/>
          </p:cNvSpPr>
          <p:nvPr/>
        </p:nvSpPr>
        <p:spPr bwMode="auto">
          <a:xfrm>
            <a:off x="4038600" y="990600"/>
            <a:ext cx="2362200" cy="1295400"/>
          </a:xfrm>
          <a:custGeom>
            <a:avLst/>
            <a:gdLst>
              <a:gd name="T0" fmla="*/ 0 w 600"/>
              <a:gd name="T1" fmla="*/ 2147483647 h 576"/>
              <a:gd name="T2" fmla="*/ 2147483647 w 600"/>
              <a:gd name="T3" fmla="*/ 2147483647 h 576"/>
              <a:gd name="T4" fmla="*/ 2147483647 w 600"/>
              <a:gd name="T5" fmla="*/ 2147483647 h 576"/>
              <a:gd name="T6" fmla="*/ 2147483647 w 600"/>
              <a:gd name="T7" fmla="*/ 2147483647 h 576"/>
              <a:gd name="T8" fmla="*/ 2147483647 w 600"/>
              <a:gd name="T9" fmla="*/ 2147483647 h 576"/>
              <a:gd name="T10" fmla="*/ 2147483647 w 600"/>
              <a:gd name="T11" fmla="*/ 2147483647 h 576"/>
              <a:gd name="T12" fmla="*/ 2147483647 w 600"/>
              <a:gd name="T13" fmla="*/ 2147483647 h 576"/>
              <a:gd name="T14" fmla="*/ 2147483647 w 600"/>
              <a:gd name="T15" fmla="*/ 2147483647 h 576"/>
              <a:gd name="T16" fmla="*/ 2147483647 w 600"/>
              <a:gd name="T17" fmla="*/ 2147483647 h 576"/>
              <a:gd name="T18" fmla="*/ 2147483647 w 600"/>
              <a:gd name="T19" fmla="*/ 2147483647 h 576"/>
              <a:gd name="T20" fmla="*/ 2147483647 w 600"/>
              <a:gd name="T21" fmla="*/ 2147483647 h 576"/>
              <a:gd name="T22" fmla="*/ 2147483647 w 600"/>
              <a:gd name="T23" fmla="*/ 2147483647 h 576"/>
              <a:gd name="T24" fmla="*/ 2147483647 w 600"/>
              <a:gd name="T25" fmla="*/ 2147483647 h 576"/>
              <a:gd name="T26" fmla="*/ 2147483647 w 600"/>
              <a:gd name="T27" fmla="*/ 2147483647 h 576"/>
              <a:gd name="T28" fmla="*/ 2147483647 w 600"/>
              <a:gd name="T29" fmla="*/ 2147483647 h 576"/>
              <a:gd name="T30" fmla="*/ 2147483647 w 600"/>
              <a:gd name="T31" fmla="*/ 0 h 57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600"/>
              <a:gd name="T49" fmla="*/ 0 h 576"/>
              <a:gd name="T50" fmla="*/ 600 w 600"/>
              <a:gd name="T51" fmla="*/ 576 h 57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600" h="576">
                <a:moveTo>
                  <a:pt x="0" y="575"/>
                </a:moveTo>
                <a:lnTo>
                  <a:pt x="63" y="570"/>
                </a:lnTo>
                <a:lnTo>
                  <a:pt x="95" y="562"/>
                </a:lnTo>
                <a:lnTo>
                  <a:pt x="127" y="553"/>
                </a:lnTo>
                <a:lnTo>
                  <a:pt x="158" y="540"/>
                </a:lnTo>
                <a:lnTo>
                  <a:pt x="190" y="521"/>
                </a:lnTo>
                <a:lnTo>
                  <a:pt x="222" y="498"/>
                </a:lnTo>
                <a:lnTo>
                  <a:pt x="284" y="432"/>
                </a:lnTo>
                <a:lnTo>
                  <a:pt x="347" y="338"/>
                </a:lnTo>
                <a:lnTo>
                  <a:pt x="410" y="224"/>
                </a:lnTo>
                <a:lnTo>
                  <a:pt x="441" y="167"/>
                </a:lnTo>
                <a:lnTo>
                  <a:pt x="473" y="114"/>
                </a:lnTo>
                <a:lnTo>
                  <a:pt x="505" y="67"/>
                </a:lnTo>
                <a:lnTo>
                  <a:pt x="535" y="31"/>
                </a:lnTo>
                <a:lnTo>
                  <a:pt x="567" y="8"/>
                </a:lnTo>
                <a:lnTo>
                  <a:pt x="599" y="0"/>
                </a:lnTo>
              </a:path>
            </a:pathLst>
          </a:custGeom>
          <a:noFill/>
          <a:ln w="50800" cap="rnd" cmpd="sng">
            <a:solidFill>
              <a:srgbClr val="FF0000"/>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107" name="Freeform 1064"/>
          <p:cNvSpPr>
            <a:spLocks/>
          </p:cNvSpPr>
          <p:nvPr/>
        </p:nvSpPr>
        <p:spPr bwMode="auto">
          <a:xfrm>
            <a:off x="6400800" y="990600"/>
            <a:ext cx="2209800" cy="1295400"/>
          </a:xfrm>
          <a:custGeom>
            <a:avLst/>
            <a:gdLst>
              <a:gd name="T0" fmla="*/ 2147483647 w 576"/>
              <a:gd name="T1" fmla="*/ 2147483647 h 576"/>
              <a:gd name="T2" fmla="*/ 2147483647 w 576"/>
              <a:gd name="T3" fmla="*/ 2147483647 h 576"/>
              <a:gd name="T4" fmla="*/ 2147483647 w 576"/>
              <a:gd name="T5" fmla="*/ 2147483647 h 576"/>
              <a:gd name="T6" fmla="*/ 2147483647 w 576"/>
              <a:gd name="T7" fmla="*/ 2147483647 h 576"/>
              <a:gd name="T8" fmla="*/ 2147483647 w 576"/>
              <a:gd name="T9" fmla="*/ 2147483647 h 576"/>
              <a:gd name="T10" fmla="*/ 2147483647 w 576"/>
              <a:gd name="T11" fmla="*/ 2147483647 h 576"/>
              <a:gd name="T12" fmla="*/ 2147483647 w 576"/>
              <a:gd name="T13" fmla="*/ 2147483647 h 576"/>
              <a:gd name="T14" fmla="*/ 2147483647 w 576"/>
              <a:gd name="T15" fmla="*/ 2147483647 h 576"/>
              <a:gd name="T16" fmla="*/ 2147483647 w 576"/>
              <a:gd name="T17" fmla="*/ 2147483647 h 576"/>
              <a:gd name="T18" fmla="*/ 2147483647 w 576"/>
              <a:gd name="T19" fmla="*/ 2147483647 h 576"/>
              <a:gd name="T20" fmla="*/ 2147483647 w 576"/>
              <a:gd name="T21" fmla="*/ 2147483647 h 576"/>
              <a:gd name="T22" fmla="*/ 2147483647 w 576"/>
              <a:gd name="T23" fmla="*/ 2147483647 h 576"/>
              <a:gd name="T24" fmla="*/ 2147483647 w 576"/>
              <a:gd name="T25" fmla="*/ 2147483647 h 576"/>
              <a:gd name="T26" fmla="*/ 2147483647 w 576"/>
              <a:gd name="T27" fmla="*/ 2147483647 h 576"/>
              <a:gd name="T28" fmla="*/ 2147483647 w 576"/>
              <a:gd name="T29" fmla="*/ 2147483647 h 576"/>
              <a:gd name="T30" fmla="*/ 0 w 576"/>
              <a:gd name="T31" fmla="*/ 0 h 57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576"/>
              <a:gd name="T49" fmla="*/ 0 h 576"/>
              <a:gd name="T50" fmla="*/ 576 w 576"/>
              <a:gd name="T51" fmla="*/ 576 h 57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576" h="576">
                <a:moveTo>
                  <a:pt x="575" y="575"/>
                </a:moveTo>
                <a:lnTo>
                  <a:pt x="515" y="570"/>
                </a:lnTo>
                <a:lnTo>
                  <a:pt x="484" y="562"/>
                </a:lnTo>
                <a:lnTo>
                  <a:pt x="455" y="553"/>
                </a:lnTo>
                <a:lnTo>
                  <a:pt x="424" y="540"/>
                </a:lnTo>
                <a:lnTo>
                  <a:pt x="393" y="521"/>
                </a:lnTo>
                <a:lnTo>
                  <a:pt x="364" y="498"/>
                </a:lnTo>
                <a:lnTo>
                  <a:pt x="303" y="432"/>
                </a:lnTo>
                <a:lnTo>
                  <a:pt x="242" y="338"/>
                </a:lnTo>
                <a:lnTo>
                  <a:pt x="182" y="224"/>
                </a:lnTo>
                <a:lnTo>
                  <a:pt x="151" y="167"/>
                </a:lnTo>
                <a:lnTo>
                  <a:pt x="120" y="114"/>
                </a:lnTo>
                <a:lnTo>
                  <a:pt x="91" y="67"/>
                </a:lnTo>
                <a:lnTo>
                  <a:pt x="60" y="31"/>
                </a:lnTo>
                <a:lnTo>
                  <a:pt x="30" y="8"/>
                </a:lnTo>
                <a:lnTo>
                  <a:pt x="0" y="0"/>
                </a:lnTo>
              </a:path>
            </a:pathLst>
          </a:custGeom>
          <a:noFill/>
          <a:ln w="50800" cap="rnd" cmpd="sng">
            <a:solidFill>
              <a:srgbClr val="FF0000"/>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108" name="Line 1065"/>
          <p:cNvSpPr>
            <a:spLocks noChangeShapeType="1"/>
          </p:cNvSpPr>
          <p:nvPr/>
        </p:nvSpPr>
        <p:spPr bwMode="auto">
          <a:xfrm>
            <a:off x="3810000" y="2362200"/>
            <a:ext cx="510540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109" name="Line 1066"/>
          <p:cNvSpPr>
            <a:spLocks noChangeShapeType="1"/>
          </p:cNvSpPr>
          <p:nvPr/>
        </p:nvSpPr>
        <p:spPr bwMode="auto">
          <a:xfrm>
            <a:off x="4038600" y="1828800"/>
            <a:ext cx="457200" cy="45720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110" name="Rectangle 1067"/>
          <p:cNvSpPr>
            <a:spLocks noChangeArrowheads="1"/>
          </p:cNvSpPr>
          <p:nvPr/>
        </p:nvSpPr>
        <p:spPr bwMode="auto">
          <a:xfrm flipH="1">
            <a:off x="3352800" y="1447800"/>
            <a:ext cx="121920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50000"/>
              </a:spcBef>
              <a:buClrTx/>
              <a:buSzTx/>
              <a:buFontTx/>
              <a:buNone/>
            </a:pPr>
            <a:r>
              <a:rPr lang="en-US" altLang="en-US" sz="2000"/>
              <a:t>.079</a:t>
            </a:r>
          </a:p>
        </p:txBody>
      </p:sp>
      <p:sp>
        <p:nvSpPr>
          <p:cNvPr id="4111" name="Line 1068"/>
          <p:cNvSpPr>
            <a:spLocks noChangeShapeType="1"/>
          </p:cNvSpPr>
          <p:nvPr/>
        </p:nvSpPr>
        <p:spPr bwMode="auto">
          <a:xfrm>
            <a:off x="6390167" y="1057275"/>
            <a:ext cx="0" cy="1371600"/>
          </a:xfrm>
          <a:prstGeom prst="line">
            <a:avLst/>
          </a:prstGeom>
          <a:noFill/>
          <a:ln w="9525" cap="rnd">
            <a:solidFill>
              <a:schemeClr val="tx1"/>
            </a:solidFill>
            <a:prstDash val="sysDot"/>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4112" name="Text Box 1075"/>
          <p:cNvSpPr txBox="1">
            <a:spLocks noChangeArrowheads="1"/>
          </p:cNvSpPr>
          <p:nvPr/>
        </p:nvSpPr>
        <p:spPr bwMode="auto">
          <a:xfrm>
            <a:off x="6172200" y="2362200"/>
            <a:ext cx="457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eaLnBrk="1" hangingPunct="1">
              <a:spcBef>
                <a:spcPct val="50000"/>
              </a:spcBef>
              <a:buClrTx/>
              <a:buSzTx/>
              <a:buFontTx/>
              <a:buNone/>
            </a:pPr>
            <a:r>
              <a:rPr lang="en-US" altLang="en-US" sz="1800" dirty="0">
                <a:cs typeface="Arial" charset="0"/>
              </a:rPr>
              <a:t>0</a:t>
            </a:r>
            <a:endParaRPr lang="el-GR" altLang="en-US" sz="1800" baseline="-25000" dirty="0">
              <a:cs typeface="Arial" charset="0"/>
            </a:endParaRPr>
          </a:p>
        </p:txBody>
      </p:sp>
      <p:sp>
        <p:nvSpPr>
          <p:cNvPr id="4113" name="Line 1081"/>
          <p:cNvSpPr>
            <a:spLocks noChangeShapeType="1"/>
          </p:cNvSpPr>
          <p:nvPr/>
        </p:nvSpPr>
        <p:spPr bwMode="auto">
          <a:xfrm flipH="1">
            <a:off x="8001000" y="1828800"/>
            <a:ext cx="304800" cy="45720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114" name="Rectangle 1082"/>
          <p:cNvSpPr>
            <a:spLocks noChangeArrowheads="1"/>
          </p:cNvSpPr>
          <p:nvPr/>
        </p:nvSpPr>
        <p:spPr bwMode="auto">
          <a:xfrm flipH="1">
            <a:off x="7696200" y="1447800"/>
            <a:ext cx="121920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50000"/>
              </a:spcBef>
              <a:buClrTx/>
              <a:buSzTx/>
              <a:buFontTx/>
              <a:buNone/>
            </a:pPr>
            <a:r>
              <a:rPr lang="en-US" altLang="en-US" sz="2000"/>
              <a:t>.079</a:t>
            </a:r>
          </a:p>
        </p:txBody>
      </p:sp>
      <p:graphicFrame>
        <p:nvGraphicFramePr>
          <p:cNvPr id="4098" name="Object 1085">
            <a:hlinkClick r:id="" action="ppaction://ole?verb=0"/>
          </p:cNvPr>
          <p:cNvGraphicFramePr>
            <a:graphicFrameLocks/>
          </p:cNvGraphicFramePr>
          <p:nvPr/>
        </p:nvGraphicFramePr>
        <p:xfrm>
          <a:off x="409575" y="3438525"/>
          <a:ext cx="3933825" cy="989013"/>
        </p:xfrm>
        <a:graphic>
          <a:graphicData uri="http://schemas.openxmlformats.org/presentationml/2006/ole">
            <mc:AlternateContent xmlns:mc="http://schemas.openxmlformats.org/markup-compatibility/2006">
              <mc:Choice xmlns:v="urn:schemas-microsoft-com:vml" Requires="v">
                <p:oleObj spid="_x0000_s34961" name="Equation" r:id="rId4" imgW="2095421" imgH="609660" progId="Equation.DSMT4">
                  <p:embed/>
                </p:oleObj>
              </mc:Choice>
              <mc:Fallback>
                <p:oleObj name="Equation" r:id="rId4" imgW="2095421" imgH="609660" progId="Equation.DSMT4">
                  <p:embed/>
                  <p:pic>
                    <p:nvPicPr>
                      <p:cNvPr id="0" name="Object 1085"/>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9575" y="3438525"/>
                        <a:ext cx="3933825" cy="98901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115" name="Rectangle 1086"/>
          <p:cNvSpPr>
            <a:spLocks noChangeArrowheads="1"/>
          </p:cNvSpPr>
          <p:nvPr/>
        </p:nvSpPr>
        <p:spPr bwMode="auto">
          <a:xfrm flipH="1">
            <a:off x="7467600" y="2971800"/>
            <a:ext cx="762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50000"/>
              </a:spcBef>
              <a:buClrTx/>
              <a:buSzTx/>
              <a:buFontTx/>
              <a:buNone/>
            </a:pPr>
            <a:r>
              <a:rPr lang="en-US" altLang="en-US" sz="2000" b="1">
                <a:solidFill>
                  <a:schemeClr val="folHlink"/>
                </a:solidFill>
              </a:rPr>
              <a:t>1. 46</a:t>
            </a:r>
          </a:p>
        </p:txBody>
      </p:sp>
      <p:sp>
        <p:nvSpPr>
          <p:cNvPr id="4116" name="Line 1087"/>
          <p:cNvSpPr>
            <a:spLocks noChangeShapeType="1"/>
          </p:cNvSpPr>
          <p:nvPr/>
        </p:nvSpPr>
        <p:spPr bwMode="auto">
          <a:xfrm flipV="1">
            <a:off x="7848600" y="2362200"/>
            <a:ext cx="0" cy="609600"/>
          </a:xfrm>
          <a:prstGeom prst="line">
            <a:avLst/>
          </a:prstGeom>
          <a:noFill/>
          <a:ln w="57150">
            <a:solidFill>
              <a:schemeClr val="folHlink"/>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4835" name="Rectangle 1093"/>
          <p:cNvSpPr>
            <a:spLocks noChangeArrowheads="1"/>
          </p:cNvSpPr>
          <p:nvPr/>
        </p:nvSpPr>
        <p:spPr bwMode="auto">
          <a:xfrm>
            <a:off x="533400" y="1219200"/>
            <a:ext cx="2057400" cy="1047750"/>
          </a:xfrm>
          <a:prstGeom prst="rect">
            <a:avLst/>
          </a:prstGeom>
          <a:noFill/>
          <a:ln w="19050">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lIns="90488" tIns="44450" rIns="90488" bIns="4445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lnSpc>
                <a:spcPct val="110000"/>
              </a:lnSpc>
              <a:spcBef>
                <a:spcPct val="50000"/>
              </a:spcBef>
              <a:buClrTx/>
              <a:buSzTx/>
              <a:buFontTx/>
              <a:buNone/>
            </a:pPr>
            <a:r>
              <a:rPr lang="en-US" altLang="en-US" sz="2800" b="1"/>
              <a:t>H</a:t>
            </a:r>
            <a:r>
              <a:rPr lang="en-US" altLang="en-US" sz="2800" b="1" baseline="-25000"/>
              <a:t>0</a:t>
            </a:r>
            <a:r>
              <a:rPr lang="en-US" altLang="en-US" sz="2800" b="1"/>
              <a:t>:</a:t>
            </a:r>
            <a:r>
              <a:rPr lang="en-US" altLang="en-US" sz="2800" b="1">
                <a:latin typeface="Times New Roman" pitchFamily="18" charset="0"/>
              </a:rPr>
              <a:t> </a:t>
            </a:r>
            <a:r>
              <a:rPr lang="el-GR" altLang="en-US" sz="2800" b="1"/>
              <a:t>μ</a:t>
            </a:r>
            <a:r>
              <a:rPr lang="en-US" altLang="en-US" sz="2800" b="1">
                <a:latin typeface="Symbol" charset="2"/>
              </a:rPr>
              <a:t> </a:t>
            </a:r>
            <a:r>
              <a:rPr lang="en-US" altLang="en-US" sz="2800" b="1"/>
              <a:t>= 168</a:t>
            </a:r>
            <a:r>
              <a:rPr lang="en-US" altLang="en-US" sz="2800" b="1">
                <a:latin typeface="Times New Roman" pitchFamily="18" charset="0"/>
              </a:rPr>
              <a:t>   </a:t>
            </a:r>
            <a:r>
              <a:rPr lang="en-US" altLang="en-US" sz="2800" b="1"/>
              <a:t>H</a:t>
            </a:r>
            <a:r>
              <a:rPr lang="en-US" altLang="en-US" sz="2800" b="1" baseline="-25000"/>
              <a:t>A</a:t>
            </a:r>
            <a:r>
              <a:rPr lang="en-US" altLang="en-US" sz="2800" b="1"/>
              <a:t>:</a:t>
            </a:r>
            <a:r>
              <a:rPr lang="en-US" altLang="en-US" sz="2800" b="1">
                <a:latin typeface="Times New Roman" pitchFamily="18" charset="0"/>
              </a:rPr>
              <a:t> </a:t>
            </a:r>
            <a:r>
              <a:rPr lang="el-GR" altLang="en-US" sz="2800" b="1"/>
              <a:t>μ</a:t>
            </a:r>
            <a:r>
              <a:rPr lang="en-US" altLang="en-US" sz="2800" b="1">
                <a:latin typeface="Symbol" charset="2"/>
              </a:rPr>
              <a:t> ¹</a:t>
            </a:r>
            <a:r>
              <a:rPr lang="en-US" altLang="en-US" sz="2800" b="1">
                <a:latin typeface="Times New Roman" pitchFamily="18" charset="0"/>
              </a:rPr>
              <a:t> </a:t>
            </a:r>
            <a:r>
              <a:rPr lang="en-US" altLang="en-US" sz="2800" b="1"/>
              <a:t>168</a:t>
            </a:r>
          </a:p>
        </p:txBody>
      </p:sp>
      <p:sp>
        <p:nvSpPr>
          <p:cNvPr id="4118" name="Line 1087"/>
          <p:cNvSpPr>
            <a:spLocks noChangeShapeType="1"/>
          </p:cNvSpPr>
          <p:nvPr/>
        </p:nvSpPr>
        <p:spPr bwMode="auto">
          <a:xfrm flipV="1">
            <a:off x="4800600" y="2362200"/>
            <a:ext cx="0" cy="609600"/>
          </a:xfrm>
          <a:prstGeom prst="line">
            <a:avLst/>
          </a:prstGeom>
          <a:noFill/>
          <a:ln w="57150">
            <a:solidFill>
              <a:schemeClr val="folHlink"/>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119" name="Rectangle 1086"/>
          <p:cNvSpPr>
            <a:spLocks noChangeArrowheads="1"/>
          </p:cNvSpPr>
          <p:nvPr/>
        </p:nvSpPr>
        <p:spPr bwMode="auto">
          <a:xfrm flipH="1">
            <a:off x="4419600" y="2971800"/>
            <a:ext cx="838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50000"/>
              </a:spcBef>
              <a:buClrTx/>
              <a:buSzTx/>
              <a:buFontTx/>
              <a:buNone/>
            </a:pPr>
            <a:r>
              <a:rPr lang="en-US" altLang="en-US" sz="2000" b="1">
                <a:solidFill>
                  <a:schemeClr val="folHlink"/>
                </a:solidFill>
              </a:rPr>
              <a:t>-1. 46</a:t>
            </a:r>
          </a:p>
        </p:txBody>
      </p:sp>
      <p:graphicFrame>
        <p:nvGraphicFramePr>
          <p:cNvPr id="4099" name="Object 3"/>
          <p:cNvGraphicFramePr>
            <a:graphicFrameLocks noChangeAspect="1"/>
          </p:cNvGraphicFramePr>
          <p:nvPr/>
        </p:nvGraphicFramePr>
        <p:xfrm>
          <a:off x="381000" y="2895600"/>
          <a:ext cx="2762250" cy="381000"/>
        </p:xfrm>
        <a:graphic>
          <a:graphicData uri="http://schemas.openxmlformats.org/presentationml/2006/ole">
            <mc:AlternateContent xmlns:mc="http://schemas.openxmlformats.org/markup-compatibility/2006">
              <mc:Choice xmlns:v="urn:schemas-microsoft-com:vml" Requires="v">
                <p:oleObj spid="_x0000_s34962" name="Equation" r:id="rId6" imgW="1473200" imgH="203200" progId="Equation.DSMT4">
                  <p:embed/>
                </p:oleObj>
              </mc:Choice>
              <mc:Fallback>
                <p:oleObj name="Equation" r:id="rId6" imgW="1473200" imgH="203200" progId="Equation.DSMT4">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1000" y="2895600"/>
                        <a:ext cx="2762250"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120" name="TextBox 42"/>
          <p:cNvSpPr txBox="1">
            <a:spLocks noChangeArrowheads="1"/>
          </p:cNvSpPr>
          <p:nvPr/>
        </p:nvSpPr>
        <p:spPr bwMode="auto">
          <a:xfrm>
            <a:off x="4419600" y="1274762"/>
            <a:ext cx="914400" cy="369888"/>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eaLnBrk="1" hangingPunct="1">
              <a:spcBef>
                <a:spcPct val="0"/>
              </a:spcBef>
              <a:buClrTx/>
              <a:buSzTx/>
              <a:buFontTx/>
              <a:buNone/>
            </a:pPr>
            <a:r>
              <a:rPr lang="en-US" altLang="en-US" sz="1800" dirty="0">
                <a:cs typeface="Arial" charset="0"/>
              </a:rPr>
              <a:t>t, 24 </a:t>
            </a:r>
            <a:r>
              <a:rPr lang="en-US" altLang="en-US" sz="1800" dirty="0" err="1">
                <a:cs typeface="Arial" charset="0"/>
              </a:rPr>
              <a:t>df</a:t>
            </a:r>
            <a:endParaRPr lang="en-US" altLang="en-US" sz="1800" dirty="0">
              <a:cs typeface="Arial" charset="0"/>
            </a:endParaRPr>
          </a:p>
        </p:txBody>
      </p:sp>
      <p:cxnSp>
        <p:nvCxnSpPr>
          <p:cNvPr id="45" name="Straight Arrow Connector 44"/>
          <p:cNvCxnSpPr/>
          <p:nvPr/>
        </p:nvCxnSpPr>
        <p:spPr>
          <a:xfrm>
            <a:off x="5638800" y="1143000"/>
            <a:ext cx="152400" cy="76200"/>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graphicFrame>
        <p:nvGraphicFramePr>
          <p:cNvPr id="4100" name="Object 4"/>
          <p:cNvGraphicFramePr>
            <a:graphicFrameLocks noChangeAspect="1"/>
          </p:cNvGraphicFramePr>
          <p:nvPr/>
        </p:nvGraphicFramePr>
        <p:xfrm>
          <a:off x="4953000" y="3886200"/>
          <a:ext cx="3371850" cy="457200"/>
        </p:xfrm>
        <a:graphic>
          <a:graphicData uri="http://schemas.openxmlformats.org/presentationml/2006/ole">
            <mc:AlternateContent xmlns:mc="http://schemas.openxmlformats.org/markup-compatibility/2006">
              <mc:Choice xmlns:v="urn:schemas-microsoft-com:vml" Requires="v">
                <p:oleObj spid="_x0000_s34963" name="Equation" r:id="rId8" imgW="1497950" imgH="203112" progId="Equation.DSMT4">
                  <p:embed/>
                </p:oleObj>
              </mc:Choice>
              <mc:Fallback>
                <p:oleObj name="Equation" r:id="rId8" imgW="1497950" imgH="203112" progId="Equation.DSMT4">
                  <p:embed/>
                  <p:pic>
                    <p:nvPicPr>
                      <p:cNvPr id="0"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953000" y="3886200"/>
                        <a:ext cx="33718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 name="Table 47"/>
          <p:cNvGraphicFramePr>
            <a:graphicFrameLocks noGrp="1"/>
          </p:cNvGraphicFramePr>
          <p:nvPr/>
        </p:nvGraphicFramePr>
        <p:xfrm>
          <a:off x="609600" y="4572000"/>
          <a:ext cx="6096000" cy="938212"/>
        </p:xfrm>
        <a:graphic>
          <a:graphicData uri="http://schemas.openxmlformats.org/drawingml/2006/table">
            <a:tbl>
              <a:tblPr/>
              <a:tblGrid>
                <a:gridCol w="864000"/>
                <a:gridCol w="576000"/>
                <a:gridCol w="576000"/>
                <a:gridCol w="576000"/>
                <a:gridCol w="576000"/>
                <a:gridCol w="624000"/>
                <a:gridCol w="576000"/>
                <a:gridCol w="576000"/>
                <a:gridCol w="576000"/>
                <a:gridCol w="576000"/>
              </a:tblGrid>
              <a:tr h="189083">
                <a:tc>
                  <a:txBody>
                    <a:bodyPr/>
                    <a:lstStyle/>
                    <a:p>
                      <a:pPr algn="l" fontAlgn="b"/>
                      <a:r>
                        <a:rPr lang="en-US" sz="1100" b="0" i="0" u="none" strike="noStrike" dirty="0">
                          <a:latin typeface="Arial"/>
                        </a:rPr>
                        <a:t>Conf. Level</a:t>
                      </a:r>
                    </a:p>
                  </a:txBody>
                  <a:tcPr marL="9000" marR="9000" marT="9004"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latin typeface="Arial"/>
                        </a:rPr>
                        <a:t>0.1</a:t>
                      </a:r>
                    </a:p>
                  </a:txBody>
                  <a:tcPr marL="9000" marR="9000" marT="9004"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r" fontAlgn="b"/>
                      <a:r>
                        <a:rPr lang="en-US" sz="1100" b="0" i="0" u="none" strike="noStrike">
                          <a:latin typeface="Arial"/>
                        </a:rPr>
                        <a:t>0.3</a:t>
                      </a:r>
                    </a:p>
                  </a:txBody>
                  <a:tcPr marL="9000" marR="9000" marT="9004"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r" fontAlgn="b"/>
                      <a:r>
                        <a:rPr lang="en-US" sz="1100" b="0" i="0" u="none" strike="noStrike">
                          <a:latin typeface="Arial"/>
                        </a:rPr>
                        <a:t>0.5</a:t>
                      </a:r>
                    </a:p>
                  </a:txBody>
                  <a:tcPr marL="9000" marR="9000" marT="9004"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r" fontAlgn="b"/>
                      <a:r>
                        <a:rPr lang="en-US" sz="1100" b="0" i="0" u="none" strike="noStrike" dirty="0">
                          <a:latin typeface="Arial"/>
                        </a:rPr>
                        <a:t>0.7</a:t>
                      </a:r>
                    </a:p>
                  </a:txBody>
                  <a:tcPr marL="9000" marR="9000" marT="9004"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r" fontAlgn="b"/>
                      <a:r>
                        <a:rPr lang="en-US" sz="1100" b="0" i="0" u="none" strike="noStrike">
                          <a:latin typeface="Arial"/>
                        </a:rPr>
                        <a:t>0.8</a:t>
                      </a:r>
                    </a:p>
                  </a:txBody>
                  <a:tcPr marL="9000" marR="9000" marT="9004"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latin typeface="Arial"/>
                        </a:rPr>
                        <a:t>0.9</a:t>
                      </a:r>
                    </a:p>
                  </a:txBody>
                  <a:tcPr marL="9000" marR="9000" marT="9004"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latin typeface="Arial"/>
                        </a:rPr>
                        <a:t>0.95</a:t>
                      </a:r>
                    </a:p>
                  </a:txBody>
                  <a:tcPr marL="9000" marR="9000" marT="9004"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r" fontAlgn="b"/>
                      <a:r>
                        <a:rPr lang="en-US" sz="1100" b="0" i="0" u="none" strike="noStrike">
                          <a:latin typeface="Arial"/>
                        </a:rPr>
                        <a:t>0.98</a:t>
                      </a:r>
                    </a:p>
                  </a:txBody>
                  <a:tcPr marL="9000" marR="9000" marT="9004"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r" fontAlgn="b"/>
                      <a:r>
                        <a:rPr lang="en-US" sz="1100" b="0" i="0" u="none" strike="noStrike">
                          <a:latin typeface="Arial"/>
                        </a:rPr>
                        <a:t>0.99</a:t>
                      </a:r>
                    </a:p>
                  </a:txBody>
                  <a:tcPr marL="9000" marR="9000" marT="9004"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r>
              <a:tr h="189083">
                <a:tc>
                  <a:txBody>
                    <a:bodyPr/>
                    <a:lstStyle/>
                    <a:p>
                      <a:pPr algn="l" fontAlgn="b"/>
                      <a:r>
                        <a:rPr lang="en-US" sz="1100" b="0" i="0" u="none" strike="noStrike">
                          <a:latin typeface="Arial"/>
                        </a:rPr>
                        <a:t>Two Tail</a:t>
                      </a:r>
                    </a:p>
                  </a:txBody>
                  <a:tcPr marL="9000" marR="9000" marT="900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latin typeface="Arial"/>
                        </a:rPr>
                        <a:t>0.9</a:t>
                      </a:r>
                    </a:p>
                  </a:txBody>
                  <a:tcPr marL="9000" marR="9000" marT="9004"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r" fontAlgn="b"/>
                      <a:r>
                        <a:rPr lang="en-US" sz="1100" b="0" i="0" u="none" strike="noStrike">
                          <a:latin typeface="Arial"/>
                        </a:rPr>
                        <a:t>0.7</a:t>
                      </a:r>
                    </a:p>
                  </a:txBody>
                  <a:tcPr marL="9000" marR="9000" marT="9004" marB="0" anchor="b">
                    <a:lnL>
                      <a:noFill/>
                    </a:lnL>
                    <a:lnR>
                      <a:noFill/>
                    </a:lnR>
                    <a:lnT>
                      <a:noFill/>
                    </a:lnT>
                    <a:lnB>
                      <a:noFill/>
                    </a:lnB>
                  </a:tcPr>
                </a:tc>
                <a:tc>
                  <a:txBody>
                    <a:bodyPr/>
                    <a:lstStyle/>
                    <a:p>
                      <a:pPr algn="r" fontAlgn="b"/>
                      <a:r>
                        <a:rPr lang="en-US" sz="1100" b="0" i="0" u="none" strike="noStrike">
                          <a:latin typeface="Arial"/>
                        </a:rPr>
                        <a:t>0.5</a:t>
                      </a:r>
                    </a:p>
                  </a:txBody>
                  <a:tcPr marL="9000" marR="9000" marT="9004" marB="0" anchor="b">
                    <a:lnL>
                      <a:noFill/>
                    </a:lnL>
                    <a:lnR>
                      <a:noFill/>
                    </a:lnR>
                    <a:lnT>
                      <a:noFill/>
                    </a:lnT>
                    <a:lnB>
                      <a:noFill/>
                    </a:lnB>
                  </a:tcPr>
                </a:tc>
                <a:tc>
                  <a:txBody>
                    <a:bodyPr/>
                    <a:lstStyle/>
                    <a:p>
                      <a:pPr algn="r" fontAlgn="b"/>
                      <a:r>
                        <a:rPr lang="en-US" sz="1100" b="0" i="0" u="none" strike="noStrike">
                          <a:latin typeface="Arial"/>
                        </a:rPr>
                        <a:t>0.3</a:t>
                      </a:r>
                    </a:p>
                  </a:txBody>
                  <a:tcPr marL="9000" marR="9000" marT="9004" marB="0" anchor="b">
                    <a:lnL>
                      <a:noFill/>
                    </a:lnL>
                    <a:lnR w="12700" cap="flat" cmpd="sng" algn="ctr">
                      <a:solidFill>
                        <a:srgbClr val="000000"/>
                      </a:solidFill>
                      <a:prstDash val="solid"/>
                      <a:round/>
                      <a:headEnd type="none" w="med" len="med"/>
                      <a:tailEnd type="none" w="med" len="med"/>
                    </a:lnR>
                    <a:lnT>
                      <a:noFill/>
                    </a:lnT>
                    <a:lnB>
                      <a:noFill/>
                    </a:lnB>
                  </a:tcPr>
                </a:tc>
                <a:tc>
                  <a:txBody>
                    <a:bodyPr/>
                    <a:lstStyle/>
                    <a:p>
                      <a:pPr algn="r" fontAlgn="b"/>
                      <a:r>
                        <a:rPr lang="en-US" sz="1100" b="0" i="0" u="none" strike="noStrike">
                          <a:latin typeface="Arial"/>
                        </a:rPr>
                        <a:t>0.2</a:t>
                      </a:r>
                    </a:p>
                  </a:txBody>
                  <a:tcPr marL="9000" marR="9000" marT="9004"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latin typeface="Arial"/>
                        </a:rPr>
                        <a:t>0.1</a:t>
                      </a:r>
                    </a:p>
                  </a:txBody>
                  <a:tcPr marL="9000" marR="9000" marT="9004"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latin typeface="Arial"/>
                        </a:rPr>
                        <a:t>0.05</a:t>
                      </a:r>
                    </a:p>
                  </a:txBody>
                  <a:tcPr marL="9000" marR="9000" marT="9004"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r" fontAlgn="b"/>
                      <a:r>
                        <a:rPr lang="en-US" sz="1100" b="0" i="0" u="none" strike="noStrike">
                          <a:latin typeface="Arial"/>
                        </a:rPr>
                        <a:t>0.02</a:t>
                      </a:r>
                    </a:p>
                  </a:txBody>
                  <a:tcPr marL="9000" marR="9000" marT="9004" marB="0" anchor="b">
                    <a:lnL>
                      <a:noFill/>
                    </a:lnL>
                    <a:lnR>
                      <a:noFill/>
                    </a:lnR>
                    <a:lnT>
                      <a:noFill/>
                    </a:lnT>
                    <a:lnB>
                      <a:noFill/>
                    </a:lnB>
                  </a:tcPr>
                </a:tc>
                <a:tc>
                  <a:txBody>
                    <a:bodyPr/>
                    <a:lstStyle/>
                    <a:p>
                      <a:pPr algn="r" fontAlgn="b"/>
                      <a:r>
                        <a:rPr lang="en-US" sz="1100" b="0" i="0" u="none" strike="noStrike">
                          <a:latin typeface="Arial"/>
                        </a:rPr>
                        <a:t>0.01</a:t>
                      </a:r>
                    </a:p>
                  </a:txBody>
                  <a:tcPr marL="9000" marR="9000" marT="9004" marB="0" anchor="b">
                    <a:lnL>
                      <a:noFill/>
                    </a:lnL>
                    <a:lnR w="12700" cap="flat" cmpd="sng" algn="ctr">
                      <a:solidFill>
                        <a:srgbClr val="000000"/>
                      </a:solidFill>
                      <a:prstDash val="solid"/>
                      <a:round/>
                      <a:headEnd type="none" w="med" len="med"/>
                      <a:tailEnd type="none" w="med" len="med"/>
                    </a:lnR>
                    <a:lnT>
                      <a:noFill/>
                    </a:lnT>
                    <a:lnB>
                      <a:noFill/>
                    </a:lnB>
                  </a:tcPr>
                </a:tc>
              </a:tr>
              <a:tr h="181880">
                <a:tc>
                  <a:txBody>
                    <a:bodyPr/>
                    <a:lstStyle/>
                    <a:p>
                      <a:pPr algn="l" fontAlgn="b"/>
                      <a:r>
                        <a:rPr lang="en-US" sz="1100" b="0" i="0" u="none" strike="noStrike">
                          <a:latin typeface="Arial"/>
                        </a:rPr>
                        <a:t>One Tail</a:t>
                      </a:r>
                    </a:p>
                  </a:txBody>
                  <a:tcPr marL="9000" marR="9000" marT="9004"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tc>
                  <a:txBody>
                    <a:bodyPr/>
                    <a:lstStyle/>
                    <a:p>
                      <a:pPr algn="r" fontAlgn="b"/>
                      <a:r>
                        <a:rPr lang="en-US" sz="1100" b="0" i="0" u="none" strike="noStrike">
                          <a:latin typeface="Arial"/>
                        </a:rPr>
                        <a:t>0.45</a:t>
                      </a:r>
                    </a:p>
                  </a:txBody>
                  <a:tcPr marL="9000" marR="9000" marT="9004" marB="0" anchor="b">
                    <a:lnL>
                      <a:noFill/>
                    </a:lnL>
                    <a:lnR>
                      <a:noFill/>
                    </a:lnR>
                    <a:lnT>
                      <a:noFill/>
                    </a:lnT>
                    <a:lnB>
                      <a:noFill/>
                    </a:lnB>
                  </a:tcPr>
                </a:tc>
                <a:tc>
                  <a:txBody>
                    <a:bodyPr/>
                    <a:lstStyle/>
                    <a:p>
                      <a:pPr algn="r" fontAlgn="b"/>
                      <a:r>
                        <a:rPr lang="en-US" sz="1100" b="0" i="0" u="none" strike="noStrike">
                          <a:latin typeface="Arial"/>
                        </a:rPr>
                        <a:t>0.35</a:t>
                      </a:r>
                    </a:p>
                  </a:txBody>
                  <a:tcPr marL="9000" marR="9000" marT="9004" marB="0" anchor="b">
                    <a:lnL>
                      <a:noFill/>
                    </a:lnL>
                    <a:lnR>
                      <a:noFill/>
                    </a:lnR>
                    <a:lnT>
                      <a:noFill/>
                    </a:lnT>
                    <a:lnB>
                      <a:noFill/>
                    </a:lnB>
                  </a:tcPr>
                </a:tc>
                <a:tc>
                  <a:txBody>
                    <a:bodyPr/>
                    <a:lstStyle/>
                    <a:p>
                      <a:pPr algn="r" fontAlgn="b"/>
                      <a:r>
                        <a:rPr lang="en-US" sz="1100" b="0" i="0" u="none" strike="noStrike">
                          <a:latin typeface="Arial"/>
                        </a:rPr>
                        <a:t>0.25</a:t>
                      </a:r>
                    </a:p>
                  </a:txBody>
                  <a:tcPr marL="9000" marR="9000" marT="9004" marB="0" anchor="b">
                    <a:lnL>
                      <a:noFill/>
                    </a:lnL>
                    <a:lnR>
                      <a:noFill/>
                    </a:lnR>
                    <a:lnT>
                      <a:noFill/>
                    </a:lnT>
                    <a:lnB>
                      <a:noFill/>
                    </a:lnB>
                  </a:tcPr>
                </a:tc>
                <a:tc>
                  <a:txBody>
                    <a:bodyPr/>
                    <a:lstStyle/>
                    <a:p>
                      <a:pPr algn="r" fontAlgn="b"/>
                      <a:r>
                        <a:rPr lang="en-US" sz="1100" b="0" i="0" u="none" strike="noStrike">
                          <a:latin typeface="Arial"/>
                        </a:rPr>
                        <a:t>0.15</a:t>
                      </a:r>
                    </a:p>
                  </a:txBody>
                  <a:tcPr marL="9000" marR="9000" marT="9004" marB="0" anchor="b">
                    <a:lnL>
                      <a:noFill/>
                    </a:lnL>
                    <a:lnR>
                      <a:noFill/>
                    </a:lnR>
                    <a:lnT>
                      <a:noFill/>
                    </a:lnT>
                    <a:lnB>
                      <a:noFill/>
                    </a:lnB>
                  </a:tcPr>
                </a:tc>
                <a:tc>
                  <a:txBody>
                    <a:bodyPr/>
                    <a:lstStyle/>
                    <a:p>
                      <a:pPr algn="r" fontAlgn="b"/>
                      <a:r>
                        <a:rPr lang="en-US" sz="1100" b="0" i="0" u="none" strike="noStrike">
                          <a:latin typeface="Arial"/>
                        </a:rPr>
                        <a:t>0.1</a:t>
                      </a:r>
                    </a:p>
                  </a:txBody>
                  <a:tcPr marL="9000" marR="9000" marT="9004"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r" fontAlgn="b"/>
                      <a:r>
                        <a:rPr lang="en-US" sz="1100" b="0" i="0" u="none" strike="noStrike">
                          <a:latin typeface="Arial"/>
                        </a:rPr>
                        <a:t>0.05</a:t>
                      </a:r>
                    </a:p>
                  </a:txBody>
                  <a:tcPr marL="9000" marR="9000" marT="9004"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r" fontAlgn="b"/>
                      <a:r>
                        <a:rPr lang="en-US" sz="1100" b="0" i="0" u="none" strike="noStrike">
                          <a:latin typeface="Arial"/>
                        </a:rPr>
                        <a:t>0.025</a:t>
                      </a:r>
                    </a:p>
                  </a:txBody>
                  <a:tcPr marL="9000" marR="9000" marT="9004" marB="0" anchor="b">
                    <a:lnL>
                      <a:noFill/>
                    </a:lnL>
                    <a:lnR>
                      <a:noFill/>
                    </a:lnR>
                    <a:lnT>
                      <a:noFill/>
                    </a:lnT>
                    <a:lnB>
                      <a:noFill/>
                    </a:lnB>
                  </a:tcPr>
                </a:tc>
                <a:tc>
                  <a:txBody>
                    <a:bodyPr/>
                    <a:lstStyle/>
                    <a:p>
                      <a:pPr algn="r" fontAlgn="b"/>
                      <a:r>
                        <a:rPr lang="en-US" sz="1100" b="0" i="0" u="none" strike="noStrike">
                          <a:latin typeface="Arial"/>
                        </a:rPr>
                        <a:t>0.01</a:t>
                      </a:r>
                    </a:p>
                  </a:txBody>
                  <a:tcPr marL="9000" marR="9000" marT="9004" marB="0" anchor="b">
                    <a:lnL>
                      <a:noFill/>
                    </a:lnL>
                    <a:lnR>
                      <a:noFill/>
                    </a:lnR>
                    <a:lnT>
                      <a:noFill/>
                    </a:lnT>
                    <a:lnB>
                      <a:noFill/>
                    </a:lnB>
                  </a:tcPr>
                </a:tc>
                <a:tc>
                  <a:txBody>
                    <a:bodyPr/>
                    <a:lstStyle/>
                    <a:p>
                      <a:pPr algn="r" fontAlgn="b"/>
                      <a:r>
                        <a:rPr lang="en-US" sz="1100" b="0" i="0" u="none" strike="noStrike">
                          <a:latin typeface="Arial"/>
                        </a:rPr>
                        <a:t>0.005</a:t>
                      </a:r>
                    </a:p>
                  </a:txBody>
                  <a:tcPr marL="9000" marR="9000" marT="9004" marB="0" anchor="b">
                    <a:lnL>
                      <a:noFill/>
                    </a:lnL>
                    <a:lnR w="12700" cap="flat" cmpd="sng" algn="ctr">
                      <a:solidFill>
                        <a:srgbClr val="000000"/>
                      </a:solidFill>
                      <a:prstDash val="solid"/>
                      <a:round/>
                      <a:headEnd type="none" w="med" len="med"/>
                      <a:tailEnd type="none" w="med" len="med"/>
                    </a:lnR>
                    <a:lnT>
                      <a:noFill/>
                    </a:lnT>
                    <a:lnB>
                      <a:noFill/>
                    </a:lnB>
                  </a:tcPr>
                </a:tc>
              </a:tr>
              <a:tr h="189083">
                <a:tc>
                  <a:txBody>
                    <a:bodyPr/>
                    <a:lstStyle/>
                    <a:p>
                      <a:pPr algn="ctr" fontAlgn="b"/>
                      <a:r>
                        <a:rPr lang="en-US" sz="1100" b="0" i="0" u="none" strike="noStrike">
                          <a:latin typeface="Arial"/>
                        </a:rPr>
                        <a:t>df</a:t>
                      </a:r>
                    </a:p>
                  </a:txBody>
                  <a:tcPr marL="9000" marR="9000" marT="9004"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1100" b="0" i="0" u="none" strike="noStrike">
                        <a:latin typeface="Arial"/>
                      </a:endParaRPr>
                    </a:p>
                  </a:txBody>
                  <a:tcPr marL="9000" marR="9000" marT="9004" marB="0" anchor="b">
                    <a:lnL>
                      <a:noFill/>
                    </a:lnL>
                    <a:lnR>
                      <a:noFill/>
                    </a:lnR>
                    <a:lnT>
                      <a:noFill/>
                    </a:lnT>
                    <a:lnB>
                      <a:noFill/>
                    </a:lnB>
                  </a:tcPr>
                </a:tc>
                <a:tc>
                  <a:txBody>
                    <a:bodyPr/>
                    <a:lstStyle/>
                    <a:p>
                      <a:pPr algn="l" fontAlgn="b"/>
                      <a:endParaRPr lang="en-US" sz="1100" b="0" i="0" u="none" strike="noStrike">
                        <a:latin typeface="Arial"/>
                      </a:endParaRPr>
                    </a:p>
                  </a:txBody>
                  <a:tcPr marL="9000" marR="9000" marT="9004" marB="0" anchor="b">
                    <a:lnL>
                      <a:noFill/>
                    </a:lnL>
                    <a:lnR>
                      <a:noFill/>
                    </a:lnR>
                    <a:lnT>
                      <a:noFill/>
                    </a:lnT>
                    <a:lnB>
                      <a:noFill/>
                    </a:lnB>
                  </a:tcPr>
                </a:tc>
                <a:tc>
                  <a:txBody>
                    <a:bodyPr/>
                    <a:lstStyle/>
                    <a:p>
                      <a:pPr algn="l" fontAlgn="b"/>
                      <a:endParaRPr lang="en-US" sz="1100" b="0" i="0" u="none" strike="noStrike">
                        <a:latin typeface="Arial"/>
                      </a:endParaRPr>
                    </a:p>
                  </a:txBody>
                  <a:tcPr marL="9000" marR="9000" marT="9004" marB="0" anchor="b">
                    <a:lnL>
                      <a:noFill/>
                    </a:lnL>
                    <a:lnR>
                      <a:noFill/>
                    </a:lnR>
                    <a:lnT>
                      <a:noFill/>
                    </a:lnT>
                    <a:lnB>
                      <a:noFill/>
                    </a:lnB>
                  </a:tcPr>
                </a:tc>
                <a:tc>
                  <a:txBody>
                    <a:bodyPr/>
                    <a:lstStyle/>
                    <a:p>
                      <a:pPr algn="l" fontAlgn="b"/>
                      <a:endParaRPr lang="en-US" sz="1100" b="0" i="0" u="none" strike="noStrike">
                        <a:latin typeface="Arial"/>
                      </a:endParaRPr>
                    </a:p>
                  </a:txBody>
                  <a:tcPr marL="9000" marR="9000" marT="9004" marB="0" anchor="b">
                    <a:lnL>
                      <a:noFill/>
                    </a:lnL>
                    <a:lnR>
                      <a:noFill/>
                    </a:lnR>
                    <a:lnT>
                      <a:noFill/>
                    </a:lnT>
                    <a:lnB>
                      <a:noFill/>
                    </a:lnB>
                  </a:tcPr>
                </a:tc>
                <a:tc gridSpan="2">
                  <a:txBody>
                    <a:bodyPr/>
                    <a:lstStyle/>
                    <a:p>
                      <a:pPr algn="l" fontAlgn="b"/>
                      <a:r>
                        <a:rPr lang="en-US" sz="1100" b="0" i="0" u="none" strike="noStrike">
                          <a:latin typeface="Arial"/>
                        </a:rPr>
                        <a:t>Values of t</a:t>
                      </a:r>
                    </a:p>
                  </a:txBody>
                  <a:tcPr marL="9000" marR="9000" marT="9004" marB="0" anchor="b">
                    <a:lnL>
                      <a:noFill/>
                    </a:lnL>
                    <a:lnR>
                      <a:noFill/>
                    </a:lnR>
                    <a:lnT>
                      <a:noFill/>
                    </a:lnT>
                    <a:lnB w="12700" cap="flat" cmpd="sng" algn="ctr">
                      <a:solidFill>
                        <a:srgbClr val="000000"/>
                      </a:solidFill>
                      <a:prstDash val="solid"/>
                      <a:round/>
                      <a:headEnd type="none" w="med" len="med"/>
                      <a:tailEnd type="none" w="med" len="med"/>
                    </a:lnB>
                  </a:tcPr>
                </a:tc>
                <a:tc hMerge="1">
                  <a:txBody>
                    <a:bodyPr/>
                    <a:lstStyle/>
                    <a:p>
                      <a:endParaRPr lang="en-US"/>
                    </a:p>
                  </a:txBody>
                  <a:tcPr/>
                </a:tc>
                <a:tc>
                  <a:txBody>
                    <a:bodyPr/>
                    <a:lstStyle/>
                    <a:p>
                      <a:pPr algn="l" fontAlgn="b"/>
                      <a:endParaRPr lang="en-US" sz="1100" b="0" i="0" u="none" strike="noStrike">
                        <a:latin typeface="Arial"/>
                      </a:endParaRPr>
                    </a:p>
                  </a:txBody>
                  <a:tcPr marL="9000" marR="9000" marT="9004" marB="0" anchor="b">
                    <a:lnL>
                      <a:noFill/>
                    </a:lnL>
                    <a:lnR>
                      <a:noFill/>
                    </a:lnR>
                    <a:lnT>
                      <a:noFill/>
                    </a:lnT>
                    <a:lnB>
                      <a:noFill/>
                    </a:lnB>
                  </a:tcPr>
                </a:tc>
                <a:tc>
                  <a:txBody>
                    <a:bodyPr/>
                    <a:lstStyle/>
                    <a:p>
                      <a:pPr algn="l" fontAlgn="b"/>
                      <a:endParaRPr lang="en-US" sz="1100" b="0" i="0" u="none" strike="noStrike">
                        <a:latin typeface="Arial"/>
                      </a:endParaRPr>
                    </a:p>
                  </a:txBody>
                  <a:tcPr marL="9000" marR="9000" marT="9004" marB="0" anchor="b">
                    <a:lnL>
                      <a:noFill/>
                    </a:lnL>
                    <a:lnR>
                      <a:noFill/>
                    </a:lnR>
                    <a:lnT>
                      <a:noFill/>
                    </a:lnT>
                    <a:lnB>
                      <a:noFill/>
                    </a:lnB>
                  </a:tcPr>
                </a:tc>
                <a:tc>
                  <a:txBody>
                    <a:bodyPr/>
                    <a:lstStyle/>
                    <a:p>
                      <a:pPr algn="l" fontAlgn="b"/>
                      <a:r>
                        <a:rPr lang="en-US" sz="1100" b="0" i="0" u="none" strike="noStrike">
                          <a:latin typeface="Arial"/>
                        </a:rPr>
                        <a:t> </a:t>
                      </a:r>
                    </a:p>
                  </a:txBody>
                  <a:tcPr marL="9000" marR="9000" marT="9004" marB="0" anchor="b">
                    <a:lnL>
                      <a:noFill/>
                    </a:lnL>
                    <a:lnR w="12700" cap="flat" cmpd="sng" algn="ctr">
                      <a:solidFill>
                        <a:srgbClr val="000000"/>
                      </a:solidFill>
                      <a:prstDash val="solid"/>
                      <a:round/>
                      <a:headEnd type="none" w="med" len="med"/>
                      <a:tailEnd type="none" w="med" len="med"/>
                    </a:lnR>
                    <a:lnT>
                      <a:noFill/>
                    </a:lnT>
                    <a:lnB>
                      <a:noFill/>
                    </a:lnB>
                  </a:tcPr>
                </a:tc>
              </a:tr>
              <a:tr h="189083">
                <a:tc>
                  <a:txBody>
                    <a:bodyPr/>
                    <a:lstStyle/>
                    <a:p>
                      <a:pPr algn="ctr" fontAlgn="b"/>
                      <a:r>
                        <a:rPr lang="en-US" sz="1100" b="0" i="0" u="none" strike="noStrike">
                          <a:latin typeface="Arial"/>
                        </a:rPr>
                        <a:t>24</a:t>
                      </a:r>
                    </a:p>
                  </a:txBody>
                  <a:tcPr marL="9000" marR="9000" marT="9004" marB="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latin typeface="Arial"/>
                        </a:rPr>
                        <a:t>0.1270</a:t>
                      </a:r>
                    </a:p>
                  </a:txBody>
                  <a:tcPr marL="9000" marR="9000" marT="9004"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latin typeface="Arial"/>
                        </a:rPr>
                        <a:t>0.3900</a:t>
                      </a:r>
                    </a:p>
                  </a:txBody>
                  <a:tcPr marL="9000" marR="9000" marT="9004"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latin typeface="Arial"/>
                        </a:rPr>
                        <a:t>0.6848</a:t>
                      </a:r>
                    </a:p>
                  </a:txBody>
                  <a:tcPr marL="9000" marR="9000" marT="9004"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latin typeface="Arial"/>
                        </a:rPr>
                        <a:t>1.0593</a:t>
                      </a:r>
                    </a:p>
                  </a:txBody>
                  <a:tcPr marL="9000" marR="9000" marT="9004" marB="0" anchor="b">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latin typeface="Arial"/>
                        </a:rPr>
                        <a:t>1.3178</a:t>
                      </a:r>
                    </a:p>
                  </a:txBody>
                  <a:tcPr marL="9000" marR="9000" marT="9004"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latin typeface="Arial"/>
                        </a:rPr>
                        <a:t>1.7109</a:t>
                      </a:r>
                    </a:p>
                  </a:txBody>
                  <a:tcPr marL="9000" marR="9000" marT="9004"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latin typeface="Arial"/>
                        </a:rPr>
                        <a:t>2.0639</a:t>
                      </a:r>
                    </a:p>
                  </a:txBody>
                  <a:tcPr marL="9000" marR="9000" marT="9004" marB="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latin typeface="Arial"/>
                        </a:rPr>
                        <a:t>2.4922</a:t>
                      </a:r>
                    </a:p>
                  </a:txBody>
                  <a:tcPr marL="9000" marR="9000" marT="9004"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a:latin typeface="Arial"/>
                        </a:rPr>
                        <a:t>2.7969</a:t>
                      </a:r>
                    </a:p>
                  </a:txBody>
                  <a:tcPr marL="9000" marR="9000" marT="9004" marB="0" anchor="b">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r>
            </a:tbl>
          </a:graphicData>
        </a:graphic>
      </p:graphicFrame>
      <p:sp>
        <p:nvSpPr>
          <p:cNvPr id="4186" name="TextBox 48"/>
          <p:cNvSpPr txBox="1">
            <a:spLocks noChangeArrowheads="1"/>
          </p:cNvSpPr>
          <p:nvPr/>
        </p:nvSpPr>
        <p:spPr bwMode="auto">
          <a:xfrm>
            <a:off x="5257800" y="3352800"/>
            <a:ext cx="22860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eaLnBrk="1" hangingPunct="1">
              <a:spcBef>
                <a:spcPct val="0"/>
              </a:spcBef>
              <a:buClrTx/>
              <a:buSzTx/>
              <a:buFontTx/>
              <a:buNone/>
            </a:pPr>
            <a:r>
              <a:rPr lang="en-US" altLang="en-US" sz="2400">
                <a:cs typeface="Arial" charset="0"/>
              </a:rPr>
              <a:t>P-value = .158</a:t>
            </a:r>
          </a:p>
        </p:txBody>
      </p:sp>
    </p:spTree>
    <p:custDataLst>
      <p:tags r:id="rId2"/>
    </p:custDataLst>
  </p:cSld>
  <p:clrMapOvr>
    <a:masterClrMapping/>
  </p:clrMapOvr>
  <p:transition spd="slow">
    <p:pull dir="l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4099"/>
                                        </p:tgtEl>
                                        <p:attrNameLst>
                                          <p:attrName>style.visibility</p:attrName>
                                        </p:attrNameLst>
                                      </p:cBhvr>
                                      <p:to>
                                        <p:strVal val="visible"/>
                                      </p:to>
                                    </p:set>
                                    <p:anim calcmode="lin" valueType="num">
                                      <p:cBhvr additive="base">
                                        <p:cTn id="7" dur="500" fill="hold"/>
                                        <p:tgtEl>
                                          <p:spTgt spid="4099"/>
                                        </p:tgtEl>
                                        <p:attrNameLst>
                                          <p:attrName>ppt_x</p:attrName>
                                        </p:attrNameLst>
                                      </p:cBhvr>
                                      <p:tavLst>
                                        <p:tav tm="0">
                                          <p:val>
                                            <p:strVal val="0-#ppt_w/2"/>
                                          </p:val>
                                        </p:tav>
                                        <p:tav tm="100000">
                                          <p:val>
                                            <p:strVal val="#ppt_x"/>
                                          </p:val>
                                        </p:tav>
                                      </p:tavLst>
                                    </p:anim>
                                    <p:anim calcmode="lin" valueType="num">
                                      <p:cBhvr additive="base">
                                        <p:cTn id="8" dur="500" fill="hold"/>
                                        <p:tgtEl>
                                          <p:spTgt spid="4099"/>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4098"/>
                                        </p:tgtEl>
                                        <p:attrNameLst>
                                          <p:attrName>style.visibility</p:attrName>
                                        </p:attrNameLst>
                                      </p:cBhvr>
                                      <p:to>
                                        <p:strVal val="visible"/>
                                      </p:to>
                                    </p:set>
                                    <p:anim calcmode="lin" valueType="num">
                                      <p:cBhvr additive="base">
                                        <p:cTn id="13" dur="500" fill="hold"/>
                                        <p:tgtEl>
                                          <p:spTgt spid="4098"/>
                                        </p:tgtEl>
                                        <p:attrNameLst>
                                          <p:attrName>ppt_x</p:attrName>
                                        </p:attrNameLst>
                                      </p:cBhvr>
                                      <p:tavLst>
                                        <p:tav tm="0">
                                          <p:val>
                                            <p:strVal val="0-#ppt_w/2"/>
                                          </p:val>
                                        </p:tav>
                                        <p:tav tm="100000">
                                          <p:val>
                                            <p:strVal val="#ppt_x"/>
                                          </p:val>
                                        </p:tav>
                                      </p:tavLst>
                                    </p:anim>
                                    <p:anim calcmode="lin" valueType="num">
                                      <p:cBhvr additive="base">
                                        <p:cTn id="14" dur="500" fill="hold"/>
                                        <p:tgtEl>
                                          <p:spTgt spid="4098"/>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nodeType="clickEffect">
                                  <p:stCondLst>
                                    <p:cond delay="0"/>
                                  </p:stCondLst>
                                  <p:childTnLst>
                                    <p:set>
                                      <p:cBhvr>
                                        <p:cTn id="18" dur="1" fill="hold">
                                          <p:stCondLst>
                                            <p:cond delay="0"/>
                                          </p:stCondLst>
                                        </p:cTn>
                                        <p:tgtEl>
                                          <p:spTgt spid="4100"/>
                                        </p:tgtEl>
                                        <p:attrNameLst>
                                          <p:attrName>style.visibility</p:attrName>
                                        </p:attrNameLst>
                                      </p:cBhvr>
                                      <p:to>
                                        <p:strVal val="visible"/>
                                      </p:to>
                                    </p:set>
                                    <p:anim calcmode="lin" valueType="num">
                                      <p:cBhvr additive="base">
                                        <p:cTn id="19" dur="500" fill="hold"/>
                                        <p:tgtEl>
                                          <p:spTgt spid="4100"/>
                                        </p:tgtEl>
                                        <p:attrNameLst>
                                          <p:attrName>ppt_x</p:attrName>
                                        </p:attrNameLst>
                                      </p:cBhvr>
                                      <p:tavLst>
                                        <p:tav tm="0">
                                          <p:val>
                                            <p:strVal val="1+#ppt_w/2"/>
                                          </p:val>
                                        </p:tav>
                                        <p:tav tm="100000">
                                          <p:val>
                                            <p:strVal val="#ppt_x"/>
                                          </p:val>
                                        </p:tav>
                                      </p:tavLst>
                                    </p:anim>
                                    <p:anim calcmode="lin" valueType="num">
                                      <p:cBhvr additive="base">
                                        <p:cTn id="20" dur="500" fill="hold"/>
                                        <p:tgtEl>
                                          <p:spTgt spid="4100"/>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48"/>
                                        </p:tgtEl>
                                        <p:attrNameLst>
                                          <p:attrName>style.visibility</p:attrName>
                                        </p:attrNameLst>
                                      </p:cBhvr>
                                      <p:to>
                                        <p:strVal val="visible"/>
                                      </p:to>
                                    </p:set>
                                    <p:anim calcmode="lin" valueType="num">
                                      <p:cBhvr additive="base">
                                        <p:cTn id="25" dur="500" fill="hold"/>
                                        <p:tgtEl>
                                          <p:spTgt spid="48"/>
                                        </p:tgtEl>
                                        <p:attrNameLst>
                                          <p:attrName>ppt_x</p:attrName>
                                        </p:attrNameLst>
                                      </p:cBhvr>
                                      <p:tavLst>
                                        <p:tav tm="0">
                                          <p:val>
                                            <p:strVal val="0-#ppt_w/2"/>
                                          </p:val>
                                        </p:tav>
                                        <p:tav tm="100000">
                                          <p:val>
                                            <p:strVal val="#ppt_x"/>
                                          </p:val>
                                        </p:tav>
                                      </p:tavLst>
                                    </p:anim>
                                    <p:anim calcmode="lin" valueType="num">
                                      <p:cBhvr additive="base">
                                        <p:cTn id="26" dur="500" fill="hold"/>
                                        <p:tgtEl>
                                          <p:spTgt spid="48"/>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4120"/>
                                        </p:tgtEl>
                                        <p:attrNameLst>
                                          <p:attrName>style.visibility</p:attrName>
                                        </p:attrNameLst>
                                      </p:cBhvr>
                                      <p:to>
                                        <p:strVal val="visible"/>
                                      </p:to>
                                    </p:set>
                                    <p:anim calcmode="lin" valueType="num">
                                      <p:cBhvr additive="base">
                                        <p:cTn id="31" dur="500" fill="hold"/>
                                        <p:tgtEl>
                                          <p:spTgt spid="4120"/>
                                        </p:tgtEl>
                                        <p:attrNameLst>
                                          <p:attrName>ppt_x</p:attrName>
                                        </p:attrNameLst>
                                      </p:cBhvr>
                                      <p:tavLst>
                                        <p:tav tm="0">
                                          <p:val>
                                            <p:strVal val="1+#ppt_w/2"/>
                                          </p:val>
                                        </p:tav>
                                        <p:tav tm="100000">
                                          <p:val>
                                            <p:strVal val="#ppt_x"/>
                                          </p:val>
                                        </p:tav>
                                      </p:tavLst>
                                    </p:anim>
                                    <p:anim calcmode="lin" valueType="num">
                                      <p:cBhvr additive="base">
                                        <p:cTn id="32" dur="500" fill="hold"/>
                                        <p:tgtEl>
                                          <p:spTgt spid="4120"/>
                                        </p:tgtEl>
                                        <p:attrNameLst>
                                          <p:attrName>ppt_y</p:attrName>
                                        </p:attrNameLst>
                                      </p:cBhvr>
                                      <p:tavLst>
                                        <p:tav tm="0">
                                          <p:val>
                                            <p:strVal val="#ppt_y"/>
                                          </p:val>
                                        </p:tav>
                                        <p:tav tm="100000">
                                          <p:val>
                                            <p:strVal val="#ppt_y"/>
                                          </p:val>
                                        </p:tav>
                                      </p:tavLst>
                                    </p:anim>
                                  </p:childTnLst>
                                </p:cTn>
                              </p:par>
                              <p:par>
                                <p:cTn id="33" presetID="2" presetClass="entr" presetSubtype="2" fill="hold" grpId="0" nodeType="withEffect">
                                  <p:stCondLst>
                                    <p:cond delay="0"/>
                                  </p:stCondLst>
                                  <p:childTnLst>
                                    <p:set>
                                      <p:cBhvr>
                                        <p:cTn id="34" dur="1" fill="hold">
                                          <p:stCondLst>
                                            <p:cond delay="0"/>
                                          </p:stCondLst>
                                        </p:cTn>
                                        <p:tgtEl>
                                          <p:spTgt spid="4110"/>
                                        </p:tgtEl>
                                        <p:attrNameLst>
                                          <p:attrName>style.visibility</p:attrName>
                                        </p:attrNameLst>
                                      </p:cBhvr>
                                      <p:to>
                                        <p:strVal val="visible"/>
                                      </p:to>
                                    </p:set>
                                    <p:anim calcmode="lin" valueType="num">
                                      <p:cBhvr additive="base">
                                        <p:cTn id="35" dur="500" fill="hold"/>
                                        <p:tgtEl>
                                          <p:spTgt spid="4110"/>
                                        </p:tgtEl>
                                        <p:attrNameLst>
                                          <p:attrName>ppt_x</p:attrName>
                                        </p:attrNameLst>
                                      </p:cBhvr>
                                      <p:tavLst>
                                        <p:tav tm="0">
                                          <p:val>
                                            <p:strVal val="1+#ppt_w/2"/>
                                          </p:val>
                                        </p:tav>
                                        <p:tav tm="100000">
                                          <p:val>
                                            <p:strVal val="#ppt_x"/>
                                          </p:val>
                                        </p:tav>
                                      </p:tavLst>
                                    </p:anim>
                                    <p:anim calcmode="lin" valueType="num">
                                      <p:cBhvr additive="base">
                                        <p:cTn id="36" dur="500" fill="hold"/>
                                        <p:tgtEl>
                                          <p:spTgt spid="4110"/>
                                        </p:tgtEl>
                                        <p:attrNameLst>
                                          <p:attrName>ppt_y</p:attrName>
                                        </p:attrNameLst>
                                      </p:cBhvr>
                                      <p:tavLst>
                                        <p:tav tm="0">
                                          <p:val>
                                            <p:strVal val="#ppt_y"/>
                                          </p:val>
                                        </p:tav>
                                        <p:tav tm="100000">
                                          <p:val>
                                            <p:strVal val="#ppt_y"/>
                                          </p:val>
                                        </p:tav>
                                      </p:tavLst>
                                    </p:anim>
                                  </p:childTnLst>
                                </p:cTn>
                              </p:par>
                              <p:par>
                                <p:cTn id="37" presetID="2" presetClass="entr" presetSubtype="2" fill="hold" grpId="0" nodeType="withEffect">
                                  <p:stCondLst>
                                    <p:cond delay="0"/>
                                  </p:stCondLst>
                                  <p:childTnLst>
                                    <p:set>
                                      <p:cBhvr>
                                        <p:cTn id="38" dur="1" fill="hold">
                                          <p:stCondLst>
                                            <p:cond delay="0"/>
                                          </p:stCondLst>
                                        </p:cTn>
                                        <p:tgtEl>
                                          <p:spTgt spid="4105"/>
                                        </p:tgtEl>
                                        <p:attrNameLst>
                                          <p:attrName>style.visibility</p:attrName>
                                        </p:attrNameLst>
                                      </p:cBhvr>
                                      <p:to>
                                        <p:strVal val="visible"/>
                                      </p:to>
                                    </p:set>
                                    <p:anim calcmode="lin" valueType="num">
                                      <p:cBhvr additive="base">
                                        <p:cTn id="39" dur="500" fill="hold"/>
                                        <p:tgtEl>
                                          <p:spTgt spid="4105"/>
                                        </p:tgtEl>
                                        <p:attrNameLst>
                                          <p:attrName>ppt_x</p:attrName>
                                        </p:attrNameLst>
                                      </p:cBhvr>
                                      <p:tavLst>
                                        <p:tav tm="0">
                                          <p:val>
                                            <p:strVal val="1+#ppt_w/2"/>
                                          </p:val>
                                        </p:tav>
                                        <p:tav tm="100000">
                                          <p:val>
                                            <p:strVal val="#ppt_x"/>
                                          </p:val>
                                        </p:tav>
                                      </p:tavLst>
                                    </p:anim>
                                    <p:anim calcmode="lin" valueType="num">
                                      <p:cBhvr additive="base">
                                        <p:cTn id="40" dur="500" fill="hold"/>
                                        <p:tgtEl>
                                          <p:spTgt spid="4105"/>
                                        </p:tgtEl>
                                        <p:attrNameLst>
                                          <p:attrName>ppt_y</p:attrName>
                                        </p:attrNameLst>
                                      </p:cBhvr>
                                      <p:tavLst>
                                        <p:tav tm="0">
                                          <p:val>
                                            <p:strVal val="#ppt_y"/>
                                          </p:val>
                                        </p:tav>
                                        <p:tav tm="100000">
                                          <p:val>
                                            <p:strVal val="#ppt_y"/>
                                          </p:val>
                                        </p:tav>
                                      </p:tavLst>
                                    </p:anim>
                                  </p:childTnLst>
                                </p:cTn>
                              </p:par>
                              <p:par>
                                <p:cTn id="41" presetID="2" presetClass="entr" presetSubtype="2" fill="hold" grpId="0" nodeType="withEffect">
                                  <p:stCondLst>
                                    <p:cond delay="0"/>
                                  </p:stCondLst>
                                  <p:childTnLst>
                                    <p:set>
                                      <p:cBhvr>
                                        <p:cTn id="42" dur="1" fill="hold">
                                          <p:stCondLst>
                                            <p:cond delay="0"/>
                                          </p:stCondLst>
                                        </p:cTn>
                                        <p:tgtEl>
                                          <p:spTgt spid="4109"/>
                                        </p:tgtEl>
                                        <p:attrNameLst>
                                          <p:attrName>style.visibility</p:attrName>
                                        </p:attrNameLst>
                                      </p:cBhvr>
                                      <p:to>
                                        <p:strVal val="visible"/>
                                      </p:to>
                                    </p:set>
                                    <p:anim calcmode="lin" valueType="num">
                                      <p:cBhvr additive="base">
                                        <p:cTn id="43" dur="500" fill="hold"/>
                                        <p:tgtEl>
                                          <p:spTgt spid="4109"/>
                                        </p:tgtEl>
                                        <p:attrNameLst>
                                          <p:attrName>ppt_x</p:attrName>
                                        </p:attrNameLst>
                                      </p:cBhvr>
                                      <p:tavLst>
                                        <p:tav tm="0">
                                          <p:val>
                                            <p:strVal val="1+#ppt_w/2"/>
                                          </p:val>
                                        </p:tav>
                                        <p:tav tm="100000">
                                          <p:val>
                                            <p:strVal val="#ppt_x"/>
                                          </p:val>
                                        </p:tav>
                                      </p:tavLst>
                                    </p:anim>
                                    <p:anim calcmode="lin" valueType="num">
                                      <p:cBhvr additive="base">
                                        <p:cTn id="44" dur="500" fill="hold"/>
                                        <p:tgtEl>
                                          <p:spTgt spid="4109"/>
                                        </p:tgtEl>
                                        <p:attrNameLst>
                                          <p:attrName>ppt_y</p:attrName>
                                        </p:attrNameLst>
                                      </p:cBhvr>
                                      <p:tavLst>
                                        <p:tav tm="0">
                                          <p:val>
                                            <p:strVal val="#ppt_y"/>
                                          </p:val>
                                        </p:tav>
                                        <p:tav tm="100000">
                                          <p:val>
                                            <p:strVal val="#ppt_y"/>
                                          </p:val>
                                        </p:tav>
                                      </p:tavLst>
                                    </p:anim>
                                  </p:childTnLst>
                                </p:cTn>
                              </p:par>
                              <p:par>
                                <p:cTn id="45" presetID="2" presetClass="entr" presetSubtype="2" fill="hold" grpId="0" nodeType="withEffect">
                                  <p:stCondLst>
                                    <p:cond delay="0"/>
                                  </p:stCondLst>
                                  <p:childTnLst>
                                    <p:set>
                                      <p:cBhvr>
                                        <p:cTn id="46" dur="1" fill="hold">
                                          <p:stCondLst>
                                            <p:cond delay="0"/>
                                          </p:stCondLst>
                                        </p:cTn>
                                        <p:tgtEl>
                                          <p:spTgt spid="4114"/>
                                        </p:tgtEl>
                                        <p:attrNameLst>
                                          <p:attrName>style.visibility</p:attrName>
                                        </p:attrNameLst>
                                      </p:cBhvr>
                                      <p:to>
                                        <p:strVal val="visible"/>
                                      </p:to>
                                    </p:set>
                                    <p:anim calcmode="lin" valueType="num">
                                      <p:cBhvr additive="base">
                                        <p:cTn id="47" dur="500" fill="hold"/>
                                        <p:tgtEl>
                                          <p:spTgt spid="4114"/>
                                        </p:tgtEl>
                                        <p:attrNameLst>
                                          <p:attrName>ppt_x</p:attrName>
                                        </p:attrNameLst>
                                      </p:cBhvr>
                                      <p:tavLst>
                                        <p:tav tm="0">
                                          <p:val>
                                            <p:strVal val="1+#ppt_w/2"/>
                                          </p:val>
                                        </p:tav>
                                        <p:tav tm="100000">
                                          <p:val>
                                            <p:strVal val="#ppt_x"/>
                                          </p:val>
                                        </p:tav>
                                      </p:tavLst>
                                    </p:anim>
                                    <p:anim calcmode="lin" valueType="num">
                                      <p:cBhvr additive="base">
                                        <p:cTn id="48" dur="500" fill="hold"/>
                                        <p:tgtEl>
                                          <p:spTgt spid="4114"/>
                                        </p:tgtEl>
                                        <p:attrNameLst>
                                          <p:attrName>ppt_y</p:attrName>
                                        </p:attrNameLst>
                                      </p:cBhvr>
                                      <p:tavLst>
                                        <p:tav tm="0">
                                          <p:val>
                                            <p:strVal val="#ppt_y"/>
                                          </p:val>
                                        </p:tav>
                                        <p:tav tm="100000">
                                          <p:val>
                                            <p:strVal val="#ppt_y"/>
                                          </p:val>
                                        </p:tav>
                                      </p:tavLst>
                                    </p:anim>
                                  </p:childTnLst>
                                </p:cTn>
                              </p:par>
                              <p:par>
                                <p:cTn id="49" presetID="2" presetClass="entr" presetSubtype="2" fill="hold" grpId="0" nodeType="withEffect">
                                  <p:stCondLst>
                                    <p:cond delay="0"/>
                                  </p:stCondLst>
                                  <p:childTnLst>
                                    <p:set>
                                      <p:cBhvr>
                                        <p:cTn id="50" dur="1" fill="hold">
                                          <p:stCondLst>
                                            <p:cond delay="0"/>
                                          </p:stCondLst>
                                        </p:cTn>
                                        <p:tgtEl>
                                          <p:spTgt spid="4113"/>
                                        </p:tgtEl>
                                        <p:attrNameLst>
                                          <p:attrName>style.visibility</p:attrName>
                                        </p:attrNameLst>
                                      </p:cBhvr>
                                      <p:to>
                                        <p:strVal val="visible"/>
                                      </p:to>
                                    </p:set>
                                    <p:anim calcmode="lin" valueType="num">
                                      <p:cBhvr additive="base">
                                        <p:cTn id="51" dur="500" fill="hold"/>
                                        <p:tgtEl>
                                          <p:spTgt spid="4113"/>
                                        </p:tgtEl>
                                        <p:attrNameLst>
                                          <p:attrName>ppt_x</p:attrName>
                                        </p:attrNameLst>
                                      </p:cBhvr>
                                      <p:tavLst>
                                        <p:tav tm="0">
                                          <p:val>
                                            <p:strVal val="1+#ppt_w/2"/>
                                          </p:val>
                                        </p:tav>
                                        <p:tav tm="100000">
                                          <p:val>
                                            <p:strVal val="#ppt_x"/>
                                          </p:val>
                                        </p:tav>
                                      </p:tavLst>
                                    </p:anim>
                                    <p:anim calcmode="lin" valueType="num">
                                      <p:cBhvr additive="base">
                                        <p:cTn id="52" dur="500" fill="hold"/>
                                        <p:tgtEl>
                                          <p:spTgt spid="4113"/>
                                        </p:tgtEl>
                                        <p:attrNameLst>
                                          <p:attrName>ppt_y</p:attrName>
                                        </p:attrNameLst>
                                      </p:cBhvr>
                                      <p:tavLst>
                                        <p:tav tm="0">
                                          <p:val>
                                            <p:strVal val="#ppt_y"/>
                                          </p:val>
                                        </p:tav>
                                        <p:tav tm="100000">
                                          <p:val>
                                            <p:strVal val="#ppt_y"/>
                                          </p:val>
                                        </p:tav>
                                      </p:tavLst>
                                    </p:anim>
                                  </p:childTnLst>
                                </p:cTn>
                              </p:par>
                              <p:par>
                                <p:cTn id="53" presetID="2" presetClass="entr" presetSubtype="2" fill="hold" grpId="0" nodeType="withEffect">
                                  <p:stCondLst>
                                    <p:cond delay="0"/>
                                  </p:stCondLst>
                                  <p:childTnLst>
                                    <p:set>
                                      <p:cBhvr>
                                        <p:cTn id="54" dur="1" fill="hold">
                                          <p:stCondLst>
                                            <p:cond delay="0"/>
                                          </p:stCondLst>
                                        </p:cTn>
                                        <p:tgtEl>
                                          <p:spTgt spid="4104"/>
                                        </p:tgtEl>
                                        <p:attrNameLst>
                                          <p:attrName>style.visibility</p:attrName>
                                        </p:attrNameLst>
                                      </p:cBhvr>
                                      <p:to>
                                        <p:strVal val="visible"/>
                                      </p:to>
                                    </p:set>
                                    <p:anim calcmode="lin" valueType="num">
                                      <p:cBhvr additive="base">
                                        <p:cTn id="55" dur="500" fill="hold"/>
                                        <p:tgtEl>
                                          <p:spTgt spid="4104"/>
                                        </p:tgtEl>
                                        <p:attrNameLst>
                                          <p:attrName>ppt_x</p:attrName>
                                        </p:attrNameLst>
                                      </p:cBhvr>
                                      <p:tavLst>
                                        <p:tav tm="0">
                                          <p:val>
                                            <p:strVal val="1+#ppt_w/2"/>
                                          </p:val>
                                        </p:tav>
                                        <p:tav tm="100000">
                                          <p:val>
                                            <p:strVal val="#ppt_x"/>
                                          </p:val>
                                        </p:tav>
                                      </p:tavLst>
                                    </p:anim>
                                    <p:anim calcmode="lin" valueType="num">
                                      <p:cBhvr additive="base">
                                        <p:cTn id="56" dur="500" fill="hold"/>
                                        <p:tgtEl>
                                          <p:spTgt spid="4104"/>
                                        </p:tgtEl>
                                        <p:attrNameLst>
                                          <p:attrName>ppt_y</p:attrName>
                                        </p:attrNameLst>
                                      </p:cBhvr>
                                      <p:tavLst>
                                        <p:tav tm="0">
                                          <p:val>
                                            <p:strVal val="#ppt_y"/>
                                          </p:val>
                                        </p:tav>
                                        <p:tav tm="100000">
                                          <p:val>
                                            <p:strVal val="#ppt_y"/>
                                          </p:val>
                                        </p:tav>
                                      </p:tavLst>
                                    </p:anim>
                                  </p:childTnLst>
                                </p:cTn>
                              </p:par>
                              <p:par>
                                <p:cTn id="57" presetID="2" presetClass="entr" presetSubtype="2" fill="hold" grpId="0" nodeType="withEffect">
                                  <p:stCondLst>
                                    <p:cond delay="0"/>
                                  </p:stCondLst>
                                  <p:childTnLst>
                                    <p:set>
                                      <p:cBhvr>
                                        <p:cTn id="58" dur="1" fill="hold">
                                          <p:stCondLst>
                                            <p:cond delay="0"/>
                                          </p:stCondLst>
                                        </p:cTn>
                                        <p:tgtEl>
                                          <p:spTgt spid="4118"/>
                                        </p:tgtEl>
                                        <p:attrNameLst>
                                          <p:attrName>style.visibility</p:attrName>
                                        </p:attrNameLst>
                                      </p:cBhvr>
                                      <p:to>
                                        <p:strVal val="visible"/>
                                      </p:to>
                                    </p:set>
                                    <p:anim calcmode="lin" valueType="num">
                                      <p:cBhvr additive="base">
                                        <p:cTn id="59" dur="500" fill="hold"/>
                                        <p:tgtEl>
                                          <p:spTgt spid="4118"/>
                                        </p:tgtEl>
                                        <p:attrNameLst>
                                          <p:attrName>ppt_x</p:attrName>
                                        </p:attrNameLst>
                                      </p:cBhvr>
                                      <p:tavLst>
                                        <p:tav tm="0">
                                          <p:val>
                                            <p:strVal val="1+#ppt_w/2"/>
                                          </p:val>
                                        </p:tav>
                                        <p:tav tm="100000">
                                          <p:val>
                                            <p:strVal val="#ppt_x"/>
                                          </p:val>
                                        </p:tav>
                                      </p:tavLst>
                                    </p:anim>
                                    <p:anim calcmode="lin" valueType="num">
                                      <p:cBhvr additive="base">
                                        <p:cTn id="60" dur="500" fill="hold"/>
                                        <p:tgtEl>
                                          <p:spTgt spid="4118"/>
                                        </p:tgtEl>
                                        <p:attrNameLst>
                                          <p:attrName>ppt_y</p:attrName>
                                        </p:attrNameLst>
                                      </p:cBhvr>
                                      <p:tavLst>
                                        <p:tav tm="0">
                                          <p:val>
                                            <p:strVal val="#ppt_y"/>
                                          </p:val>
                                        </p:tav>
                                        <p:tav tm="100000">
                                          <p:val>
                                            <p:strVal val="#ppt_y"/>
                                          </p:val>
                                        </p:tav>
                                      </p:tavLst>
                                    </p:anim>
                                  </p:childTnLst>
                                </p:cTn>
                              </p:par>
                              <p:par>
                                <p:cTn id="61" presetID="2" presetClass="entr" presetSubtype="2" fill="hold" grpId="0" nodeType="withEffect">
                                  <p:stCondLst>
                                    <p:cond delay="0"/>
                                  </p:stCondLst>
                                  <p:childTnLst>
                                    <p:set>
                                      <p:cBhvr>
                                        <p:cTn id="62" dur="1" fill="hold">
                                          <p:stCondLst>
                                            <p:cond delay="0"/>
                                          </p:stCondLst>
                                        </p:cTn>
                                        <p:tgtEl>
                                          <p:spTgt spid="4119"/>
                                        </p:tgtEl>
                                        <p:attrNameLst>
                                          <p:attrName>style.visibility</p:attrName>
                                        </p:attrNameLst>
                                      </p:cBhvr>
                                      <p:to>
                                        <p:strVal val="visible"/>
                                      </p:to>
                                    </p:set>
                                    <p:anim calcmode="lin" valueType="num">
                                      <p:cBhvr additive="base">
                                        <p:cTn id="63" dur="500" fill="hold"/>
                                        <p:tgtEl>
                                          <p:spTgt spid="4119"/>
                                        </p:tgtEl>
                                        <p:attrNameLst>
                                          <p:attrName>ppt_x</p:attrName>
                                        </p:attrNameLst>
                                      </p:cBhvr>
                                      <p:tavLst>
                                        <p:tav tm="0">
                                          <p:val>
                                            <p:strVal val="1+#ppt_w/2"/>
                                          </p:val>
                                        </p:tav>
                                        <p:tav tm="100000">
                                          <p:val>
                                            <p:strVal val="#ppt_x"/>
                                          </p:val>
                                        </p:tav>
                                      </p:tavLst>
                                    </p:anim>
                                    <p:anim calcmode="lin" valueType="num">
                                      <p:cBhvr additive="base">
                                        <p:cTn id="64" dur="500" fill="hold"/>
                                        <p:tgtEl>
                                          <p:spTgt spid="4119"/>
                                        </p:tgtEl>
                                        <p:attrNameLst>
                                          <p:attrName>ppt_y</p:attrName>
                                        </p:attrNameLst>
                                      </p:cBhvr>
                                      <p:tavLst>
                                        <p:tav tm="0">
                                          <p:val>
                                            <p:strVal val="#ppt_y"/>
                                          </p:val>
                                        </p:tav>
                                        <p:tav tm="100000">
                                          <p:val>
                                            <p:strVal val="#ppt_y"/>
                                          </p:val>
                                        </p:tav>
                                      </p:tavLst>
                                    </p:anim>
                                  </p:childTnLst>
                                </p:cTn>
                              </p:par>
                              <p:par>
                                <p:cTn id="65" presetID="2" presetClass="entr" presetSubtype="2" fill="hold" grpId="0" nodeType="withEffect">
                                  <p:stCondLst>
                                    <p:cond delay="0"/>
                                  </p:stCondLst>
                                  <p:childTnLst>
                                    <p:set>
                                      <p:cBhvr>
                                        <p:cTn id="66" dur="1" fill="hold">
                                          <p:stCondLst>
                                            <p:cond delay="0"/>
                                          </p:stCondLst>
                                        </p:cTn>
                                        <p:tgtEl>
                                          <p:spTgt spid="4116"/>
                                        </p:tgtEl>
                                        <p:attrNameLst>
                                          <p:attrName>style.visibility</p:attrName>
                                        </p:attrNameLst>
                                      </p:cBhvr>
                                      <p:to>
                                        <p:strVal val="visible"/>
                                      </p:to>
                                    </p:set>
                                    <p:anim calcmode="lin" valueType="num">
                                      <p:cBhvr additive="base">
                                        <p:cTn id="67" dur="500" fill="hold"/>
                                        <p:tgtEl>
                                          <p:spTgt spid="4116"/>
                                        </p:tgtEl>
                                        <p:attrNameLst>
                                          <p:attrName>ppt_x</p:attrName>
                                        </p:attrNameLst>
                                      </p:cBhvr>
                                      <p:tavLst>
                                        <p:tav tm="0">
                                          <p:val>
                                            <p:strVal val="1+#ppt_w/2"/>
                                          </p:val>
                                        </p:tav>
                                        <p:tav tm="100000">
                                          <p:val>
                                            <p:strVal val="#ppt_x"/>
                                          </p:val>
                                        </p:tav>
                                      </p:tavLst>
                                    </p:anim>
                                    <p:anim calcmode="lin" valueType="num">
                                      <p:cBhvr additive="base">
                                        <p:cTn id="68" dur="500" fill="hold"/>
                                        <p:tgtEl>
                                          <p:spTgt spid="4116"/>
                                        </p:tgtEl>
                                        <p:attrNameLst>
                                          <p:attrName>ppt_y</p:attrName>
                                        </p:attrNameLst>
                                      </p:cBhvr>
                                      <p:tavLst>
                                        <p:tav tm="0">
                                          <p:val>
                                            <p:strVal val="#ppt_y"/>
                                          </p:val>
                                        </p:tav>
                                        <p:tav tm="100000">
                                          <p:val>
                                            <p:strVal val="#ppt_y"/>
                                          </p:val>
                                        </p:tav>
                                      </p:tavLst>
                                    </p:anim>
                                  </p:childTnLst>
                                </p:cTn>
                              </p:par>
                              <p:par>
                                <p:cTn id="69" presetID="2" presetClass="entr" presetSubtype="2" fill="hold" grpId="0" nodeType="withEffect">
                                  <p:stCondLst>
                                    <p:cond delay="0"/>
                                  </p:stCondLst>
                                  <p:childTnLst>
                                    <p:set>
                                      <p:cBhvr>
                                        <p:cTn id="70" dur="1" fill="hold">
                                          <p:stCondLst>
                                            <p:cond delay="0"/>
                                          </p:stCondLst>
                                        </p:cTn>
                                        <p:tgtEl>
                                          <p:spTgt spid="4115"/>
                                        </p:tgtEl>
                                        <p:attrNameLst>
                                          <p:attrName>style.visibility</p:attrName>
                                        </p:attrNameLst>
                                      </p:cBhvr>
                                      <p:to>
                                        <p:strVal val="visible"/>
                                      </p:to>
                                    </p:set>
                                    <p:anim calcmode="lin" valueType="num">
                                      <p:cBhvr additive="base">
                                        <p:cTn id="71" dur="500" fill="hold"/>
                                        <p:tgtEl>
                                          <p:spTgt spid="4115"/>
                                        </p:tgtEl>
                                        <p:attrNameLst>
                                          <p:attrName>ppt_x</p:attrName>
                                        </p:attrNameLst>
                                      </p:cBhvr>
                                      <p:tavLst>
                                        <p:tav tm="0">
                                          <p:val>
                                            <p:strVal val="1+#ppt_w/2"/>
                                          </p:val>
                                        </p:tav>
                                        <p:tav tm="100000">
                                          <p:val>
                                            <p:strVal val="#ppt_x"/>
                                          </p:val>
                                        </p:tav>
                                      </p:tavLst>
                                    </p:anim>
                                    <p:anim calcmode="lin" valueType="num">
                                      <p:cBhvr additive="base">
                                        <p:cTn id="72" dur="500" fill="hold"/>
                                        <p:tgtEl>
                                          <p:spTgt spid="4115"/>
                                        </p:tgtEl>
                                        <p:attrNameLst>
                                          <p:attrName>ppt_y</p:attrName>
                                        </p:attrNameLst>
                                      </p:cBhvr>
                                      <p:tavLst>
                                        <p:tav tm="0">
                                          <p:val>
                                            <p:strVal val="#ppt_y"/>
                                          </p:val>
                                        </p:tav>
                                        <p:tav tm="100000">
                                          <p:val>
                                            <p:strVal val="#ppt_y"/>
                                          </p:val>
                                        </p:tav>
                                      </p:tavLst>
                                    </p:anim>
                                  </p:childTnLst>
                                </p:cTn>
                              </p:par>
                              <p:par>
                                <p:cTn id="73" presetID="2" presetClass="entr" presetSubtype="2" fill="hold" grpId="0" nodeType="withEffect">
                                  <p:stCondLst>
                                    <p:cond delay="0"/>
                                  </p:stCondLst>
                                  <p:childTnLst>
                                    <p:set>
                                      <p:cBhvr>
                                        <p:cTn id="74" dur="1" fill="hold">
                                          <p:stCondLst>
                                            <p:cond delay="0"/>
                                          </p:stCondLst>
                                        </p:cTn>
                                        <p:tgtEl>
                                          <p:spTgt spid="4108"/>
                                        </p:tgtEl>
                                        <p:attrNameLst>
                                          <p:attrName>style.visibility</p:attrName>
                                        </p:attrNameLst>
                                      </p:cBhvr>
                                      <p:to>
                                        <p:strVal val="visible"/>
                                      </p:to>
                                    </p:set>
                                    <p:anim calcmode="lin" valueType="num">
                                      <p:cBhvr additive="base">
                                        <p:cTn id="75" dur="500" fill="hold"/>
                                        <p:tgtEl>
                                          <p:spTgt spid="4108"/>
                                        </p:tgtEl>
                                        <p:attrNameLst>
                                          <p:attrName>ppt_x</p:attrName>
                                        </p:attrNameLst>
                                      </p:cBhvr>
                                      <p:tavLst>
                                        <p:tav tm="0">
                                          <p:val>
                                            <p:strVal val="1+#ppt_w/2"/>
                                          </p:val>
                                        </p:tav>
                                        <p:tav tm="100000">
                                          <p:val>
                                            <p:strVal val="#ppt_x"/>
                                          </p:val>
                                        </p:tav>
                                      </p:tavLst>
                                    </p:anim>
                                    <p:anim calcmode="lin" valueType="num">
                                      <p:cBhvr additive="base">
                                        <p:cTn id="76" dur="500" fill="hold"/>
                                        <p:tgtEl>
                                          <p:spTgt spid="4108"/>
                                        </p:tgtEl>
                                        <p:attrNameLst>
                                          <p:attrName>ppt_y</p:attrName>
                                        </p:attrNameLst>
                                      </p:cBhvr>
                                      <p:tavLst>
                                        <p:tav tm="0">
                                          <p:val>
                                            <p:strVal val="#ppt_y"/>
                                          </p:val>
                                        </p:tav>
                                        <p:tav tm="100000">
                                          <p:val>
                                            <p:strVal val="#ppt_y"/>
                                          </p:val>
                                        </p:tav>
                                      </p:tavLst>
                                    </p:anim>
                                  </p:childTnLst>
                                </p:cTn>
                              </p:par>
                              <p:par>
                                <p:cTn id="77" presetID="2" presetClass="entr" presetSubtype="2" fill="hold" grpId="0" nodeType="withEffect">
                                  <p:stCondLst>
                                    <p:cond delay="0"/>
                                  </p:stCondLst>
                                  <p:childTnLst>
                                    <p:set>
                                      <p:cBhvr>
                                        <p:cTn id="78" dur="1" fill="hold">
                                          <p:stCondLst>
                                            <p:cond delay="0"/>
                                          </p:stCondLst>
                                        </p:cTn>
                                        <p:tgtEl>
                                          <p:spTgt spid="4112"/>
                                        </p:tgtEl>
                                        <p:attrNameLst>
                                          <p:attrName>style.visibility</p:attrName>
                                        </p:attrNameLst>
                                      </p:cBhvr>
                                      <p:to>
                                        <p:strVal val="visible"/>
                                      </p:to>
                                    </p:set>
                                    <p:anim calcmode="lin" valueType="num">
                                      <p:cBhvr additive="base">
                                        <p:cTn id="79" dur="500" fill="hold"/>
                                        <p:tgtEl>
                                          <p:spTgt spid="4112"/>
                                        </p:tgtEl>
                                        <p:attrNameLst>
                                          <p:attrName>ppt_x</p:attrName>
                                        </p:attrNameLst>
                                      </p:cBhvr>
                                      <p:tavLst>
                                        <p:tav tm="0">
                                          <p:val>
                                            <p:strVal val="1+#ppt_w/2"/>
                                          </p:val>
                                        </p:tav>
                                        <p:tav tm="100000">
                                          <p:val>
                                            <p:strVal val="#ppt_x"/>
                                          </p:val>
                                        </p:tav>
                                      </p:tavLst>
                                    </p:anim>
                                    <p:anim calcmode="lin" valueType="num">
                                      <p:cBhvr additive="base">
                                        <p:cTn id="80" dur="500" fill="hold"/>
                                        <p:tgtEl>
                                          <p:spTgt spid="4112"/>
                                        </p:tgtEl>
                                        <p:attrNameLst>
                                          <p:attrName>ppt_y</p:attrName>
                                        </p:attrNameLst>
                                      </p:cBhvr>
                                      <p:tavLst>
                                        <p:tav tm="0">
                                          <p:val>
                                            <p:strVal val="#ppt_y"/>
                                          </p:val>
                                        </p:tav>
                                        <p:tav tm="100000">
                                          <p:val>
                                            <p:strVal val="#ppt_y"/>
                                          </p:val>
                                        </p:tav>
                                      </p:tavLst>
                                    </p:anim>
                                  </p:childTnLst>
                                </p:cTn>
                              </p:par>
                              <p:par>
                                <p:cTn id="81" presetID="2" presetClass="entr" presetSubtype="2" fill="hold" grpId="0" nodeType="withEffect">
                                  <p:stCondLst>
                                    <p:cond delay="0"/>
                                  </p:stCondLst>
                                  <p:childTnLst>
                                    <p:set>
                                      <p:cBhvr>
                                        <p:cTn id="82" dur="1" fill="hold">
                                          <p:stCondLst>
                                            <p:cond delay="0"/>
                                          </p:stCondLst>
                                        </p:cTn>
                                        <p:tgtEl>
                                          <p:spTgt spid="4111"/>
                                        </p:tgtEl>
                                        <p:attrNameLst>
                                          <p:attrName>style.visibility</p:attrName>
                                        </p:attrNameLst>
                                      </p:cBhvr>
                                      <p:to>
                                        <p:strVal val="visible"/>
                                      </p:to>
                                    </p:set>
                                    <p:anim calcmode="lin" valueType="num">
                                      <p:cBhvr additive="base">
                                        <p:cTn id="83" dur="500" fill="hold"/>
                                        <p:tgtEl>
                                          <p:spTgt spid="4111"/>
                                        </p:tgtEl>
                                        <p:attrNameLst>
                                          <p:attrName>ppt_x</p:attrName>
                                        </p:attrNameLst>
                                      </p:cBhvr>
                                      <p:tavLst>
                                        <p:tav tm="0">
                                          <p:val>
                                            <p:strVal val="1+#ppt_w/2"/>
                                          </p:val>
                                        </p:tav>
                                        <p:tav tm="100000">
                                          <p:val>
                                            <p:strVal val="#ppt_x"/>
                                          </p:val>
                                        </p:tav>
                                      </p:tavLst>
                                    </p:anim>
                                    <p:anim calcmode="lin" valueType="num">
                                      <p:cBhvr additive="base">
                                        <p:cTn id="84" dur="500" fill="hold"/>
                                        <p:tgtEl>
                                          <p:spTgt spid="4111"/>
                                        </p:tgtEl>
                                        <p:attrNameLst>
                                          <p:attrName>ppt_y</p:attrName>
                                        </p:attrNameLst>
                                      </p:cBhvr>
                                      <p:tavLst>
                                        <p:tav tm="0">
                                          <p:val>
                                            <p:strVal val="#ppt_y"/>
                                          </p:val>
                                        </p:tav>
                                        <p:tav tm="100000">
                                          <p:val>
                                            <p:strVal val="#ppt_y"/>
                                          </p:val>
                                        </p:tav>
                                      </p:tavLst>
                                    </p:anim>
                                  </p:childTnLst>
                                </p:cTn>
                              </p:par>
                              <p:par>
                                <p:cTn id="85" presetID="2" presetClass="entr" presetSubtype="2" fill="hold" grpId="0" nodeType="withEffect">
                                  <p:stCondLst>
                                    <p:cond delay="0"/>
                                  </p:stCondLst>
                                  <p:childTnLst>
                                    <p:set>
                                      <p:cBhvr>
                                        <p:cTn id="86" dur="1" fill="hold">
                                          <p:stCondLst>
                                            <p:cond delay="0"/>
                                          </p:stCondLst>
                                        </p:cTn>
                                        <p:tgtEl>
                                          <p:spTgt spid="4107"/>
                                        </p:tgtEl>
                                        <p:attrNameLst>
                                          <p:attrName>style.visibility</p:attrName>
                                        </p:attrNameLst>
                                      </p:cBhvr>
                                      <p:to>
                                        <p:strVal val="visible"/>
                                      </p:to>
                                    </p:set>
                                    <p:anim calcmode="lin" valueType="num">
                                      <p:cBhvr additive="base">
                                        <p:cTn id="87" dur="500" fill="hold"/>
                                        <p:tgtEl>
                                          <p:spTgt spid="4107"/>
                                        </p:tgtEl>
                                        <p:attrNameLst>
                                          <p:attrName>ppt_x</p:attrName>
                                        </p:attrNameLst>
                                      </p:cBhvr>
                                      <p:tavLst>
                                        <p:tav tm="0">
                                          <p:val>
                                            <p:strVal val="1+#ppt_w/2"/>
                                          </p:val>
                                        </p:tav>
                                        <p:tav tm="100000">
                                          <p:val>
                                            <p:strVal val="#ppt_x"/>
                                          </p:val>
                                        </p:tav>
                                      </p:tavLst>
                                    </p:anim>
                                    <p:anim calcmode="lin" valueType="num">
                                      <p:cBhvr additive="base">
                                        <p:cTn id="88" dur="500" fill="hold"/>
                                        <p:tgtEl>
                                          <p:spTgt spid="4107"/>
                                        </p:tgtEl>
                                        <p:attrNameLst>
                                          <p:attrName>ppt_y</p:attrName>
                                        </p:attrNameLst>
                                      </p:cBhvr>
                                      <p:tavLst>
                                        <p:tav tm="0">
                                          <p:val>
                                            <p:strVal val="#ppt_y"/>
                                          </p:val>
                                        </p:tav>
                                        <p:tav tm="100000">
                                          <p:val>
                                            <p:strVal val="#ppt_y"/>
                                          </p:val>
                                        </p:tav>
                                      </p:tavLst>
                                    </p:anim>
                                  </p:childTnLst>
                                </p:cTn>
                              </p:par>
                              <p:par>
                                <p:cTn id="89" presetID="2" presetClass="entr" presetSubtype="2" fill="hold" grpId="0" nodeType="withEffect">
                                  <p:stCondLst>
                                    <p:cond delay="0"/>
                                  </p:stCondLst>
                                  <p:childTnLst>
                                    <p:set>
                                      <p:cBhvr>
                                        <p:cTn id="90" dur="1" fill="hold">
                                          <p:stCondLst>
                                            <p:cond delay="0"/>
                                          </p:stCondLst>
                                        </p:cTn>
                                        <p:tgtEl>
                                          <p:spTgt spid="4106"/>
                                        </p:tgtEl>
                                        <p:attrNameLst>
                                          <p:attrName>style.visibility</p:attrName>
                                        </p:attrNameLst>
                                      </p:cBhvr>
                                      <p:to>
                                        <p:strVal val="visible"/>
                                      </p:to>
                                    </p:set>
                                    <p:anim calcmode="lin" valueType="num">
                                      <p:cBhvr additive="base">
                                        <p:cTn id="91" dur="500" fill="hold"/>
                                        <p:tgtEl>
                                          <p:spTgt spid="4106"/>
                                        </p:tgtEl>
                                        <p:attrNameLst>
                                          <p:attrName>ppt_x</p:attrName>
                                        </p:attrNameLst>
                                      </p:cBhvr>
                                      <p:tavLst>
                                        <p:tav tm="0">
                                          <p:val>
                                            <p:strVal val="1+#ppt_w/2"/>
                                          </p:val>
                                        </p:tav>
                                        <p:tav tm="100000">
                                          <p:val>
                                            <p:strVal val="#ppt_x"/>
                                          </p:val>
                                        </p:tav>
                                      </p:tavLst>
                                    </p:anim>
                                    <p:anim calcmode="lin" valueType="num">
                                      <p:cBhvr additive="base">
                                        <p:cTn id="92" dur="500" fill="hold"/>
                                        <p:tgtEl>
                                          <p:spTgt spid="4106"/>
                                        </p:tgtEl>
                                        <p:attrNameLst>
                                          <p:attrName>ppt_y</p:attrName>
                                        </p:attrNameLst>
                                      </p:cBhvr>
                                      <p:tavLst>
                                        <p:tav tm="0">
                                          <p:val>
                                            <p:strVal val="#ppt_y"/>
                                          </p:val>
                                        </p:tav>
                                        <p:tav tm="100000">
                                          <p:val>
                                            <p:strVal val="#ppt_y"/>
                                          </p:val>
                                        </p:tav>
                                      </p:tavLst>
                                    </p:anim>
                                  </p:childTnLst>
                                </p:cTn>
                              </p:par>
                              <p:par>
                                <p:cTn id="93" presetID="2" presetClass="entr" presetSubtype="2" fill="hold" nodeType="withEffect">
                                  <p:stCondLst>
                                    <p:cond delay="0"/>
                                  </p:stCondLst>
                                  <p:childTnLst>
                                    <p:set>
                                      <p:cBhvr>
                                        <p:cTn id="94" dur="1" fill="hold">
                                          <p:stCondLst>
                                            <p:cond delay="0"/>
                                          </p:stCondLst>
                                        </p:cTn>
                                        <p:tgtEl>
                                          <p:spTgt spid="45"/>
                                        </p:tgtEl>
                                        <p:attrNameLst>
                                          <p:attrName>style.visibility</p:attrName>
                                        </p:attrNameLst>
                                      </p:cBhvr>
                                      <p:to>
                                        <p:strVal val="visible"/>
                                      </p:to>
                                    </p:set>
                                    <p:anim calcmode="lin" valueType="num">
                                      <p:cBhvr additive="base">
                                        <p:cTn id="95" dur="500" fill="hold"/>
                                        <p:tgtEl>
                                          <p:spTgt spid="45"/>
                                        </p:tgtEl>
                                        <p:attrNameLst>
                                          <p:attrName>ppt_x</p:attrName>
                                        </p:attrNameLst>
                                      </p:cBhvr>
                                      <p:tavLst>
                                        <p:tav tm="0">
                                          <p:val>
                                            <p:strVal val="1+#ppt_w/2"/>
                                          </p:val>
                                        </p:tav>
                                        <p:tav tm="100000">
                                          <p:val>
                                            <p:strVal val="#ppt_x"/>
                                          </p:val>
                                        </p:tav>
                                      </p:tavLst>
                                    </p:anim>
                                    <p:anim calcmode="lin" valueType="num">
                                      <p:cBhvr additive="base">
                                        <p:cTn id="96" dur="500" fill="hold"/>
                                        <p:tgtEl>
                                          <p:spTgt spid="45"/>
                                        </p:tgtEl>
                                        <p:attrNameLst>
                                          <p:attrName>ppt_y</p:attrName>
                                        </p:attrNameLst>
                                      </p:cBhvr>
                                      <p:tavLst>
                                        <p:tav tm="0">
                                          <p:val>
                                            <p:strVal val="#ppt_y"/>
                                          </p:val>
                                        </p:tav>
                                        <p:tav tm="100000">
                                          <p:val>
                                            <p:strVal val="#ppt_y"/>
                                          </p:val>
                                        </p:tav>
                                      </p:tavLst>
                                    </p:anim>
                                  </p:childTnLst>
                                </p:cTn>
                              </p:par>
                            </p:childTnLst>
                          </p:cTn>
                        </p:par>
                      </p:childTnLst>
                    </p:cTn>
                  </p:par>
                  <p:par>
                    <p:cTn id="97" fill="hold" nodeType="clickPar">
                      <p:stCondLst>
                        <p:cond delay="indefinite"/>
                      </p:stCondLst>
                      <p:childTnLst>
                        <p:par>
                          <p:cTn id="98" fill="hold" nodeType="withGroup">
                            <p:stCondLst>
                              <p:cond delay="0"/>
                            </p:stCondLst>
                            <p:childTnLst>
                              <p:par>
                                <p:cTn id="99" presetID="2" presetClass="entr" presetSubtype="2" fill="hold" grpId="0" nodeType="clickEffect">
                                  <p:stCondLst>
                                    <p:cond delay="0"/>
                                  </p:stCondLst>
                                  <p:childTnLst>
                                    <p:set>
                                      <p:cBhvr>
                                        <p:cTn id="100" dur="1" fill="hold">
                                          <p:stCondLst>
                                            <p:cond delay="0"/>
                                          </p:stCondLst>
                                        </p:cTn>
                                        <p:tgtEl>
                                          <p:spTgt spid="4186"/>
                                        </p:tgtEl>
                                        <p:attrNameLst>
                                          <p:attrName>style.visibility</p:attrName>
                                        </p:attrNameLst>
                                      </p:cBhvr>
                                      <p:to>
                                        <p:strVal val="visible"/>
                                      </p:to>
                                    </p:set>
                                    <p:anim calcmode="lin" valueType="num">
                                      <p:cBhvr additive="base">
                                        <p:cTn id="101" dur="500" fill="hold"/>
                                        <p:tgtEl>
                                          <p:spTgt spid="4186"/>
                                        </p:tgtEl>
                                        <p:attrNameLst>
                                          <p:attrName>ppt_x</p:attrName>
                                        </p:attrNameLst>
                                      </p:cBhvr>
                                      <p:tavLst>
                                        <p:tav tm="0">
                                          <p:val>
                                            <p:strVal val="1+#ppt_w/2"/>
                                          </p:val>
                                        </p:tav>
                                        <p:tav tm="100000">
                                          <p:val>
                                            <p:strVal val="#ppt_x"/>
                                          </p:val>
                                        </p:tav>
                                      </p:tavLst>
                                    </p:anim>
                                    <p:anim calcmode="lin" valueType="num">
                                      <p:cBhvr additive="base">
                                        <p:cTn id="102" dur="500" fill="hold"/>
                                        <p:tgtEl>
                                          <p:spTgt spid="4186"/>
                                        </p:tgtEl>
                                        <p:attrNameLst>
                                          <p:attrName>ppt_y</p:attrName>
                                        </p:attrNameLst>
                                      </p:cBhvr>
                                      <p:tavLst>
                                        <p:tav tm="0">
                                          <p:val>
                                            <p:strVal val="#ppt_y"/>
                                          </p:val>
                                        </p:tav>
                                        <p:tav tm="100000">
                                          <p:val>
                                            <p:strVal val="#ppt_y"/>
                                          </p:val>
                                        </p:tav>
                                      </p:tavLst>
                                    </p:anim>
                                  </p:childTnLst>
                                </p:cTn>
                              </p:par>
                            </p:childTnLst>
                          </p:cTn>
                        </p:par>
                      </p:childTnLst>
                    </p:cTn>
                  </p:par>
                  <p:par>
                    <p:cTn id="103" fill="hold" nodeType="clickPar">
                      <p:stCondLst>
                        <p:cond delay="indefinite"/>
                      </p:stCondLst>
                      <p:childTnLst>
                        <p:par>
                          <p:cTn id="104" fill="hold" nodeType="withGroup">
                            <p:stCondLst>
                              <p:cond delay="0"/>
                            </p:stCondLst>
                            <p:childTnLst>
                              <p:par>
                                <p:cTn id="105" presetID="2" presetClass="entr" presetSubtype="4" fill="hold" grpId="0" nodeType="clickEffect">
                                  <p:stCondLst>
                                    <p:cond delay="0"/>
                                  </p:stCondLst>
                                  <p:childTnLst>
                                    <p:set>
                                      <p:cBhvr>
                                        <p:cTn id="106" dur="1" fill="hold">
                                          <p:stCondLst>
                                            <p:cond delay="0"/>
                                          </p:stCondLst>
                                        </p:cTn>
                                        <p:tgtEl>
                                          <p:spTgt spid="4103"/>
                                        </p:tgtEl>
                                        <p:attrNameLst>
                                          <p:attrName>style.visibility</p:attrName>
                                        </p:attrNameLst>
                                      </p:cBhvr>
                                      <p:to>
                                        <p:strVal val="visible"/>
                                      </p:to>
                                    </p:set>
                                    <p:anim calcmode="lin" valueType="num">
                                      <p:cBhvr additive="base">
                                        <p:cTn id="107" dur="500" fill="hold"/>
                                        <p:tgtEl>
                                          <p:spTgt spid="4103"/>
                                        </p:tgtEl>
                                        <p:attrNameLst>
                                          <p:attrName>ppt_x</p:attrName>
                                        </p:attrNameLst>
                                      </p:cBhvr>
                                      <p:tavLst>
                                        <p:tav tm="0">
                                          <p:val>
                                            <p:strVal val="#ppt_x"/>
                                          </p:val>
                                        </p:tav>
                                        <p:tav tm="100000">
                                          <p:val>
                                            <p:strVal val="#ppt_x"/>
                                          </p:val>
                                        </p:tav>
                                      </p:tavLst>
                                    </p:anim>
                                    <p:anim calcmode="lin" valueType="num">
                                      <p:cBhvr additive="base">
                                        <p:cTn id="108" dur="500" fill="hold"/>
                                        <p:tgtEl>
                                          <p:spTgt spid="410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03" grpId="0" animBg="1"/>
      <p:bldP spid="4104" grpId="0" animBg="1"/>
      <p:bldP spid="4105" grpId="0" animBg="1"/>
      <p:bldP spid="4106" grpId="0" animBg="1"/>
      <p:bldP spid="4107" grpId="0" animBg="1"/>
      <p:bldP spid="4108" grpId="0" animBg="1"/>
      <p:bldP spid="4109" grpId="0" animBg="1"/>
      <p:bldP spid="4110" grpId="0"/>
      <p:bldP spid="4111" grpId="0" animBg="1"/>
      <p:bldP spid="4112" grpId="0"/>
      <p:bldP spid="4113" grpId="0" animBg="1"/>
      <p:bldP spid="4114" grpId="0"/>
      <p:bldP spid="4115" grpId="0"/>
      <p:bldP spid="4116" grpId="0" animBg="1"/>
      <p:bldP spid="4118" grpId="0" animBg="1"/>
      <p:bldP spid="4119" grpId="0"/>
      <p:bldP spid="4120" grpId="0" animBg="1"/>
      <p:bldP spid="4186"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2"/>
          <p:cNvSpPr>
            <a:spLocks noGrp="1" noChangeArrowheads="1"/>
          </p:cNvSpPr>
          <p:nvPr>
            <p:ph type="title"/>
          </p:nvPr>
        </p:nvSpPr>
        <p:spPr>
          <a:xfrm>
            <a:off x="990600" y="152400"/>
            <a:ext cx="7793038" cy="762000"/>
          </a:xfrm>
        </p:spPr>
        <p:txBody>
          <a:bodyPr/>
          <a:lstStyle/>
          <a:p>
            <a:pPr eaLnBrk="1" hangingPunct="1">
              <a:lnSpc>
                <a:spcPct val="85000"/>
              </a:lnSpc>
            </a:pPr>
            <a:r>
              <a:rPr lang="en-US" altLang="en-US" smtClean="0"/>
              <a:t>Microwave Popcorn</a:t>
            </a:r>
            <a:endParaRPr lang="en-US" altLang="en-US" smtClean="0">
              <a:sym typeface="Symbol" charset="2"/>
            </a:endParaRPr>
          </a:p>
        </p:txBody>
      </p:sp>
      <p:sp>
        <p:nvSpPr>
          <p:cNvPr id="35844" name="Rectangle 3"/>
          <p:cNvSpPr>
            <a:spLocks noGrp="1" noChangeArrowheads="1"/>
          </p:cNvSpPr>
          <p:nvPr>
            <p:ph idx="1"/>
          </p:nvPr>
        </p:nvSpPr>
        <p:spPr>
          <a:xfrm>
            <a:off x="381000" y="762000"/>
            <a:ext cx="5257800" cy="4114800"/>
          </a:xfrm>
          <a:solidFill>
            <a:srgbClr val="FFFFC3"/>
          </a:solidFill>
          <a:ln w="19050">
            <a:solidFill>
              <a:schemeClr val="tx1"/>
            </a:solidFill>
            <a:miter lim="800000"/>
            <a:headEnd/>
            <a:tailEnd/>
          </a:ln>
        </p:spPr>
        <p:txBody>
          <a:bodyPr/>
          <a:lstStyle/>
          <a:p>
            <a:pPr marL="0" eaLnBrk="1" hangingPunct="1">
              <a:buFont typeface="Wingdings" charset="2"/>
              <a:buNone/>
            </a:pPr>
            <a:r>
              <a:rPr lang="en-US" altLang="en-US" sz="2000" smtClean="0"/>
              <a:t>A popcorn maker wants a combination of microwave time and power that delivers high-quality popped corn with less than 10% </a:t>
            </a:r>
            <a:r>
              <a:rPr lang="en-US" altLang="en-US" sz="2000" u="sng" smtClean="0"/>
              <a:t>unpopped</a:t>
            </a:r>
            <a:r>
              <a:rPr lang="en-US" altLang="en-US" sz="2000" smtClean="0"/>
              <a:t> kernels, on average. After testing, the research department determines that power 9 at 4 minutes is optimum.  The company president tests 8 bags in his office microwave and finds the following percentages of unpopped kernels: 7, 13.2, 10, 6, 7.8, 2.8, 2.2, 5.2.</a:t>
            </a:r>
          </a:p>
          <a:p>
            <a:pPr marL="0" eaLnBrk="1" hangingPunct="1">
              <a:buFont typeface="Wingdings" charset="2"/>
              <a:buNone/>
            </a:pPr>
            <a:r>
              <a:rPr lang="en-US" altLang="en-US" sz="2000" smtClean="0"/>
              <a:t>Do the data provide evidence that the mean percentage of unpopped kernels is less than 10%?</a:t>
            </a:r>
          </a:p>
        </p:txBody>
      </p:sp>
      <p:sp>
        <p:nvSpPr>
          <p:cNvPr id="35842" name="Slide Number Placeholder 4"/>
          <p:cNvSpPr>
            <a:spLocks noGrp="1"/>
          </p:cNvSpPr>
          <p:nvPr>
            <p:ph type="sldNum" sz="quarter" idx="12"/>
          </p:nvPr>
        </p:nvSpPr>
        <p:spPr bwMode="auto">
          <a:xfrm>
            <a:off x="7086600" y="6400800"/>
            <a:ext cx="1905000" cy="30956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52488">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defTabSz="852488">
              <a:spcBef>
                <a:spcPct val="20000"/>
              </a:spcBef>
              <a:buClr>
                <a:schemeClr val="tx1"/>
              </a:buClr>
              <a:buSzPct val="100000"/>
              <a:buChar char="–"/>
              <a:defRPr sz="2800" i="1">
                <a:solidFill>
                  <a:schemeClr val="tx1"/>
                </a:solidFill>
                <a:latin typeface="Arial" charset="0"/>
              </a:defRPr>
            </a:lvl2pPr>
            <a:lvl3pPr marL="1143000" indent="-228600" defTabSz="852488">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defTabSz="852488">
              <a:spcBef>
                <a:spcPct val="20000"/>
              </a:spcBef>
              <a:buClr>
                <a:schemeClr val="tx1"/>
              </a:buClr>
              <a:buSzPct val="100000"/>
              <a:buChar char="–"/>
              <a:defRPr sz="2000" i="1">
                <a:solidFill>
                  <a:schemeClr val="tx1"/>
                </a:solidFill>
                <a:latin typeface="Arial" charset="0"/>
              </a:defRPr>
            </a:lvl4pPr>
            <a:lvl5pPr marL="2057400" indent="-228600" defTabSz="852488">
              <a:spcBef>
                <a:spcPct val="20000"/>
              </a:spcBef>
              <a:buClr>
                <a:schemeClr val="tx1"/>
              </a:buClr>
              <a:buSzPct val="100000"/>
              <a:buChar char="•"/>
              <a:defRPr sz="2000" i="1">
                <a:solidFill>
                  <a:schemeClr val="tx1"/>
                </a:solidFill>
                <a:latin typeface="Arial" charset="0"/>
              </a:defRPr>
            </a:lvl5pPr>
            <a:lvl6pPr marL="2514600" indent="-228600" defTabSz="852488"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defTabSz="852488"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defTabSz="852488"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defTabSz="852488"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eaLnBrk="1" hangingPunct="1">
              <a:spcBef>
                <a:spcPct val="0"/>
              </a:spcBef>
              <a:buClrTx/>
              <a:buSzTx/>
              <a:buFontTx/>
              <a:buNone/>
            </a:pPr>
            <a:endParaRPr lang="en-US" altLang="en-US" sz="2000">
              <a:latin typeface="Verdana" pitchFamily="34" charset="0"/>
              <a:cs typeface="Arial" charset="0"/>
            </a:endParaRPr>
          </a:p>
        </p:txBody>
      </p:sp>
      <p:sp>
        <p:nvSpPr>
          <p:cNvPr id="35845" name="Rectangle 8"/>
          <p:cNvSpPr>
            <a:spLocks noChangeArrowheads="1"/>
          </p:cNvSpPr>
          <p:nvPr/>
        </p:nvSpPr>
        <p:spPr bwMode="auto">
          <a:xfrm>
            <a:off x="609600" y="5232400"/>
            <a:ext cx="7848600" cy="132080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90488" tIns="44450" rIns="90488" bIns="4445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0"/>
              </a:spcBef>
              <a:buClrTx/>
              <a:buSzTx/>
              <a:buFontTx/>
              <a:buNone/>
            </a:pPr>
            <a:r>
              <a:rPr lang="en-US" altLang="en-US" sz="2000" b="1"/>
              <a:t>H</a:t>
            </a:r>
            <a:r>
              <a:rPr lang="en-US" altLang="en-US" sz="2000" b="1" baseline="-25000"/>
              <a:t>0</a:t>
            </a:r>
            <a:r>
              <a:rPr lang="en-US" altLang="en-US" sz="2000" b="1"/>
              <a:t>:</a:t>
            </a:r>
            <a:r>
              <a:rPr lang="en-US" altLang="en-US" sz="2000" b="1">
                <a:latin typeface="Times New Roman" pitchFamily="18" charset="0"/>
              </a:rPr>
              <a:t> </a:t>
            </a:r>
            <a:r>
              <a:rPr lang="el-GR" altLang="en-US" sz="2000" b="1"/>
              <a:t>μ</a:t>
            </a:r>
            <a:r>
              <a:rPr lang="en-US" altLang="en-US" sz="2000" b="1">
                <a:latin typeface="Symbol" charset="2"/>
              </a:rPr>
              <a:t> </a:t>
            </a:r>
            <a:r>
              <a:rPr lang="en-US" altLang="en-US" sz="2000" b="1"/>
              <a:t>= 10</a:t>
            </a:r>
          </a:p>
          <a:p>
            <a:pPr>
              <a:spcBef>
                <a:spcPct val="0"/>
              </a:spcBef>
              <a:buClrTx/>
              <a:buSzTx/>
              <a:buFontTx/>
              <a:buNone/>
            </a:pPr>
            <a:r>
              <a:rPr lang="en-US" altLang="en-US" sz="2000" b="1"/>
              <a:t>H</a:t>
            </a:r>
            <a:r>
              <a:rPr lang="en-US" altLang="en-US" sz="2000" b="1" baseline="-25000"/>
              <a:t>A</a:t>
            </a:r>
            <a:r>
              <a:rPr lang="en-US" altLang="en-US" sz="2000" b="1"/>
              <a:t>:</a:t>
            </a:r>
            <a:r>
              <a:rPr lang="en-US" altLang="en-US" sz="2000" b="1">
                <a:latin typeface="Times New Roman" pitchFamily="18" charset="0"/>
              </a:rPr>
              <a:t> </a:t>
            </a:r>
            <a:r>
              <a:rPr lang="el-GR" altLang="en-US" sz="2000" b="1"/>
              <a:t>μ</a:t>
            </a:r>
            <a:r>
              <a:rPr lang="en-US" altLang="en-US" sz="2000" b="1">
                <a:latin typeface="Symbol" charset="2"/>
              </a:rPr>
              <a:t> &lt;</a:t>
            </a:r>
            <a:r>
              <a:rPr lang="en-US" altLang="en-US" sz="2000" b="1">
                <a:latin typeface="Times New Roman" pitchFamily="18" charset="0"/>
              </a:rPr>
              <a:t> </a:t>
            </a:r>
            <a:r>
              <a:rPr lang="en-US" altLang="en-US" sz="2000" b="1"/>
              <a:t>10</a:t>
            </a:r>
          </a:p>
          <a:p>
            <a:pPr>
              <a:spcBef>
                <a:spcPct val="0"/>
              </a:spcBef>
              <a:buClrTx/>
              <a:buSzTx/>
              <a:buFontTx/>
              <a:buNone/>
            </a:pPr>
            <a:r>
              <a:rPr lang="en-US" altLang="en-US" sz="2000" b="1"/>
              <a:t>where </a:t>
            </a:r>
            <a:r>
              <a:rPr lang="el-GR" altLang="en-US" sz="2000" b="1"/>
              <a:t>μ</a:t>
            </a:r>
            <a:r>
              <a:rPr lang="en-US" altLang="en-US" sz="2000" b="1"/>
              <a:t> is true unknown mean percentage of unpopped kernels</a:t>
            </a:r>
          </a:p>
        </p:txBody>
      </p:sp>
      <p:pic>
        <p:nvPicPr>
          <p:cNvPr id="35846" name="Picture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24575" y="762000"/>
            <a:ext cx="2257425" cy="170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47"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24600" y="2667000"/>
            <a:ext cx="1905000"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opCorn Popping-17601-Free-Loops.com.wav">
            <a:hlinkClick r:id="" action="ppaction://media"/>
          </p:cNvPr>
          <p:cNvPicPr>
            <a:picLocks noChangeAspect="1"/>
          </p:cNvPicPr>
          <p:nvPr>
            <a:audioFile r:link="rId3"/>
            <p:extLst>
              <p:ext uri="{DAA4B4D4-6D71-4841-9C94-3DE7FCFB9230}">
                <p14:media xmlns:p14="http://schemas.microsoft.com/office/powerpoint/2010/main" r:link="rId2"/>
              </p:ext>
            </p:extLst>
          </p:nvPr>
        </p:nvPicPr>
        <p:blipFill>
          <a:blip r:embed="rId7">
            <a:extLst>
              <a:ext uri="{28A0092B-C50C-407E-A947-70E740481C1C}">
                <a14:useLocalDpi xmlns:a14="http://schemas.microsoft.com/office/drawing/2010/main" val="0"/>
              </a:ext>
            </a:extLst>
          </a:blip>
          <a:srcRect/>
          <a:stretch>
            <a:fillRect/>
          </a:stretch>
        </p:blipFill>
        <p:spPr bwMode="auto">
          <a:xfrm>
            <a:off x="152400" y="52578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transition spd="slow">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mediacall" presetSubtype="0" fill="hold" nodeType="afterEffect">
                                  <p:stCondLst>
                                    <p:cond delay="0"/>
                                  </p:stCondLst>
                                  <p:childTnLst>
                                    <p:cmd type="call" cmd="playFrom(0.0)">
                                      <p:cBhvr>
                                        <p:cTn id="6" dur="3051"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repeatCount="indefinite" fill="hold" display="0">
                  <p:stCondLst>
                    <p:cond delay="indefinite"/>
                  </p:stCondLst>
                  <p:endCondLst>
                    <p:cond evt="onNext" delay="0">
                      <p:tgtEl>
                        <p:sldTgt/>
                      </p:tgtEl>
                    </p:cond>
                    <p:cond evt="onPrev" delay="0">
                      <p:tgtEl>
                        <p:sldTgt/>
                      </p:tgtEl>
                    </p:cond>
                    <p:cond evt="onStopAudio" delay="0">
                      <p:tgtEl>
                        <p:sldTgt/>
                      </p:tgtEl>
                    </p:cond>
                  </p:endCondLst>
                </p:cTn>
                <p:tgtEl>
                  <p:spTgt spid="8"/>
                </p:tgtEl>
              </p:cMediaNode>
            </p:audio>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71" name="Rectangle 1032"/>
          <p:cNvSpPr>
            <a:spLocks noGrp="1" noChangeArrowheads="1"/>
          </p:cNvSpPr>
          <p:nvPr>
            <p:ph type="title"/>
          </p:nvPr>
        </p:nvSpPr>
        <p:spPr>
          <a:xfrm>
            <a:off x="685800" y="304800"/>
            <a:ext cx="7793038" cy="762000"/>
          </a:xfrm>
        </p:spPr>
        <p:txBody>
          <a:bodyPr>
            <a:normAutofit fontScale="90000"/>
          </a:bodyPr>
          <a:lstStyle/>
          <a:p>
            <a:pPr eaLnBrk="1" hangingPunct="1">
              <a:lnSpc>
                <a:spcPct val="110000"/>
              </a:lnSpc>
              <a:defRPr/>
            </a:pPr>
            <a:r>
              <a:rPr lang="en-US" dirty="0" smtClean="0"/>
              <a:t>Microwave Popcorn</a:t>
            </a:r>
          </a:p>
        </p:txBody>
      </p:sp>
      <p:sp>
        <p:nvSpPr>
          <p:cNvPr id="36866" name="Rectangle 1031"/>
          <p:cNvSpPr>
            <a:spLocks noGrp="1" noChangeArrowheads="1"/>
          </p:cNvSpPr>
          <p:nvPr>
            <p:ph idx="1"/>
          </p:nvPr>
        </p:nvSpPr>
        <p:spPr>
          <a:xfrm>
            <a:off x="228600" y="2438400"/>
            <a:ext cx="3124200" cy="381000"/>
          </a:xfrm>
          <a:noFill/>
        </p:spPr>
        <p:txBody>
          <a:bodyPr/>
          <a:lstStyle/>
          <a:p>
            <a:pPr eaLnBrk="1" hangingPunct="1">
              <a:lnSpc>
                <a:spcPct val="85000"/>
              </a:lnSpc>
              <a:spcBef>
                <a:spcPct val="35000"/>
              </a:spcBef>
              <a:buSzTx/>
              <a:buFont typeface="Wingdings" charset="2"/>
              <a:buChar char="§"/>
            </a:pPr>
            <a:r>
              <a:rPr lang="en-US" altLang="en-US" sz="2400" smtClean="0"/>
              <a:t>n = 8; df = 7</a:t>
            </a:r>
          </a:p>
        </p:txBody>
      </p:sp>
      <p:sp>
        <p:nvSpPr>
          <p:cNvPr id="4103" name="Rectangle 1036"/>
          <p:cNvSpPr>
            <a:spLocks noChangeArrowheads="1"/>
          </p:cNvSpPr>
          <p:nvPr/>
        </p:nvSpPr>
        <p:spPr bwMode="auto">
          <a:xfrm>
            <a:off x="2895600" y="5638800"/>
            <a:ext cx="5943600" cy="1012825"/>
          </a:xfrm>
          <a:prstGeom prst="rect">
            <a:avLst/>
          </a:prstGeom>
          <a:solidFill>
            <a:srgbClr val="FFFFC3"/>
          </a:solidFill>
          <a:ln w="9525">
            <a:solidFill>
              <a:schemeClr val="tx1"/>
            </a:solidFill>
            <a:miter lim="800000"/>
            <a:headEnd/>
            <a:tailEnd/>
          </a:ln>
        </p:spPr>
        <p:txBody>
          <a:bodyPr lIns="90488" tIns="44450" rIns="90488" bIns="4445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50000"/>
              </a:spcBef>
              <a:buClrTx/>
              <a:buSzTx/>
              <a:buFontTx/>
              <a:buNone/>
            </a:pPr>
            <a:r>
              <a:rPr lang="en-US" altLang="en-US" sz="2000" b="1"/>
              <a:t>Reject H</a:t>
            </a:r>
            <a:r>
              <a:rPr lang="en-US" altLang="en-US" sz="2000" b="1" baseline="-25000"/>
              <a:t>0</a:t>
            </a:r>
            <a:r>
              <a:rPr lang="en-US" altLang="en-US" sz="2000" b="1"/>
              <a:t>:</a:t>
            </a:r>
            <a:r>
              <a:rPr lang="en-US" altLang="en-US" sz="2000"/>
              <a:t> there is sufficient evidence that true mean percentage of unpopped kernels is less than 10%</a:t>
            </a:r>
          </a:p>
        </p:txBody>
      </p:sp>
      <p:sp>
        <p:nvSpPr>
          <p:cNvPr id="4105" name="Freeform 1062"/>
          <p:cNvSpPr>
            <a:spLocks/>
          </p:cNvSpPr>
          <p:nvPr/>
        </p:nvSpPr>
        <p:spPr bwMode="auto">
          <a:xfrm>
            <a:off x="3962400" y="2133600"/>
            <a:ext cx="833438" cy="228600"/>
          </a:xfrm>
          <a:custGeom>
            <a:avLst/>
            <a:gdLst>
              <a:gd name="T0" fmla="*/ 2147483647 w 582"/>
              <a:gd name="T1" fmla="*/ 2147483647 h 183"/>
              <a:gd name="T2" fmla="*/ 0 w 582"/>
              <a:gd name="T3" fmla="*/ 2147483647 h 183"/>
              <a:gd name="T4" fmla="*/ 2147483647 w 582"/>
              <a:gd name="T5" fmla="*/ 2147483647 h 183"/>
              <a:gd name="T6" fmla="*/ 2147483647 w 582"/>
              <a:gd name="T7" fmla="*/ 2147483647 h 183"/>
              <a:gd name="T8" fmla="*/ 2147483647 w 582"/>
              <a:gd name="T9" fmla="*/ 2147483647 h 183"/>
              <a:gd name="T10" fmla="*/ 2147483647 w 582"/>
              <a:gd name="T11" fmla="*/ 0 h 183"/>
              <a:gd name="T12" fmla="*/ 2147483647 w 582"/>
              <a:gd name="T13" fmla="*/ 2147483647 h 183"/>
              <a:gd name="T14" fmla="*/ 2147483647 w 582"/>
              <a:gd name="T15" fmla="*/ 2147483647 h 183"/>
              <a:gd name="T16" fmla="*/ 2147483647 w 582"/>
              <a:gd name="T17" fmla="*/ 2147483647 h 18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82"/>
              <a:gd name="T28" fmla="*/ 0 h 183"/>
              <a:gd name="T29" fmla="*/ 582 w 582"/>
              <a:gd name="T30" fmla="*/ 183 h 18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82" h="183">
                <a:moveTo>
                  <a:pt x="9" y="177"/>
                </a:moveTo>
                <a:lnTo>
                  <a:pt x="0" y="132"/>
                </a:lnTo>
                <a:lnTo>
                  <a:pt x="258" y="114"/>
                </a:lnTo>
                <a:lnTo>
                  <a:pt x="423" y="66"/>
                </a:lnTo>
                <a:lnTo>
                  <a:pt x="504" y="48"/>
                </a:lnTo>
                <a:lnTo>
                  <a:pt x="582" y="0"/>
                </a:lnTo>
                <a:lnTo>
                  <a:pt x="582" y="183"/>
                </a:lnTo>
                <a:lnTo>
                  <a:pt x="9" y="182"/>
                </a:lnTo>
                <a:lnTo>
                  <a:pt x="9" y="177"/>
                </a:lnTo>
              </a:path>
            </a:pathLst>
          </a:custGeom>
          <a:solidFill>
            <a:srgbClr val="C3DBFF"/>
          </a:solidFill>
          <a:ln>
            <a:noFill/>
          </a:ln>
          <a:extLst>
            <a:ext uri="{91240B29-F687-4F45-9708-019B960494DF}">
              <a14:hiddenLine xmlns:a14="http://schemas.microsoft.com/office/drawing/2010/main" w="12700" cap="rnd" cmpd="sng">
                <a:solidFill>
                  <a:srgbClr val="000000"/>
                </a:solidFill>
                <a:prstDash val="solid"/>
                <a:round/>
                <a:headEnd type="none" w="sm" len="sm"/>
                <a:tailEnd type="none" w="sm" len="sm"/>
              </a14:hiddenLine>
            </a:ext>
          </a:extLst>
        </p:spPr>
        <p:txBody>
          <a:bodyPr/>
          <a:lstStyle/>
          <a:p>
            <a:endParaRPr lang="en-US"/>
          </a:p>
        </p:txBody>
      </p:sp>
      <p:sp>
        <p:nvSpPr>
          <p:cNvPr id="4106" name="Freeform 1063"/>
          <p:cNvSpPr>
            <a:spLocks/>
          </p:cNvSpPr>
          <p:nvPr/>
        </p:nvSpPr>
        <p:spPr bwMode="auto">
          <a:xfrm>
            <a:off x="4038600" y="990600"/>
            <a:ext cx="2362200" cy="1295400"/>
          </a:xfrm>
          <a:custGeom>
            <a:avLst/>
            <a:gdLst>
              <a:gd name="T0" fmla="*/ 0 w 600"/>
              <a:gd name="T1" fmla="*/ 2147483647 h 576"/>
              <a:gd name="T2" fmla="*/ 2147483647 w 600"/>
              <a:gd name="T3" fmla="*/ 2147483647 h 576"/>
              <a:gd name="T4" fmla="*/ 2147483647 w 600"/>
              <a:gd name="T5" fmla="*/ 2147483647 h 576"/>
              <a:gd name="T6" fmla="*/ 2147483647 w 600"/>
              <a:gd name="T7" fmla="*/ 2147483647 h 576"/>
              <a:gd name="T8" fmla="*/ 2147483647 w 600"/>
              <a:gd name="T9" fmla="*/ 2147483647 h 576"/>
              <a:gd name="T10" fmla="*/ 2147483647 w 600"/>
              <a:gd name="T11" fmla="*/ 2147483647 h 576"/>
              <a:gd name="T12" fmla="*/ 2147483647 w 600"/>
              <a:gd name="T13" fmla="*/ 2147483647 h 576"/>
              <a:gd name="T14" fmla="*/ 2147483647 w 600"/>
              <a:gd name="T15" fmla="*/ 2147483647 h 576"/>
              <a:gd name="T16" fmla="*/ 2147483647 w 600"/>
              <a:gd name="T17" fmla="*/ 2147483647 h 576"/>
              <a:gd name="T18" fmla="*/ 2147483647 w 600"/>
              <a:gd name="T19" fmla="*/ 2147483647 h 576"/>
              <a:gd name="T20" fmla="*/ 2147483647 w 600"/>
              <a:gd name="T21" fmla="*/ 2147483647 h 576"/>
              <a:gd name="T22" fmla="*/ 2147483647 w 600"/>
              <a:gd name="T23" fmla="*/ 2147483647 h 576"/>
              <a:gd name="T24" fmla="*/ 2147483647 w 600"/>
              <a:gd name="T25" fmla="*/ 2147483647 h 576"/>
              <a:gd name="T26" fmla="*/ 2147483647 w 600"/>
              <a:gd name="T27" fmla="*/ 2147483647 h 576"/>
              <a:gd name="T28" fmla="*/ 2147483647 w 600"/>
              <a:gd name="T29" fmla="*/ 2147483647 h 576"/>
              <a:gd name="T30" fmla="*/ 2147483647 w 600"/>
              <a:gd name="T31" fmla="*/ 0 h 57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600"/>
              <a:gd name="T49" fmla="*/ 0 h 576"/>
              <a:gd name="T50" fmla="*/ 600 w 600"/>
              <a:gd name="T51" fmla="*/ 576 h 57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600" h="576">
                <a:moveTo>
                  <a:pt x="0" y="575"/>
                </a:moveTo>
                <a:lnTo>
                  <a:pt x="63" y="570"/>
                </a:lnTo>
                <a:lnTo>
                  <a:pt x="95" y="562"/>
                </a:lnTo>
                <a:lnTo>
                  <a:pt x="127" y="553"/>
                </a:lnTo>
                <a:lnTo>
                  <a:pt x="158" y="540"/>
                </a:lnTo>
                <a:lnTo>
                  <a:pt x="190" y="521"/>
                </a:lnTo>
                <a:lnTo>
                  <a:pt x="222" y="498"/>
                </a:lnTo>
                <a:lnTo>
                  <a:pt x="284" y="432"/>
                </a:lnTo>
                <a:lnTo>
                  <a:pt x="347" y="338"/>
                </a:lnTo>
                <a:lnTo>
                  <a:pt x="410" y="224"/>
                </a:lnTo>
                <a:lnTo>
                  <a:pt x="441" y="167"/>
                </a:lnTo>
                <a:lnTo>
                  <a:pt x="473" y="114"/>
                </a:lnTo>
                <a:lnTo>
                  <a:pt x="505" y="67"/>
                </a:lnTo>
                <a:lnTo>
                  <a:pt x="535" y="31"/>
                </a:lnTo>
                <a:lnTo>
                  <a:pt x="567" y="8"/>
                </a:lnTo>
                <a:lnTo>
                  <a:pt x="599" y="0"/>
                </a:lnTo>
              </a:path>
            </a:pathLst>
          </a:custGeom>
          <a:noFill/>
          <a:ln w="50800" cap="rnd" cmpd="sng">
            <a:solidFill>
              <a:srgbClr val="FF0000"/>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107" name="Freeform 1064"/>
          <p:cNvSpPr>
            <a:spLocks/>
          </p:cNvSpPr>
          <p:nvPr/>
        </p:nvSpPr>
        <p:spPr bwMode="auto">
          <a:xfrm>
            <a:off x="6400800" y="990600"/>
            <a:ext cx="2209800" cy="1295400"/>
          </a:xfrm>
          <a:custGeom>
            <a:avLst/>
            <a:gdLst>
              <a:gd name="T0" fmla="*/ 2147483647 w 576"/>
              <a:gd name="T1" fmla="*/ 2147483647 h 576"/>
              <a:gd name="T2" fmla="*/ 2147483647 w 576"/>
              <a:gd name="T3" fmla="*/ 2147483647 h 576"/>
              <a:gd name="T4" fmla="*/ 2147483647 w 576"/>
              <a:gd name="T5" fmla="*/ 2147483647 h 576"/>
              <a:gd name="T6" fmla="*/ 2147483647 w 576"/>
              <a:gd name="T7" fmla="*/ 2147483647 h 576"/>
              <a:gd name="T8" fmla="*/ 2147483647 w 576"/>
              <a:gd name="T9" fmla="*/ 2147483647 h 576"/>
              <a:gd name="T10" fmla="*/ 2147483647 w 576"/>
              <a:gd name="T11" fmla="*/ 2147483647 h 576"/>
              <a:gd name="T12" fmla="*/ 2147483647 w 576"/>
              <a:gd name="T13" fmla="*/ 2147483647 h 576"/>
              <a:gd name="T14" fmla="*/ 2147483647 w 576"/>
              <a:gd name="T15" fmla="*/ 2147483647 h 576"/>
              <a:gd name="T16" fmla="*/ 2147483647 w 576"/>
              <a:gd name="T17" fmla="*/ 2147483647 h 576"/>
              <a:gd name="T18" fmla="*/ 2147483647 w 576"/>
              <a:gd name="T19" fmla="*/ 2147483647 h 576"/>
              <a:gd name="T20" fmla="*/ 2147483647 w 576"/>
              <a:gd name="T21" fmla="*/ 2147483647 h 576"/>
              <a:gd name="T22" fmla="*/ 2147483647 w 576"/>
              <a:gd name="T23" fmla="*/ 2147483647 h 576"/>
              <a:gd name="T24" fmla="*/ 2147483647 w 576"/>
              <a:gd name="T25" fmla="*/ 2147483647 h 576"/>
              <a:gd name="T26" fmla="*/ 2147483647 w 576"/>
              <a:gd name="T27" fmla="*/ 2147483647 h 576"/>
              <a:gd name="T28" fmla="*/ 2147483647 w 576"/>
              <a:gd name="T29" fmla="*/ 2147483647 h 576"/>
              <a:gd name="T30" fmla="*/ 0 w 576"/>
              <a:gd name="T31" fmla="*/ 0 h 57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576"/>
              <a:gd name="T49" fmla="*/ 0 h 576"/>
              <a:gd name="T50" fmla="*/ 576 w 576"/>
              <a:gd name="T51" fmla="*/ 576 h 57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576" h="576">
                <a:moveTo>
                  <a:pt x="575" y="575"/>
                </a:moveTo>
                <a:lnTo>
                  <a:pt x="515" y="570"/>
                </a:lnTo>
                <a:lnTo>
                  <a:pt x="484" y="562"/>
                </a:lnTo>
                <a:lnTo>
                  <a:pt x="455" y="553"/>
                </a:lnTo>
                <a:lnTo>
                  <a:pt x="424" y="540"/>
                </a:lnTo>
                <a:lnTo>
                  <a:pt x="393" y="521"/>
                </a:lnTo>
                <a:lnTo>
                  <a:pt x="364" y="498"/>
                </a:lnTo>
                <a:lnTo>
                  <a:pt x="303" y="432"/>
                </a:lnTo>
                <a:lnTo>
                  <a:pt x="242" y="338"/>
                </a:lnTo>
                <a:lnTo>
                  <a:pt x="182" y="224"/>
                </a:lnTo>
                <a:lnTo>
                  <a:pt x="151" y="167"/>
                </a:lnTo>
                <a:lnTo>
                  <a:pt x="120" y="114"/>
                </a:lnTo>
                <a:lnTo>
                  <a:pt x="91" y="67"/>
                </a:lnTo>
                <a:lnTo>
                  <a:pt x="60" y="31"/>
                </a:lnTo>
                <a:lnTo>
                  <a:pt x="30" y="8"/>
                </a:lnTo>
                <a:lnTo>
                  <a:pt x="0" y="0"/>
                </a:lnTo>
              </a:path>
            </a:pathLst>
          </a:custGeom>
          <a:noFill/>
          <a:ln w="50800" cap="rnd" cmpd="sng">
            <a:solidFill>
              <a:srgbClr val="FF0000"/>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108" name="Line 1065"/>
          <p:cNvSpPr>
            <a:spLocks noChangeShapeType="1"/>
          </p:cNvSpPr>
          <p:nvPr/>
        </p:nvSpPr>
        <p:spPr bwMode="auto">
          <a:xfrm>
            <a:off x="3810000" y="2362200"/>
            <a:ext cx="5105400"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109" name="Line 1066"/>
          <p:cNvSpPr>
            <a:spLocks noChangeShapeType="1"/>
          </p:cNvSpPr>
          <p:nvPr/>
        </p:nvSpPr>
        <p:spPr bwMode="auto">
          <a:xfrm>
            <a:off x="4038600" y="1828800"/>
            <a:ext cx="457200" cy="45720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110" name="Rectangle 1067"/>
          <p:cNvSpPr>
            <a:spLocks noChangeArrowheads="1"/>
          </p:cNvSpPr>
          <p:nvPr/>
        </p:nvSpPr>
        <p:spPr bwMode="auto">
          <a:xfrm flipH="1">
            <a:off x="3352800" y="1447800"/>
            <a:ext cx="121920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50000"/>
              </a:spcBef>
              <a:buClrTx/>
              <a:buSzTx/>
              <a:buFontTx/>
              <a:buNone/>
            </a:pPr>
            <a:r>
              <a:rPr lang="en-US" altLang="en-US" sz="2000"/>
              <a:t>.02</a:t>
            </a:r>
          </a:p>
        </p:txBody>
      </p:sp>
      <p:sp>
        <p:nvSpPr>
          <p:cNvPr id="4111" name="Line 1068"/>
          <p:cNvSpPr>
            <a:spLocks noChangeShapeType="1"/>
          </p:cNvSpPr>
          <p:nvPr/>
        </p:nvSpPr>
        <p:spPr bwMode="auto">
          <a:xfrm>
            <a:off x="6400800" y="952500"/>
            <a:ext cx="0" cy="1371600"/>
          </a:xfrm>
          <a:prstGeom prst="line">
            <a:avLst/>
          </a:prstGeom>
          <a:noFill/>
          <a:ln w="9525" cap="rnd">
            <a:solidFill>
              <a:schemeClr val="tx1"/>
            </a:solidFill>
            <a:prstDash val="sysDot"/>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4112" name="Text Box 1075"/>
          <p:cNvSpPr txBox="1">
            <a:spLocks noChangeArrowheads="1"/>
          </p:cNvSpPr>
          <p:nvPr/>
        </p:nvSpPr>
        <p:spPr bwMode="auto">
          <a:xfrm>
            <a:off x="6172200" y="2324100"/>
            <a:ext cx="457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eaLnBrk="1" hangingPunct="1">
              <a:spcBef>
                <a:spcPct val="50000"/>
              </a:spcBef>
              <a:buClrTx/>
              <a:buSzTx/>
              <a:buFontTx/>
              <a:buNone/>
            </a:pPr>
            <a:r>
              <a:rPr lang="en-US" altLang="en-US" sz="1800" dirty="0">
                <a:cs typeface="Arial" charset="0"/>
              </a:rPr>
              <a:t>0</a:t>
            </a:r>
            <a:endParaRPr lang="el-GR" altLang="en-US" sz="1800" baseline="-25000" dirty="0">
              <a:cs typeface="Arial" charset="0"/>
            </a:endParaRPr>
          </a:p>
        </p:txBody>
      </p:sp>
      <p:graphicFrame>
        <p:nvGraphicFramePr>
          <p:cNvPr id="4098" name="Object 1085">
            <a:hlinkClick r:id="" action="ppaction://ole?verb=0"/>
          </p:cNvPr>
          <p:cNvGraphicFramePr>
            <a:graphicFrameLocks/>
          </p:cNvGraphicFramePr>
          <p:nvPr/>
        </p:nvGraphicFramePr>
        <p:xfrm>
          <a:off x="457200" y="3438525"/>
          <a:ext cx="3838575" cy="989013"/>
        </p:xfrm>
        <a:graphic>
          <a:graphicData uri="http://schemas.openxmlformats.org/presentationml/2006/ole">
            <mc:AlternateContent xmlns:mc="http://schemas.openxmlformats.org/markup-compatibility/2006">
              <mc:Choice xmlns:v="urn:schemas-microsoft-com:vml" Requires="v">
                <p:oleObj spid="_x0000_s37004" name="Equation" r:id="rId4" imgW="2038423" imgH="609660" progId="Equation.DSMT4">
                  <p:embed/>
                </p:oleObj>
              </mc:Choice>
              <mc:Fallback>
                <p:oleObj name="Equation" r:id="rId4" imgW="2038423" imgH="609660" progId="Equation.DSMT4">
                  <p:embed/>
                  <p:pic>
                    <p:nvPicPr>
                      <p:cNvPr id="0" name="Object 1085"/>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200" y="3438525"/>
                        <a:ext cx="3838575" cy="98901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6878" name="Rectangle 1093"/>
          <p:cNvSpPr>
            <a:spLocks noChangeArrowheads="1"/>
          </p:cNvSpPr>
          <p:nvPr/>
        </p:nvSpPr>
        <p:spPr bwMode="auto">
          <a:xfrm>
            <a:off x="533400" y="1219200"/>
            <a:ext cx="2057400" cy="1038225"/>
          </a:xfrm>
          <a:prstGeom prst="rect">
            <a:avLst/>
          </a:prstGeom>
          <a:noFill/>
          <a:ln w="19050">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lIns="90488" tIns="44450" rIns="90488" bIns="4445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lnSpc>
                <a:spcPct val="110000"/>
              </a:lnSpc>
              <a:spcBef>
                <a:spcPct val="50000"/>
              </a:spcBef>
              <a:buClrTx/>
              <a:buSzTx/>
              <a:buFontTx/>
              <a:buNone/>
            </a:pPr>
            <a:r>
              <a:rPr lang="en-US" altLang="en-US" sz="2800" b="1"/>
              <a:t>H</a:t>
            </a:r>
            <a:r>
              <a:rPr lang="en-US" altLang="en-US" sz="2800" b="1" baseline="-25000"/>
              <a:t>0</a:t>
            </a:r>
            <a:r>
              <a:rPr lang="en-US" altLang="en-US" sz="2800" b="1"/>
              <a:t>:</a:t>
            </a:r>
            <a:r>
              <a:rPr lang="en-US" altLang="en-US" sz="2800" b="1">
                <a:latin typeface="Times New Roman" pitchFamily="18" charset="0"/>
              </a:rPr>
              <a:t> </a:t>
            </a:r>
            <a:r>
              <a:rPr lang="el-GR" altLang="en-US" sz="2800" b="1"/>
              <a:t>μ</a:t>
            </a:r>
            <a:r>
              <a:rPr lang="en-US" altLang="en-US" sz="2800" b="1">
                <a:latin typeface="Symbol" charset="2"/>
              </a:rPr>
              <a:t> </a:t>
            </a:r>
            <a:r>
              <a:rPr lang="en-US" altLang="en-US" sz="2800" b="1"/>
              <a:t>= 10</a:t>
            </a:r>
            <a:r>
              <a:rPr lang="en-US" altLang="en-US" sz="2800" b="1">
                <a:latin typeface="Times New Roman" pitchFamily="18" charset="0"/>
              </a:rPr>
              <a:t>   </a:t>
            </a:r>
            <a:r>
              <a:rPr lang="en-US" altLang="en-US" sz="2800" b="1"/>
              <a:t>H</a:t>
            </a:r>
            <a:r>
              <a:rPr lang="en-US" altLang="en-US" sz="2800" b="1" baseline="-25000"/>
              <a:t>A</a:t>
            </a:r>
            <a:r>
              <a:rPr lang="en-US" altLang="en-US" sz="2800" b="1"/>
              <a:t>:</a:t>
            </a:r>
            <a:r>
              <a:rPr lang="en-US" altLang="en-US" sz="2800" b="1">
                <a:latin typeface="Times New Roman" pitchFamily="18" charset="0"/>
              </a:rPr>
              <a:t> </a:t>
            </a:r>
            <a:r>
              <a:rPr lang="el-GR" altLang="en-US" sz="2800" b="1"/>
              <a:t>μ</a:t>
            </a:r>
            <a:r>
              <a:rPr lang="en-US" altLang="en-US" sz="2800" b="1">
                <a:latin typeface="Symbol" charset="2"/>
              </a:rPr>
              <a:t> &lt;</a:t>
            </a:r>
            <a:r>
              <a:rPr lang="en-US" altLang="en-US" sz="2800" b="1">
                <a:latin typeface="Times New Roman" pitchFamily="18" charset="0"/>
              </a:rPr>
              <a:t> </a:t>
            </a:r>
            <a:r>
              <a:rPr lang="en-US" altLang="en-US" sz="2800" b="1"/>
              <a:t>10</a:t>
            </a:r>
          </a:p>
        </p:txBody>
      </p:sp>
      <p:sp>
        <p:nvSpPr>
          <p:cNvPr id="4118" name="Line 1087"/>
          <p:cNvSpPr>
            <a:spLocks noChangeShapeType="1"/>
          </p:cNvSpPr>
          <p:nvPr/>
        </p:nvSpPr>
        <p:spPr bwMode="auto">
          <a:xfrm flipV="1">
            <a:off x="4800600" y="2362200"/>
            <a:ext cx="0" cy="609600"/>
          </a:xfrm>
          <a:prstGeom prst="line">
            <a:avLst/>
          </a:prstGeom>
          <a:noFill/>
          <a:ln w="57150">
            <a:solidFill>
              <a:schemeClr val="folHlink"/>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119" name="Rectangle 1086"/>
          <p:cNvSpPr>
            <a:spLocks noChangeArrowheads="1"/>
          </p:cNvSpPr>
          <p:nvPr/>
        </p:nvSpPr>
        <p:spPr bwMode="auto">
          <a:xfrm flipH="1">
            <a:off x="4419600" y="2971800"/>
            <a:ext cx="838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a:spcBef>
                <a:spcPct val="50000"/>
              </a:spcBef>
              <a:buClrTx/>
              <a:buSzTx/>
              <a:buFontTx/>
              <a:buNone/>
            </a:pPr>
            <a:r>
              <a:rPr lang="en-US" altLang="en-US" sz="2000" b="1">
                <a:solidFill>
                  <a:schemeClr val="folHlink"/>
                </a:solidFill>
              </a:rPr>
              <a:t>-2. 51</a:t>
            </a:r>
          </a:p>
        </p:txBody>
      </p:sp>
      <p:graphicFrame>
        <p:nvGraphicFramePr>
          <p:cNvPr id="4099" name="Object 3"/>
          <p:cNvGraphicFramePr>
            <a:graphicFrameLocks noChangeAspect="1"/>
          </p:cNvGraphicFramePr>
          <p:nvPr/>
        </p:nvGraphicFramePr>
        <p:xfrm>
          <a:off x="533400" y="2895600"/>
          <a:ext cx="2190750" cy="381000"/>
        </p:xfrm>
        <a:graphic>
          <a:graphicData uri="http://schemas.openxmlformats.org/presentationml/2006/ole">
            <mc:AlternateContent xmlns:mc="http://schemas.openxmlformats.org/markup-compatibility/2006">
              <mc:Choice xmlns:v="urn:schemas-microsoft-com:vml" Requires="v">
                <p:oleObj spid="_x0000_s37005" name="Equation" r:id="rId6" imgW="1167893" imgH="203112" progId="Equation.DSMT4">
                  <p:embed/>
                </p:oleObj>
              </mc:Choice>
              <mc:Fallback>
                <p:oleObj name="Equation" r:id="rId6" imgW="1167893" imgH="203112" progId="Equation.DSMT4">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3400" y="2895600"/>
                        <a:ext cx="2190750"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120" name="TextBox 42"/>
          <p:cNvSpPr txBox="1">
            <a:spLocks noChangeArrowheads="1"/>
          </p:cNvSpPr>
          <p:nvPr/>
        </p:nvSpPr>
        <p:spPr bwMode="auto">
          <a:xfrm>
            <a:off x="4648200" y="990600"/>
            <a:ext cx="914400" cy="369888"/>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eaLnBrk="1" hangingPunct="1">
              <a:spcBef>
                <a:spcPct val="0"/>
              </a:spcBef>
              <a:buClrTx/>
              <a:buSzTx/>
              <a:buFontTx/>
              <a:buNone/>
            </a:pPr>
            <a:r>
              <a:rPr lang="en-US" altLang="en-US" sz="1800">
                <a:cs typeface="Arial" charset="0"/>
              </a:rPr>
              <a:t>t, 7 df</a:t>
            </a:r>
          </a:p>
        </p:txBody>
      </p:sp>
      <p:cxnSp>
        <p:nvCxnSpPr>
          <p:cNvPr id="45" name="Straight Arrow Connector 44"/>
          <p:cNvCxnSpPr/>
          <p:nvPr/>
        </p:nvCxnSpPr>
        <p:spPr>
          <a:xfrm>
            <a:off x="5638800" y="1143000"/>
            <a:ext cx="152400" cy="76200"/>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graphicFrame>
        <p:nvGraphicFramePr>
          <p:cNvPr id="4100" name="Object 4"/>
          <p:cNvGraphicFramePr>
            <a:graphicFrameLocks noChangeAspect="1"/>
          </p:cNvGraphicFramePr>
          <p:nvPr/>
        </p:nvGraphicFramePr>
        <p:xfrm>
          <a:off x="4938713" y="3886200"/>
          <a:ext cx="3400425" cy="457200"/>
        </p:xfrm>
        <a:graphic>
          <a:graphicData uri="http://schemas.openxmlformats.org/presentationml/2006/ole">
            <mc:AlternateContent xmlns:mc="http://schemas.openxmlformats.org/markup-compatibility/2006">
              <mc:Choice xmlns:v="urn:schemas-microsoft-com:vml" Requires="v">
                <p:oleObj spid="_x0000_s37006" name="Equation" r:id="rId8" imgW="1511300" imgH="203200" progId="Equation.DSMT4">
                  <p:embed/>
                </p:oleObj>
              </mc:Choice>
              <mc:Fallback>
                <p:oleObj name="Equation" r:id="rId8" imgW="1511300" imgH="203200" progId="Equation.DSMT4">
                  <p:embed/>
                  <p:pic>
                    <p:nvPicPr>
                      <p:cNvPr id="0"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938713" y="3886200"/>
                        <a:ext cx="340042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186" name="TextBox 48"/>
          <p:cNvSpPr txBox="1">
            <a:spLocks noChangeArrowheads="1"/>
          </p:cNvSpPr>
          <p:nvPr/>
        </p:nvSpPr>
        <p:spPr bwMode="auto">
          <a:xfrm>
            <a:off x="5257800" y="3352800"/>
            <a:ext cx="28956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75000"/>
              <a:buFont typeface="Monotype Sorts" pitchFamily="2" charset="2"/>
              <a:buChar char="n"/>
              <a:defRPr sz="3200" i="1">
                <a:solidFill>
                  <a:schemeClr val="tx1"/>
                </a:solidFill>
                <a:latin typeface="Arial" charset="0"/>
              </a:defRPr>
            </a:lvl1pPr>
            <a:lvl2pPr marL="742950" indent="-285750">
              <a:spcBef>
                <a:spcPct val="20000"/>
              </a:spcBef>
              <a:buClr>
                <a:schemeClr val="tx1"/>
              </a:buClr>
              <a:buSzPct val="100000"/>
              <a:buChar char="–"/>
              <a:defRPr sz="2800" i="1">
                <a:solidFill>
                  <a:schemeClr val="tx1"/>
                </a:solidFill>
                <a:latin typeface="Arial" charset="0"/>
              </a:defRPr>
            </a:lvl2pPr>
            <a:lvl3pPr marL="1143000" indent="-228600">
              <a:spcBef>
                <a:spcPct val="20000"/>
              </a:spcBef>
              <a:buClr>
                <a:schemeClr val="accent1"/>
              </a:buClr>
              <a:buSzPct val="65000"/>
              <a:buFont typeface="Monotype Sorts" pitchFamily="2" charset="2"/>
              <a:buChar char="F"/>
              <a:defRPr sz="2400" i="1">
                <a:solidFill>
                  <a:schemeClr val="tx1"/>
                </a:solidFill>
                <a:latin typeface="Arial" charset="0"/>
              </a:defRPr>
            </a:lvl3pPr>
            <a:lvl4pPr marL="1600200" indent="-228600">
              <a:spcBef>
                <a:spcPct val="20000"/>
              </a:spcBef>
              <a:buClr>
                <a:schemeClr val="tx1"/>
              </a:buClr>
              <a:buSzPct val="100000"/>
              <a:buChar char="–"/>
              <a:defRPr sz="2000" i="1">
                <a:solidFill>
                  <a:schemeClr val="tx1"/>
                </a:solidFill>
                <a:latin typeface="Arial" charset="0"/>
              </a:defRPr>
            </a:lvl4pPr>
            <a:lvl5pPr marL="2057400" indent="-228600">
              <a:spcBef>
                <a:spcPct val="20000"/>
              </a:spcBef>
              <a:buClr>
                <a:schemeClr val="tx1"/>
              </a:buClr>
              <a:buSzPct val="100000"/>
              <a:buChar char="•"/>
              <a:defRPr sz="2000" i="1">
                <a:solidFill>
                  <a:schemeClr val="tx1"/>
                </a:solidFill>
                <a:latin typeface="Arial" charset="0"/>
              </a:defRPr>
            </a:lvl5pPr>
            <a:lvl6pPr marL="2514600" indent="-228600" eaLnBrk="0" fontAlgn="base" hangingPunct="0">
              <a:spcBef>
                <a:spcPct val="20000"/>
              </a:spcBef>
              <a:spcAft>
                <a:spcPct val="0"/>
              </a:spcAft>
              <a:buClr>
                <a:schemeClr val="tx1"/>
              </a:buClr>
              <a:buSzPct val="100000"/>
              <a:buChar char="•"/>
              <a:defRPr sz="2000" i="1">
                <a:solidFill>
                  <a:schemeClr val="tx1"/>
                </a:solidFill>
                <a:latin typeface="Arial" charset="0"/>
              </a:defRPr>
            </a:lvl6pPr>
            <a:lvl7pPr marL="2971800" indent="-228600" eaLnBrk="0" fontAlgn="base" hangingPunct="0">
              <a:spcBef>
                <a:spcPct val="20000"/>
              </a:spcBef>
              <a:spcAft>
                <a:spcPct val="0"/>
              </a:spcAft>
              <a:buClr>
                <a:schemeClr val="tx1"/>
              </a:buClr>
              <a:buSzPct val="100000"/>
              <a:buChar char="•"/>
              <a:defRPr sz="2000" i="1">
                <a:solidFill>
                  <a:schemeClr val="tx1"/>
                </a:solidFill>
                <a:latin typeface="Arial" charset="0"/>
              </a:defRPr>
            </a:lvl7pPr>
            <a:lvl8pPr marL="3429000" indent="-228600" eaLnBrk="0" fontAlgn="base" hangingPunct="0">
              <a:spcBef>
                <a:spcPct val="20000"/>
              </a:spcBef>
              <a:spcAft>
                <a:spcPct val="0"/>
              </a:spcAft>
              <a:buClr>
                <a:schemeClr val="tx1"/>
              </a:buClr>
              <a:buSzPct val="100000"/>
              <a:buChar char="•"/>
              <a:defRPr sz="2000" i="1">
                <a:solidFill>
                  <a:schemeClr val="tx1"/>
                </a:solidFill>
                <a:latin typeface="Arial" charset="0"/>
              </a:defRPr>
            </a:lvl8pPr>
            <a:lvl9pPr marL="3886200" indent="-228600" eaLnBrk="0" fontAlgn="base" hangingPunct="0">
              <a:spcBef>
                <a:spcPct val="20000"/>
              </a:spcBef>
              <a:spcAft>
                <a:spcPct val="0"/>
              </a:spcAft>
              <a:buClr>
                <a:schemeClr val="tx1"/>
              </a:buClr>
              <a:buSzPct val="100000"/>
              <a:buChar char="•"/>
              <a:defRPr sz="2000" i="1">
                <a:solidFill>
                  <a:schemeClr val="tx1"/>
                </a:solidFill>
                <a:latin typeface="Arial" charset="0"/>
              </a:defRPr>
            </a:lvl9pPr>
          </a:lstStyle>
          <a:p>
            <a:pPr eaLnBrk="1" hangingPunct="1">
              <a:spcBef>
                <a:spcPct val="0"/>
              </a:spcBef>
              <a:buClrTx/>
              <a:buSzTx/>
              <a:buFontTx/>
              <a:buNone/>
            </a:pPr>
            <a:r>
              <a:rPr lang="en-US" altLang="en-US" sz="2400">
                <a:cs typeface="Arial" charset="0"/>
              </a:rPr>
              <a:t>Exact P-value = .02</a:t>
            </a:r>
          </a:p>
        </p:txBody>
      </p:sp>
      <p:graphicFrame>
        <p:nvGraphicFramePr>
          <p:cNvPr id="28" name="Table 27"/>
          <p:cNvGraphicFramePr>
            <a:graphicFrameLocks noGrp="1"/>
          </p:cNvGraphicFramePr>
          <p:nvPr/>
        </p:nvGraphicFramePr>
        <p:xfrm>
          <a:off x="1447800" y="4495800"/>
          <a:ext cx="6096000" cy="938212"/>
        </p:xfrm>
        <a:graphic>
          <a:graphicData uri="http://schemas.openxmlformats.org/drawingml/2006/table">
            <a:tbl>
              <a:tblPr/>
              <a:tblGrid>
                <a:gridCol w="864000"/>
                <a:gridCol w="576000"/>
                <a:gridCol w="576000"/>
                <a:gridCol w="576000"/>
                <a:gridCol w="576000"/>
                <a:gridCol w="624000"/>
                <a:gridCol w="576000"/>
                <a:gridCol w="576000"/>
                <a:gridCol w="576000"/>
                <a:gridCol w="576000"/>
              </a:tblGrid>
              <a:tr h="181880">
                <a:tc>
                  <a:txBody>
                    <a:bodyPr/>
                    <a:lstStyle/>
                    <a:p>
                      <a:pPr algn="l" fontAlgn="b"/>
                      <a:r>
                        <a:rPr lang="en-US" sz="1100" b="0" i="0" u="none" strike="noStrike" dirty="0">
                          <a:latin typeface="Arial"/>
                        </a:rPr>
                        <a:t>Conf. Level</a:t>
                      </a:r>
                    </a:p>
                  </a:txBody>
                  <a:tcPr marL="9000" marR="9000" marT="9004"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tc>
                  <a:txBody>
                    <a:bodyPr/>
                    <a:lstStyle/>
                    <a:p>
                      <a:pPr algn="r" fontAlgn="b"/>
                      <a:r>
                        <a:rPr lang="en-US" sz="1100" b="0" i="0" u="none" strike="noStrike">
                          <a:latin typeface="Arial"/>
                        </a:rPr>
                        <a:t>0.1</a:t>
                      </a:r>
                    </a:p>
                  </a:txBody>
                  <a:tcPr marL="9000" marR="9000" marT="9004"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r" fontAlgn="b"/>
                      <a:r>
                        <a:rPr lang="en-US" sz="1100" b="0" i="0" u="none" strike="noStrike">
                          <a:latin typeface="Arial"/>
                        </a:rPr>
                        <a:t>0.3</a:t>
                      </a:r>
                    </a:p>
                  </a:txBody>
                  <a:tcPr marL="9000" marR="9000" marT="9004"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r" fontAlgn="b"/>
                      <a:r>
                        <a:rPr lang="en-US" sz="1100" b="0" i="0" u="none" strike="noStrike" dirty="0">
                          <a:latin typeface="Arial"/>
                        </a:rPr>
                        <a:t>0.5</a:t>
                      </a:r>
                    </a:p>
                  </a:txBody>
                  <a:tcPr marL="9000" marR="9000" marT="9004"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r" fontAlgn="b"/>
                      <a:r>
                        <a:rPr lang="en-US" sz="1100" b="0" i="0" u="none" strike="noStrike">
                          <a:latin typeface="Arial"/>
                        </a:rPr>
                        <a:t>0.7</a:t>
                      </a:r>
                    </a:p>
                  </a:txBody>
                  <a:tcPr marL="9000" marR="9000" marT="9004"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r" fontAlgn="b"/>
                      <a:r>
                        <a:rPr lang="en-US" sz="1100" b="0" i="0" u="none" strike="noStrike">
                          <a:latin typeface="Arial"/>
                        </a:rPr>
                        <a:t>0.8</a:t>
                      </a:r>
                    </a:p>
                  </a:txBody>
                  <a:tcPr marL="9000" marR="9000" marT="9004"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r" fontAlgn="b"/>
                      <a:r>
                        <a:rPr lang="en-US" sz="1100" b="0" i="0" u="none" strike="noStrike">
                          <a:latin typeface="Arial"/>
                        </a:rPr>
                        <a:t>0.9</a:t>
                      </a:r>
                    </a:p>
                  </a:txBody>
                  <a:tcPr marL="9000" marR="9000" marT="9004"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r" fontAlgn="b"/>
                      <a:r>
                        <a:rPr lang="en-US" sz="1100" b="0" i="0" u="none" strike="noStrike">
                          <a:latin typeface="Arial"/>
                        </a:rPr>
                        <a:t>0.95</a:t>
                      </a:r>
                    </a:p>
                  </a:txBody>
                  <a:tcPr marL="9000" marR="9000" marT="9004"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r" fontAlgn="b"/>
                      <a:r>
                        <a:rPr lang="en-US" sz="1100" b="0" i="0" u="none" strike="noStrike">
                          <a:latin typeface="Arial"/>
                        </a:rPr>
                        <a:t>0.98</a:t>
                      </a:r>
                    </a:p>
                  </a:txBody>
                  <a:tcPr marL="9000" marR="9000" marT="9004"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r" fontAlgn="b"/>
                      <a:r>
                        <a:rPr lang="en-US" sz="1100" b="0" i="0" u="none" strike="noStrike">
                          <a:latin typeface="Arial"/>
                        </a:rPr>
                        <a:t>0.99</a:t>
                      </a:r>
                    </a:p>
                  </a:txBody>
                  <a:tcPr marL="9000" marR="9000" marT="9004"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r>
              <a:tr h="189083">
                <a:tc>
                  <a:txBody>
                    <a:bodyPr/>
                    <a:lstStyle/>
                    <a:p>
                      <a:pPr algn="l" fontAlgn="b"/>
                      <a:r>
                        <a:rPr lang="en-US" sz="1100" b="0" i="0" u="none" strike="noStrike">
                          <a:latin typeface="Arial"/>
                        </a:rPr>
                        <a:t>Two Tail</a:t>
                      </a:r>
                    </a:p>
                  </a:txBody>
                  <a:tcPr marL="9000" marR="9000" marT="9004" marB="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latin typeface="Arial"/>
                        </a:rPr>
                        <a:t>0.9</a:t>
                      </a:r>
                    </a:p>
                  </a:txBody>
                  <a:tcPr marL="9000" marR="9000" marT="9004" marB="0" anchor="b">
                    <a:lnL>
                      <a:noFill/>
                    </a:lnL>
                    <a:lnR>
                      <a:noFill/>
                    </a:lnR>
                    <a:lnT>
                      <a:noFill/>
                    </a:lnT>
                    <a:lnB>
                      <a:noFill/>
                    </a:lnB>
                  </a:tcPr>
                </a:tc>
                <a:tc>
                  <a:txBody>
                    <a:bodyPr/>
                    <a:lstStyle/>
                    <a:p>
                      <a:pPr algn="r" fontAlgn="b"/>
                      <a:r>
                        <a:rPr lang="en-US" sz="1100" b="0" i="0" u="none" strike="noStrike">
                          <a:latin typeface="Arial"/>
                        </a:rPr>
                        <a:t>0.7</a:t>
                      </a:r>
                    </a:p>
                  </a:txBody>
                  <a:tcPr marL="9000" marR="9000" marT="9004" marB="0" anchor="b">
                    <a:lnL>
                      <a:noFill/>
                    </a:lnL>
                    <a:lnR>
                      <a:noFill/>
                    </a:lnR>
                    <a:lnT>
                      <a:noFill/>
                    </a:lnT>
                    <a:lnB>
                      <a:noFill/>
                    </a:lnB>
                  </a:tcPr>
                </a:tc>
                <a:tc>
                  <a:txBody>
                    <a:bodyPr/>
                    <a:lstStyle/>
                    <a:p>
                      <a:pPr algn="r" fontAlgn="b"/>
                      <a:r>
                        <a:rPr lang="en-US" sz="1100" b="0" i="0" u="none" strike="noStrike">
                          <a:latin typeface="Arial"/>
                        </a:rPr>
                        <a:t>0.5</a:t>
                      </a:r>
                    </a:p>
                  </a:txBody>
                  <a:tcPr marL="9000" marR="9000" marT="9004" marB="0" anchor="b">
                    <a:lnL>
                      <a:noFill/>
                    </a:lnL>
                    <a:lnR>
                      <a:noFill/>
                    </a:lnR>
                    <a:lnT>
                      <a:noFill/>
                    </a:lnT>
                    <a:lnB>
                      <a:noFill/>
                    </a:lnB>
                  </a:tcPr>
                </a:tc>
                <a:tc>
                  <a:txBody>
                    <a:bodyPr/>
                    <a:lstStyle/>
                    <a:p>
                      <a:pPr algn="r" fontAlgn="b"/>
                      <a:r>
                        <a:rPr lang="en-US" sz="1100" b="0" i="0" u="none" strike="noStrike">
                          <a:latin typeface="Arial"/>
                        </a:rPr>
                        <a:t>0.3</a:t>
                      </a:r>
                    </a:p>
                  </a:txBody>
                  <a:tcPr marL="9000" marR="9000" marT="9004" marB="0" anchor="b">
                    <a:lnL>
                      <a:noFill/>
                    </a:lnL>
                    <a:lnR>
                      <a:noFill/>
                    </a:lnR>
                    <a:lnT>
                      <a:noFill/>
                    </a:lnT>
                    <a:lnB>
                      <a:noFill/>
                    </a:lnB>
                  </a:tcPr>
                </a:tc>
                <a:tc>
                  <a:txBody>
                    <a:bodyPr/>
                    <a:lstStyle/>
                    <a:p>
                      <a:pPr algn="r" fontAlgn="b"/>
                      <a:r>
                        <a:rPr lang="en-US" sz="1100" b="0" i="0" u="none" strike="noStrike">
                          <a:latin typeface="Arial"/>
                        </a:rPr>
                        <a:t>0.2</a:t>
                      </a:r>
                    </a:p>
                  </a:txBody>
                  <a:tcPr marL="9000" marR="9000" marT="9004" marB="0" anchor="b">
                    <a:lnL>
                      <a:noFill/>
                    </a:lnL>
                    <a:lnR>
                      <a:noFill/>
                    </a:lnR>
                    <a:lnT>
                      <a:noFill/>
                    </a:lnT>
                    <a:lnB>
                      <a:noFill/>
                    </a:lnB>
                  </a:tcPr>
                </a:tc>
                <a:tc>
                  <a:txBody>
                    <a:bodyPr/>
                    <a:lstStyle/>
                    <a:p>
                      <a:pPr algn="r" fontAlgn="b"/>
                      <a:r>
                        <a:rPr lang="en-US" sz="1100" b="0" i="0" u="none" strike="noStrike">
                          <a:latin typeface="Arial"/>
                        </a:rPr>
                        <a:t>0.1</a:t>
                      </a:r>
                    </a:p>
                  </a:txBody>
                  <a:tcPr marL="9000" marR="9000" marT="9004" marB="0" anchor="b">
                    <a:lnL>
                      <a:noFill/>
                    </a:lnL>
                    <a:lnR>
                      <a:noFill/>
                    </a:lnR>
                    <a:lnT>
                      <a:noFill/>
                    </a:lnT>
                    <a:lnB>
                      <a:noFill/>
                    </a:lnB>
                  </a:tcPr>
                </a:tc>
                <a:tc>
                  <a:txBody>
                    <a:bodyPr/>
                    <a:lstStyle/>
                    <a:p>
                      <a:pPr algn="r" fontAlgn="b"/>
                      <a:r>
                        <a:rPr lang="en-US" sz="1100" b="0" i="0" u="none" strike="noStrike">
                          <a:latin typeface="Arial"/>
                        </a:rPr>
                        <a:t>0.05</a:t>
                      </a:r>
                    </a:p>
                  </a:txBody>
                  <a:tcPr marL="9000" marR="9000" marT="9004"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latin typeface="Arial"/>
                        </a:rPr>
                        <a:t>0.02</a:t>
                      </a:r>
                    </a:p>
                  </a:txBody>
                  <a:tcPr marL="9000" marR="9000" marT="9004"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latin typeface="Arial"/>
                        </a:rPr>
                        <a:t>0.01</a:t>
                      </a:r>
                    </a:p>
                  </a:txBody>
                  <a:tcPr marL="9000" marR="9000" marT="9004" marB="0" anchor="b">
                    <a:lnL>
                      <a:noFill/>
                    </a:lnL>
                    <a:lnR w="12700" cap="flat" cmpd="sng" algn="ctr">
                      <a:solidFill>
                        <a:srgbClr val="000000"/>
                      </a:solidFill>
                      <a:prstDash val="solid"/>
                      <a:round/>
                      <a:headEnd type="none" w="med" len="med"/>
                      <a:tailEnd type="none" w="med" len="med"/>
                    </a:lnR>
                    <a:lnT>
                      <a:noFill/>
                    </a:lnT>
                    <a:lnB>
                      <a:noFill/>
                    </a:lnB>
                  </a:tcPr>
                </a:tc>
              </a:tr>
              <a:tr h="189083">
                <a:tc>
                  <a:txBody>
                    <a:bodyPr/>
                    <a:lstStyle/>
                    <a:p>
                      <a:pPr algn="l" fontAlgn="b"/>
                      <a:r>
                        <a:rPr lang="en-US" sz="1100" b="0" i="0" u="none" strike="noStrike">
                          <a:latin typeface="Arial"/>
                        </a:rPr>
                        <a:t>One Tail</a:t>
                      </a:r>
                    </a:p>
                  </a:txBody>
                  <a:tcPr marL="9000" marR="9000" marT="900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latin typeface="Arial"/>
                        </a:rPr>
                        <a:t>0.45</a:t>
                      </a:r>
                    </a:p>
                  </a:txBody>
                  <a:tcPr marL="9000" marR="9000" marT="9004"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r" fontAlgn="b"/>
                      <a:r>
                        <a:rPr lang="en-US" sz="1100" b="0" i="0" u="none" strike="noStrike">
                          <a:latin typeface="Arial"/>
                        </a:rPr>
                        <a:t>0.35</a:t>
                      </a:r>
                    </a:p>
                  </a:txBody>
                  <a:tcPr marL="9000" marR="9000" marT="9004" marB="0" anchor="b">
                    <a:lnL>
                      <a:noFill/>
                    </a:lnL>
                    <a:lnR>
                      <a:noFill/>
                    </a:lnR>
                    <a:lnT>
                      <a:noFill/>
                    </a:lnT>
                    <a:lnB>
                      <a:noFill/>
                    </a:lnB>
                  </a:tcPr>
                </a:tc>
                <a:tc>
                  <a:txBody>
                    <a:bodyPr/>
                    <a:lstStyle/>
                    <a:p>
                      <a:pPr algn="r" fontAlgn="b"/>
                      <a:r>
                        <a:rPr lang="en-US" sz="1100" b="0" i="0" u="none" strike="noStrike">
                          <a:latin typeface="Arial"/>
                        </a:rPr>
                        <a:t>0.25</a:t>
                      </a:r>
                    </a:p>
                  </a:txBody>
                  <a:tcPr marL="9000" marR="9000" marT="9004" marB="0" anchor="b">
                    <a:lnL>
                      <a:noFill/>
                    </a:lnL>
                    <a:lnR>
                      <a:noFill/>
                    </a:lnR>
                    <a:lnT>
                      <a:noFill/>
                    </a:lnT>
                    <a:lnB>
                      <a:noFill/>
                    </a:lnB>
                  </a:tcPr>
                </a:tc>
                <a:tc>
                  <a:txBody>
                    <a:bodyPr/>
                    <a:lstStyle/>
                    <a:p>
                      <a:pPr algn="r" fontAlgn="b"/>
                      <a:r>
                        <a:rPr lang="en-US" sz="1100" b="0" i="0" u="none" strike="noStrike">
                          <a:latin typeface="Arial"/>
                        </a:rPr>
                        <a:t>0.15</a:t>
                      </a:r>
                    </a:p>
                  </a:txBody>
                  <a:tcPr marL="9000" marR="9000" marT="9004" marB="0" anchor="b">
                    <a:lnL>
                      <a:noFill/>
                    </a:lnL>
                    <a:lnR>
                      <a:noFill/>
                    </a:lnR>
                    <a:lnT>
                      <a:noFill/>
                    </a:lnT>
                    <a:lnB>
                      <a:noFill/>
                    </a:lnB>
                  </a:tcPr>
                </a:tc>
                <a:tc>
                  <a:txBody>
                    <a:bodyPr/>
                    <a:lstStyle/>
                    <a:p>
                      <a:pPr algn="r" fontAlgn="b"/>
                      <a:r>
                        <a:rPr lang="en-US" sz="1100" b="0" i="0" u="none" strike="noStrike">
                          <a:latin typeface="Arial"/>
                        </a:rPr>
                        <a:t>0.1</a:t>
                      </a:r>
                    </a:p>
                  </a:txBody>
                  <a:tcPr marL="9000" marR="9000" marT="9004" marB="0" anchor="b">
                    <a:lnL>
                      <a:noFill/>
                    </a:lnL>
                    <a:lnR>
                      <a:noFill/>
                    </a:lnR>
                    <a:lnT>
                      <a:noFill/>
                    </a:lnT>
                    <a:lnB>
                      <a:noFill/>
                    </a:lnB>
                  </a:tcPr>
                </a:tc>
                <a:tc>
                  <a:txBody>
                    <a:bodyPr/>
                    <a:lstStyle/>
                    <a:p>
                      <a:pPr algn="r" fontAlgn="b"/>
                      <a:r>
                        <a:rPr lang="en-US" sz="1100" b="0" i="0" u="none" strike="noStrike">
                          <a:latin typeface="Arial"/>
                        </a:rPr>
                        <a:t>0.05</a:t>
                      </a:r>
                    </a:p>
                  </a:txBody>
                  <a:tcPr marL="9000" marR="9000" marT="9004" marB="0" anchor="b">
                    <a:lnL>
                      <a:noFill/>
                    </a:lnL>
                    <a:lnR w="12700" cap="flat" cmpd="sng" algn="ctr">
                      <a:solidFill>
                        <a:srgbClr val="000000"/>
                      </a:solidFill>
                      <a:prstDash val="solid"/>
                      <a:round/>
                      <a:headEnd type="none" w="med" len="med"/>
                      <a:tailEnd type="none" w="med" len="med"/>
                    </a:lnR>
                    <a:lnT>
                      <a:noFill/>
                    </a:lnT>
                    <a:lnB>
                      <a:noFill/>
                    </a:lnB>
                  </a:tcPr>
                </a:tc>
                <a:tc>
                  <a:txBody>
                    <a:bodyPr/>
                    <a:lstStyle/>
                    <a:p>
                      <a:pPr algn="r" fontAlgn="b"/>
                      <a:r>
                        <a:rPr lang="en-US" sz="1100" b="0" i="0" u="none" strike="noStrike">
                          <a:latin typeface="Arial"/>
                        </a:rPr>
                        <a:t>0.025</a:t>
                      </a:r>
                    </a:p>
                  </a:txBody>
                  <a:tcPr marL="9000" marR="9000" marT="9004"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latin typeface="Arial"/>
                        </a:rPr>
                        <a:t>0.01</a:t>
                      </a:r>
                    </a:p>
                  </a:txBody>
                  <a:tcPr marL="9000" marR="9000" marT="9004"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latin typeface="Arial"/>
                        </a:rPr>
                        <a:t>0.005</a:t>
                      </a:r>
                    </a:p>
                  </a:txBody>
                  <a:tcPr marL="9000" marR="9000" marT="900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r>
              <a:tr h="189083">
                <a:tc>
                  <a:txBody>
                    <a:bodyPr/>
                    <a:lstStyle/>
                    <a:p>
                      <a:pPr algn="ctr" fontAlgn="b"/>
                      <a:r>
                        <a:rPr lang="en-US" sz="1100" b="0" i="0" u="none" strike="noStrike">
                          <a:latin typeface="Arial"/>
                        </a:rPr>
                        <a:t>df</a:t>
                      </a:r>
                    </a:p>
                  </a:txBody>
                  <a:tcPr marL="9000" marR="9000" marT="9004"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tc>
                  <a:txBody>
                    <a:bodyPr/>
                    <a:lstStyle/>
                    <a:p>
                      <a:pPr algn="l" fontAlgn="b"/>
                      <a:endParaRPr lang="en-US" sz="1100" b="0" i="0" u="none" strike="noStrike">
                        <a:latin typeface="Arial"/>
                      </a:endParaRPr>
                    </a:p>
                  </a:txBody>
                  <a:tcPr marL="9000" marR="9000" marT="9004" marB="0" anchor="b">
                    <a:lnL>
                      <a:noFill/>
                    </a:lnL>
                    <a:lnR>
                      <a:noFill/>
                    </a:lnR>
                    <a:lnT>
                      <a:noFill/>
                    </a:lnT>
                    <a:lnB>
                      <a:noFill/>
                    </a:lnB>
                  </a:tcPr>
                </a:tc>
                <a:tc>
                  <a:txBody>
                    <a:bodyPr/>
                    <a:lstStyle/>
                    <a:p>
                      <a:pPr algn="l" fontAlgn="b"/>
                      <a:endParaRPr lang="en-US" sz="1100" b="0" i="0" u="none" strike="noStrike">
                        <a:latin typeface="Arial"/>
                      </a:endParaRPr>
                    </a:p>
                  </a:txBody>
                  <a:tcPr marL="9000" marR="9000" marT="9004" marB="0" anchor="b">
                    <a:lnL>
                      <a:noFill/>
                    </a:lnL>
                    <a:lnR>
                      <a:noFill/>
                    </a:lnR>
                    <a:lnT>
                      <a:noFill/>
                    </a:lnT>
                    <a:lnB>
                      <a:noFill/>
                    </a:lnB>
                  </a:tcPr>
                </a:tc>
                <a:tc>
                  <a:txBody>
                    <a:bodyPr/>
                    <a:lstStyle/>
                    <a:p>
                      <a:pPr algn="l" fontAlgn="b"/>
                      <a:endParaRPr lang="en-US" sz="1100" b="0" i="0" u="none" strike="noStrike">
                        <a:latin typeface="Arial"/>
                      </a:endParaRPr>
                    </a:p>
                  </a:txBody>
                  <a:tcPr marL="9000" marR="9000" marT="9004" marB="0" anchor="b">
                    <a:lnL>
                      <a:noFill/>
                    </a:lnL>
                    <a:lnR>
                      <a:noFill/>
                    </a:lnR>
                    <a:lnT>
                      <a:noFill/>
                    </a:lnT>
                    <a:lnB>
                      <a:noFill/>
                    </a:lnB>
                  </a:tcPr>
                </a:tc>
                <a:tc>
                  <a:txBody>
                    <a:bodyPr/>
                    <a:lstStyle/>
                    <a:p>
                      <a:pPr algn="l" fontAlgn="b"/>
                      <a:endParaRPr lang="en-US" sz="1100" b="0" i="0" u="none" strike="noStrike">
                        <a:latin typeface="Arial"/>
                      </a:endParaRPr>
                    </a:p>
                  </a:txBody>
                  <a:tcPr marL="9000" marR="9000" marT="9004" marB="0" anchor="b">
                    <a:lnL>
                      <a:noFill/>
                    </a:lnL>
                    <a:lnR>
                      <a:noFill/>
                    </a:lnR>
                    <a:lnT>
                      <a:noFill/>
                    </a:lnT>
                    <a:lnB>
                      <a:noFill/>
                    </a:lnB>
                  </a:tcPr>
                </a:tc>
                <a:tc gridSpan="2">
                  <a:txBody>
                    <a:bodyPr/>
                    <a:lstStyle/>
                    <a:p>
                      <a:pPr algn="l" fontAlgn="b"/>
                      <a:r>
                        <a:rPr lang="en-US" sz="1100" b="0" i="0" u="none" strike="noStrike">
                          <a:latin typeface="Arial"/>
                        </a:rPr>
                        <a:t>Values of t</a:t>
                      </a:r>
                    </a:p>
                  </a:txBody>
                  <a:tcPr marL="9000" marR="9000" marT="9004" marB="0" anchor="b">
                    <a:lnL>
                      <a:noFill/>
                    </a:lnL>
                    <a:lnR>
                      <a:noFill/>
                    </a:lnR>
                    <a:lnT>
                      <a:noFill/>
                    </a:lnT>
                    <a:lnB>
                      <a:noFill/>
                    </a:lnB>
                  </a:tcPr>
                </a:tc>
                <a:tc hMerge="1">
                  <a:txBody>
                    <a:bodyPr/>
                    <a:lstStyle/>
                    <a:p>
                      <a:endParaRPr lang="en-US"/>
                    </a:p>
                  </a:txBody>
                  <a:tcPr/>
                </a:tc>
                <a:tc>
                  <a:txBody>
                    <a:bodyPr/>
                    <a:lstStyle/>
                    <a:p>
                      <a:pPr algn="l" fontAlgn="b"/>
                      <a:endParaRPr lang="en-US" sz="1100" b="0" i="0" u="none" strike="noStrike">
                        <a:latin typeface="Arial"/>
                      </a:endParaRPr>
                    </a:p>
                  </a:txBody>
                  <a:tcPr marL="9000" marR="9000" marT="9004"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endParaRPr lang="en-US" sz="1100" b="0" i="0" u="none" strike="noStrike">
                        <a:latin typeface="Arial"/>
                      </a:endParaRPr>
                    </a:p>
                  </a:txBody>
                  <a:tcPr marL="9000" marR="9000" marT="9004"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US" sz="1100" b="0" i="0" u="none" strike="noStrike">
                          <a:latin typeface="Arial"/>
                        </a:rPr>
                        <a:t> </a:t>
                      </a:r>
                    </a:p>
                  </a:txBody>
                  <a:tcPr marL="9000" marR="9000" marT="9004" marB="0" anchor="b">
                    <a:lnL>
                      <a:noFill/>
                    </a:lnL>
                    <a:lnR w="12700" cap="flat" cmpd="sng" algn="ctr">
                      <a:solidFill>
                        <a:srgbClr val="000000"/>
                      </a:solidFill>
                      <a:prstDash val="solid"/>
                      <a:round/>
                      <a:headEnd type="none" w="med" len="med"/>
                      <a:tailEnd type="none" w="med" len="med"/>
                    </a:lnR>
                    <a:lnT>
                      <a:noFill/>
                    </a:lnT>
                    <a:lnB>
                      <a:noFill/>
                    </a:lnB>
                  </a:tcPr>
                </a:tc>
              </a:tr>
              <a:tr h="189083">
                <a:tc>
                  <a:txBody>
                    <a:bodyPr/>
                    <a:lstStyle/>
                    <a:p>
                      <a:pPr algn="ctr" fontAlgn="b"/>
                      <a:r>
                        <a:rPr lang="en-US" sz="1100" b="0" i="0" u="none" strike="noStrike">
                          <a:latin typeface="Arial"/>
                        </a:rPr>
                        <a:t>7</a:t>
                      </a:r>
                    </a:p>
                  </a:txBody>
                  <a:tcPr marL="9000" marR="9000" marT="9004" marB="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latin typeface="Arial"/>
                        </a:rPr>
                        <a:t>0.1303</a:t>
                      </a:r>
                    </a:p>
                  </a:txBody>
                  <a:tcPr marL="9000" marR="9000" marT="9004"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latin typeface="Arial"/>
                        </a:rPr>
                        <a:t>0.4015</a:t>
                      </a:r>
                    </a:p>
                  </a:txBody>
                  <a:tcPr marL="9000" marR="9000" marT="9004"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latin typeface="Arial"/>
                        </a:rPr>
                        <a:t>0.7111</a:t>
                      </a:r>
                    </a:p>
                  </a:txBody>
                  <a:tcPr marL="9000" marR="9000" marT="9004"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latin typeface="Arial"/>
                        </a:rPr>
                        <a:t>1.1192</a:t>
                      </a:r>
                    </a:p>
                  </a:txBody>
                  <a:tcPr marL="9000" marR="9000" marT="9004"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latin typeface="Arial"/>
                        </a:rPr>
                        <a:t>1.4149</a:t>
                      </a:r>
                    </a:p>
                  </a:txBody>
                  <a:tcPr marL="9000" marR="9000" marT="9004"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latin typeface="Arial"/>
                        </a:rPr>
                        <a:t>1.8946</a:t>
                      </a:r>
                    </a:p>
                  </a:txBody>
                  <a:tcPr marL="9000" marR="9000" marT="9004" marB="0" anchor="b">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latin typeface="Arial"/>
                        </a:rPr>
                        <a:t>2.3646</a:t>
                      </a:r>
                    </a:p>
                  </a:txBody>
                  <a:tcPr marL="9000" marR="9000" marT="9004"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a:latin typeface="Arial"/>
                        </a:rPr>
                        <a:t>2.9980</a:t>
                      </a:r>
                    </a:p>
                  </a:txBody>
                  <a:tcPr marL="9000" marR="9000" marT="9004"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US" sz="1100" b="0" i="0" u="none" strike="noStrike" dirty="0">
                          <a:latin typeface="Arial"/>
                        </a:rPr>
                        <a:t>3.4995</a:t>
                      </a:r>
                    </a:p>
                  </a:txBody>
                  <a:tcPr marL="9000" marR="9000" marT="9004"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r>
            </a:tbl>
          </a:graphicData>
        </a:graphic>
      </p:graphicFrame>
    </p:spTree>
    <p:custDataLst>
      <p:tags r:id="rId2"/>
    </p:custDataLst>
  </p:cSld>
  <p:clrMapOvr>
    <a:masterClrMapping/>
  </p:clrMapOvr>
  <p:transition spd="slow">
    <p:pull dir="l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4099"/>
                                        </p:tgtEl>
                                        <p:attrNameLst>
                                          <p:attrName>style.visibility</p:attrName>
                                        </p:attrNameLst>
                                      </p:cBhvr>
                                      <p:to>
                                        <p:strVal val="visible"/>
                                      </p:to>
                                    </p:set>
                                    <p:anim calcmode="lin" valueType="num">
                                      <p:cBhvr additive="base">
                                        <p:cTn id="7" dur="500" fill="hold"/>
                                        <p:tgtEl>
                                          <p:spTgt spid="4099"/>
                                        </p:tgtEl>
                                        <p:attrNameLst>
                                          <p:attrName>ppt_x</p:attrName>
                                        </p:attrNameLst>
                                      </p:cBhvr>
                                      <p:tavLst>
                                        <p:tav tm="0">
                                          <p:val>
                                            <p:strVal val="0-#ppt_w/2"/>
                                          </p:val>
                                        </p:tav>
                                        <p:tav tm="100000">
                                          <p:val>
                                            <p:strVal val="#ppt_x"/>
                                          </p:val>
                                        </p:tav>
                                      </p:tavLst>
                                    </p:anim>
                                    <p:anim calcmode="lin" valueType="num">
                                      <p:cBhvr additive="base">
                                        <p:cTn id="8" dur="500" fill="hold"/>
                                        <p:tgtEl>
                                          <p:spTgt spid="4099"/>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4098"/>
                                        </p:tgtEl>
                                        <p:attrNameLst>
                                          <p:attrName>style.visibility</p:attrName>
                                        </p:attrNameLst>
                                      </p:cBhvr>
                                      <p:to>
                                        <p:strVal val="visible"/>
                                      </p:to>
                                    </p:set>
                                    <p:anim calcmode="lin" valueType="num">
                                      <p:cBhvr additive="base">
                                        <p:cTn id="13" dur="500" fill="hold"/>
                                        <p:tgtEl>
                                          <p:spTgt spid="4098"/>
                                        </p:tgtEl>
                                        <p:attrNameLst>
                                          <p:attrName>ppt_x</p:attrName>
                                        </p:attrNameLst>
                                      </p:cBhvr>
                                      <p:tavLst>
                                        <p:tav tm="0">
                                          <p:val>
                                            <p:strVal val="0-#ppt_w/2"/>
                                          </p:val>
                                        </p:tav>
                                        <p:tav tm="100000">
                                          <p:val>
                                            <p:strVal val="#ppt_x"/>
                                          </p:val>
                                        </p:tav>
                                      </p:tavLst>
                                    </p:anim>
                                    <p:anim calcmode="lin" valueType="num">
                                      <p:cBhvr additive="base">
                                        <p:cTn id="14" dur="500" fill="hold"/>
                                        <p:tgtEl>
                                          <p:spTgt spid="4098"/>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nodeType="clickEffect">
                                  <p:stCondLst>
                                    <p:cond delay="0"/>
                                  </p:stCondLst>
                                  <p:childTnLst>
                                    <p:set>
                                      <p:cBhvr>
                                        <p:cTn id="18" dur="1" fill="hold">
                                          <p:stCondLst>
                                            <p:cond delay="0"/>
                                          </p:stCondLst>
                                        </p:cTn>
                                        <p:tgtEl>
                                          <p:spTgt spid="4100"/>
                                        </p:tgtEl>
                                        <p:attrNameLst>
                                          <p:attrName>style.visibility</p:attrName>
                                        </p:attrNameLst>
                                      </p:cBhvr>
                                      <p:to>
                                        <p:strVal val="visible"/>
                                      </p:to>
                                    </p:set>
                                    <p:anim calcmode="lin" valueType="num">
                                      <p:cBhvr additive="base">
                                        <p:cTn id="19" dur="500" fill="hold"/>
                                        <p:tgtEl>
                                          <p:spTgt spid="4100"/>
                                        </p:tgtEl>
                                        <p:attrNameLst>
                                          <p:attrName>ppt_x</p:attrName>
                                        </p:attrNameLst>
                                      </p:cBhvr>
                                      <p:tavLst>
                                        <p:tav tm="0">
                                          <p:val>
                                            <p:strVal val="1+#ppt_w/2"/>
                                          </p:val>
                                        </p:tav>
                                        <p:tav tm="100000">
                                          <p:val>
                                            <p:strVal val="#ppt_x"/>
                                          </p:val>
                                        </p:tav>
                                      </p:tavLst>
                                    </p:anim>
                                    <p:anim calcmode="lin" valueType="num">
                                      <p:cBhvr additive="base">
                                        <p:cTn id="20" dur="500" fill="hold"/>
                                        <p:tgtEl>
                                          <p:spTgt spid="4100"/>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28"/>
                                        </p:tgtEl>
                                        <p:attrNameLst>
                                          <p:attrName>style.visibility</p:attrName>
                                        </p:attrNameLst>
                                      </p:cBhvr>
                                      <p:to>
                                        <p:strVal val="visible"/>
                                      </p:to>
                                    </p:set>
                                    <p:anim calcmode="lin" valueType="num">
                                      <p:cBhvr additive="base">
                                        <p:cTn id="25" dur="500" fill="hold"/>
                                        <p:tgtEl>
                                          <p:spTgt spid="28"/>
                                        </p:tgtEl>
                                        <p:attrNameLst>
                                          <p:attrName>ppt_x</p:attrName>
                                        </p:attrNameLst>
                                      </p:cBhvr>
                                      <p:tavLst>
                                        <p:tav tm="0">
                                          <p:val>
                                            <p:strVal val="0-#ppt_w/2"/>
                                          </p:val>
                                        </p:tav>
                                        <p:tav tm="100000">
                                          <p:val>
                                            <p:strVal val="#ppt_x"/>
                                          </p:val>
                                        </p:tav>
                                      </p:tavLst>
                                    </p:anim>
                                    <p:anim calcmode="lin" valueType="num">
                                      <p:cBhvr additive="base">
                                        <p:cTn id="26" dur="500" fill="hold"/>
                                        <p:tgtEl>
                                          <p:spTgt spid="28"/>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4107"/>
                                        </p:tgtEl>
                                        <p:attrNameLst>
                                          <p:attrName>style.visibility</p:attrName>
                                        </p:attrNameLst>
                                      </p:cBhvr>
                                      <p:to>
                                        <p:strVal val="visible"/>
                                      </p:to>
                                    </p:set>
                                    <p:anim calcmode="lin" valueType="num">
                                      <p:cBhvr additive="base">
                                        <p:cTn id="31" dur="500" fill="hold"/>
                                        <p:tgtEl>
                                          <p:spTgt spid="4107"/>
                                        </p:tgtEl>
                                        <p:attrNameLst>
                                          <p:attrName>ppt_x</p:attrName>
                                        </p:attrNameLst>
                                      </p:cBhvr>
                                      <p:tavLst>
                                        <p:tav tm="0">
                                          <p:val>
                                            <p:strVal val="1+#ppt_w/2"/>
                                          </p:val>
                                        </p:tav>
                                        <p:tav tm="100000">
                                          <p:val>
                                            <p:strVal val="#ppt_x"/>
                                          </p:val>
                                        </p:tav>
                                      </p:tavLst>
                                    </p:anim>
                                    <p:anim calcmode="lin" valueType="num">
                                      <p:cBhvr additive="base">
                                        <p:cTn id="32" dur="500" fill="hold"/>
                                        <p:tgtEl>
                                          <p:spTgt spid="4107"/>
                                        </p:tgtEl>
                                        <p:attrNameLst>
                                          <p:attrName>ppt_y</p:attrName>
                                        </p:attrNameLst>
                                      </p:cBhvr>
                                      <p:tavLst>
                                        <p:tav tm="0">
                                          <p:val>
                                            <p:strVal val="#ppt_y"/>
                                          </p:val>
                                        </p:tav>
                                        <p:tav tm="100000">
                                          <p:val>
                                            <p:strVal val="#ppt_y"/>
                                          </p:val>
                                        </p:tav>
                                      </p:tavLst>
                                    </p:anim>
                                  </p:childTnLst>
                                </p:cTn>
                              </p:par>
                              <p:par>
                                <p:cTn id="33" presetID="2" presetClass="entr" presetSubtype="2" fill="hold" grpId="0" nodeType="withEffect">
                                  <p:stCondLst>
                                    <p:cond delay="0"/>
                                  </p:stCondLst>
                                  <p:childTnLst>
                                    <p:set>
                                      <p:cBhvr>
                                        <p:cTn id="34" dur="1" fill="hold">
                                          <p:stCondLst>
                                            <p:cond delay="0"/>
                                          </p:stCondLst>
                                        </p:cTn>
                                        <p:tgtEl>
                                          <p:spTgt spid="4120"/>
                                        </p:tgtEl>
                                        <p:attrNameLst>
                                          <p:attrName>style.visibility</p:attrName>
                                        </p:attrNameLst>
                                      </p:cBhvr>
                                      <p:to>
                                        <p:strVal val="visible"/>
                                      </p:to>
                                    </p:set>
                                    <p:anim calcmode="lin" valueType="num">
                                      <p:cBhvr additive="base">
                                        <p:cTn id="35" dur="500" fill="hold"/>
                                        <p:tgtEl>
                                          <p:spTgt spid="4120"/>
                                        </p:tgtEl>
                                        <p:attrNameLst>
                                          <p:attrName>ppt_x</p:attrName>
                                        </p:attrNameLst>
                                      </p:cBhvr>
                                      <p:tavLst>
                                        <p:tav tm="0">
                                          <p:val>
                                            <p:strVal val="1+#ppt_w/2"/>
                                          </p:val>
                                        </p:tav>
                                        <p:tav tm="100000">
                                          <p:val>
                                            <p:strVal val="#ppt_x"/>
                                          </p:val>
                                        </p:tav>
                                      </p:tavLst>
                                    </p:anim>
                                    <p:anim calcmode="lin" valueType="num">
                                      <p:cBhvr additive="base">
                                        <p:cTn id="36" dur="500" fill="hold"/>
                                        <p:tgtEl>
                                          <p:spTgt spid="4120"/>
                                        </p:tgtEl>
                                        <p:attrNameLst>
                                          <p:attrName>ppt_y</p:attrName>
                                        </p:attrNameLst>
                                      </p:cBhvr>
                                      <p:tavLst>
                                        <p:tav tm="0">
                                          <p:val>
                                            <p:strVal val="#ppt_y"/>
                                          </p:val>
                                        </p:tav>
                                        <p:tav tm="100000">
                                          <p:val>
                                            <p:strVal val="#ppt_y"/>
                                          </p:val>
                                        </p:tav>
                                      </p:tavLst>
                                    </p:anim>
                                  </p:childTnLst>
                                </p:cTn>
                              </p:par>
                              <p:par>
                                <p:cTn id="37" presetID="2" presetClass="entr" presetSubtype="2" fill="hold" grpId="0" nodeType="withEffect">
                                  <p:stCondLst>
                                    <p:cond delay="0"/>
                                  </p:stCondLst>
                                  <p:childTnLst>
                                    <p:set>
                                      <p:cBhvr>
                                        <p:cTn id="38" dur="1" fill="hold">
                                          <p:stCondLst>
                                            <p:cond delay="0"/>
                                          </p:stCondLst>
                                        </p:cTn>
                                        <p:tgtEl>
                                          <p:spTgt spid="4110"/>
                                        </p:tgtEl>
                                        <p:attrNameLst>
                                          <p:attrName>style.visibility</p:attrName>
                                        </p:attrNameLst>
                                      </p:cBhvr>
                                      <p:to>
                                        <p:strVal val="visible"/>
                                      </p:to>
                                    </p:set>
                                    <p:anim calcmode="lin" valueType="num">
                                      <p:cBhvr additive="base">
                                        <p:cTn id="39" dur="500" fill="hold"/>
                                        <p:tgtEl>
                                          <p:spTgt spid="4110"/>
                                        </p:tgtEl>
                                        <p:attrNameLst>
                                          <p:attrName>ppt_x</p:attrName>
                                        </p:attrNameLst>
                                      </p:cBhvr>
                                      <p:tavLst>
                                        <p:tav tm="0">
                                          <p:val>
                                            <p:strVal val="1+#ppt_w/2"/>
                                          </p:val>
                                        </p:tav>
                                        <p:tav tm="100000">
                                          <p:val>
                                            <p:strVal val="#ppt_x"/>
                                          </p:val>
                                        </p:tav>
                                      </p:tavLst>
                                    </p:anim>
                                    <p:anim calcmode="lin" valueType="num">
                                      <p:cBhvr additive="base">
                                        <p:cTn id="40" dur="500" fill="hold"/>
                                        <p:tgtEl>
                                          <p:spTgt spid="4110"/>
                                        </p:tgtEl>
                                        <p:attrNameLst>
                                          <p:attrName>ppt_y</p:attrName>
                                        </p:attrNameLst>
                                      </p:cBhvr>
                                      <p:tavLst>
                                        <p:tav tm="0">
                                          <p:val>
                                            <p:strVal val="#ppt_y"/>
                                          </p:val>
                                        </p:tav>
                                        <p:tav tm="100000">
                                          <p:val>
                                            <p:strVal val="#ppt_y"/>
                                          </p:val>
                                        </p:tav>
                                      </p:tavLst>
                                    </p:anim>
                                  </p:childTnLst>
                                </p:cTn>
                              </p:par>
                              <p:par>
                                <p:cTn id="41" presetID="2" presetClass="entr" presetSubtype="2" fill="hold" grpId="0" nodeType="withEffect">
                                  <p:stCondLst>
                                    <p:cond delay="0"/>
                                  </p:stCondLst>
                                  <p:childTnLst>
                                    <p:set>
                                      <p:cBhvr>
                                        <p:cTn id="42" dur="1" fill="hold">
                                          <p:stCondLst>
                                            <p:cond delay="0"/>
                                          </p:stCondLst>
                                        </p:cTn>
                                        <p:tgtEl>
                                          <p:spTgt spid="4109"/>
                                        </p:tgtEl>
                                        <p:attrNameLst>
                                          <p:attrName>style.visibility</p:attrName>
                                        </p:attrNameLst>
                                      </p:cBhvr>
                                      <p:to>
                                        <p:strVal val="visible"/>
                                      </p:to>
                                    </p:set>
                                    <p:anim calcmode="lin" valueType="num">
                                      <p:cBhvr additive="base">
                                        <p:cTn id="43" dur="500" fill="hold"/>
                                        <p:tgtEl>
                                          <p:spTgt spid="4109"/>
                                        </p:tgtEl>
                                        <p:attrNameLst>
                                          <p:attrName>ppt_x</p:attrName>
                                        </p:attrNameLst>
                                      </p:cBhvr>
                                      <p:tavLst>
                                        <p:tav tm="0">
                                          <p:val>
                                            <p:strVal val="1+#ppt_w/2"/>
                                          </p:val>
                                        </p:tav>
                                        <p:tav tm="100000">
                                          <p:val>
                                            <p:strVal val="#ppt_x"/>
                                          </p:val>
                                        </p:tav>
                                      </p:tavLst>
                                    </p:anim>
                                    <p:anim calcmode="lin" valueType="num">
                                      <p:cBhvr additive="base">
                                        <p:cTn id="44" dur="500" fill="hold"/>
                                        <p:tgtEl>
                                          <p:spTgt spid="4109"/>
                                        </p:tgtEl>
                                        <p:attrNameLst>
                                          <p:attrName>ppt_y</p:attrName>
                                        </p:attrNameLst>
                                      </p:cBhvr>
                                      <p:tavLst>
                                        <p:tav tm="0">
                                          <p:val>
                                            <p:strVal val="#ppt_y"/>
                                          </p:val>
                                        </p:tav>
                                        <p:tav tm="100000">
                                          <p:val>
                                            <p:strVal val="#ppt_y"/>
                                          </p:val>
                                        </p:tav>
                                      </p:tavLst>
                                    </p:anim>
                                  </p:childTnLst>
                                </p:cTn>
                              </p:par>
                              <p:par>
                                <p:cTn id="45" presetID="2" presetClass="entr" presetSubtype="2" fill="hold" grpId="0" nodeType="withEffect">
                                  <p:stCondLst>
                                    <p:cond delay="0"/>
                                  </p:stCondLst>
                                  <p:childTnLst>
                                    <p:set>
                                      <p:cBhvr>
                                        <p:cTn id="46" dur="1" fill="hold">
                                          <p:stCondLst>
                                            <p:cond delay="0"/>
                                          </p:stCondLst>
                                        </p:cTn>
                                        <p:tgtEl>
                                          <p:spTgt spid="4105"/>
                                        </p:tgtEl>
                                        <p:attrNameLst>
                                          <p:attrName>style.visibility</p:attrName>
                                        </p:attrNameLst>
                                      </p:cBhvr>
                                      <p:to>
                                        <p:strVal val="visible"/>
                                      </p:to>
                                    </p:set>
                                    <p:anim calcmode="lin" valueType="num">
                                      <p:cBhvr additive="base">
                                        <p:cTn id="47" dur="500" fill="hold"/>
                                        <p:tgtEl>
                                          <p:spTgt spid="4105"/>
                                        </p:tgtEl>
                                        <p:attrNameLst>
                                          <p:attrName>ppt_x</p:attrName>
                                        </p:attrNameLst>
                                      </p:cBhvr>
                                      <p:tavLst>
                                        <p:tav tm="0">
                                          <p:val>
                                            <p:strVal val="1+#ppt_w/2"/>
                                          </p:val>
                                        </p:tav>
                                        <p:tav tm="100000">
                                          <p:val>
                                            <p:strVal val="#ppt_x"/>
                                          </p:val>
                                        </p:tav>
                                      </p:tavLst>
                                    </p:anim>
                                    <p:anim calcmode="lin" valueType="num">
                                      <p:cBhvr additive="base">
                                        <p:cTn id="48" dur="500" fill="hold"/>
                                        <p:tgtEl>
                                          <p:spTgt spid="4105"/>
                                        </p:tgtEl>
                                        <p:attrNameLst>
                                          <p:attrName>ppt_y</p:attrName>
                                        </p:attrNameLst>
                                      </p:cBhvr>
                                      <p:tavLst>
                                        <p:tav tm="0">
                                          <p:val>
                                            <p:strVal val="#ppt_y"/>
                                          </p:val>
                                        </p:tav>
                                        <p:tav tm="100000">
                                          <p:val>
                                            <p:strVal val="#ppt_y"/>
                                          </p:val>
                                        </p:tav>
                                      </p:tavLst>
                                    </p:anim>
                                  </p:childTnLst>
                                </p:cTn>
                              </p:par>
                              <p:par>
                                <p:cTn id="49" presetID="2" presetClass="entr" presetSubtype="2" fill="hold" grpId="0" nodeType="withEffect">
                                  <p:stCondLst>
                                    <p:cond delay="0"/>
                                  </p:stCondLst>
                                  <p:childTnLst>
                                    <p:set>
                                      <p:cBhvr>
                                        <p:cTn id="50" dur="1" fill="hold">
                                          <p:stCondLst>
                                            <p:cond delay="0"/>
                                          </p:stCondLst>
                                        </p:cTn>
                                        <p:tgtEl>
                                          <p:spTgt spid="4106"/>
                                        </p:tgtEl>
                                        <p:attrNameLst>
                                          <p:attrName>style.visibility</p:attrName>
                                        </p:attrNameLst>
                                      </p:cBhvr>
                                      <p:to>
                                        <p:strVal val="visible"/>
                                      </p:to>
                                    </p:set>
                                    <p:anim calcmode="lin" valueType="num">
                                      <p:cBhvr additive="base">
                                        <p:cTn id="51" dur="500" fill="hold"/>
                                        <p:tgtEl>
                                          <p:spTgt spid="4106"/>
                                        </p:tgtEl>
                                        <p:attrNameLst>
                                          <p:attrName>ppt_x</p:attrName>
                                        </p:attrNameLst>
                                      </p:cBhvr>
                                      <p:tavLst>
                                        <p:tav tm="0">
                                          <p:val>
                                            <p:strVal val="1+#ppt_w/2"/>
                                          </p:val>
                                        </p:tav>
                                        <p:tav tm="100000">
                                          <p:val>
                                            <p:strVal val="#ppt_x"/>
                                          </p:val>
                                        </p:tav>
                                      </p:tavLst>
                                    </p:anim>
                                    <p:anim calcmode="lin" valueType="num">
                                      <p:cBhvr additive="base">
                                        <p:cTn id="52" dur="500" fill="hold"/>
                                        <p:tgtEl>
                                          <p:spTgt spid="4106"/>
                                        </p:tgtEl>
                                        <p:attrNameLst>
                                          <p:attrName>ppt_y</p:attrName>
                                        </p:attrNameLst>
                                      </p:cBhvr>
                                      <p:tavLst>
                                        <p:tav tm="0">
                                          <p:val>
                                            <p:strVal val="#ppt_y"/>
                                          </p:val>
                                        </p:tav>
                                        <p:tav tm="100000">
                                          <p:val>
                                            <p:strVal val="#ppt_y"/>
                                          </p:val>
                                        </p:tav>
                                      </p:tavLst>
                                    </p:anim>
                                  </p:childTnLst>
                                </p:cTn>
                              </p:par>
                              <p:par>
                                <p:cTn id="53" presetID="2" presetClass="entr" presetSubtype="2" fill="hold" grpId="0" nodeType="withEffect">
                                  <p:stCondLst>
                                    <p:cond delay="0"/>
                                  </p:stCondLst>
                                  <p:childTnLst>
                                    <p:set>
                                      <p:cBhvr>
                                        <p:cTn id="54" dur="1" fill="hold">
                                          <p:stCondLst>
                                            <p:cond delay="0"/>
                                          </p:stCondLst>
                                        </p:cTn>
                                        <p:tgtEl>
                                          <p:spTgt spid="4108"/>
                                        </p:tgtEl>
                                        <p:attrNameLst>
                                          <p:attrName>style.visibility</p:attrName>
                                        </p:attrNameLst>
                                      </p:cBhvr>
                                      <p:to>
                                        <p:strVal val="visible"/>
                                      </p:to>
                                    </p:set>
                                    <p:anim calcmode="lin" valueType="num">
                                      <p:cBhvr additive="base">
                                        <p:cTn id="55" dur="500" fill="hold"/>
                                        <p:tgtEl>
                                          <p:spTgt spid="4108"/>
                                        </p:tgtEl>
                                        <p:attrNameLst>
                                          <p:attrName>ppt_x</p:attrName>
                                        </p:attrNameLst>
                                      </p:cBhvr>
                                      <p:tavLst>
                                        <p:tav tm="0">
                                          <p:val>
                                            <p:strVal val="1+#ppt_w/2"/>
                                          </p:val>
                                        </p:tav>
                                        <p:tav tm="100000">
                                          <p:val>
                                            <p:strVal val="#ppt_x"/>
                                          </p:val>
                                        </p:tav>
                                      </p:tavLst>
                                    </p:anim>
                                    <p:anim calcmode="lin" valueType="num">
                                      <p:cBhvr additive="base">
                                        <p:cTn id="56" dur="500" fill="hold"/>
                                        <p:tgtEl>
                                          <p:spTgt spid="4108"/>
                                        </p:tgtEl>
                                        <p:attrNameLst>
                                          <p:attrName>ppt_y</p:attrName>
                                        </p:attrNameLst>
                                      </p:cBhvr>
                                      <p:tavLst>
                                        <p:tav tm="0">
                                          <p:val>
                                            <p:strVal val="#ppt_y"/>
                                          </p:val>
                                        </p:tav>
                                        <p:tav tm="100000">
                                          <p:val>
                                            <p:strVal val="#ppt_y"/>
                                          </p:val>
                                        </p:tav>
                                      </p:tavLst>
                                    </p:anim>
                                  </p:childTnLst>
                                </p:cTn>
                              </p:par>
                              <p:par>
                                <p:cTn id="57" presetID="2" presetClass="entr" presetSubtype="2" fill="hold" grpId="0" nodeType="withEffect">
                                  <p:stCondLst>
                                    <p:cond delay="0"/>
                                  </p:stCondLst>
                                  <p:childTnLst>
                                    <p:set>
                                      <p:cBhvr>
                                        <p:cTn id="58" dur="1" fill="hold">
                                          <p:stCondLst>
                                            <p:cond delay="0"/>
                                          </p:stCondLst>
                                        </p:cTn>
                                        <p:tgtEl>
                                          <p:spTgt spid="4112"/>
                                        </p:tgtEl>
                                        <p:attrNameLst>
                                          <p:attrName>style.visibility</p:attrName>
                                        </p:attrNameLst>
                                      </p:cBhvr>
                                      <p:to>
                                        <p:strVal val="visible"/>
                                      </p:to>
                                    </p:set>
                                    <p:anim calcmode="lin" valueType="num">
                                      <p:cBhvr additive="base">
                                        <p:cTn id="59" dur="500" fill="hold"/>
                                        <p:tgtEl>
                                          <p:spTgt spid="4112"/>
                                        </p:tgtEl>
                                        <p:attrNameLst>
                                          <p:attrName>ppt_x</p:attrName>
                                        </p:attrNameLst>
                                      </p:cBhvr>
                                      <p:tavLst>
                                        <p:tav tm="0">
                                          <p:val>
                                            <p:strVal val="1+#ppt_w/2"/>
                                          </p:val>
                                        </p:tav>
                                        <p:tav tm="100000">
                                          <p:val>
                                            <p:strVal val="#ppt_x"/>
                                          </p:val>
                                        </p:tav>
                                      </p:tavLst>
                                    </p:anim>
                                    <p:anim calcmode="lin" valueType="num">
                                      <p:cBhvr additive="base">
                                        <p:cTn id="60" dur="500" fill="hold"/>
                                        <p:tgtEl>
                                          <p:spTgt spid="4112"/>
                                        </p:tgtEl>
                                        <p:attrNameLst>
                                          <p:attrName>ppt_y</p:attrName>
                                        </p:attrNameLst>
                                      </p:cBhvr>
                                      <p:tavLst>
                                        <p:tav tm="0">
                                          <p:val>
                                            <p:strVal val="#ppt_y"/>
                                          </p:val>
                                        </p:tav>
                                        <p:tav tm="100000">
                                          <p:val>
                                            <p:strVal val="#ppt_y"/>
                                          </p:val>
                                        </p:tav>
                                      </p:tavLst>
                                    </p:anim>
                                  </p:childTnLst>
                                </p:cTn>
                              </p:par>
                              <p:par>
                                <p:cTn id="61" presetID="2" presetClass="entr" presetSubtype="2" fill="hold" grpId="0" nodeType="withEffect">
                                  <p:stCondLst>
                                    <p:cond delay="0"/>
                                  </p:stCondLst>
                                  <p:childTnLst>
                                    <p:set>
                                      <p:cBhvr>
                                        <p:cTn id="62" dur="1" fill="hold">
                                          <p:stCondLst>
                                            <p:cond delay="0"/>
                                          </p:stCondLst>
                                        </p:cTn>
                                        <p:tgtEl>
                                          <p:spTgt spid="4118"/>
                                        </p:tgtEl>
                                        <p:attrNameLst>
                                          <p:attrName>style.visibility</p:attrName>
                                        </p:attrNameLst>
                                      </p:cBhvr>
                                      <p:to>
                                        <p:strVal val="visible"/>
                                      </p:to>
                                    </p:set>
                                    <p:anim calcmode="lin" valueType="num">
                                      <p:cBhvr additive="base">
                                        <p:cTn id="63" dur="500" fill="hold"/>
                                        <p:tgtEl>
                                          <p:spTgt spid="4118"/>
                                        </p:tgtEl>
                                        <p:attrNameLst>
                                          <p:attrName>ppt_x</p:attrName>
                                        </p:attrNameLst>
                                      </p:cBhvr>
                                      <p:tavLst>
                                        <p:tav tm="0">
                                          <p:val>
                                            <p:strVal val="1+#ppt_w/2"/>
                                          </p:val>
                                        </p:tav>
                                        <p:tav tm="100000">
                                          <p:val>
                                            <p:strVal val="#ppt_x"/>
                                          </p:val>
                                        </p:tav>
                                      </p:tavLst>
                                    </p:anim>
                                    <p:anim calcmode="lin" valueType="num">
                                      <p:cBhvr additive="base">
                                        <p:cTn id="64" dur="500" fill="hold"/>
                                        <p:tgtEl>
                                          <p:spTgt spid="4118"/>
                                        </p:tgtEl>
                                        <p:attrNameLst>
                                          <p:attrName>ppt_y</p:attrName>
                                        </p:attrNameLst>
                                      </p:cBhvr>
                                      <p:tavLst>
                                        <p:tav tm="0">
                                          <p:val>
                                            <p:strVal val="#ppt_y"/>
                                          </p:val>
                                        </p:tav>
                                        <p:tav tm="100000">
                                          <p:val>
                                            <p:strVal val="#ppt_y"/>
                                          </p:val>
                                        </p:tav>
                                      </p:tavLst>
                                    </p:anim>
                                  </p:childTnLst>
                                </p:cTn>
                              </p:par>
                              <p:par>
                                <p:cTn id="65" presetID="2" presetClass="entr" presetSubtype="2" fill="hold" grpId="0" nodeType="withEffect">
                                  <p:stCondLst>
                                    <p:cond delay="0"/>
                                  </p:stCondLst>
                                  <p:childTnLst>
                                    <p:set>
                                      <p:cBhvr>
                                        <p:cTn id="66" dur="1" fill="hold">
                                          <p:stCondLst>
                                            <p:cond delay="0"/>
                                          </p:stCondLst>
                                        </p:cTn>
                                        <p:tgtEl>
                                          <p:spTgt spid="4119"/>
                                        </p:tgtEl>
                                        <p:attrNameLst>
                                          <p:attrName>style.visibility</p:attrName>
                                        </p:attrNameLst>
                                      </p:cBhvr>
                                      <p:to>
                                        <p:strVal val="visible"/>
                                      </p:to>
                                    </p:set>
                                    <p:anim calcmode="lin" valueType="num">
                                      <p:cBhvr additive="base">
                                        <p:cTn id="67" dur="500" fill="hold"/>
                                        <p:tgtEl>
                                          <p:spTgt spid="4119"/>
                                        </p:tgtEl>
                                        <p:attrNameLst>
                                          <p:attrName>ppt_x</p:attrName>
                                        </p:attrNameLst>
                                      </p:cBhvr>
                                      <p:tavLst>
                                        <p:tav tm="0">
                                          <p:val>
                                            <p:strVal val="1+#ppt_w/2"/>
                                          </p:val>
                                        </p:tav>
                                        <p:tav tm="100000">
                                          <p:val>
                                            <p:strVal val="#ppt_x"/>
                                          </p:val>
                                        </p:tav>
                                      </p:tavLst>
                                    </p:anim>
                                    <p:anim calcmode="lin" valueType="num">
                                      <p:cBhvr additive="base">
                                        <p:cTn id="68" dur="500" fill="hold"/>
                                        <p:tgtEl>
                                          <p:spTgt spid="4119"/>
                                        </p:tgtEl>
                                        <p:attrNameLst>
                                          <p:attrName>ppt_y</p:attrName>
                                        </p:attrNameLst>
                                      </p:cBhvr>
                                      <p:tavLst>
                                        <p:tav tm="0">
                                          <p:val>
                                            <p:strVal val="#ppt_y"/>
                                          </p:val>
                                        </p:tav>
                                        <p:tav tm="100000">
                                          <p:val>
                                            <p:strVal val="#ppt_y"/>
                                          </p:val>
                                        </p:tav>
                                      </p:tavLst>
                                    </p:anim>
                                  </p:childTnLst>
                                </p:cTn>
                              </p:par>
                              <p:par>
                                <p:cTn id="69" presetID="2" presetClass="entr" presetSubtype="2" fill="hold" nodeType="withEffect">
                                  <p:stCondLst>
                                    <p:cond delay="0"/>
                                  </p:stCondLst>
                                  <p:childTnLst>
                                    <p:set>
                                      <p:cBhvr>
                                        <p:cTn id="70" dur="1" fill="hold">
                                          <p:stCondLst>
                                            <p:cond delay="0"/>
                                          </p:stCondLst>
                                        </p:cTn>
                                        <p:tgtEl>
                                          <p:spTgt spid="45"/>
                                        </p:tgtEl>
                                        <p:attrNameLst>
                                          <p:attrName>style.visibility</p:attrName>
                                        </p:attrNameLst>
                                      </p:cBhvr>
                                      <p:to>
                                        <p:strVal val="visible"/>
                                      </p:to>
                                    </p:set>
                                    <p:anim calcmode="lin" valueType="num">
                                      <p:cBhvr additive="base">
                                        <p:cTn id="71" dur="500" fill="hold"/>
                                        <p:tgtEl>
                                          <p:spTgt spid="45"/>
                                        </p:tgtEl>
                                        <p:attrNameLst>
                                          <p:attrName>ppt_x</p:attrName>
                                        </p:attrNameLst>
                                      </p:cBhvr>
                                      <p:tavLst>
                                        <p:tav tm="0">
                                          <p:val>
                                            <p:strVal val="1+#ppt_w/2"/>
                                          </p:val>
                                        </p:tav>
                                        <p:tav tm="100000">
                                          <p:val>
                                            <p:strVal val="#ppt_x"/>
                                          </p:val>
                                        </p:tav>
                                      </p:tavLst>
                                    </p:anim>
                                    <p:anim calcmode="lin" valueType="num">
                                      <p:cBhvr additive="base">
                                        <p:cTn id="72" dur="500" fill="hold"/>
                                        <p:tgtEl>
                                          <p:spTgt spid="45"/>
                                        </p:tgtEl>
                                        <p:attrNameLst>
                                          <p:attrName>ppt_y</p:attrName>
                                        </p:attrNameLst>
                                      </p:cBhvr>
                                      <p:tavLst>
                                        <p:tav tm="0">
                                          <p:val>
                                            <p:strVal val="#ppt_y"/>
                                          </p:val>
                                        </p:tav>
                                        <p:tav tm="100000">
                                          <p:val>
                                            <p:strVal val="#ppt_y"/>
                                          </p:val>
                                        </p:tav>
                                      </p:tavLst>
                                    </p:anim>
                                  </p:childTnLst>
                                </p:cTn>
                              </p:par>
                              <p:par>
                                <p:cTn id="73" presetID="2" presetClass="entr" presetSubtype="2" fill="hold" grpId="0" nodeType="withEffect">
                                  <p:stCondLst>
                                    <p:cond delay="0"/>
                                  </p:stCondLst>
                                  <p:childTnLst>
                                    <p:set>
                                      <p:cBhvr>
                                        <p:cTn id="74" dur="1" fill="hold">
                                          <p:stCondLst>
                                            <p:cond delay="0"/>
                                          </p:stCondLst>
                                        </p:cTn>
                                        <p:tgtEl>
                                          <p:spTgt spid="4111"/>
                                        </p:tgtEl>
                                        <p:attrNameLst>
                                          <p:attrName>style.visibility</p:attrName>
                                        </p:attrNameLst>
                                      </p:cBhvr>
                                      <p:to>
                                        <p:strVal val="visible"/>
                                      </p:to>
                                    </p:set>
                                    <p:anim calcmode="lin" valueType="num">
                                      <p:cBhvr additive="base">
                                        <p:cTn id="75" dur="500" fill="hold"/>
                                        <p:tgtEl>
                                          <p:spTgt spid="4111"/>
                                        </p:tgtEl>
                                        <p:attrNameLst>
                                          <p:attrName>ppt_x</p:attrName>
                                        </p:attrNameLst>
                                      </p:cBhvr>
                                      <p:tavLst>
                                        <p:tav tm="0">
                                          <p:val>
                                            <p:strVal val="1+#ppt_w/2"/>
                                          </p:val>
                                        </p:tav>
                                        <p:tav tm="100000">
                                          <p:val>
                                            <p:strVal val="#ppt_x"/>
                                          </p:val>
                                        </p:tav>
                                      </p:tavLst>
                                    </p:anim>
                                    <p:anim calcmode="lin" valueType="num">
                                      <p:cBhvr additive="base">
                                        <p:cTn id="76" dur="500" fill="hold"/>
                                        <p:tgtEl>
                                          <p:spTgt spid="4111"/>
                                        </p:tgtEl>
                                        <p:attrNameLst>
                                          <p:attrName>ppt_y</p:attrName>
                                        </p:attrNameLst>
                                      </p:cBhvr>
                                      <p:tavLst>
                                        <p:tav tm="0">
                                          <p:val>
                                            <p:strVal val="#ppt_y"/>
                                          </p:val>
                                        </p:tav>
                                        <p:tav tm="100000">
                                          <p:val>
                                            <p:strVal val="#ppt_y"/>
                                          </p:val>
                                        </p:tav>
                                      </p:tavLst>
                                    </p:anim>
                                  </p:childTnLst>
                                </p:cTn>
                              </p:par>
                            </p:childTnLst>
                          </p:cTn>
                        </p:par>
                      </p:childTnLst>
                    </p:cTn>
                  </p:par>
                  <p:par>
                    <p:cTn id="77" fill="hold" nodeType="clickPar">
                      <p:stCondLst>
                        <p:cond delay="indefinite"/>
                      </p:stCondLst>
                      <p:childTnLst>
                        <p:par>
                          <p:cTn id="78" fill="hold" nodeType="withGroup">
                            <p:stCondLst>
                              <p:cond delay="0"/>
                            </p:stCondLst>
                            <p:childTnLst>
                              <p:par>
                                <p:cTn id="79" presetID="2" presetClass="entr" presetSubtype="2" fill="hold" grpId="0" nodeType="clickEffect">
                                  <p:stCondLst>
                                    <p:cond delay="0"/>
                                  </p:stCondLst>
                                  <p:childTnLst>
                                    <p:set>
                                      <p:cBhvr>
                                        <p:cTn id="80" dur="1" fill="hold">
                                          <p:stCondLst>
                                            <p:cond delay="0"/>
                                          </p:stCondLst>
                                        </p:cTn>
                                        <p:tgtEl>
                                          <p:spTgt spid="4186"/>
                                        </p:tgtEl>
                                        <p:attrNameLst>
                                          <p:attrName>style.visibility</p:attrName>
                                        </p:attrNameLst>
                                      </p:cBhvr>
                                      <p:to>
                                        <p:strVal val="visible"/>
                                      </p:to>
                                    </p:set>
                                    <p:anim calcmode="lin" valueType="num">
                                      <p:cBhvr additive="base">
                                        <p:cTn id="81" dur="500" fill="hold"/>
                                        <p:tgtEl>
                                          <p:spTgt spid="4186"/>
                                        </p:tgtEl>
                                        <p:attrNameLst>
                                          <p:attrName>ppt_x</p:attrName>
                                        </p:attrNameLst>
                                      </p:cBhvr>
                                      <p:tavLst>
                                        <p:tav tm="0">
                                          <p:val>
                                            <p:strVal val="1+#ppt_w/2"/>
                                          </p:val>
                                        </p:tav>
                                        <p:tav tm="100000">
                                          <p:val>
                                            <p:strVal val="#ppt_x"/>
                                          </p:val>
                                        </p:tav>
                                      </p:tavLst>
                                    </p:anim>
                                    <p:anim calcmode="lin" valueType="num">
                                      <p:cBhvr additive="base">
                                        <p:cTn id="82" dur="500" fill="hold"/>
                                        <p:tgtEl>
                                          <p:spTgt spid="4186"/>
                                        </p:tgtEl>
                                        <p:attrNameLst>
                                          <p:attrName>ppt_y</p:attrName>
                                        </p:attrNameLst>
                                      </p:cBhvr>
                                      <p:tavLst>
                                        <p:tav tm="0">
                                          <p:val>
                                            <p:strVal val="#ppt_y"/>
                                          </p:val>
                                        </p:tav>
                                        <p:tav tm="100000">
                                          <p:val>
                                            <p:strVal val="#ppt_y"/>
                                          </p:val>
                                        </p:tav>
                                      </p:tavLst>
                                    </p:anim>
                                  </p:childTnLst>
                                </p:cTn>
                              </p:par>
                            </p:childTnLst>
                          </p:cTn>
                        </p:par>
                      </p:childTnLst>
                    </p:cTn>
                  </p:par>
                  <p:par>
                    <p:cTn id="83" fill="hold" nodeType="clickPar">
                      <p:stCondLst>
                        <p:cond delay="indefinite"/>
                      </p:stCondLst>
                      <p:childTnLst>
                        <p:par>
                          <p:cTn id="84" fill="hold" nodeType="withGroup">
                            <p:stCondLst>
                              <p:cond delay="0"/>
                            </p:stCondLst>
                            <p:childTnLst>
                              <p:par>
                                <p:cTn id="85" presetID="2" presetClass="entr" presetSubtype="4" fill="hold" grpId="0" nodeType="clickEffect">
                                  <p:stCondLst>
                                    <p:cond delay="0"/>
                                  </p:stCondLst>
                                  <p:childTnLst>
                                    <p:set>
                                      <p:cBhvr>
                                        <p:cTn id="86" dur="1" fill="hold">
                                          <p:stCondLst>
                                            <p:cond delay="0"/>
                                          </p:stCondLst>
                                        </p:cTn>
                                        <p:tgtEl>
                                          <p:spTgt spid="4103"/>
                                        </p:tgtEl>
                                        <p:attrNameLst>
                                          <p:attrName>style.visibility</p:attrName>
                                        </p:attrNameLst>
                                      </p:cBhvr>
                                      <p:to>
                                        <p:strVal val="visible"/>
                                      </p:to>
                                    </p:set>
                                    <p:anim calcmode="lin" valueType="num">
                                      <p:cBhvr additive="base">
                                        <p:cTn id="87" dur="500" fill="hold"/>
                                        <p:tgtEl>
                                          <p:spTgt spid="4103"/>
                                        </p:tgtEl>
                                        <p:attrNameLst>
                                          <p:attrName>ppt_x</p:attrName>
                                        </p:attrNameLst>
                                      </p:cBhvr>
                                      <p:tavLst>
                                        <p:tav tm="0">
                                          <p:val>
                                            <p:strVal val="#ppt_x"/>
                                          </p:val>
                                        </p:tav>
                                        <p:tav tm="100000">
                                          <p:val>
                                            <p:strVal val="#ppt_x"/>
                                          </p:val>
                                        </p:tav>
                                      </p:tavLst>
                                    </p:anim>
                                    <p:anim calcmode="lin" valueType="num">
                                      <p:cBhvr additive="base">
                                        <p:cTn id="88" dur="500" fill="hold"/>
                                        <p:tgtEl>
                                          <p:spTgt spid="410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03" grpId="0" animBg="1"/>
      <p:bldP spid="4105" grpId="0" animBg="1"/>
      <p:bldP spid="4106" grpId="0" animBg="1"/>
      <p:bldP spid="4107" grpId="0" animBg="1"/>
      <p:bldP spid="4108" grpId="0" animBg="1"/>
      <p:bldP spid="4109" grpId="0" animBg="1"/>
      <p:bldP spid="4110" grpId="0"/>
      <p:bldP spid="4111" grpId="0" animBg="1"/>
      <p:bldP spid="4112" grpId="0"/>
      <p:bldP spid="4118" grpId="0" animBg="1"/>
      <p:bldP spid="4119" grpId="0"/>
      <p:bldP spid="4120" grpId="0" animBg="1"/>
      <p:bldP spid="4186" grpId="0"/>
    </p:bldLst>
  </p:timing>
</p:sld>
</file>

<file path=ppt/tags/tag1.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2.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3.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4.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5.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6.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7.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8.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9.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10.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11.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12.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13.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14.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15.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16.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17.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18.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19.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20.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21.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22.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23.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Custom 1">
      <a:majorFont>
        <a:latin typeface="Comic Sans MS"/>
        <a:ea typeface=""/>
        <a:cs typeface=""/>
      </a:majorFont>
      <a:minorFont>
        <a:latin typeface="Comic Sans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Custom 1">
      <a:majorFont>
        <a:latin typeface="Comic Sans MS"/>
        <a:ea typeface=""/>
        <a:cs typeface=""/>
      </a:majorFont>
      <a:minorFont>
        <a:latin typeface="Comic Sans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2_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Custom 1">
      <a:majorFont>
        <a:latin typeface="Comic Sans MS"/>
        <a:ea typeface=""/>
        <a:cs typeface=""/>
      </a:majorFont>
      <a:minorFont>
        <a:latin typeface="Comic Sans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c:\msoffice\powerpnt\template\sldshow\flags.ppt</Template>
  <TotalTime>2447</TotalTime>
  <Pages>12</Pages>
  <Words>2471</Words>
  <Application>Microsoft Office PowerPoint</Application>
  <PresentationFormat>On-screen Show (4:3)</PresentationFormat>
  <Paragraphs>532</Paragraphs>
  <Slides>43</Slides>
  <Notes>8</Notes>
  <HiddenSlides>0</HiddenSlides>
  <MMClips>3</MMClips>
  <ScaleCrop>false</ScaleCrop>
  <HeadingPairs>
    <vt:vector size="8" baseType="variant">
      <vt:variant>
        <vt:lpstr>Fonts Used</vt:lpstr>
      </vt:variant>
      <vt:variant>
        <vt:i4>12</vt:i4>
      </vt:variant>
      <vt:variant>
        <vt:lpstr>Theme</vt:lpstr>
      </vt:variant>
      <vt:variant>
        <vt:i4>3</vt:i4>
      </vt:variant>
      <vt:variant>
        <vt:lpstr>Embedded OLE Servers</vt:lpstr>
      </vt:variant>
      <vt:variant>
        <vt:i4>2</vt:i4>
      </vt:variant>
      <vt:variant>
        <vt:lpstr>Slide Titles</vt:lpstr>
      </vt:variant>
      <vt:variant>
        <vt:i4>43</vt:i4>
      </vt:variant>
    </vt:vector>
  </HeadingPairs>
  <TitlesOfParts>
    <vt:vector size="60" baseType="lpstr">
      <vt:lpstr>Arial</vt:lpstr>
      <vt:lpstr>Arial Narrow</vt:lpstr>
      <vt:lpstr>Cambria Math</vt:lpstr>
      <vt:lpstr>Comic Sans MS</vt:lpstr>
      <vt:lpstr>Lucida Sans Unicode</vt:lpstr>
      <vt:lpstr>Monotype Sorts</vt:lpstr>
      <vt:lpstr>Symbol</vt:lpstr>
      <vt:lpstr>Times</vt:lpstr>
      <vt:lpstr>Times New Roman</vt:lpstr>
      <vt:lpstr>Verdana</vt:lpstr>
      <vt:lpstr>Wingdings</vt:lpstr>
      <vt:lpstr>Wingdings 3</vt:lpstr>
      <vt:lpstr>Default Design</vt:lpstr>
      <vt:lpstr>1_Default Design</vt:lpstr>
      <vt:lpstr>2_Default Design</vt:lpstr>
      <vt:lpstr>Equation</vt:lpstr>
      <vt:lpstr>Bitmap Image</vt:lpstr>
      <vt:lpstr>Chapter 23 Confidence Intervals and Hypothesis Tests for a Population Mean ; t distributions</vt:lpstr>
      <vt:lpstr>Review of statistical notation.</vt:lpstr>
      <vt:lpstr>The Importance of the Central Limit Theorem</vt:lpstr>
      <vt:lpstr>PowerPoint Presentation</vt:lpstr>
      <vt:lpstr>Since the sampling model for x is the normal model, when we standardize x we get the standard normal z</vt:lpstr>
      <vt:lpstr>If  is unknown, we probably don’t know  either.</vt:lpstr>
      <vt:lpstr>Standardize using s for </vt:lpstr>
      <vt:lpstr>t-distributions</vt:lpstr>
      <vt:lpstr>Confidence Interval Estimates</vt:lpstr>
      <vt:lpstr>t distributions</vt:lpstr>
      <vt:lpstr>Student’s t Distribution </vt:lpstr>
      <vt:lpstr>Student’s t Distribution </vt:lpstr>
      <vt:lpstr>Student’s t Distribution </vt:lpstr>
      <vt:lpstr>Student’s t Distribution </vt:lpstr>
      <vt:lpstr>t-Table: back of text</vt:lpstr>
      <vt:lpstr>Student’s t Distribution </vt:lpstr>
      <vt:lpstr>Comparing t and z Critical Values</vt:lpstr>
      <vt:lpstr>PowerPoint Presentation</vt:lpstr>
      <vt:lpstr>PowerPoint Presentation</vt:lpstr>
      <vt:lpstr>PowerPoint Presentation</vt:lpstr>
      <vt:lpstr>Determining Sample Size to Estimate </vt:lpstr>
      <vt:lpstr>Required Sample Size To Estimate a Population Mean </vt:lpstr>
      <vt:lpstr>Example: Sample Size to Estimate a Population Mean </vt:lpstr>
      <vt:lpstr>Confidence Interval for </vt:lpstr>
      <vt:lpstr>PowerPoint Presentation</vt:lpstr>
      <vt:lpstr>A Way Around this Problem: Use the Standard Normal</vt:lpstr>
      <vt:lpstr>Estimating s</vt:lpstr>
      <vt:lpstr>Example: sample size to estimate mean height µ of NCSU undergrad. male students</vt:lpstr>
      <vt:lpstr>Example: Sample Size to Estimate a Population Mean -Textbooks</vt:lpstr>
      <vt:lpstr>Example: Sample Size to Estimate a Population Mean -NFL footballs</vt:lpstr>
      <vt:lpstr>Example: Sample Size to Estimate a Population Mean </vt:lpstr>
      <vt:lpstr>PowerPoint Presentation</vt:lpstr>
      <vt:lpstr>PowerPoint Presentation</vt:lpstr>
      <vt:lpstr>The one-sample t-test</vt:lpstr>
      <vt:lpstr>The one-sample t-test; hypotheses</vt:lpstr>
      <vt:lpstr>The one-sample t-test; test statistic</vt:lpstr>
      <vt:lpstr>PowerPoint Presentation</vt:lpstr>
      <vt:lpstr>PowerPoint Presentation</vt:lpstr>
      <vt:lpstr>PowerPoint Presentation</vt:lpstr>
      <vt:lpstr>New York City Hotel Room Costs</vt:lpstr>
      <vt:lpstr>New York City Hotel Room Costs</vt:lpstr>
      <vt:lpstr>Microwave Popcorn</vt:lpstr>
      <vt:lpstr>Microwave Popcorn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Confidence Intervals for the Mean</dc:title>
  <dc:subject>small samples</dc:subject>
  <dc:creator>Tom Reiland</dc:creator>
  <cp:keywords>t distribution</cp:keywords>
  <cp:lastModifiedBy>Tom Reiland</cp:lastModifiedBy>
  <cp:revision>96</cp:revision>
  <cp:lastPrinted>2012-04-03T12:45:47Z</cp:lastPrinted>
  <dcterms:created xsi:type="dcterms:W3CDTF">1996-11-25T12:04:52Z</dcterms:created>
  <dcterms:modified xsi:type="dcterms:W3CDTF">2015-11-09T11:54:29Z</dcterms:modified>
</cp:coreProperties>
</file>