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9" r:id="rId3"/>
    <p:sldId id="263" r:id="rId4"/>
    <p:sldId id="271" r:id="rId5"/>
    <p:sldId id="274" r:id="rId6"/>
    <p:sldId id="347" r:id="rId7"/>
    <p:sldId id="348" r:id="rId8"/>
    <p:sldId id="349" r:id="rId9"/>
    <p:sldId id="351" r:id="rId10"/>
    <p:sldId id="350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60" r:id="rId19"/>
    <p:sldId id="361" r:id="rId20"/>
    <p:sldId id="362" r:id="rId21"/>
    <p:sldId id="359" r:id="rId22"/>
    <p:sldId id="363" r:id="rId23"/>
    <p:sldId id="364" r:id="rId24"/>
    <p:sldId id="365" r:id="rId25"/>
    <p:sldId id="366" r:id="rId26"/>
    <p:sldId id="367" r:id="rId27"/>
    <p:sldId id="368" r:id="rId28"/>
    <p:sldId id="370" r:id="rId29"/>
    <p:sldId id="371" r:id="rId30"/>
    <p:sldId id="373" r:id="rId31"/>
    <p:sldId id="372" r:id="rId32"/>
    <p:sldId id="374" r:id="rId33"/>
    <p:sldId id="375" r:id="rId34"/>
    <p:sldId id="376" r:id="rId35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FFCC00"/>
    <a:srgbClr val="E800E8"/>
    <a:srgbClr val="FF0000"/>
    <a:srgbClr val="FFFF00"/>
    <a:srgbClr val="FF66FF"/>
    <a:srgbClr val="FFB895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60" autoAdjust="0"/>
  </p:normalViewPr>
  <p:slideViewPr>
    <p:cSldViewPr>
      <p:cViewPr>
        <p:scale>
          <a:sx n="80" d="100"/>
          <a:sy n="80" d="100"/>
        </p:scale>
        <p:origin x="-510" y="-276"/>
      </p:cViewPr>
      <p:guideLst>
        <p:guide orient="horz" pos="3430"/>
        <p:guide orient="horz" pos="3456"/>
        <p:guide orient="horz" pos="3312"/>
        <p:guide pos="2411"/>
        <p:guide pos="25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186"/>
    </p:cViewPr>
  </p:sorterViewPr>
  <p:notesViewPr>
    <p:cSldViewPr>
      <p:cViewPr varScale="1">
        <p:scale>
          <a:sx n="35" d="100"/>
          <a:sy n="35" d="100"/>
        </p:scale>
        <p:origin x="-1320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jpeg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4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751829A-29A7-4868-B31B-1AE175DC9509}" type="datetimeFigureOut">
              <a:rPr lang="en-US"/>
              <a:pPr>
                <a:defRPr/>
              </a:pPr>
              <a:t>3/31/2015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2CB3BB6-51FF-4AE3-8A6D-5D672416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26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4655029-E7B0-471E-A869-2A430C1554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907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16AF3-4641-4495-9984-F0E7CCF99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1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9E2D0-CF3D-4E36-B804-6EDAD07B4C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C9DE0-7941-4824-AEE1-D78C6C18CF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1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28E73A-F00C-4D6D-B749-925FECAA65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D10CF-BB49-44E4-B181-971742B96A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9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D5C62-813A-4F0B-B009-5014CA237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9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4E191-DE57-473D-974D-646404912B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6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D7671-DE20-4CD8-878D-B96B91FFA5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8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FDC41-1996-4425-BD51-323EEDF68D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1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3D8C6-9FB3-4B27-B465-3EA2552D67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8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D6405-0BE0-409F-8987-B91535889B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BD1B7"/>
            </a:gs>
            <a:gs pos="50000">
              <a:srgbClr val="FFB895"/>
            </a:gs>
            <a:gs pos="100000">
              <a:srgbClr val="EBD1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B6F9ACDF-F971-45A2-9C37-A1FDE36AC5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16.wmf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3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11-1%20Labels" TargetMode="Externa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6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8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5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44.jpeg"/><Relationship Id="rId4" Type="http://schemas.openxmlformats.org/officeDocument/2006/relationships/image" Target="../media/image4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4.jpeg"/><Relationship Id="rId4" Type="http://schemas.openxmlformats.org/officeDocument/2006/relationships/image" Target="../media/image4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E46D4CA1-D0BE-4D5F-9BD9-A07399EB1EC6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2819400"/>
            <a:ext cx="7772400" cy="2895600"/>
          </a:xfrm>
          <a:effectLst>
            <a:outerShdw dist="35921" dir="18900000" algn="ctr" rotWithShape="0">
              <a:schemeClr val="bg2"/>
            </a:outerShdw>
          </a:effectLst>
        </p:spPr>
        <p:txBody>
          <a:bodyPr/>
          <a:lstStyle/>
          <a:p>
            <a:r>
              <a:rPr lang="en-US" altLang="en-US" sz="6600" dirty="0" smtClean="0"/>
              <a:t>Type II Error, Power and Sample Size Calculations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1143000"/>
            <a:ext cx="6400800" cy="762000"/>
          </a:xfrm>
        </p:spPr>
        <p:txBody>
          <a:bodyPr/>
          <a:lstStyle/>
          <a:p>
            <a:r>
              <a:rPr lang="en-US" altLang="en-US" sz="4400" b="1" smtClean="0"/>
              <a:t>Chapter 23 Inference for Means: Part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F0C4488D-0D18-445A-B166-6549F949EDB0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8435" name="Rectangle 5"/>
          <p:cNvSpPr>
            <a:spLocks noGrp="1" noChangeArrowheads="1"/>
          </p:cNvSpPr>
          <p:nvPr>
            <p:ph type="title"/>
          </p:nvPr>
        </p:nvSpPr>
        <p:spPr>
          <a:xfrm>
            <a:off x="250825" y="457200"/>
            <a:ext cx="8697913" cy="1143000"/>
          </a:xfrm>
          <a:noFill/>
        </p:spPr>
        <p:txBody>
          <a:bodyPr/>
          <a:lstStyle/>
          <a:p>
            <a:pPr>
              <a:tabLst>
                <a:tab pos="1138238" algn="l"/>
              </a:tabLst>
            </a:pPr>
            <a:r>
              <a:rPr lang="en-US" altLang="en-US" sz="3900" smtClean="0"/>
              <a:t>Hypothesis Testing for </a:t>
            </a:r>
            <a:r>
              <a:rPr lang="en-US" altLang="en-US" sz="3900" smtClean="0">
                <a:sym typeface="Mathematica1" pitchFamily="2" charset="2"/>
              </a:rPr>
              <a:t>, Type II Error Probabilities (Right-tail example)</a:t>
            </a:r>
            <a:endParaRPr lang="en-US" altLang="en-US" sz="3900" smtClean="0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685800" y="1828800"/>
            <a:ext cx="8153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r>
              <a:rPr lang="en-US" altLang="en-US" b="0"/>
              <a:t>Example</a:t>
            </a:r>
          </a:p>
          <a:p>
            <a:pPr lvl="1"/>
            <a:r>
              <a:rPr lang="en-US" altLang="en-US" sz="2700" b="0"/>
              <a:t>A new billing system for a department store will be cost- effective only if the mean monthly account is more than $170.</a:t>
            </a:r>
          </a:p>
          <a:p>
            <a:pPr lvl="1"/>
            <a:r>
              <a:rPr lang="en-US" altLang="en-US" sz="2700" b="0"/>
              <a:t>A sample of 400 accounts has a mean of $174 and s = $65.</a:t>
            </a:r>
          </a:p>
          <a:p>
            <a:pPr lvl="1"/>
            <a:r>
              <a:rPr lang="en-US" altLang="en-US" sz="2700" b="0"/>
              <a:t>Can we conclude that the new system will be cost effective?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0624963-AE19-4D48-B776-405D2D931842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49288" y="1524000"/>
            <a:ext cx="7772400" cy="2514600"/>
          </a:xfrm>
        </p:spPr>
        <p:txBody>
          <a:bodyPr/>
          <a:lstStyle/>
          <a:p>
            <a:r>
              <a:rPr lang="en-US" altLang="en-US" smtClean="0"/>
              <a:t>Hypotheses</a:t>
            </a:r>
          </a:p>
          <a:p>
            <a:pPr lvl="1"/>
            <a:r>
              <a:rPr lang="en-US" altLang="en-US" smtClean="0"/>
              <a:t>The population of interest is the credit accounts at the store.</a:t>
            </a:r>
          </a:p>
          <a:p>
            <a:pPr lvl="1"/>
            <a:r>
              <a:rPr lang="en-US" altLang="en-US" smtClean="0"/>
              <a:t>We want to know whether the mean account for all customers is greater than $170.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810000" y="4695825"/>
            <a:ext cx="1795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H</a:t>
            </a:r>
            <a:r>
              <a:rPr lang="en-US" altLang="en-US" sz="2800" b="0" baseline="-25000">
                <a:solidFill>
                  <a:schemeClr val="tx1"/>
                </a:solidFill>
              </a:rPr>
              <a:t>A</a:t>
            </a:r>
            <a:r>
              <a:rPr lang="en-US" altLang="en-US" sz="2800" b="0">
                <a:solidFill>
                  <a:schemeClr val="tx1"/>
                </a:solidFill>
              </a:rPr>
              <a:t> : </a:t>
            </a:r>
            <a:r>
              <a:rPr lang="en-US" altLang="en-US" sz="2800" b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altLang="en-US" sz="2800" b="0">
                <a:solidFill>
                  <a:schemeClr val="tx1"/>
                </a:solidFill>
              </a:rPr>
              <a:t> &gt; 170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85800" y="5410200"/>
            <a:ext cx="7772400" cy="74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 algn="l">
              <a:spcBef>
                <a:spcPct val="20000"/>
              </a:spcBef>
              <a:buFontTx/>
              <a:buChar char="–"/>
              <a:defRPr/>
            </a:pPr>
            <a:r>
              <a:rPr lang="en-US" sz="2800" b="0" dirty="0">
                <a:solidFill>
                  <a:schemeClr val="accent2"/>
                </a:solidFill>
                <a:latin typeface="+mn-lt"/>
              </a:rPr>
              <a:t>Where </a:t>
            </a:r>
            <a:r>
              <a:rPr lang="en-US" sz="2800" b="0" dirty="0">
                <a:solidFill>
                  <a:schemeClr val="accent2"/>
                </a:solidFill>
                <a:latin typeface="Symbol" charset="2"/>
              </a:rPr>
              <a:t>m </a:t>
            </a:r>
            <a:r>
              <a:rPr lang="en-US" sz="2800" b="0" dirty="0">
                <a:solidFill>
                  <a:schemeClr val="accent2"/>
                </a:solidFill>
                <a:latin typeface="+mn-lt"/>
              </a:rPr>
              <a:t>is the mean account value for all customers</a:t>
            </a:r>
            <a:endParaRPr lang="en-US" sz="2800" b="0" dirty="0">
              <a:solidFill>
                <a:schemeClr val="accent2"/>
              </a:solidFill>
            </a:endParaRPr>
          </a:p>
        </p:txBody>
      </p:sp>
      <p:sp>
        <p:nvSpPr>
          <p:cNvPr id="19462" name="Rectangle 7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97913" cy="1066800"/>
          </a:xfrm>
          <a:noFill/>
        </p:spPr>
        <p:txBody>
          <a:bodyPr/>
          <a:lstStyle/>
          <a:p>
            <a:pPr>
              <a:tabLst>
                <a:tab pos="454025" algn="l"/>
              </a:tabLst>
            </a:pPr>
            <a:r>
              <a:rPr lang="en-US" altLang="en-US" sz="3600" smtClean="0"/>
              <a:t>	Example (cont.)</a:t>
            </a:r>
          </a:p>
        </p:txBody>
      </p:sp>
      <p:sp>
        <p:nvSpPr>
          <p:cNvPr id="19463" name="TextBox 1"/>
          <p:cNvSpPr txBox="1">
            <a:spLocks noChangeArrowheads="1"/>
          </p:cNvSpPr>
          <p:nvPr/>
        </p:nvSpPr>
        <p:spPr bwMode="auto">
          <a:xfrm>
            <a:off x="3581400" y="4038600"/>
            <a:ext cx="198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H</a:t>
            </a:r>
            <a:r>
              <a:rPr lang="en-US" altLang="en-US" sz="2800" b="0" baseline="-25000">
                <a:solidFill>
                  <a:schemeClr val="tx1"/>
                </a:solidFill>
              </a:rPr>
              <a:t>0</a:t>
            </a:r>
            <a:r>
              <a:rPr lang="en-US" altLang="en-US" sz="2800" b="0">
                <a:solidFill>
                  <a:schemeClr val="tx1"/>
                </a:solidFill>
              </a:rPr>
              <a:t> : </a:t>
            </a:r>
            <a:r>
              <a:rPr lang="en-US" altLang="en-US" sz="2800" b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altLang="en-US" sz="2800" b="0">
                <a:solidFill>
                  <a:schemeClr val="tx1"/>
                </a:solidFill>
              </a:rPr>
              <a:t> = 170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1024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1A428ED5-9E1D-4E06-BF86-76C764AFD466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77200" cy="1600200"/>
          </a:xfrm>
        </p:spPr>
        <p:txBody>
          <a:bodyPr/>
          <a:lstStyle/>
          <a:p>
            <a:pPr lvl="1">
              <a:lnSpc>
                <a:spcPct val="90000"/>
              </a:lnSpc>
              <a:defRPr/>
            </a:pPr>
            <a:r>
              <a:rPr lang="en-US" sz="3200" dirty="0" smtClean="0"/>
              <a:t>Test statistic: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sz="3200" dirty="0" smtClean="0"/>
              <a:t>		H</a:t>
            </a:r>
            <a:r>
              <a:rPr lang="en-US" sz="3200" baseline="-25000" dirty="0" smtClean="0"/>
              <a:t>0</a:t>
            </a:r>
            <a:r>
              <a:rPr lang="en-US" sz="3200" dirty="0" smtClean="0"/>
              <a:t> : </a:t>
            </a:r>
            <a:r>
              <a:rPr lang="en-US" sz="3200" dirty="0" smtClean="0">
                <a:latin typeface="Symbol" charset="2"/>
              </a:rPr>
              <a:t>m</a:t>
            </a:r>
            <a:r>
              <a:rPr lang="en-US" sz="3200" dirty="0" smtClean="0"/>
              <a:t> = 170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sz="3200" dirty="0" smtClean="0"/>
              <a:t>		H</a:t>
            </a:r>
            <a:r>
              <a:rPr lang="en-US" sz="3200" baseline="-25000" dirty="0" smtClean="0"/>
              <a:t>A</a:t>
            </a:r>
            <a:r>
              <a:rPr lang="en-US" sz="3200" dirty="0" smtClean="0"/>
              <a:t> : </a:t>
            </a:r>
            <a:r>
              <a:rPr lang="en-US" sz="3200" dirty="0" smtClean="0">
                <a:latin typeface="Symbol" charset="2"/>
              </a:rPr>
              <a:t>m</a:t>
            </a:r>
            <a:r>
              <a:rPr lang="en-US" sz="3200" dirty="0" smtClean="0"/>
              <a:t> &gt; 170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endParaRPr lang="en-US" dirty="0" smtClean="0"/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endParaRPr lang="en-US" dirty="0" smtClean="0"/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922463" y="4114800"/>
          <a:ext cx="4789487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3" imgW="1790700" imgH="444500" progId="Equation.DSMT4">
                  <p:embed/>
                </p:oleObj>
              </mc:Choice>
              <mc:Fallback>
                <p:oleObj name="Equation" r:id="rId3" imgW="17907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4114800"/>
                        <a:ext cx="4789487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  <a:noFill/>
        </p:spPr>
        <p:txBody>
          <a:bodyPr/>
          <a:lstStyle/>
          <a:p>
            <a:r>
              <a:rPr lang="en-US" altLang="en-US" sz="4000" smtClean="0"/>
              <a:t>Example (cont.)</a:t>
            </a:r>
          </a:p>
        </p:txBody>
      </p:sp>
      <p:graphicFrame>
        <p:nvGraphicFramePr>
          <p:cNvPr id="20486" name="Object 1"/>
          <p:cNvGraphicFramePr>
            <a:graphicFrameLocks noChangeAspect="1"/>
          </p:cNvGraphicFramePr>
          <p:nvPr/>
        </p:nvGraphicFramePr>
        <p:xfrm>
          <a:off x="2743200" y="3048000"/>
          <a:ext cx="2781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5" imgW="926698" imgH="203112" progId="Equation.DSMT4">
                  <p:embed/>
                </p:oleObj>
              </mc:Choice>
              <mc:Fallback>
                <p:oleObj name="Equation" r:id="rId5" imgW="926698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048000"/>
                        <a:ext cx="2781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F8C00254-0AF1-458A-80AC-FD23910AD9C4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507" name="Line 27"/>
          <p:cNvSpPr>
            <a:spLocks noChangeShapeType="1"/>
          </p:cNvSpPr>
          <p:nvPr/>
        </p:nvSpPr>
        <p:spPr bwMode="auto">
          <a:xfrm flipV="1">
            <a:off x="503238" y="5427663"/>
            <a:ext cx="2700337" cy="0"/>
          </a:xfrm>
          <a:prstGeom prst="line">
            <a:avLst/>
          </a:prstGeom>
          <a:noFill/>
          <a:ln w="57150">
            <a:solidFill>
              <a:srgbClr val="FFB895"/>
            </a:solid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B895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2263775" y="2963863"/>
          <a:ext cx="46291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" name="Equation" r:id="rId3" imgW="1955800" imgH="228600" progId="Equation.DSMT4">
                  <p:embed/>
                </p:oleObj>
              </mc:Choice>
              <mc:Fallback>
                <p:oleObj name="Equation" r:id="rId3" imgW="19558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2963863"/>
                        <a:ext cx="46291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91581" dir="19578596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Line 13"/>
          <p:cNvSpPr>
            <a:spLocks noChangeShapeType="1"/>
          </p:cNvSpPr>
          <p:nvPr/>
        </p:nvSpPr>
        <p:spPr bwMode="auto">
          <a:xfrm flipV="1">
            <a:off x="1920875" y="3373438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10" name="Group 14"/>
          <p:cNvGrpSpPr>
            <a:grpSpLocks/>
          </p:cNvGrpSpPr>
          <p:nvPr/>
        </p:nvGrpSpPr>
        <p:grpSpPr bwMode="auto">
          <a:xfrm>
            <a:off x="1787525" y="5195888"/>
            <a:ext cx="268288" cy="539750"/>
            <a:chOff x="2723" y="2304"/>
            <a:chExt cx="169" cy="340"/>
          </a:xfrm>
        </p:grpSpPr>
        <p:sp>
          <p:nvSpPr>
            <p:cNvPr id="21525" name="Line 15"/>
            <p:cNvSpPr>
              <a:spLocks noChangeShapeType="1"/>
            </p:cNvSpPr>
            <p:nvPr/>
          </p:nvSpPr>
          <p:spPr bwMode="auto">
            <a:xfrm>
              <a:off x="2784" y="2304"/>
              <a:ext cx="0" cy="144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26" name="Object 16"/>
            <p:cNvGraphicFramePr>
              <a:graphicFrameLocks noChangeAspect="1"/>
            </p:cNvGraphicFramePr>
            <p:nvPr/>
          </p:nvGraphicFramePr>
          <p:xfrm>
            <a:off x="2723" y="2408"/>
            <a:ext cx="16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9" name="Equation" r:id="rId5" imgW="126725" imgH="177415" progId="Equation.DSMT4">
                    <p:embed/>
                  </p:oleObj>
                </mc:Choice>
                <mc:Fallback>
                  <p:oleObj name="Equation" r:id="rId5" imgW="126725" imgH="17741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2408"/>
                          <a:ext cx="16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31" name="Group 55"/>
          <p:cNvGrpSpPr>
            <a:grpSpLocks/>
          </p:cNvGrpSpPr>
          <p:nvPr/>
        </p:nvGrpSpPr>
        <p:grpSpPr bwMode="auto">
          <a:xfrm>
            <a:off x="1951038" y="5334000"/>
            <a:ext cx="1103312" cy="758825"/>
            <a:chOff x="1584" y="3723"/>
            <a:chExt cx="695" cy="478"/>
          </a:xfrm>
        </p:grpSpPr>
        <p:sp>
          <p:nvSpPr>
            <p:cNvPr id="21523" name="Line 18"/>
            <p:cNvSpPr>
              <a:spLocks noChangeShapeType="1"/>
            </p:cNvSpPr>
            <p:nvPr/>
          </p:nvSpPr>
          <p:spPr bwMode="auto">
            <a:xfrm flipH="1" flipV="1">
              <a:off x="2033" y="3723"/>
              <a:ext cx="142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24" name="Object 33"/>
            <p:cNvGraphicFramePr>
              <a:graphicFrameLocks noChangeAspect="1"/>
            </p:cNvGraphicFramePr>
            <p:nvPr/>
          </p:nvGraphicFramePr>
          <p:xfrm>
            <a:off x="1584" y="3953"/>
            <a:ext cx="695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0" name="Equation" r:id="rId7" imgW="494870" imgH="177646" progId="Equation.DSMT4">
                    <p:embed/>
                  </p:oleObj>
                </mc:Choice>
                <mc:Fallback>
                  <p:oleObj name="Equation" r:id="rId7" imgW="494870" imgH="177646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953"/>
                          <a:ext cx="695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A3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FF000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2" name="Text Box 34"/>
          <p:cNvSpPr txBox="1">
            <a:spLocks noChangeArrowheads="1"/>
          </p:cNvSpPr>
          <p:nvPr/>
        </p:nvSpPr>
        <p:spPr bwMode="auto">
          <a:xfrm>
            <a:off x="1314450" y="1447800"/>
            <a:ext cx="6153150" cy="13843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/>
              <a:t>P-value: The probability of observing a value of the test statistic as extreme or more extreme then t = 1.23, given that </a:t>
            </a:r>
            <a:r>
              <a:rPr lang="en-US" altLang="en-US" sz="2800" b="0">
                <a:latin typeface="Symbol" charset="2"/>
              </a:rPr>
              <a:t>m</a:t>
            </a:r>
            <a:r>
              <a:rPr lang="en-US" altLang="en-US" sz="2800" b="0"/>
              <a:t> = 170 is…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2589213" y="4981575"/>
            <a:ext cx="304800" cy="315913"/>
          </a:xfrm>
          <a:custGeom>
            <a:avLst/>
            <a:gdLst>
              <a:gd name="T0" fmla="*/ 2147483647 w 144"/>
              <a:gd name="T1" fmla="*/ 2147483647 h 144"/>
              <a:gd name="T2" fmla="*/ 2147483647 w 144"/>
              <a:gd name="T3" fmla="*/ 2147483647 h 144"/>
              <a:gd name="T4" fmla="*/ 0 w 144"/>
              <a:gd name="T5" fmla="*/ 0 h 144"/>
              <a:gd name="T6" fmla="*/ 0 w 144"/>
              <a:gd name="T7" fmla="*/ 2147483647 h 144"/>
              <a:gd name="T8" fmla="*/ 2147483647 w 144"/>
              <a:gd name="T9" fmla="*/ 2147483647 h 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144">
                <a:moveTo>
                  <a:pt x="144" y="144"/>
                </a:moveTo>
                <a:lnTo>
                  <a:pt x="48" y="96"/>
                </a:lnTo>
                <a:lnTo>
                  <a:pt x="0" y="0"/>
                </a:lnTo>
                <a:lnTo>
                  <a:pt x="0" y="144"/>
                </a:lnTo>
                <a:lnTo>
                  <a:pt x="144" y="144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1" name="Line 45"/>
          <p:cNvSpPr>
            <a:spLocks noChangeShapeType="1"/>
          </p:cNvSpPr>
          <p:nvPr/>
        </p:nvSpPr>
        <p:spPr bwMode="auto">
          <a:xfrm flipV="1">
            <a:off x="2776538" y="3506788"/>
            <a:ext cx="3167062" cy="14747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Line 50"/>
          <p:cNvSpPr>
            <a:spLocks noChangeShapeType="1"/>
          </p:cNvSpPr>
          <p:nvPr/>
        </p:nvSpPr>
        <p:spPr bwMode="auto">
          <a:xfrm>
            <a:off x="750888" y="5313363"/>
            <a:ext cx="22479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6" name="Rectangle 51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noFill/>
        </p:spPr>
        <p:txBody>
          <a:bodyPr/>
          <a:lstStyle/>
          <a:p>
            <a:r>
              <a:rPr lang="en-US" altLang="en-US" sz="4000" smtClean="0"/>
              <a:t>Example (cont.)</a:t>
            </a:r>
            <a:endParaRPr lang="en-US" altLang="en-US" sz="4000" b="0" smtClean="0"/>
          </a:p>
        </p:txBody>
      </p:sp>
      <p:grpSp>
        <p:nvGrpSpPr>
          <p:cNvPr id="21517" name="Group 28"/>
          <p:cNvGrpSpPr>
            <a:grpSpLocks/>
          </p:cNvGrpSpPr>
          <p:nvPr/>
        </p:nvGrpSpPr>
        <p:grpSpPr bwMode="auto">
          <a:xfrm>
            <a:off x="808038" y="3373438"/>
            <a:ext cx="2209800" cy="1905000"/>
            <a:chOff x="1776" y="1008"/>
            <a:chExt cx="2256" cy="1008"/>
          </a:xfrm>
        </p:grpSpPr>
        <p:sp>
          <p:nvSpPr>
            <p:cNvPr id="21521" name="Freeform 29"/>
            <p:cNvSpPr>
              <a:spLocks/>
            </p:cNvSpPr>
            <p:nvPr/>
          </p:nvSpPr>
          <p:spPr bwMode="auto">
            <a:xfrm>
              <a:off x="1776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522" name="Freeform 30"/>
            <p:cNvSpPr>
              <a:spLocks/>
            </p:cNvSpPr>
            <p:nvPr/>
          </p:nvSpPr>
          <p:spPr bwMode="auto">
            <a:xfrm flipH="1">
              <a:off x="2880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1518" name="TextBox 1"/>
          <p:cNvSpPr txBox="1">
            <a:spLocks noChangeArrowheads="1"/>
          </p:cNvSpPr>
          <p:nvPr/>
        </p:nvSpPr>
        <p:spPr bwMode="auto">
          <a:xfrm>
            <a:off x="808038" y="3276600"/>
            <a:ext cx="704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t</a:t>
            </a:r>
            <a:r>
              <a:rPr lang="en-US" altLang="en-US" sz="2400" baseline="-25000">
                <a:solidFill>
                  <a:schemeClr val="tx1"/>
                </a:solidFill>
              </a:rPr>
              <a:t>399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341813" y="4325938"/>
            <a:ext cx="47244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Since the P-value &gt; .05, we conclude that there is not sufficient evidence to reject H</a:t>
            </a:r>
            <a:r>
              <a:rPr lang="en-US" altLang="en-US" sz="2400" baseline="-25000">
                <a:solidFill>
                  <a:schemeClr val="tx1"/>
                </a:solidFill>
              </a:rPr>
              <a:t>0</a:t>
            </a:r>
            <a:r>
              <a:rPr lang="en-US" altLang="en-US" sz="2400">
                <a:solidFill>
                  <a:schemeClr val="tx1"/>
                </a:solidFill>
              </a:rPr>
              <a:t> : </a:t>
            </a:r>
            <a:r>
              <a:rPr lang="en-US" altLang="en-US" sz="2400">
                <a:solidFill>
                  <a:schemeClr val="tx1"/>
                </a:solidFill>
                <a:sym typeface="Mathematica1" pitchFamily="2" charset="2"/>
              </a:rPr>
              <a:t>=170.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962400" y="5532438"/>
            <a:ext cx="4038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Type II error is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4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19" grpId="0" animBg="1"/>
      <p:bldP spid="24621" grpId="0" animBg="1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6450FF8-8608-44D5-BFA3-D3209B059638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458200" cy="1143000"/>
          </a:xfrm>
        </p:spPr>
        <p:txBody>
          <a:bodyPr/>
          <a:lstStyle/>
          <a:p>
            <a:r>
              <a:rPr lang="en-US" altLang="en-US" sz="4000" smtClean="0"/>
              <a:t>Calculating </a:t>
            </a:r>
            <a:r>
              <a:rPr lang="en-US" altLang="en-US" sz="4000" smtClean="0">
                <a:sym typeface="Mathematica1" pitchFamily="2" charset="2"/>
              </a:rPr>
              <a:t>,</a:t>
            </a:r>
            <a:r>
              <a:rPr lang="en-US" altLang="en-US" sz="4000" smtClean="0"/>
              <a:t> the Probability of a</a:t>
            </a:r>
            <a:br>
              <a:rPr lang="en-US" altLang="en-US" sz="4000" smtClean="0"/>
            </a:br>
            <a:r>
              <a:rPr lang="en-US" altLang="en-US" sz="4000" smtClean="0"/>
              <a:t>Type II Error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Calculating </a:t>
            </a:r>
            <a:r>
              <a:rPr lang="en-US" altLang="en-US" smtClean="0">
                <a:sym typeface="Mathematica1" pitchFamily="2" charset="2"/>
              </a:rPr>
              <a:t> for the </a:t>
            </a:r>
            <a:r>
              <a:rPr lang="en-US" altLang="en-US" i="1" smtClean="0">
                <a:sym typeface="Mathematica1" pitchFamily="2" charset="2"/>
              </a:rPr>
              <a:t>t</a:t>
            </a:r>
            <a:r>
              <a:rPr lang="en-US" altLang="en-US" smtClean="0">
                <a:sym typeface="Mathematica1" pitchFamily="2" charset="2"/>
              </a:rPr>
              <a:t> test is not at all straightforward and is beyond the level of this course</a:t>
            </a:r>
          </a:p>
          <a:p>
            <a:pPr lvl="1"/>
            <a:r>
              <a:rPr lang="en-US" altLang="en-US" smtClean="0">
                <a:sym typeface="Mathematica1" pitchFamily="2" charset="2"/>
              </a:rPr>
              <a:t>The distribution of the test statistic </a:t>
            </a:r>
            <a:r>
              <a:rPr lang="en-US" altLang="en-US" i="1" smtClean="0">
                <a:sym typeface="Mathematica1" pitchFamily="2" charset="2"/>
              </a:rPr>
              <a:t>t</a:t>
            </a:r>
            <a:r>
              <a:rPr lang="en-US" altLang="en-US" smtClean="0">
                <a:sym typeface="Mathematica1" pitchFamily="2" charset="2"/>
              </a:rPr>
              <a:t> is quite complicated when H</a:t>
            </a:r>
            <a:r>
              <a:rPr lang="en-US" altLang="en-US" baseline="-25000" smtClean="0">
                <a:sym typeface="Mathematica1" pitchFamily="2" charset="2"/>
              </a:rPr>
              <a:t>0</a:t>
            </a:r>
            <a:r>
              <a:rPr lang="en-US" altLang="en-US" smtClean="0">
                <a:sym typeface="Mathematica1" pitchFamily="2" charset="2"/>
              </a:rPr>
              <a:t> is false and H</a:t>
            </a:r>
            <a:r>
              <a:rPr lang="en-US" altLang="en-US" baseline="-25000" smtClean="0">
                <a:sym typeface="Mathematica1" pitchFamily="2" charset="2"/>
              </a:rPr>
              <a:t>A</a:t>
            </a:r>
            <a:r>
              <a:rPr lang="en-US" altLang="en-US" smtClean="0">
                <a:sym typeface="Mathematica1" pitchFamily="2" charset="2"/>
              </a:rPr>
              <a:t> is true</a:t>
            </a:r>
          </a:p>
          <a:p>
            <a:pPr lvl="1"/>
            <a:r>
              <a:rPr lang="en-US" altLang="en-US" b="1" smtClean="0">
                <a:sym typeface="Mathematica1" pitchFamily="2" charset="2"/>
              </a:rPr>
              <a:t>However</a:t>
            </a:r>
            <a:r>
              <a:rPr lang="en-US" altLang="en-US" smtClean="0">
                <a:sym typeface="Mathematica1" pitchFamily="2" charset="2"/>
              </a:rPr>
              <a:t>, we can obtain very good approximate values for  using </a:t>
            </a:r>
            <a:r>
              <a:rPr lang="en-US" altLang="en-US" i="1" smtClean="0">
                <a:sym typeface="Mathematica1" pitchFamily="2" charset="2"/>
              </a:rPr>
              <a:t>z</a:t>
            </a:r>
            <a:r>
              <a:rPr lang="en-US" altLang="en-US" smtClean="0">
                <a:sym typeface="Mathematica1" pitchFamily="2" charset="2"/>
              </a:rPr>
              <a:t> (the standard normal) in place of </a:t>
            </a:r>
            <a:r>
              <a:rPr lang="en-US" altLang="en-US" i="1" smtClean="0">
                <a:sym typeface="Mathematica1" pitchFamily="2" charset="2"/>
              </a:rPr>
              <a:t>t</a:t>
            </a:r>
            <a:r>
              <a:rPr lang="en-US" altLang="en-US" smtClean="0">
                <a:sym typeface="Mathematica1" pitchFamily="2" charset="2"/>
              </a:rPr>
              <a:t>.</a:t>
            </a:r>
            <a:endParaRPr lang="en-US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8908540-E576-4976-862C-C75F66ABC68F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Calculating </a:t>
            </a:r>
            <a:r>
              <a:rPr lang="en-US" altLang="en-US" sz="4000" smtClean="0">
                <a:sym typeface="Mathematica1" pitchFamily="2" charset="2"/>
              </a:rPr>
              <a:t>,</a:t>
            </a:r>
            <a:r>
              <a:rPr lang="en-US" altLang="en-US" sz="4000" smtClean="0"/>
              <a:t> the Probability of a</a:t>
            </a:r>
            <a:br>
              <a:rPr lang="en-US" altLang="en-US" sz="4000" smtClean="0"/>
            </a:br>
            <a:r>
              <a:rPr lang="en-US" altLang="en-US" sz="4000" smtClean="0"/>
              <a:t>Type II Error (cont.)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We need to</a:t>
            </a:r>
          </a:p>
          <a:p>
            <a:pPr marL="971550" lvl="1" indent="-514350">
              <a:buFont typeface="Arial Narrow" pitchFamily="34" charset="0"/>
              <a:buAutoNum type="arabicPeriod"/>
            </a:pPr>
            <a:r>
              <a:rPr lang="en-US" altLang="en-US" smtClean="0"/>
              <a:t>specify an appropriate significance level </a:t>
            </a:r>
            <a:r>
              <a:rPr lang="en-US" altLang="en-US" smtClean="0">
                <a:sym typeface="Mathematica1" pitchFamily="2" charset="2"/>
              </a:rPr>
              <a:t></a:t>
            </a:r>
            <a:r>
              <a:rPr lang="en-US" altLang="en-US" smtClean="0"/>
              <a:t>;</a:t>
            </a:r>
          </a:p>
          <a:p>
            <a:pPr marL="971550" lvl="1" indent="-514350">
              <a:buFont typeface="Arial Narrow" pitchFamily="34" charset="0"/>
              <a:buAutoNum type="arabicPeriod"/>
            </a:pPr>
            <a:r>
              <a:rPr lang="en-US" altLang="en-US" smtClean="0"/>
              <a:t>Determine the rejection region in terms of z</a:t>
            </a:r>
          </a:p>
          <a:p>
            <a:pPr marL="971550" lvl="1" indent="-514350">
              <a:buFont typeface="Arial Narrow" pitchFamily="34" charset="0"/>
              <a:buAutoNum type="arabicPeriod"/>
            </a:pPr>
            <a:r>
              <a:rPr lang="en-US" altLang="en-US" smtClean="0"/>
              <a:t>Then calculate the probability of not being in the rejection when </a:t>
            </a:r>
            <a:r>
              <a:rPr lang="en-US" altLang="en-US" smtClean="0">
                <a:sym typeface="Mathematica1" pitchFamily="2" charset="2"/>
              </a:rPr>
              <a:t> = </a:t>
            </a:r>
            <a:r>
              <a:rPr lang="en-US" altLang="en-US" baseline="-25000" smtClean="0">
                <a:sym typeface="Mathematica1" pitchFamily="2" charset="2"/>
              </a:rPr>
              <a:t>1</a:t>
            </a:r>
            <a:r>
              <a:rPr lang="en-US" altLang="en-US" smtClean="0">
                <a:sym typeface="Mathematica1" pitchFamily="2" charset="2"/>
              </a:rPr>
              <a:t>, where </a:t>
            </a:r>
            <a:r>
              <a:rPr lang="en-US" altLang="en-US" baseline="-25000" smtClean="0">
                <a:sym typeface="Mathematica1" pitchFamily="2" charset="2"/>
              </a:rPr>
              <a:t>1</a:t>
            </a:r>
            <a:r>
              <a:rPr lang="en-US" altLang="en-US" smtClean="0">
                <a:sym typeface="Mathematica1" pitchFamily="2" charset="2"/>
              </a:rPr>
              <a:t> is a value of  that makes H</a:t>
            </a:r>
            <a:r>
              <a:rPr lang="en-US" altLang="en-US" baseline="-25000" smtClean="0">
                <a:sym typeface="Mathematica1" pitchFamily="2" charset="2"/>
              </a:rPr>
              <a:t>A</a:t>
            </a:r>
            <a:r>
              <a:rPr lang="en-US" altLang="en-US" smtClean="0">
                <a:sym typeface="Mathematica1" pitchFamily="2" charset="2"/>
              </a:rPr>
              <a:t> true.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9232855-979C-4DD9-A3F6-763A3CDEDB05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77200" cy="1600200"/>
          </a:xfrm>
        </p:spPr>
        <p:txBody>
          <a:bodyPr/>
          <a:lstStyle/>
          <a:p>
            <a:pPr lvl="1">
              <a:lnSpc>
                <a:spcPct val="90000"/>
              </a:lnSpc>
              <a:defRPr/>
            </a:pPr>
            <a:r>
              <a:rPr lang="en-US" sz="3200" dirty="0" smtClean="0"/>
              <a:t>Test statistic: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sz="3200" dirty="0" smtClean="0"/>
              <a:t>		H</a:t>
            </a:r>
            <a:r>
              <a:rPr lang="en-US" sz="3200" baseline="-25000" dirty="0" smtClean="0"/>
              <a:t>0</a:t>
            </a:r>
            <a:r>
              <a:rPr lang="en-US" sz="3200" dirty="0" smtClean="0"/>
              <a:t> : </a:t>
            </a:r>
            <a:r>
              <a:rPr lang="en-US" sz="3200" dirty="0" smtClean="0">
                <a:latin typeface="Symbol" charset="2"/>
              </a:rPr>
              <a:t>m</a:t>
            </a:r>
            <a:r>
              <a:rPr lang="en-US" sz="3200" dirty="0" smtClean="0"/>
              <a:t> = 170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sz="3200" dirty="0" smtClean="0"/>
              <a:t>		H</a:t>
            </a:r>
            <a:r>
              <a:rPr lang="en-US" sz="3200" baseline="-25000" dirty="0" smtClean="0"/>
              <a:t>A</a:t>
            </a:r>
            <a:r>
              <a:rPr lang="en-US" sz="3200" dirty="0" smtClean="0"/>
              <a:t> : </a:t>
            </a:r>
            <a:r>
              <a:rPr lang="en-US" sz="3200" dirty="0" smtClean="0">
                <a:latin typeface="Symbol" charset="2"/>
              </a:rPr>
              <a:t>m</a:t>
            </a:r>
            <a:r>
              <a:rPr lang="en-US" sz="3200" dirty="0" smtClean="0"/>
              <a:t> &gt; 170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Choose </a:t>
            </a:r>
            <a:r>
              <a:rPr lang="en-US" dirty="0" smtClean="0">
                <a:sym typeface="Mathematica1"/>
              </a:rPr>
              <a:t> = .05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dirty="0" smtClean="0">
                <a:sym typeface="Mathematica1"/>
              </a:rPr>
              <a:t>Rejection region in terms of z: z &gt; z</a:t>
            </a:r>
            <a:r>
              <a:rPr lang="en-US" baseline="-25000" dirty="0" smtClean="0">
                <a:sym typeface="Mathematica1"/>
              </a:rPr>
              <a:t>.05</a:t>
            </a:r>
            <a:r>
              <a:rPr lang="en-US" dirty="0" smtClean="0">
                <a:sym typeface="Mathematica1"/>
              </a:rPr>
              <a:t> = 1.645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  <a:noFill/>
        </p:spPr>
        <p:txBody>
          <a:bodyPr/>
          <a:lstStyle/>
          <a:p>
            <a:r>
              <a:rPr lang="en-US" altLang="en-US" sz="4000" smtClean="0"/>
              <a:t>Example (cont.) calculating </a:t>
            </a:r>
            <a:r>
              <a:rPr lang="en-US" altLang="en-US" sz="4000" smtClean="0">
                <a:sym typeface="Mathematica1" pitchFamily="2" charset="2"/>
              </a:rPr>
              <a:t></a:t>
            </a:r>
            <a:endParaRPr lang="en-US" altLang="en-US" sz="4000" smtClean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52400" y="3810000"/>
          <a:ext cx="4456113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Equation" r:id="rId3" imgW="1930400" imgH="1257300" progId="Equation.DSMT4">
                  <p:embed/>
                </p:oleObj>
              </mc:Choice>
              <mc:Fallback>
                <p:oleObj name="Equation" r:id="rId3" imgW="1930400" imgH="1257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810000"/>
                        <a:ext cx="4456113" cy="2708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2" name="Group 5"/>
          <p:cNvGrpSpPr>
            <a:grpSpLocks/>
          </p:cNvGrpSpPr>
          <p:nvPr/>
        </p:nvGrpSpPr>
        <p:grpSpPr bwMode="auto">
          <a:xfrm>
            <a:off x="5403850" y="3962400"/>
            <a:ext cx="1981200" cy="1600200"/>
            <a:chOff x="1776" y="1008"/>
            <a:chExt cx="2256" cy="1008"/>
          </a:xfrm>
        </p:grpSpPr>
        <p:sp>
          <p:nvSpPr>
            <p:cNvPr id="24591" name="Freeform 6"/>
            <p:cNvSpPr>
              <a:spLocks/>
            </p:cNvSpPr>
            <p:nvPr/>
          </p:nvSpPr>
          <p:spPr bwMode="auto">
            <a:xfrm>
              <a:off x="1776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592" name="Freeform 7"/>
            <p:cNvSpPr>
              <a:spLocks/>
            </p:cNvSpPr>
            <p:nvPr/>
          </p:nvSpPr>
          <p:spPr bwMode="auto">
            <a:xfrm flipH="1">
              <a:off x="2880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4583" name="Text Box 9"/>
          <p:cNvSpPr txBox="1">
            <a:spLocks noChangeArrowheads="1"/>
          </p:cNvSpPr>
          <p:nvPr/>
        </p:nvSpPr>
        <p:spPr bwMode="auto">
          <a:xfrm>
            <a:off x="7408863" y="4479925"/>
            <a:ext cx="407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  <a:latin typeface="Symbol" charset="2"/>
              </a:rPr>
              <a:t>a</a:t>
            </a:r>
            <a:endParaRPr lang="en-US" altLang="en-US" sz="2800" b="0">
              <a:solidFill>
                <a:schemeClr val="tx1"/>
              </a:solidFill>
            </a:endParaRPr>
          </a:p>
        </p:txBody>
      </p:sp>
      <p:sp>
        <p:nvSpPr>
          <p:cNvPr id="24584" name="Line 10"/>
          <p:cNvSpPr>
            <a:spLocks noChangeShapeType="1"/>
          </p:cNvSpPr>
          <p:nvPr/>
        </p:nvSpPr>
        <p:spPr bwMode="auto">
          <a:xfrm flipH="1">
            <a:off x="6927850" y="4953000"/>
            <a:ext cx="5619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Line 11"/>
          <p:cNvSpPr>
            <a:spLocks noChangeShapeType="1"/>
          </p:cNvSpPr>
          <p:nvPr/>
        </p:nvSpPr>
        <p:spPr bwMode="auto">
          <a:xfrm>
            <a:off x="4641850" y="5578475"/>
            <a:ext cx="297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678738" y="4495800"/>
            <a:ext cx="1001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= 0.05</a:t>
            </a:r>
          </a:p>
        </p:txBody>
      </p:sp>
      <p:sp>
        <p:nvSpPr>
          <p:cNvPr id="24587" name="Line 14"/>
          <p:cNvSpPr>
            <a:spLocks noChangeShapeType="1"/>
          </p:cNvSpPr>
          <p:nvPr/>
        </p:nvSpPr>
        <p:spPr bwMode="auto">
          <a:xfrm flipV="1">
            <a:off x="6394450" y="3962400"/>
            <a:ext cx="0" cy="16208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8" name="Object 19"/>
          <p:cNvGraphicFramePr>
            <a:graphicFrameLocks noChangeAspect="1"/>
          </p:cNvGraphicFramePr>
          <p:nvPr/>
        </p:nvGraphicFramePr>
        <p:xfrm>
          <a:off x="6688138" y="5715000"/>
          <a:ext cx="7651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Equation" r:id="rId5" imgW="444114" imgH="177646" progId="Equation.DSMT4">
                  <p:embed/>
                </p:oleObj>
              </mc:Choice>
              <mc:Fallback>
                <p:oleObj name="Equation" r:id="rId5" imgW="444114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8138" y="5715000"/>
                        <a:ext cx="76517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Line 20"/>
          <p:cNvSpPr>
            <a:spLocks noChangeShapeType="1"/>
          </p:cNvSpPr>
          <p:nvPr/>
        </p:nvSpPr>
        <p:spPr bwMode="auto">
          <a:xfrm>
            <a:off x="6796088" y="4710113"/>
            <a:ext cx="0" cy="890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90" name="Object 3"/>
          <p:cNvGraphicFramePr>
            <a:graphicFrameLocks noChangeAspect="1"/>
          </p:cNvGraphicFramePr>
          <p:nvPr/>
        </p:nvGraphicFramePr>
        <p:xfrm>
          <a:off x="6073775" y="5715000"/>
          <a:ext cx="43815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6" name="Equation" r:id="rId7" imgW="253670" imgH="177569" progId="Equation.DSMT4">
                  <p:embed/>
                </p:oleObj>
              </mc:Choice>
              <mc:Fallback>
                <p:oleObj name="Equation" r:id="rId7" imgW="253670" imgH="17756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5715000"/>
                        <a:ext cx="438150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 advAuto="0"/>
      <p:bldP spid="1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DB97B374-7174-4ABE-81AE-98343164D0E4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5603" name="AutoShape 2"/>
          <p:cNvSpPr>
            <a:spLocks noChangeArrowheads="1"/>
          </p:cNvSpPr>
          <p:nvPr/>
        </p:nvSpPr>
        <p:spPr bwMode="auto">
          <a:xfrm>
            <a:off x="5715000" y="914400"/>
            <a:ext cx="3082925" cy="1066800"/>
          </a:xfrm>
          <a:prstGeom prst="cloudCallout">
            <a:avLst>
              <a:gd name="adj1" fmla="val -34861"/>
              <a:gd name="adj2" fmla="val 6711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/>
              <a:t>Express the rejection region </a:t>
            </a:r>
            <a:r>
              <a:rPr lang="en-US" altLang="en-US" sz="1800" b="0" u="sng"/>
              <a:t>directly</a:t>
            </a:r>
            <a:r>
              <a:rPr lang="en-US" altLang="en-US" sz="1800" b="0"/>
              <a:t>, not in standardized terms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444500" y="5459413"/>
            <a:ext cx="4300538" cy="331787"/>
          </a:xfrm>
          <a:prstGeom prst="rect">
            <a:avLst/>
          </a:prstGeom>
          <a:solidFill>
            <a:srgbClr val="FFFF00"/>
          </a:solidFill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grpSp>
        <p:nvGrpSpPr>
          <p:cNvPr id="87044" name="Group 4"/>
          <p:cNvGrpSpPr>
            <a:grpSpLocks/>
          </p:cNvGrpSpPr>
          <p:nvPr/>
        </p:nvGrpSpPr>
        <p:grpSpPr bwMode="auto">
          <a:xfrm>
            <a:off x="838200" y="4370388"/>
            <a:ext cx="5240338" cy="1854200"/>
            <a:chOff x="528" y="2753"/>
            <a:chExt cx="3301" cy="1168"/>
          </a:xfrm>
        </p:grpSpPr>
        <p:sp>
          <p:nvSpPr>
            <p:cNvPr id="25631" name="Freeform 5"/>
            <p:cNvSpPr>
              <a:spLocks/>
            </p:cNvSpPr>
            <p:nvPr/>
          </p:nvSpPr>
          <p:spPr bwMode="auto">
            <a:xfrm>
              <a:off x="2989" y="3360"/>
              <a:ext cx="528" cy="288"/>
            </a:xfrm>
            <a:custGeom>
              <a:avLst/>
              <a:gdLst>
                <a:gd name="T0" fmla="*/ 0 w 528"/>
                <a:gd name="T1" fmla="*/ 0 h 288"/>
                <a:gd name="T2" fmla="*/ 9 w 528"/>
                <a:gd name="T3" fmla="*/ 288 h 288"/>
                <a:gd name="T4" fmla="*/ 528 w 528"/>
                <a:gd name="T5" fmla="*/ 288 h 288"/>
                <a:gd name="T6" fmla="*/ 323 w 528"/>
                <a:gd name="T7" fmla="*/ 240 h 288"/>
                <a:gd name="T8" fmla="*/ 140 w 528"/>
                <a:gd name="T9" fmla="*/ 122 h 288"/>
                <a:gd name="T10" fmla="*/ 0 w 528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8" h="288">
                  <a:moveTo>
                    <a:pt x="0" y="0"/>
                  </a:moveTo>
                  <a:lnTo>
                    <a:pt x="9" y="288"/>
                  </a:lnTo>
                  <a:lnTo>
                    <a:pt x="528" y="288"/>
                  </a:lnTo>
                  <a:lnTo>
                    <a:pt x="323" y="240"/>
                  </a:lnTo>
                  <a:lnTo>
                    <a:pt x="140" y="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5632" name="Object 6"/>
            <p:cNvGraphicFramePr>
              <a:graphicFrameLocks noChangeAspect="1"/>
            </p:cNvGraphicFramePr>
            <p:nvPr/>
          </p:nvGraphicFramePr>
          <p:xfrm>
            <a:off x="2731" y="3760"/>
            <a:ext cx="400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60" name="Equation" r:id="rId3" imgW="444114" imgH="177646" progId="Equation.DSMT4">
                    <p:embed/>
                  </p:oleObj>
                </mc:Choice>
                <mc:Fallback>
                  <p:oleObj name="Equation" r:id="rId3" imgW="444114" imgH="177646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1" y="3760"/>
                          <a:ext cx="400" cy="161"/>
                        </a:xfrm>
                        <a:prstGeom prst="rect">
                          <a:avLst/>
                        </a:prstGeom>
                        <a:noFill/>
                        <a:ln w="63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A3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FF000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33" name="Group 7"/>
            <p:cNvGrpSpPr>
              <a:grpSpLocks/>
            </p:cNvGrpSpPr>
            <p:nvPr/>
          </p:nvGrpSpPr>
          <p:grpSpPr bwMode="auto">
            <a:xfrm>
              <a:off x="528" y="2753"/>
              <a:ext cx="3301" cy="903"/>
              <a:chOff x="528" y="1920"/>
              <a:chExt cx="1739" cy="916"/>
            </a:xfrm>
          </p:grpSpPr>
          <p:grpSp>
            <p:nvGrpSpPr>
              <p:cNvPr id="25635" name="Group 8"/>
              <p:cNvGrpSpPr>
                <a:grpSpLocks/>
              </p:cNvGrpSpPr>
              <p:nvPr/>
            </p:nvGrpSpPr>
            <p:grpSpPr bwMode="auto">
              <a:xfrm>
                <a:off x="549" y="1920"/>
                <a:ext cx="1659" cy="912"/>
                <a:chOff x="1776" y="1008"/>
                <a:chExt cx="2256" cy="1008"/>
              </a:xfrm>
            </p:grpSpPr>
            <p:sp>
              <p:nvSpPr>
                <p:cNvPr id="25644" name="Freeform 9"/>
                <p:cNvSpPr>
                  <a:spLocks/>
                </p:cNvSpPr>
                <p:nvPr/>
              </p:nvSpPr>
              <p:spPr bwMode="auto">
                <a:xfrm>
                  <a:off x="1776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645" name="Freeform 10"/>
                <p:cNvSpPr>
                  <a:spLocks/>
                </p:cNvSpPr>
                <p:nvPr/>
              </p:nvSpPr>
              <p:spPr bwMode="auto">
                <a:xfrm flipH="1">
                  <a:off x="2880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636" name="Group 11"/>
              <p:cNvGrpSpPr>
                <a:grpSpLocks/>
              </p:cNvGrpSpPr>
              <p:nvPr/>
            </p:nvGrpSpPr>
            <p:grpSpPr bwMode="auto">
              <a:xfrm>
                <a:off x="528" y="1920"/>
                <a:ext cx="1739" cy="916"/>
                <a:chOff x="528" y="1920"/>
                <a:chExt cx="1739" cy="916"/>
              </a:xfrm>
            </p:grpSpPr>
            <p:sp>
              <p:nvSpPr>
                <p:cNvPr id="25637" name="Line 12"/>
                <p:cNvSpPr>
                  <a:spLocks noChangeShapeType="1"/>
                </p:cNvSpPr>
                <p:nvPr/>
              </p:nvSpPr>
              <p:spPr bwMode="auto">
                <a:xfrm>
                  <a:off x="1824" y="2544"/>
                  <a:ext cx="0" cy="2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5638" name="Group 13"/>
                <p:cNvGrpSpPr>
                  <a:grpSpLocks/>
                </p:cNvGrpSpPr>
                <p:nvPr/>
              </p:nvGrpSpPr>
              <p:grpSpPr bwMode="auto">
                <a:xfrm>
                  <a:off x="2016" y="2464"/>
                  <a:ext cx="251" cy="262"/>
                  <a:chOff x="1983" y="1590"/>
                  <a:chExt cx="251" cy="262"/>
                </a:xfrm>
              </p:grpSpPr>
              <p:sp>
                <p:nvSpPr>
                  <p:cNvPr id="25642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83" y="1590"/>
                    <a:ext cx="251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algn="l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1pPr>
                    <a:lvl2pPr marL="742950" indent="-285750" algn="l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2pPr>
                    <a:lvl3pPr marL="1143000" indent="-228600" algn="l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3pPr>
                    <a:lvl4pPr marL="1600200" indent="-228600" algn="l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4pPr>
                    <a:lvl5pPr marL="2057400" indent="-228600" algn="l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2000" b="0">
                        <a:solidFill>
                          <a:schemeClr val="tx1"/>
                        </a:solidFill>
                        <a:latin typeface="Symbol" charset="2"/>
                      </a:rPr>
                      <a:t>a</a:t>
                    </a:r>
                    <a:r>
                      <a:rPr lang="en-US" altLang="en-US" sz="2000" b="0">
                        <a:solidFill>
                          <a:schemeClr val="tx1"/>
                        </a:solidFill>
                      </a:rPr>
                      <a:t>=.05</a:t>
                    </a:r>
                  </a:p>
                </p:txBody>
              </p:sp>
              <p:sp>
                <p:nvSpPr>
                  <p:cNvPr id="2564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3" y="1599"/>
                    <a:ext cx="61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algn="l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1pPr>
                    <a:lvl2pPr marL="742950" indent="-285750" algn="l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2pPr>
                    <a:lvl3pPr marL="1143000" indent="-228600" algn="l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3pPr>
                    <a:lvl4pPr marL="1600200" indent="-228600" algn="l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4pPr>
                    <a:lvl5pPr marL="2057400" indent="-228600" algn="l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000" b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5639" name="Line 16"/>
                <p:cNvSpPr>
                  <a:spLocks noChangeShapeType="1"/>
                </p:cNvSpPr>
                <p:nvPr/>
              </p:nvSpPr>
              <p:spPr bwMode="auto">
                <a:xfrm>
                  <a:off x="528" y="2832"/>
                  <a:ext cx="168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640" name="Line 17"/>
                <p:cNvSpPr>
                  <a:spLocks noChangeShapeType="1"/>
                </p:cNvSpPr>
                <p:nvPr/>
              </p:nvSpPr>
              <p:spPr bwMode="auto">
                <a:xfrm>
                  <a:off x="1379" y="1920"/>
                  <a:ext cx="0" cy="90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41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881" y="2640"/>
                  <a:ext cx="183" cy="144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25634" name="Text Box 19"/>
            <p:cNvSpPr txBox="1">
              <a:spLocks noChangeArrowheads="1"/>
            </p:cNvSpPr>
            <p:nvPr/>
          </p:nvSpPr>
          <p:spPr bwMode="auto">
            <a:xfrm>
              <a:off x="1887" y="363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</a:t>
              </a:r>
              <a:r>
                <a:rPr lang="en-US" altLang="en-US" sz="1800" b="0">
                  <a:solidFill>
                    <a:schemeClr val="tx1"/>
                  </a:solidFill>
                </a:rPr>
                <a:t>= 170</a:t>
              </a:r>
            </a:p>
          </p:txBody>
        </p:sp>
      </p:grpSp>
      <p:sp>
        <p:nvSpPr>
          <p:cNvPr id="25606" name="Rectangle 20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066800"/>
          </a:xfrm>
          <a:noFill/>
        </p:spPr>
        <p:txBody>
          <a:bodyPr/>
          <a:lstStyle/>
          <a:p>
            <a:r>
              <a:rPr lang="en-US" altLang="en-US" sz="3600" smtClean="0"/>
              <a:t>Example (cont.) calculating </a:t>
            </a:r>
            <a:r>
              <a:rPr lang="en-US" altLang="en-US" sz="3600" smtClean="0">
                <a:sym typeface="Mathematica1" pitchFamily="2" charset="2"/>
              </a:rPr>
              <a:t></a:t>
            </a:r>
            <a:endParaRPr lang="en-US" altLang="en-US" sz="3600" smtClean="0"/>
          </a:p>
        </p:txBody>
      </p:sp>
      <p:grpSp>
        <p:nvGrpSpPr>
          <p:cNvPr id="25607" name="Group 21"/>
          <p:cNvGrpSpPr>
            <a:grpSpLocks/>
          </p:cNvGrpSpPr>
          <p:nvPr/>
        </p:nvGrpSpPr>
        <p:grpSpPr bwMode="auto">
          <a:xfrm>
            <a:off x="685800" y="1447800"/>
            <a:ext cx="7772400" cy="1143000"/>
            <a:chOff x="432" y="912"/>
            <a:chExt cx="4896" cy="720"/>
          </a:xfrm>
        </p:grpSpPr>
        <p:sp>
          <p:nvSpPr>
            <p:cNvPr id="25629" name="Rectangle 22"/>
            <p:cNvSpPr>
              <a:spLocks noChangeArrowheads="1"/>
            </p:cNvSpPr>
            <p:nvPr/>
          </p:nvSpPr>
          <p:spPr bwMode="auto">
            <a:xfrm>
              <a:off x="432" y="912"/>
              <a:ext cx="4896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lvl="1"/>
              <a:r>
                <a:rPr lang="en-US" altLang="en-US" b="0"/>
                <a:t>The rejection region with </a:t>
              </a:r>
              <a:r>
                <a:rPr lang="en-US" altLang="en-US" b="0">
                  <a:latin typeface="Symbol" charset="2"/>
                </a:rPr>
                <a:t>a</a:t>
              </a:r>
              <a:r>
                <a:rPr lang="en-US" altLang="en-US" b="0"/>
                <a:t> = .05.</a:t>
              </a:r>
            </a:p>
          </p:txBody>
        </p:sp>
        <p:graphicFrame>
          <p:nvGraphicFramePr>
            <p:cNvPr id="25630" name="Object 23"/>
            <p:cNvGraphicFramePr>
              <a:graphicFrameLocks noChangeAspect="1"/>
            </p:cNvGraphicFramePr>
            <p:nvPr/>
          </p:nvGraphicFramePr>
          <p:xfrm>
            <a:off x="3024" y="1295"/>
            <a:ext cx="86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61" name="Equation" r:id="rId5" imgW="532937" imgH="164957" progId="Equation.3">
                    <p:embed/>
                  </p:oleObj>
                </mc:Choice>
                <mc:Fallback>
                  <p:oleObj name="Equation" r:id="rId5" imgW="532937" imgH="164957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295"/>
                          <a:ext cx="864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5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064" name="Text Box 24"/>
          <p:cNvSpPr txBox="1">
            <a:spLocks noChangeArrowheads="1"/>
          </p:cNvSpPr>
          <p:nvPr/>
        </p:nvSpPr>
        <p:spPr bwMode="auto">
          <a:xfrm>
            <a:off x="381000" y="4724400"/>
            <a:ext cx="194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Do not reject H</a:t>
            </a:r>
            <a:r>
              <a:rPr lang="en-US" altLang="en-US" sz="2400" b="0" baseline="-25000">
                <a:solidFill>
                  <a:schemeClr val="tx1"/>
                </a:solidFill>
              </a:rPr>
              <a:t>0</a:t>
            </a:r>
            <a:endParaRPr lang="en-US" altLang="en-US" sz="2400" b="0">
              <a:solidFill>
                <a:schemeClr val="tx1"/>
              </a:solidFill>
            </a:endParaRPr>
          </a:p>
        </p:txBody>
      </p:sp>
      <p:grpSp>
        <p:nvGrpSpPr>
          <p:cNvPr id="87065" name="Group 25"/>
          <p:cNvGrpSpPr>
            <a:grpSpLocks/>
          </p:cNvGrpSpPr>
          <p:nvPr/>
        </p:nvGrpSpPr>
        <p:grpSpPr bwMode="auto">
          <a:xfrm>
            <a:off x="1295400" y="5181600"/>
            <a:ext cx="1981200" cy="304800"/>
            <a:chOff x="816" y="2304"/>
            <a:chExt cx="1344" cy="336"/>
          </a:xfrm>
        </p:grpSpPr>
        <p:sp>
          <p:nvSpPr>
            <p:cNvPr id="25626" name="Line 26"/>
            <p:cNvSpPr>
              <a:spLocks noChangeShapeType="1"/>
            </p:cNvSpPr>
            <p:nvPr/>
          </p:nvSpPr>
          <p:spPr bwMode="auto">
            <a:xfrm flipH="1">
              <a:off x="816" y="2304"/>
              <a:ext cx="144" cy="3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7" name="Line 27"/>
            <p:cNvSpPr>
              <a:spLocks noChangeShapeType="1"/>
            </p:cNvSpPr>
            <p:nvPr/>
          </p:nvSpPr>
          <p:spPr bwMode="auto">
            <a:xfrm>
              <a:off x="1104" y="2304"/>
              <a:ext cx="336" cy="3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8" name="Line 28"/>
            <p:cNvSpPr>
              <a:spLocks noChangeShapeType="1"/>
            </p:cNvSpPr>
            <p:nvPr/>
          </p:nvSpPr>
          <p:spPr bwMode="auto">
            <a:xfrm>
              <a:off x="1248" y="2304"/>
              <a:ext cx="912" cy="3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7070" name="Group 30"/>
          <p:cNvGrpSpPr>
            <a:grpSpLocks/>
          </p:cNvGrpSpPr>
          <p:nvPr/>
        </p:nvGrpSpPr>
        <p:grpSpPr bwMode="auto">
          <a:xfrm>
            <a:off x="2603500" y="4356100"/>
            <a:ext cx="5334000" cy="1782763"/>
            <a:chOff x="1640" y="2744"/>
            <a:chExt cx="3360" cy="1123"/>
          </a:xfrm>
        </p:grpSpPr>
        <p:sp>
          <p:nvSpPr>
            <p:cNvPr id="25619" name="Text Box 31"/>
            <p:cNvSpPr txBox="1">
              <a:spLocks noChangeArrowheads="1"/>
            </p:cNvSpPr>
            <p:nvPr/>
          </p:nvSpPr>
          <p:spPr bwMode="auto">
            <a:xfrm>
              <a:off x="3150" y="3636"/>
              <a:ext cx="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m=</a:t>
              </a:r>
              <a:r>
                <a:rPr lang="en-US" altLang="en-US" sz="1800" b="0">
                  <a:solidFill>
                    <a:schemeClr val="tx1"/>
                  </a:solidFill>
                </a:rPr>
                <a:t>180</a:t>
              </a:r>
            </a:p>
          </p:txBody>
        </p:sp>
        <p:grpSp>
          <p:nvGrpSpPr>
            <p:cNvPr id="25620" name="Group 32"/>
            <p:cNvGrpSpPr>
              <a:grpSpLocks/>
            </p:cNvGrpSpPr>
            <p:nvPr/>
          </p:nvGrpSpPr>
          <p:grpSpPr bwMode="auto">
            <a:xfrm>
              <a:off x="1640" y="2744"/>
              <a:ext cx="3360" cy="908"/>
              <a:chOff x="1152" y="2976"/>
              <a:chExt cx="1680" cy="912"/>
            </a:xfrm>
          </p:grpSpPr>
          <p:grpSp>
            <p:nvGrpSpPr>
              <p:cNvPr id="25621" name="Group 33"/>
              <p:cNvGrpSpPr>
                <a:grpSpLocks/>
              </p:cNvGrpSpPr>
              <p:nvPr/>
            </p:nvGrpSpPr>
            <p:grpSpPr bwMode="auto">
              <a:xfrm>
                <a:off x="1173" y="2976"/>
                <a:ext cx="1659" cy="912"/>
                <a:chOff x="1776" y="1008"/>
                <a:chExt cx="2256" cy="1008"/>
              </a:xfrm>
            </p:grpSpPr>
            <p:sp>
              <p:nvSpPr>
                <p:cNvPr id="25624" name="Freeform 34"/>
                <p:cNvSpPr>
                  <a:spLocks/>
                </p:cNvSpPr>
                <p:nvPr/>
              </p:nvSpPr>
              <p:spPr bwMode="auto">
                <a:xfrm>
                  <a:off x="1776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625" name="Freeform 35"/>
                <p:cNvSpPr>
                  <a:spLocks/>
                </p:cNvSpPr>
                <p:nvPr/>
              </p:nvSpPr>
              <p:spPr bwMode="auto">
                <a:xfrm flipH="1">
                  <a:off x="2880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5622" name="Line 36"/>
              <p:cNvSpPr>
                <a:spLocks noChangeShapeType="1"/>
              </p:cNvSpPr>
              <p:nvPr/>
            </p:nvSpPr>
            <p:spPr bwMode="auto">
              <a:xfrm>
                <a:off x="1152" y="3888"/>
                <a:ext cx="16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23" name="Line 37"/>
              <p:cNvSpPr>
                <a:spLocks noChangeShapeType="1"/>
              </p:cNvSpPr>
              <p:nvPr/>
            </p:nvSpPr>
            <p:spPr bwMode="auto">
              <a:xfrm>
                <a:off x="2003" y="2976"/>
                <a:ext cx="0" cy="9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7078" name="Group 38"/>
          <p:cNvGrpSpPr>
            <a:grpSpLocks/>
          </p:cNvGrpSpPr>
          <p:nvPr/>
        </p:nvGrpSpPr>
        <p:grpSpPr bwMode="auto">
          <a:xfrm>
            <a:off x="3927475" y="3841750"/>
            <a:ext cx="2244725" cy="806450"/>
            <a:chOff x="2474" y="2420"/>
            <a:chExt cx="1414" cy="508"/>
          </a:xfrm>
        </p:grpSpPr>
        <p:sp>
          <p:nvSpPr>
            <p:cNvPr id="25617" name="Text Box 39"/>
            <p:cNvSpPr txBox="1">
              <a:spLocks noChangeArrowheads="1"/>
            </p:cNvSpPr>
            <p:nvPr/>
          </p:nvSpPr>
          <p:spPr bwMode="auto">
            <a:xfrm>
              <a:off x="2474" y="2420"/>
              <a:ext cx="1103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A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180</a:t>
              </a:r>
            </a:p>
          </p:txBody>
        </p:sp>
        <p:sp>
          <p:nvSpPr>
            <p:cNvPr id="25618" name="Freeform 40"/>
            <p:cNvSpPr>
              <a:spLocks/>
            </p:cNvSpPr>
            <p:nvPr/>
          </p:nvSpPr>
          <p:spPr bwMode="auto">
            <a:xfrm>
              <a:off x="3504" y="2496"/>
              <a:ext cx="384" cy="432"/>
            </a:xfrm>
            <a:custGeom>
              <a:avLst/>
              <a:gdLst>
                <a:gd name="T0" fmla="*/ 0 w 384"/>
                <a:gd name="T1" fmla="*/ 0 h 288"/>
                <a:gd name="T2" fmla="*/ 384 w 384"/>
                <a:gd name="T3" fmla="*/ 0 h 288"/>
                <a:gd name="T4" fmla="*/ 384 w 384"/>
                <a:gd name="T5" fmla="*/ 2187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288">
                  <a:moveTo>
                    <a:pt x="0" y="0"/>
                  </a:moveTo>
                  <a:lnTo>
                    <a:pt x="384" y="0"/>
                  </a:lnTo>
                  <a:lnTo>
                    <a:pt x="384" y="28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081" name="Group 41"/>
          <p:cNvGrpSpPr>
            <a:grpSpLocks/>
          </p:cNvGrpSpPr>
          <p:nvPr/>
        </p:nvGrpSpPr>
        <p:grpSpPr bwMode="auto">
          <a:xfrm>
            <a:off x="3387725" y="3124200"/>
            <a:ext cx="2251075" cy="1143000"/>
            <a:chOff x="2112" y="1968"/>
            <a:chExt cx="1441" cy="720"/>
          </a:xfrm>
        </p:grpSpPr>
        <p:sp>
          <p:nvSpPr>
            <p:cNvPr id="25615" name="Text Box 42"/>
            <p:cNvSpPr txBox="1">
              <a:spLocks noChangeArrowheads="1"/>
            </p:cNvSpPr>
            <p:nvPr/>
          </p:nvSpPr>
          <p:spPr bwMode="auto">
            <a:xfrm>
              <a:off x="2462" y="1968"/>
              <a:ext cx="10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170</a:t>
              </a: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5616" name="Freeform 43"/>
            <p:cNvSpPr>
              <a:spLocks/>
            </p:cNvSpPr>
            <p:nvPr/>
          </p:nvSpPr>
          <p:spPr bwMode="auto">
            <a:xfrm>
              <a:off x="2112" y="2160"/>
              <a:ext cx="384" cy="528"/>
            </a:xfrm>
            <a:custGeom>
              <a:avLst/>
              <a:gdLst>
                <a:gd name="T0" fmla="*/ 384 w 384"/>
                <a:gd name="T1" fmla="*/ 0 h 480"/>
                <a:gd name="T2" fmla="*/ 0 w 384"/>
                <a:gd name="T3" fmla="*/ 0 h 480"/>
                <a:gd name="T4" fmla="*/ 0 w 384"/>
                <a:gd name="T5" fmla="*/ 773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480">
                  <a:moveTo>
                    <a:pt x="384" y="0"/>
                  </a:moveTo>
                  <a:lnTo>
                    <a:pt x="0" y="0"/>
                  </a:lnTo>
                  <a:lnTo>
                    <a:pt x="0" y="48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088" name="AutoShape 48"/>
          <p:cNvSpPr>
            <a:spLocks noChangeArrowheads="1"/>
          </p:cNvSpPr>
          <p:nvPr/>
        </p:nvSpPr>
        <p:spPr bwMode="auto">
          <a:xfrm>
            <a:off x="5913438" y="4613275"/>
            <a:ext cx="2797175" cy="1122363"/>
          </a:xfrm>
          <a:prstGeom prst="cloudCallout">
            <a:avLst>
              <a:gd name="adj1" fmla="val -44722"/>
              <a:gd name="adj2" fmla="val 6499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 u="sng"/>
              <a:t>Specify</a:t>
            </a:r>
            <a:r>
              <a:rPr lang="en-US" altLang="en-US" sz="1800" b="0"/>
              <a:t> the alternative value under H</a:t>
            </a:r>
            <a:r>
              <a:rPr lang="en-US" altLang="en-US" sz="1800" b="0" baseline="-25000"/>
              <a:t>A</a:t>
            </a:r>
            <a:r>
              <a:rPr lang="en-US" altLang="en-US" sz="1800" b="0"/>
              <a:t>.</a:t>
            </a:r>
          </a:p>
        </p:txBody>
      </p:sp>
      <p:sp>
        <p:nvSpPr>
          <p:cNvPr id="87089" name="Rectangle 49"/>
          <p:cNvSpPr>
            <a:spLocks noChangeArrowheads="1"/>
          </p:cNvSpPr>
          <p:nvPr/>
        </p:nvSpPr>
        <p:spPr bwMode="auto">
          <a:xfrm>
            <a:off x="706438" y="25908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lvl="1"/>
            <a:r>
              <a:rPr lang="en-US" altLang="en-US" b="0">
                <a:solidFill>
                  <a:srgbClr val="A50021"/>
                </a:solidFill>
              </a:rPr>
              <a:t>Let the alternative value be </a:t>
            </a:r>
            <a:r>
              <a:rPr lang="en-US" altLang="en-US" b="0">
                <a:solidFill>
                  <a:srgbClr val="A50021"/>
                </a:solidFill>
                <a:latin typeface="Symbol" charset="2"/>
              </a:rPr>
              <a:t>m</a:t>
            </a:r>
            <a:r>
              <a:rPr lang="en-US" altLang="en-US" b="0">
                <a:solidFill>
                  <a:srgbClr val="A50021"/>
                </a:solidFill>
              </a:rPr>
              <a:t> = 180 (rather than just </a:t>
            </a:r>
            <a:r>
              <a:rPr lang="en-US" altLang="en-US" b="0">
                <a:solidFill>
                  <a:srgbClr val="A50021"/>
                </a:solidFill>
                <a:latin typeface="Symbol" charset="2"/>
              </a:rPr>
              <a:t>m</a:t>
            </a:r>
            <a:r>
              <a:rPr lang="en-US" altLang="en-US" b="0">
                <a:solidFill>
                  <a:srgbClr val="A50021"/>
                </a:solidFill>
              </a:rPr>
              <a:t>&gt;170)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animBg="1"/>
      <p:bldP spid="87064" grpId="0" autoUpdateAnimBg="0"/>
      <p:bldP spid="87088" grpId="0" animBg="1" autoUpdateAnimBg="0"/>
      <p:bldP spid="8708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6E6BB57-12F4-41EA-AD13-4030AD5109BF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26627" name="Group 42"/>
          <p:cNvGrpSpPr>
            <a:grpSpLocks/>
          </p:cNvGrpSpPr>
          <p:nvPr/>
        </p:nvGrpSpPr>
        <p:grpSpPr bwMode="auto">
          <a:xfrm>
            <a:off x="838200" y="4370388"/>
            <a:ext cx="5240338" cy="1854200"/>
            <a:chOff x="528" y="2753"/>
            <a:chExt cx="3301" cy="1168"/>
          </a:xfrm>
        </p:grpSpPr>
        <p:sp>
          <p:nvSpPr>
            <p:cNvPr id="26665" name="Freeform 41"/>
            <p:cNvSpPr>
              <a:spLocks/>
            </p:cNvSpPr>
            <p:nvPr/>
          </p:nvSpPr>
          <p:spPr bwMode="auto">
            <a:xfrm>
              <a:off x="2989" y="3360"/>
              <a:ext cx="528" cy="288"/>
            </a:xfrm>
            <a:custGeom>
              <a:avLst/>
              <a:gdLst>
                <a:gd name="T0" fmla="*/ 0 w 528"/>
                <a:gd name="T1" fmla="*/ 0 h 288"/>
                <a:gd name="T2" fmla="*/ 9 w 528"/>
                <a:gd name="T3" fmla="*/ 288 h 288"/>
                <a:gd name="T4" fmla="*/ 528 w 528"/>
                <a:gd name="T5" fmla="*/ 288 h 288"/>
                <a:gd name="T6" fmla="*/ 323 w 528"/>
                <a:gd name="T7" fmla="*/ 240 h 288"/>
                <a:gd name="T8" fmla="*/ 140 w 528"/>
                <a:gd name="T9" fmla="*/ 122 h 288"/>
                <a:gd name="T10" fmla="*/ 0 w 528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8" h="288">
                  <a:moveTo>
                    <a:pt x="0" y="0"/>
                  </a:moveTo>
                  <a:lnTo>
                    <a:pt x="9" y="288"/>
                  </a:lnTo>
                  <a:lnTo>
                    <a:pt x="528" y="288"/>
                  </a:lnTo>
                  <a:lnTo>
                    <a:pt x="323" y="240"/>
                  </a:lnTo>
                  <a:lnTo>
                    <a:pt x="140" y="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6666" name="Object 4"/>
            <p:cNvGraphicFramePr>
              <a:graphicFrameLocks noChangeAspect="1"/>
            </p:cNvGraphicFramePr>
            <p:nvPr/>
          </p:nvGraphicFramePr>
          <p:xfrm>
            <a:off x="2731" y="3760"/>
            <a:ext cx="400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4" name="Equation" r:id="rId3" imgW="444114" imgH="177646" progId="Equation.DSMT4">
                    <p:embed/>
                  </p:oleObj>
                </mc:Choice>
                <mc:Fallback>
                  <p:oleObj name="Equation" r:id="rId3" imgW="444114" imgH="177646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1" y="3760"/>
                          <a:ext cx="400" cy="161"/>
                        </a:xfrm>
                        <a:prstGeom prst="rect">
                          <a:avLst/>
                        </a:prstGeom>
                        <a:noFill/>
                        <a:ln w="63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A3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FF000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67" name="Group 11"/>
            <p:cNvGrpSpPr>
              <a:grpSpLocks/>
            </p:cNvGrpSpPr>
            <p:nvPr/>
          </p:nvGrpSpPr>
          <p:grpSpPr bwMode="auto">
            <a:xfrm>
              <a:off x="528" y="2753"/>
              <a:ext cx="3301" cy="903"/>
              <a:chOff x="528" y="1920"/>
              <a:chExt cx="1739" cy="916"/>
            </a:xfrm>
          </p:grpSpPr>
          <p:grpSp>
            <p:nvGrpSpPr>
              <p:cNvPr id="26669" name="Group 12"/>
              <p:cNvGrpSpPr>
                <a:grpSpLocks/>
              </p:cNvGrpSpPr>
              <p:nvPr/>
            </p:nvGrpSpPr>
            <p:grpSpPr bwMode="auto">
              <a:xfrm>
                <a:off x="549" y="1920"/>
                <a:ext cx="1659" cy="912"/>
                <a:chOff x="1776" y="1008"/>
                <a:chExt cx="2256" cy="1008"/>
              </a:xfrm>
            </p:grpSpPr>
            <p:sp>
              <p:nvSpPr>
                <p:cNvPr id="26678" name="Freeform 13"/>
                <p:cNvSpPr>
                  <a:spLocks/>
                </p:cNvSpPr>
                <p:nvPr/>
              </p:nvSpPr>
              <p:spPr bwMode="auto">
                <a:xfrm>
                  <a:off x="1776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6679" name="Freeform 14"/>
                <p:cNvSpPr>
                  <a:spLocks/>
                </p:cNvSpPr>
                <p:nvPr/>
              </p:nvSpPr>
              <p:spPr bwMode="auto">
                <a:xfrm flipH="1">
                  <a:off x="2880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6670" name="Group 15"/>
              <p:cNvGrpSpPr>
                <a:grpSpLocks/>
              </p:cNvGrpSpPr>
              <p:nvPr/>
            </p:nvGrpSpPr>
            <p:grpSpPr bwMode="auto">
              <a:xfrm>
                <a:off x="528" y="1920"/>
                <a:ext cx="1739" cy="916"/>
                <a:chOff x="528" y="1920"/>
                <a:chExt cx="1739" cy="916"/>
              </a:xfrm>
            </p:grpSpPr>
            <p:sp>
              <p:nvSpPr>
                <p:cNvPr id="26671" name="Line 16"/>
                <p:cNvSpPr>
                  <a:spLocks noChangeShapeType="1"/>
                </p:cNvSpPr>
                <p:nvPr/>
              </p:nvSpPr>
              <p:spPr bwMode="auto">
                <a:xfrm>
                  <a:off x="1824" y="2544"/>
                  <a:ext cx="0" cy="2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6672" name="Group 17"/>
                <p:cNvGrpSpPr>
                  <a:grpSpLocks/>
                </p:cNvGrpSpPr>
                <p:nvPr/>
              </p:nvGrpSpPr>
              <p:grpSpPr bwMode="auto">
                <a:xfrm>
                  <a:off x="2016" y="2464"/>
                  <a:ext cx="251" cy="262"/>
                  <a:chOff x="1983" y="1590"/>
                  <a:chExt cx="251" cy="262"/>
                </a:xfrm>
              </p:grpSpPr>
              <p:sp>
                <p:nvSpPr>
                  <p:cNvPr id="26676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83" y="1590"/>
                    <a:ext cx="251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algn="l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1pPr>
                    <a:lvl2pPr marL="742950" indent="-285750" algn="l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2pPr>
                    <a:lvl3pPr marL="1143000" indent="-228600" algn="l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3pPr>
                    <a:lvl4pPr marL="1600200" indent="-228600" algn="l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4pPr>
                    <a:lvl5pPr marL="2057400" indent="-228600" algn="l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2000" b="0">
                        <a:solidFill>
                          <a:schemeClr val="tx1"/>
                        </a:solidFill>
                        <a:latin typeface="Symbol" charset="2"/>
                      </a:rPr>
                      <a:t>a</a:t>
                    </a:r>
                    <a:r>
                      <a:rPr lang="en-US" altLang="en-US" sz="2000" b="0">
                        <a:solidFill>
                          <a:schemeClr val="tx1"/>
                        </a:solidFill>
                      </a:rPr>
                      <a:t>=.05</a:t>
                    </a:r>
                  </a:p>
                </p:txBody>
              </p:sp>
              <p:sp>
                <p:nvSpPr>
                  <p:cNvPr id="26677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53" y="1599"/>
                    <a:ext cx="61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algn="l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1pPr>
                    <a:lvl2pPr marL="742950" indent="-285750" algn="l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2pPr>
                    <a:lvl3pPr marL="1143000" indent="-228600" algn="l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3pPr>
                    <a:lvl4pPr marL="1600200" indent="-228600" algn="l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4pPr>
                    <a:lvl5pPr marL="2057400" indent="-228600" algn="l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000" b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6673" name="Line 20"/>
                <p:cNvSpPr>
                  <a:spLocks noChangeShapeType="1"/>
                </p:cNvSpPr>
                <p:nvPr/>
              </p:nvSpPr>
              <p:spPr bwMode="auto">
                <a:xfrm>
                  <a:off x="528" y="2832"/>
                  <a:ext cx="168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6674" name="Line 21"/>
                <p:cNvSpPr>
                  <a:spLocks noChangeShapeType="1"/>
                </p:cNvSpPr>
                <p:nvPr/>
              </p:nvSpPr>
              <p:spPr bwMode="auto">
                <a:xfrm>
                  <a:off x="1379" y="1920"/>
                  <a:ext cx="0" cy="90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75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881" y="2640"/>
                  <a:ext cx="183" cy="144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26668" name="Text Box 24"/>
            <p:cNvSpPr txBox="1">
              <a:spLocks noChangeArrowheads="1"/>
            </p:cNvSpPr>
            <p:nvPr/>
          </p:nvSpPr>
          <p:spPr bwMode="auto">
            <a:xfrm>
              <a:off x="1887" y="363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</a:t>
              </a:r>
              <a:r>
                <a:rPr lang="en-US" altLang="en-US" sz="1800" b="0">
                  <a:solidFill>
                    <a:schemeClr val="tx1"/>
                  </a:solidFill>
                </a:rPr>
                <a:t>= 170</a:t>
              </a:r>
            </a:p>
          </p:txBody>
        </p:sp>
      </p:grpSp>
      <p:sp>
        <p:nvSpPr>
          <p:cNvPr id="26628" name="Rectangle 28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/>
          <a:lstStyle/>
          <a:p>
            <a:r>
              <a:rPr lang="en-US" altLang="en-US" sz="3600" smtClean="0"/>
              <a:t>Example (cont.) calculating </a:t>
            </a:r>
            <a:r>
              <a:rPr lang="en-US" altLang="en-US" sz="3600" smtClean="0">
                <a:sym typeface="Mathematica1" pitchFamily="2" charset="2"/>
              </a:rPr>
              <a:t></a:t>
            </a:r>
            <a:endParaRPr lang="en-US" altLang="en-US" sz="3600" smtClean="0"/>
          </a:p>
        </p:txBody>
      </p:sp>
      <p:grpSp>
        <p:nvGrpSpPr>
          <p:cNvPr id="85074" name="Group 82"/>
          <p:cNvGrpSpPr>
            <a:grpSpLocks/>
          </p:cNvGrpSpPr>
          <p:nvPr/>
        </p:nvGrpSpPr>
        <p:grpSpPr bwMode="auto">
          <a:xfrm>
            <a:off x="3144838" y="5476875"/>
            <a:ext cx="1606550" cy="325438"/>
            <a:chOff x="1981" y="3450"/>
            <a:chExt cx="1012" cy="205"/>
          </a:xfrm>
        </p:grpSpPr>
        <p:sp>
          <p:nvSpPr>
            <p:cNvPr id="26663" name="Rectangle 38"/>
            <p:cNvSpPr>
              <a:spLocks noChangeArrowheads="1"/>
            </p:cNvSpPr>
            <p:nvPr/>
          </p:nvSpPr>
          <p:spPr bwMode="auto">
            <a:xfrm>
              <a:off x="1981" y="3482"/>
              <a:ext cx="987" cy="156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graphicFrame>
          <p:nvGraphicFramePr>
            <p:cNvPr id="26664" name="Object 40"/>
            <p:cNvGraphicFramePr>
              <a:graphicFrameLocks noChangeAspect="1"/>
            </p:cNvGraphicFramePr>
            <p:nvPr/>
          </p:nvGraphicFramePr>
          <p:xfrm>
            <a:off x="2273" y="3450"/>
            <a:ext cx="72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5" name="Equation" r:id="rId5" imgW="634449" imgH="177646" progId="Equation.3">
                    <p:embed/>
                  </p:oleObj>
                </mc:Choice>
                <mc:Fallback>
                  <p:oleObj name="Equation" r:id="rId5" imgW="634449" imgH="177646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3" y="3450"/>
                          <a:ext cx="720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5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630" name="Group 52"/>
          <p:cNvGrpSpPr>
            <a:grpSpLocks/>
          </p:cNvGrpSpPr>
          <p:nvPr/>
        </p:nvGrpSpPr>
        <p:grpSpPr bwMode="auto">
          <a:xfrm>
            <a:off x="2603500" y="4356100"/>
            <a:ext cx="5334000" cy="1782763"/>
            <a:chOff x="1640" y="2744"/>
            <a:chExt cx="3360" cy="1123"/>
          </a:xfrm>
        </p:grpSpPr>
        <p:sp>
          <p:nvSpPr>
            <p:cNvPr id="26656" name="Text Box 25"/>
            <p:cNvSpPr txBox="1">
              <a:spLocks noChangeArrowheads="1"/>
            </p:cNvSpPr>
            <p:nvPr/>
          </p:nvSpPr>
          <p:spPr bwMode="auto">
            <a:xfrm>
              <a:off x="3150" y="3636"/>
              <a:ext cx="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m=</a:t>
              </a:r>
              <a:r>
                <a:rPr lang="en-US" altLang="en-US" sz="1800" b="0">
                  <a:solidFill>
                    <a:schemeClr val="tx1"/>
                  </a:solidFill>
                </a:rPr>
                <a:t>180</a:t>
              </a:r>
            </a:p>
          </p:txBody>
        </p:sp>
        <p:grpSp>
          <p:nvGrpSpPr>
            <p:cNvPr id="26657" name="Group 5"/>
            <p:cNvGrpSpPr>
              <a:grpSpLocks/>
            </p:cNvGrpSpPr>
            <p:nvPr/>
          </p:nvGrpSpPr>
          <p:grpSpPr bwMode="auto">
            <a:xfrm>
              <a:off x="1640" y="2744"/>
              <a:ext cx="3360" cy="908"/>
              <a:chOff x="1152" y="2976"/>
              <a:chExt cx="1680" cy="912"/>
            </a:xfrm>
          </p:grpSpPr>
          <p:grpSp>
            <p:nvGrpSpPr>
              <p:cNvPr id="26658" name="Group 6"/>
              <p:cNvGrpSpPr>
                <a:grpSpLocks/>
              </p:cNvGrpSpPr>
              <p:nvPr/>
            </p:nvGrpSpPr>
            <p:grpSpPr bwMode="auto">
              <a:xfrm>
                <a:off x="1173" y="2976"/>
                <a:ext cx="1659" cy="912"/>
                <a:chOff x="1776" y="1008"/>
                <a:chExt cx="2256" cy="1008"/>
              </a:xfrm>
            </p:grpSpPr>
            <p:sp>
              <p:nvSpPr>
                <p:cNvPr id="26661" name="Freeform 7"/>
                <p:cNvSpPr>
                  <a:spLocks/>
                </p:cNvSpPr>
                <p:nvPr/>
              </p:nvSpPr>
              <p:spPr bwMode="auto">
                <a:xfrm>
                  <a:off x="1776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6662" name="Freeform 8"/>
                <p:cNvSpPr>
                  <a:spLocks/>
                </p:cNvSpPr>
                <p:nvPr/>
              </p:nvSpPr>
              <p:spPr bwMode="auto">
                <a:xfrm flipH="1">
                  <a:off x="2880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6659" name="Line 9"/>
              <p:cNvSpPr>
                <a:spLocks noChangeShapeType="1"/>
              </p:cNvSpPr>
              <p:nvPr/>
            </p:nvSpPr>
            <p:spPr bwMode="auto">
              <a:xfrm>
                <a:off x="1152" y="3888"/>
                <a:ext cx="16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660" name="Line 10"/>
              <p:cNvSpPr>
                <a:spLocks noChangeShapeType="1"/>
              </p:cNvSpPr>
              <p:nvPr/>
            </p:nvSpPr>
            <p:spPr bwMode="auto">
              <a:xfrm>
                <a:off x="2003" y="2976"/>
                <a:ext cx="0" cy="9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6631" name="Group 53"/>
          <p:cNvGrpSpPr>
            <a:grpSpLocks/>
          </p:cNvGrpSpPr>
          <p:nvPr/>
        </p:nvGrpSpPr>
        <p:grpSpPr bwMode="auto">
          <a:xfrm>
            <a:off x="3927475" y="3843338"/>
            <a:ext cx="2244725" cy="804862"/>
            <a:chOff x="2474" y="2421"/>
            <a:chExt cx="1414" cy="507"/>
          </a:xfrm>
        </p:grpSpPr>
        <p:sp>
          <p:nvSpPr>
            <p:cNvPr id="26654" name="Text Box 3"/>
            <p:cNvSpPr txBox="1">
              <a:spLocks noChangeArrowheads="1"/>
            </p:cNvSpPr>
            <p:nvPr/>
          </p:nvSpPr>
          <p:spPr bwMode="auto">
            <a:xfrm>
              <a:off x="2474" y="2421"/>
              <a:ext cx="1074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1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180</a:t>
              </a:r>
            </a:p>
          </p:txBody>
        </p:sp>
        <p:sp>
          <p:nvSpPr>
            <p:cNvPr id="26655" name="Freeform 43"/>
            <p:cNvSpPr>
              <a:spLocks/>
            </p:cNvSpPr>
            <p:nvPr/>
          </p:nvSpPr>
          <p:spPr bwMode="auto">
            <a:xfrm>
              <a:off x="3504" y="2496"/>
              <a:ext cx="384" cy="432"/>
            </a:xfrm>
            <a:custGeom>
              <a:avLst/>
              <a:gdLst>
                <a:gd name="T0" fmla="*/ 0 w 384"/>
                <a:gd name="T1" fmla="*/ 0 h 288"/>
                <a:gd name="T2" fmla="*/ 384 w 384"/>
                <a:gd name="T3" fmla="*/ 0 h 288"/>
                <a:gd name="T4" fmla="*/ 384 w 384"/>
                <a:gd name="T5" fmla="*/ 2187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288">
                  <a:moveTo>
                    <a:pt x="0" y="0"/>
                  </a:moveTo>
                  <a:lnTo>
                    <a:pt x="384" y="0"/>
                  </a:lnTo>
                  <a:lnTo>
                    <a:pt x="384" y="28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2" name="Group 51"/>
          <p:cNvGrpSpPr>
            <a:grpSpLocks/>
          </p:cNvGrpSpPr>
          <p:nvPr/>
        </p:nvGrpSpPr>
        <p:grpSpPr bwMode="auto">
          <a:xfrm>
            <a:off x="3373438" y="3124200"/>
            <a:ext cx="2273300" cy="1143000"/>
            <a:chOff x="2112" y="1968"/>
            <a:chExt cx="1432" cy="720"/>
          </a:xfrm>
        </p:grpSpPr>
        <p:sp>
          <p:nvSpPr>
            <p:cNvPr id="26652" name="Text Box 44"/>
            <p:cNvSpPr txBox="1">
              <a:spLocks noChangeArrowheads="1"/>
            </p:cNvSpPr>
            <p:nvPr/>
          </p:nvSpPr>
          <p:spPr bwMode="auto">
            <a:xfrm>
              <a:off x="2470" y="1968"/>
              <a:ext cx="10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170</a:t>
              </a: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6653" name="Freeform 45"/>
            <p:cNvSpPr>
              <a:spLocks/>
            </p:cNvSpPr>
            <p:nvPr/>
          </p:nvSpPr>
          <p:spPr bwMode="auto">
            <a:xfrm>
              <a:off x="2112" y="2160"/>
              <a:ext cx="384" cy="528"/>
            </a:xfrm>
            <a:custGeom>
              <a:avLst/>
              <a:gdLst>
                <a:gd name="T0" fmla="*/ 384 w 384"/>
                <a:gd name="T1" fmla="*/ 0 h 480"/>
                <a:gd name="T2" fmla="*/ 0 w 384"/>
                <a:gd name="T3" fmla="*/ 0 h 480"/>
                <a:gd name="T4" fmla="*/ 0 w 384"/>
                <a:gd name="T5" fmla="*/ 773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480">
                  <a:moveTo>
                    <a:pt x="384" y="0"/>
                  </a:moveTo>
                  <a:lnTo>
                    <a:pt x="0" y="0"/>
                  </a:lnTo>
                  <a:lnTo>
                    <a:pt x="0" y="48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038" name="Rectangle 46"/>
          <p:cNvSpPr>
            <a:spLocks noChangeArrowheads="1"/>
          </p:cNvSpPr>
          <p:nvPr/>
        </p:nvSpPr>
        <p:spPr bwMode="auto">
          <a:xfrm>
            <a:off x="533400" y="1752600"/>
            <a:ext cx="7772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lvl="1"/>
            <a:r>
              <a:rPr lang="en-US" altLang="en-US" sz="3200" b="0" dirty="0"/>
              <a:t>A Type II error occurs when a false H</a:t>
            </a:r>
            <a:r>
              <a:rPr lang="en-US" altLang="en-US" sz="3200" b="0" baseline="-25000" dirty="0"/>
              <a:t>0</a:t>
            </a:r>
            <a:r>
              <a:rPr lang="en-US" altLang="en-US" sz="3200" b="0" dirty="0"/>
              <a:t> is not rejected. Suppose </a:t>
            </a:r>
            <a:r>
              <a:rPr lang="en-US" altLang="en-US" sz="3200" b="0" dirty="0">
                <a:sym typeface="Mathematica1" pitchFamily="2" charset="2"/>
              </a:rPr>
              <a:t>=180, that </a:t>
            </a:r>
            <a:r>
              <a:rPr lang="en-US" altLang="en-US" sz="3200" b="0" dirty="0" smtClean="0">
                <a:sym typeface="Mathematica1" pitchFamily="2" charset="2"/>
              </a:rPr>
              <a:t>is,</a:t>
            </a:r>
            <a:r>
              <a:rPr lang="en-US" altLang="en-US" sz="3200" b="0" dirty="0" smtClean="0"/>
              <a:t> </a:t>
            </a:r>
            <a:r>
              <a:rPr lang="en-US" altLang="en-US" sz="3200" b="0" dirty="0"/>
              <a:t>H</a:t>
            </a:r>
            <a:r>
              <a:rPr lang="en-US" altLang="en-US" sz="3200" b="0" baseline="-25000" dirty="0"/>
              <a:t>0 </a:t>
            </a:r>
            <a:r>
              <a:rPr lang="en-US" altLang="en-US" sz="3200" b="0" dirty="0"/>
              <a:t>is false.</a:t>
            </a:r>
          </a:p>
        </p:txBody>
      </p:sp>
      <p:sp>
        <p:nvSpPr>
          <p:cNvPr id="85055" name="AutoShape 63"/>
          <p:cNvSpPr>
            <a:spLocks noChangeArrowheads="1"/>
          </p:cNvSpPr>
          <p:nvPr/>
        </p:nvSpPr>
        <p:spPr bwMode="auto">
          <a:xfrm>
            <a:off x="533400" y="2971800"/>
            <a:ext cx="2286000" cy="914400"/>
          </a:xfrm>
          <a:prstGeom prst="cloudCallout">
            <a:avLst>
              <a:gd name="adj1" fmla="val 42917"/>
              <a:gd name="adj2" fmla="val 9722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/>
              <a:t>A false H</a:t>
            </a:r>
            <a:r>
              <a:rPr lang="en-US" altLang="en-US" sz="2000" b="0" baseline="-25000"/>
              <a:t>0</a:t>
            </a:r>
            <a:r>
              <a:rPr lang="en-US" altLang="en-US" sz="2000" b="0"/>
              <a:t>…</a:t>
            </a:r>
            <a:endParaRPr lang="en-US" altLang="en-US" sz="2000" b="0" baseline="-25000"/>
          </a:p>
        </p:txBody>
      </p:sp>
      <p:sp>
        <p:nvSpPr>
          <p:cNvPr id="85056" name="Text Box 64"/>
          <p:cNvSpPr txBox="1">
            <a:spLocks noChangeArrowheads="1"/>
          </p:cNvSpPr>
          <p:nvPr/>
        </p:nvSpPr>
        <p:spPr bwMode="auto">
          <a:xfrm>
            <a:off x="819150" y="3367088"/>
            <a:ext cx="1687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/>
              <a:t>…is not rejected</a:t>
            </a:r>
          </a:p>
        </p:txBody>
      </p:sp>
      <p:grpSp>
        <p:nvGrpSpPr>
          <p:cNvPr id="85073" name="Group 81"/>
          <p:cNvGrpSpPr>
            <a:grpSpLocks/>
          </p:cNvGrpSpPr>
          <p:nvPr/>
        </p:nvGrpSpPr>
        <p:grpSpPr bwMode="auto">
          <a:xfrm>
            <a:off x="2036763" y="4267200"/>
            <a:ext cx="2763837" cy="990600"/>
            <a:chOff x="1283" y="2688"/>
            <a:chExt cx="1741" cy="624"/>
          </a:xfrm>
        </p:grpSpPr>
        <p:grpSp>
          <p:nvGrpSpPr>
            <p:cNvPr id="26637" name="Group 66"/>
            <p:cNvGrpSpPr>
              <a:grpSpLocks/>
            </p:cNvGrpSpPr>
            <p:nvPr/>
          </p:nvGrpSpPr>
          <p:grpSpPr bwMode="auto">
            <a:xfrm>
              <a:off x="1283" y="3120"/>
              <a:ext cx="336" cy="192"/>
              <a:chOff x="1344" y="2832"/>
              <a:chExt cx="1632" cy="720"/>
            </a:xfrm>
          </p:grpSpPr>
          <p:sp>
            <p:nvSpPr>
              <p:cNvPr id="26650" name="Line 67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51" name="Line 68"/>
              <p:cNvSpPr>
                <a:spLocks noChangeShapeType="1"/>
              </p:cNvSpPr>
              <p:nvPr/>
            </p:nvSpPr>
            <p:spPr bwMode="auto">
              <a:xfrm flipH="1"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638" name="Group 69"/>
            <p:cNvGrpSpPr>
              <a:grpSpLocks/>
            </p:cNvGrpSpPr>
            <p:nvPr/>
          </p:nvGrpSpPr>
          <p:grpSpPr bwMode="auto">
            <a:xfrm>
              <a:off x="1549" y="2832"/>
              <a:ext cx="336" cy="192"/>
              <a:chOff x="1344" y="2832"/>
              <a:chExt cx="1632" cy="720"/>
            </a:xfrm>
          </p:grpSpPr>
          <p:sp>
            <p:nvSpPr>
              <p:cNvPr id="26648" name="Line 70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9" name="Line 71"/>
              <p:cNvSpPr>
                <a:spLocks noChangeShapeType="1"/>
              </p:cNvSpPr>
              <p:nvPr/>
            </p:nvSpPr>
            <p:spPr bwMode="auto">
              <a:xfrm flipH="1"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639" name="Group 72"/>
            <p:cNvGrpSpPr>
              <a:grpSpLocks/>
            </p:cNvGrpSpPr>
            <p:nvPr/>
          </p:nvGrpSpPr>
          <p:grpSpPr bwMode="auto">
            <a:xfrm>
              <a:off x="1968" y="2688"/>
              <a:ext cx="336" cy="192"/>
              <a:chOff x="1344" y="2832"/>
              <a:chExt cx="1632" cy="720"/>
            </a:xfrm>
          </p:grpSpPr>
          <p:sp>
            <p:nvSpPr>
              <p:cNvPr id="26646" name="Line 73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7" name="Line 74"/>
              <p:cNvSpPr>
                <a:spLocks noChangeShapeType="1"/>
              </p:cNvSpPr>
              <p:nvPr/>
            </p:nvSpPr>
            <p:spPr bwMode="auto">
              <a:xfrm flipH="1"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640" name="Group 75"/>
            <p:cNvGrpSpPr>
              <a:grpSpLocks/>
            </p:cNvGrpSpPr>
            <p:nvPr/>
          </p:nvGrpSpPr>
          <p:grpSpPr bwMode="auto">
            <a:xfrm>
              <a:off x="2365" y="2832"/>
              <a:ext cx="336" cy="192"/>
              <a:chOff x="1344" y="2832"/>
              <a:chExt cx="1632" cy="720"/>
            </a:xfrm>
          </p:grpSpPr>
          <p:sp>
            <p:nvSpPr>
              <p:cNvPr id="26644" name="Line 76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5" name="Line 77"/>
              <p:cNvSpPr>
                <a:spLocks noChangeShapeType="1"/>
              </p:cNvSpPr>
              <p:nvPr/>
            </p:nvSpPr>
            <p:spPr bwMode="auto">
              <a:xfrm flipH="1"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641" name="Group 78"/>
            <p:cNvGrpSpPr>
              <a:grpSpLocks/>
            </p:cNvGrpSpPr>
            <p:nvPr/>
          </p:nvGrpSpPr>
          <p:grpSpPr bwMode="auto">
            <a:xfrm>
              <a:off x="2688" y="3120"/>
              <a:ext cx="336" cy="192"/>
              <a:chOff x="1344" y="2832"/>
              <a:chExt cx="1632" cy="720"/>
            </a:xfrm>
          </p:grpSpPr>
          <p:sp>
            <p:nvSpPr>
              <p:cNvPr id="26642" name="Line 79"/>
              <p:cNvSpPr>
                <a:spLocks noChangeShapeType="1"/>
              </p:cNvSpPr>
              <p:nvPr/>
            </p:nvSpPr>
            <p:spPr bwMode="auto">
              <a:xfrm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3" name="Line 80"/>
              <p:cNvSpPr>
                <a:spLocks noChangeShapeType="1"/>
              </p:cNvSpPr>
              <p:nvPr/>
            </p:nvSpPr>
            <p:spPr bwMode="auto">
              <a:xfrm flipH="1">
                <a:off x="1344" y="2832"/>
                <a:ext cx="1632" cy="72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5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5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38" grpId="0" autoUpdateAnimBg="0"/>
      <p:bldP spid="85055" grpId="0" animBg="1" autoUpdateAnimBg="0"/>
      <p:bldP spid="8505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454B719-6180-4A75-8A80-30B8EE0F078A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7651" name="Freeform 1028"/>
          <p:cNvSpPr>
            <a:spLocks/>
          </p:cNvSpPr>
          <p:nvPr/>
        </p:nvSpPr>
        <p:spPr bwMode="auto">
          <a:xfrm>
            <a:off x="4745038" y="5334000"/>
            <a:ext cx="838200" cy="457200"/>
          </a:xfrm>
          <a:custGeom>
            <a:avLst/>
            <a:gdLst>
              <a:gd name="T0" fmla="*/ 0 w 528"/>
              <a:gd name="T1" fmla="*/ 0 h 288"/>
              <a:gd name="T2" fmla="*/ 2147483647 w 528"/>
              <a:gd name="T3" fmla="*/ 2147483647 h 288"/>
              <a:gd name="T4" fmla="*/ 2147483647 w 528"/>
              <a:gd name="T5" fmla="*/ 2147483647 h 288"/>
              <a:gd name="T6" fmla="*/ 2147483647 w 528"/>
              <a:gd name="T7" fmla="*/ 2147483647 h 288"/>
              <a:gd name="T8" fmla="*/ 2147483647 w 528"/>
              <a:gd name="T9" fmla="*/ 2147483647 h 288"/>
              <a:gd name="T10" fmla="*/ 0 w 528"/>
              <a:gd name="T11" fmla="*/ 0 h 2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28" h="288">
                <a:moveTo>
                  <a:pt x="0" y="0"/>
                </a:moveTo>
                <a:lnTo>
                  <a:pt x="9" y="288"/>
                </a:lnTo>
                <a:lnTo>
                  <a:pt x="528" y="288"/>
                </a:lnTo>
                <a:lnTo>
                  <a:pt x="323" y="240"/>
                </a:lnTo>
                <a:lnTo>
                  <a:pt x="140" y="1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652" name="Object 1029"/>
          <p:cNvGraphicFramePr>
            <a:graphicFrameLocks noChangeAspect="1"/>
          </p:cNvGraphicFramePr>
          <p:nvPr/>
        </p:nvGraphicFramePr>
        <p:xfrm>
          <a:off x="4335463" y="5969000"/>
          <a:ext cx="635000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2" name="Equation" r:id="rId3" imgW="444114" imgH="177646" progId="Equation.DSMT4">
                  <p:embed/>
                </p:oleObj>
              </mc:Choice>
              <mc:Fallback>
                <p:oleObj name="Equation" r:id="rId3" imgW="444114" imgH="177646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463" y="5969000"/>
                        <a:ext cx="635000" cy="255588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Freeform 1032"/>
          <p:cNvSpPr>
            <a:spLocks/>
          </p:cNvSpPr>
          <p:nvPr/>
        </p:nvSpPr>
        <p:spPr bwMode="auto">
          <a:xfrm>
            <a:off x="901700" y="4370388"/>
            <a:ext cx="2552700" cy="1427162"/>
          </a:xfrm>
          <a:custGeom>
            <a:avLst/>
            <a:gdLst>
              <a:gd name="T0" fmla="*/ 0 w 1152"/>
              <a:gd name="T1" fmla="*/ 2147483647 h 1008"/>
              <a:gd name="T2" fmla="*/ 2147483647 w 1152"/>
              <a:gd name="T3" fmla="*/ 2147483647 h 1008"/>
              <a:gd name="T4" fmla="*/ 2147483647 w 1152"/>
              <a:gd name="T5" fmla="*/ 2147483647 h 1008"/>
              <a:gd name="T6" fmla="*/ 2147483647 w 1152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52" h="1008">
                <a:moveTo>
                  <a:pt x="0" y="1008"/>
                </a:moveTo>
                <a:cubicBezTo>
                  <a:pt x="120" y="1008"/>
                  <a:pt x="240" y="1008"/>
                  <a:pt x="384" y="864"/>
                </a:cubicBezTo>
                <a:cubicBezTo>
                  <a:pt x="528" y="720"/>
                  <a:pt x="736" y="288"/>
                  <a:pt x="864" y="144"/>
                </a:cubicBezTo>
                <a:cubicBezTo>
                  <a:pt x="992" y="0"/>
                  <a:pt x="1072" y="0"/>
                  <a:pt x="1152" y="0"/>
                </a:cubicBez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54" name="Freeform 1033"/>
          <p:cNvSpPr>
            <a:spLocks/>
          </p:cNvSpPr>
          <p:nvPr/>
        </p:nvSpPr>
        <p:spPr bwMode="auto">
          <a:xfrm flipH="1">
            <a:off x="3348038" y="4370388"/>
            <a:ext cx="2552700" cy="1427162"/>
          </a:xfrm>
          <a:custGeom>
            <a:avLst/>
            <a:gdLst>
              <a:gd name="T0" fmla="*/ 0 w 1152"/>
              <a:gd name="T1" fmla="*/ 2147483647 h 1008"/>
              <a:gd name="T2" fmla="*/ 2147483647 w 1152"/>
              <a:gd name="T3" fmla="*/ 2147483647 h 1008"/>
              <a:gd name="T4" fmla="*/ 2147483647 w 1152"/>
              <a:gd name="T5" fmla="*/ 2147483647 h 1008"/>
              <a:gd name="T6" fmla="*/ 2147483647 w 1152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52" h="1008">
                <a:moveTo>
                  <a:pt x="0" y="1008"/>
                </a:moveTo>
                <a:cubicBezTo>
                  <a:pt x="120" y="1008"/>
                  <a:pt x="240" y="1008"/>
                  <a:pt x="384" y="864"/>
                </a:cubicBezTo>
                <a:cubicBezTo>
                  <a:pt x="528" y="720"/>
                  <a:pt x="736" y="288"/>
                  <a:pt x="864" y="144"/>
                </a:cubicBezTo>
                <a:cubicBezTo>
                  <a:pt x="992" y="0"/>
                  <a:pt x="1072" y="0"/>
                  <a:pt x="1152" y="0"/>
                </a:cubicBez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55" name="Line 1035"/>
          <p:cNvSpPr>
            <a:spLocks noChangeShapeType="1"/>
          </p:cNvSpPr>
          <p:nvPr/>
        </p:nvSpPr>
        <p:spPr bwMode="auto">
          <a:xfrm>
            <a:off x="4743450" y="5346700"/>
            <a:ext cx="0" cy="457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1039"/>
          <p:cNvSpPr>
            <a:spLocks noChangeShapeType="1"/>
          </p:cNvSpPr>
          <p:nvPr/>
        </p:nvSpPr>
        <p:spPr bwMode="auto">
          <a:xfrm>
            <a:off x="838200" y="5797550"/>
            <a:ext cx="5062538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57" name="Line 1040"/>
          <p:cNvSpPr>
            <a:spLocks noChangeShapeType="1"/>
          </p:cNvSpPr>
          <p:nvPr/>
        </p:nvSpPr>
        <p:spPr bwMode="auto">
          <a:xfrm>
            <a:off x="3403600" y="4370388"/>
            <a:ext cx="0" cy="141287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Text Box 1042"/>
          <p:cNvSpPr txBox="1">
            <a:spLocks noChangeArrowheads="1"/>
          </p:cNvSpPr>
          <p:nvPr/>
        </p:nvSpPr>
        <p:spPr bwMode="auto">
          <a:xfrm>
            <a:off x="2995613" y="5765800"/>
            <a:ext cx="7921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altLang="en-US" sz="1800" b="0">
                <a:solidFill>
                  <a:schemeClr val="tx1"/>
                </a:solidFill>
              </a:rPr>
              <a:t>= 170</a:t>
            </a:r>
          </a:p>
        </p:txBody>
      </p:sp>
      <p:grpSp>
        <p:nvGrpSpPr>
          <p:cNvPr id="86068" name="Group 1076"/>
          <p:cNvGrpSpPr>
            <a:grpSpLocks/>
          </p:cNvGrpSpPr>
          <p:nvPr/>
        </p:nvGrpSpPr>
        <p:grpSpPr bwMode="auto">
          <a:xfrm>
            <a:off x="3048000" y="4510088"/>
            <a:ext cx="1697038" cy="1281112"/>
            <a:chOff x="1920" y="2841"/>
            <a:chExt cx="1069" cy="807"/>
          </a:xfrm>
        </p:grpSpPr>
        <p:sp>
          <p:nvSpPr>
            <p:cNvPr id="27679" name="Freeform 1043"/>
            <p:cNvSpPr>
              <a:spLocks/>
            </p:cNvSpPr>
            <p:nvPr/>
          </p:nvSpPr>
          <p:spPr bwMode="auto">
            <a:xfrm>
              <a:off x="1920" y="2841"/>
              <a:ext cx="1065" cy="807"/>
            </a:xfrm>
            <a:custGeom>
              <a:avLst/>
              <a:gdLst>
                <a:gd name="T0" fmla="*/ 0 w 1065"/>
                <a:gd name="T1" fmla="*/ 807 h 807"/>
                <a:gd name="T2" fmla="*/ 227 w 1065"/>
                <a:gd name="T3" fmla="*/ 746 h 807"/>
                <a:gd name="T4" fmla="*/ 397 w 1065"/>
                <a:gd name="T5" fmla="*/ 628 h 807"/>
                <a:gd name="T6" fmla="*/ 777 w 1065"/>
                <a:gd name="T7" fmla="*/ 262 h 807"/>
                <a:gd name="T8" fmla="*/ 960 w 1065"/>
                <a:gd name="T9" fmla="*/ 104 h 807"/>
                <a:gd name="T10" fmla="*/ 1065 w 1065"/>
                <a:gd name="T11" fmla="*/ 0 h 807"/>
                <a:gd name="T12" fmla="*/ 1065 w 1065"/>
                <a:gd name="T13" fmla="*/ 798 h 807"/>
                <a:gd name="T14" fmla="*/ 0 w 1065"/>
                <a:gd name="T15" fmla="*/ 807 h 8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65" h="807">
                  <a:moveTo>
                    <a:pt x="0" y="807"/>
                  </a:moveTo>
                  <a:lnTo>
                    <a:pt x="227" y="746"/>
                  </a:lnTo>
                  <a:lnTo>
                    <a:pt x="397" y="628"/>
                  </a:lnTo>
                  <a:lnTo>
                    <a:pt x="777" y="262"/>
                  </a:lnTo>
                  <a:lnTo>
                    <a:pt x="960" y="104"/>
                  </a:lnTo>
                  <a:lnTo>
                    <a:pt x="1065" y="0"/>
                  </a:lnTo>
                  <a:lnTo>
                    <a:pt x="1065" y="798"/>
                  </a:lnTo>
                  <a:lnTo>
                    <a:pt x="0" y="80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Line 1073"/>
            <p:cNvSpPr>
              <a:spLocks noChangeShapeType="1"/>
            </p:cNvSpPr>
            <p:nvPr/>
          </p:nvSpPr>
          <p:spPr bwMode="auto">
            <a:xfrm>
              <a:off x="2989" y="2858"/>
              <a:ext cx="0" cy="7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7660" name="Rectangle 1045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noFill/>
        </p:spPr>
        <p:txBody>
          <a:bodyPr/>
          <a:lstStyle/>
          <a:p>
            <a:r>
              <a:rPr lang="en-US" altLang="en-US" sz="3600" smtClean="0"/>
              <a:t>Example (cont.) calculating </a:t>
            </a:r>
            <a:r>
              <a:rPr lang="en-US" altLang="en-US" sz="3600" smtClean="0">
                <a:sym typeface="Mathematica1" pitchFamily="2" charset="2"/>
              </a:rPr>
              <a:t></a:t>
            </a:r>
            <a:r>
              <a:rPr lang="en-US" altLang="en-US" sz="3600" smtClean="0"/>
              <a:t> </a:t>
            </a:r>
          </a:p>
        </p:txBody>
      </p:sp>
      <p:grpSp>
        <p:nvGrpSpPr>
          <p:cNvPr id="27661" name="Group 1055"/>
          <p:cNvGrpSpPr>
            <a:grpSpLocks/>
          </p:cNvGrpSpPr>
          <p:nvPr/>
        </p:nvGrpSpPr>
        <p:grpSpPr bwMode="auto">
          <a:xfrm>
            <a:off x="2603500" y="4356100"/>
            <a:ext cx="5334000" cy="1782763"/>
            <a:chOff x="1640" y="2744"/>
            <a:chExt cx="3360" cy="1123"/>
          </a:xfrm>
        </p:grpSpPr>
        <p:sp>
          <p:nvSpPr>
            <p:cNvPr id="27672" name="Text Box 1056"/>
            <p:cNvSpPr txBox="1">
              <a:spLocks noChangeArrowheads="1"/>
            </p:cNvSpPr>
            <p:nvPr/>
          </p:nvSpPr>
          <p:spPr bwMode="auto">
            <a:xfrm>
              <a:off x="3150" y="3636"/>
              <a:ext cx="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m=</a:t>
              </a:r>
              <a:r>
                <a:rPr lang="en-US" altLang="en-US" sz="1800" b="0">
                  <a:solidFill>
                    <a:schemeClr val="tx1"/>
                  </a:solidFill>
                </a:rPr>
                <a:t>180</a:t>
              </a:r>
            </a:p>
          </p:txBody>
        </p:sp>
        <p:grpSp>
          <p:nvGrpSpPr>
            <p:cNvPr id="27673" name="Group 1057"/>
            <p:cNvGrpSpPr>
              <a:grpSpLocks/>
            </p:cNvGrpSpPr>
            <p:nvPr/>
          </p:nvGrpSpPr>
          <p:grpSpPr bwMode="auto">
            <a:xfrm>
              <a:off x="1640" y="2744"/>
              <a:ext cx="3360" cy="908"/>
              <a:chOff x="1152" y="2976"/>
              <a:chExt cx="1680" cy="912"/>
            </a:xfrm>
          </p:grpSpPr>
          <p:grpSp>
            <p:nvGrpSpPr>
              <p:cNvPr id="27674" name="Group 1058"/>
              <p:cNvGrpSpPr>
                <a:grpSpLocks/>
              </p:cNvGrpSpPr>
              <p:nvPr/>
            </p:nvGrpSpPr>
            <p:grpSpPr bwMode="auto">
              <a:xfrm>
                <a:off x="1173" y="2976"/>
                <a:ext cx="1659" cy="912"/>
                <a:chOff x="1776" y="1008"/>
                <a:chExt cx="2256" cy="1008"/>
              </a:xfrm>
            </p:grpSpPr>
            <p:sp>
              <p:nvSpPr>
                <p:cNvPr id="27677" name="Freeform 1059"/>
                <p:cNvSpPr>
                  <a:spLocks/>
                </p:cNvSpPr>
                <p:nvPr/>
              </p:nvSpPr>
              <p:spPr bwMode="auto">
                <a:xfrm>
                  <a:off x="1776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7678" name="Freeform 1060"/>
                <p:cNvSpPr>
                  <a:spLocks/>
                </p:cNvSpPr>
                <p:nvPr/>
              </p:nvSpPr>
              <p:spPr bwMode="auto">
                <a:xfrm flipH="1">
                  <a:off x="2880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7675" name="Line 1061"/>
              <p:cNvSpPr>
                <a:spLocks noChangeShapeType="1"/>
              </p:cNvSpPr>
              <p:nvPr/>
            </p:nvSpPr>
            <p:spPr bwMode="auto">
              <a:xfrm>
                <a:off x="1152" y="3888"/>
                <a:ext cx="16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676" name="Line 1062"/>
              <p:cNvSpPr>
                <a:spLocks noChangeShapeType="1"/>
              </p:cNvSpPr>
              <p:nvPr/>
            </p:nvSpPr>
            <p:spPr bwMode="auto">
              <a:xfrm>
                <a:off x="2003" y="2976"/>
                <a:ext cx="0" cy="9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7662" name="Group 1063"/>
          <p:cNvGrpSpPr>
            <a:grpSpLocks/>
          </p:cNvGrpSpPr>
          <p:nvPr/>
        </p:nvGrpSpPr>
        <p:grpSpPr bwMode="auto">
          <a:xfrm>
            <a:off x="3927475" y="3843338"/>
            <a:ext cx="2244725" cy="804862"/>
            <a:chOff x="2474" y="2421"/>
            <a:chExt cx="1414" cy="507"/>
          </a:xfrm>
        </p:grpSpPr>
        <p:sp>
          <p:nvSpPr>
            <p:cNvPr id="27670" name="Text Box 1064"/>
            <p:cNvSpPr txBox="1">
              <a:spLocks noChangeArrowheads="1"/>
            </p:cNvSpPr>
            <p:nvPr/>
          </p:nvSpPr>
          <p:spPr bwMode="auto">
            <a:xfrm>
              <a:off x="2474" y="2421"/>
              <a:ext cx="1074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1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180</a:t>
              </a:r>
            </a:p>
          </p:txBody>
        </p:sp>
        <p:sp>
          <p:nvSpPr>
            <p:cNvPr id="27671" name="Freeform 1065"/>
            <p:cNvSpPr>
              <a:spLocks/>
            </p:cNvSpPr>
            <p:nvPr/>
          </p:nvSpPr>
          <p:spPr bwMode="auto">
            <a:xfrm>
              <a:off x="3504" y="2496"/>
              <a:ext cx="384" cy="432"/>
            </a:xfrm>
            <a:custGeom>
              <a:avLst/>
              <a:gdLst>
                <a:gd name="T0" fmla="*/ 0 w 384"/>
                <a:gd name="T1" fmla="*/ 0 h 288"/>
                <a:gd name="T2" fmla="*/ 384 w 384"/>
                <a:gd name="T3" fmla="*/ 0 h 288"/>
                <a:gd name="T4" fmla="*/ 384 w 384"/>
                <a:gd name="T5" fmla="*/ 2187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288">
                  <a:moveTo>
                    <a:pt x="0" y="0"/>
                  </a:moveTo>
                  <a:lnTo>
                    <a:pt x="384" y="0"/>
                  </a:lnTo>
                  <a:lnTo>
                    <a:pt x="384" y="28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63" name="Group 1066"/>
          <p:cNvGrpSpPr>
            <a:grpSpLocks/>
          </p:cNvGrpSpPr>
          <p:nvPr/>
        </p:nvGrpSpPr>
        <p:grpSpPr bwMode="auto">
          <a:xfrm>
            <a:off x="3352800" y="3124200"/>
            <a:ext cx="2273300" cy="1143000"/>
            <a:chOff x="2112" y="1968"/>
            <a:chExt cx="1432" cy="720"/>
          </a:xfrm>
        </p:grpSpPr>
        <p:sp>
          <p:nvSpPr>
            <p:cNvPr id="27668" name="Text Box 1067"/>
            <p:cNvSpPr txBox="1">
              <a:spLocks noChangeArrowheads="1"/>
            </p:cNvSpPr>
            <p:nvPr/>
          </p:nvSpPr>
          <p:spPr bwMode="auto">
            <a:xfrm>
              <a:off x="2470" y="1968"/>
              <a:ext cx="10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170</a:t>
              </a: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7669" name="Freeform 1068"/>
            <p:cNvSpPr>
              <a:spLocks/>
            </p:cNvSpPr>
            <p:nvPr/>
          </p:nvSpPr>
          <p:spPr bwMode="auto">
            <a:xfrm>
              <a:off x="2112" y="2160"/>
              <a:ext cx="384" cy="528"/>
            </a:xfrm>
            <a:custGeom>
              <a:avLst/>
              <a:gdLst>
                <a:gd name="T0" fmla="*/ 384 w 384"/>
                <a:gd name="T1" fmla="*/ 0 h 480"/>
                <a:gd name="T2" fmla="*/ 0 w 384"/>
                <a:gd name="T3" fmla="*/ 0 h 480"/>
                <a:gd name="T4" fmla="*/ 0 w 384"/>
                <a:gd name="T5" fmla="*/ 773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480">
                  <a:moveTo>
                    <a:pt x="384" y="0"/>
                  </a:moveTo>
                  <a:lnTo>
                    <a:pt x="0" y="0"/>
                  </a:lnTo>
                  <a:lnTo>
                    <a:pt x="0" y="48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86066" name="Object 1074"/>
          <p:cNvGraphicFramePr>
            <a:graphicFrameLocks noChangeAspect="1"/>
          </p:cNvGraphicFramePr>
          <p:nvPr/>
        </p:nvGraphicFramePr>
        <p:xfrm>
          <a:off x="160338" y="1322388"/>
          <a:ext cx="676433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3" name="Equation" r:id="rId5" imgW="3048000" imgH="457200" progId="Equation.DSMT4">
                  <p:embed/>
                </p:oleObj>
              </mc:Choice>
              <mc:Fallback>
                <p:oleObj name="Equation" r:id="rId5" imgW="3048000" imgH="457200" progId="Equation.DSMT4">
                  <p:embed/>
                  <p:pic>
                    <p:nvPicPr>
                      <p:cNvPr id="0" name="Object 1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1322388"/>
                        <a:ext cx="6764337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67" name="Object 1075"/>
          <p:cNvGraphicFramePr>
            <a:graphicFrameLocks noChangeAspect="1"/>
          </p:cNvGraphicFramePr>
          <p:nvPr/>
        </p:nvGraphicFramePr>
        <p:xfrm>
          <a:off x="1371600" y="2312988"/>
          <a:ext cx="3382963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4" name="Equation" r:id="rId7" imgW="1524000" imgH="393700" progId="Equation.3">
                  <p:embed/>
                </p:oleObj>
              </mc:Choice>
              <mc:Fallback>
                <p:oleObj name="Equation" r:id="rId7" imgW="1524000" imgH="393700" progId="Equation.3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312988"/>
                        <a:ext cx="3382963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69" name="Freeform 1077"/>
          <p:cNvSpPr>
            <a:spLocks/>
          </p:cNvSpPr>
          <p:nvPr/>
        </p:nvSpPr>
        <p:spPr bwMode="auto">
          <a:xfrm>
            <a:off x="1066800" y="1627188"/>
            <a:ext cx="3124200" cy="3859212"/>
          </a:xfrm>
          <a:custGeom>
            <a:avLst/>
            <a:gdLst>
              <a:gd name="T0" fmla="*/ 2147483647 w 1968"/>
              <a:gd name="T1" fmla="*/ 0 h 2496"/>
              <a:gd name="T2" fmla="*/ 0 w 1968"/>
              <a:gd name="T3" fmla="*/ 0 h 2496"/>
              <a:gd name="T4" fmla="*/ 0 w 1968"/>
              <a:gd name="T5" fmla="*/ 2147483647 h 2496"/>
              <a:gd name="T6" fmla="*/ 2147483647 w 1968"/>
              <a:gd name="T7" fmla="*/ 2147483647 h 2496"/>
              <a:gd name="T8" fmla="*/ 2147483647 w 1968"/>
              <a:gd name="T9" fmla="*/ 2147483647 h 24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68" h="2496">
                <a:moveTo>
                  <a:pt x="192" y="0"/>
                </a:moveTo>
                <a:lnTo>
                  <a:pt x="0" y="0"/>
                </a:lnTo>
                <a:lnTo>
                  <a:pt x="0" y="2160"/>
                </a:lnTo>
                <a:lnTo>
                  <a:pt x="1248" y="2160"/>
                </a:lnTo>
                <a:lnTo>
                  <a:pt x="1968" y="249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632450" y="2514600"/>
            <a:ext cx="2743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Power when </a:t>
            </a:r>
            <a:r>
              <a:rPr lang="en-US" altLang="en-US" sz="2400">
                <a:solidFill>
                  <a:schemeClr val="tx1"/>
                </a:solidFill>
                <a:sym typeface="Mathematica1" pitchFamily="2" charset="2"/>
              </a:rPr>
              <a:t>=180</a:t>
            </a:r>
            <a:r>
              <a:rPr lang="en-US" altLang="en-US" sz="2400">
                <a:solidFill>
                  <a:schemeClr val="tx1"/>
                </a:solidFill>
              </a:rPr>
              <a:t> = 1-</a:t>
            </a:r>
            <a:r>
              <a:rPr lang="en-US" altLang="en-US" sz="2400">
                <a:solidFill>
                  <a:schemeClr val="tx1"/>
                </a:solidFill>
                <a:sym typeface="Mathematica1" pitchFamily="2" charset="2"/>
              </a:rPr>
              <a:t>(180)=.9236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6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6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69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B504E76-1561-4F3B-A252-D4BEE5D8417F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8675" name="Rectangle 4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Increasing the significance level </a:t>
            </a:r>
            <a:r>
              <a:rPr lang="en-US" altLang="en-US" smtClean="0">
                <a:latin typeface="Symbol" charset="2"/>
              </a:rPr>
              <a:t>a,</a:t>
            </a:r>
            <a:r>
              <a:rPr lang="en-US" altLang="en-US" smtClean="0"/>
              <a:t> decreases the value of </a:t>
            </a:r>
            <a:r>
              <a:rPr lang="en-US" altLang="en-US" smtClean="0">
                <a:latin typeface="Symbol" charset="2"/>
              </a:rPr>
              <a:t>b, </a:t>
            </a:r>
            <a:r>
              <a:rPr lang="en-US" altLang="en-US" smtClean="0"/>
              <a:t>and vice versa</a:t>
            </a:r>
            <a:r>
              <a:rPr lang="en-US" altLang="en-US" smtClean="0">
                <a:latin typeface="Symbol" charset="2"/>
              </a:rPr>
              <a:t>.</a:t>
            </a:r>
            <a:r>
              <a:rPr lang="en-US" altLang="en-US" smtClean="0"/>
              <a:t> </a:t>
            </a: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Effects on </a:t>
            </a:r>
            <a:r>
              <a:rPr lang="en-US" altLang="en-US" sz="4000" smtClean="0">
                <a:latin typeface="Symbol" charset="2"/>
              </a:rPr>
              <a:t>b</a:t>
            </a:r>
            <a:r>
              <a:rPr lang="en-US" altLang="en-US" sz="4000" smtClean="0"/>
              <a:t> of changing </a:t>
            </a:r>
            <a:r>
              <a:rPr lang="en-US" altLang="en-US" sz="4000" smtClean="0">
                <a:latin typeface="Symbol" charset="2"/>
              </a:rPr>
              <a:t>a</a:t>
            </a:r>
          </a:p>
        </p:txBody>
      </p:sp>
      <p:grpSp>
        <p:nvGrpSpPr>
          <p:cNvPr id="28677" name="Group 4"/>
          <p:cNvGrpSpPr>
            <a:grpSpLocks/>
          </p:cNvGrpSpPr>
          <p:nvPr/>
        </p:nvGrpSpPr>
        <p:grpSpPr bwMode="auto">
          <a:xfrm>
            <a:off x="3048000" y="4510088"/>
            <a:ext cx="1697038" cy="1281112"/>
            <a:chOff x="1920" y="2841"/>
            <a:chExt cx="1069" cy="807"/>
          </a:xfrm>
        </p:grpSpPr>
        <p:sp>
          <p:nvSpPr>
            <p:cNvPr id="28710" name="Freeform 5"/>
            <p:cNvSpPr>
              <a:spLocks/>
            </p:cNvSpPr>
            <p:nvPr/>
          </p:nvSpPr>
          <p:spPr bwMode="auto">
            <a:xfrm>
              <a:off x="1920" y="2841"/>
              <a:ext cx="1065" cy="807"/>
            </a:xfrm>
            <a:custGeom>
              <a:avLst/>
              <a:gdLst>
                <a:gd name="T0" fmla="*/ 0 w 1065"/>
                <a:gd name="T1" fmla="*/ 807 h 807"/>
                <a:gd name="T2" fmla="*/ 227 w 1065"/>
                <a:gd name="T3" fmla="*/ 746 h 807"/>
                <a:gd name="T4" fmla="*/ 397 w 1065"/>
                <a:gd name="T5" fmla="*/ 628 h 807"/>
                <a:gd name="T6" fmla="*/ 777 w 1065"/>
                <a:gd name="T7" fmla="*/ 262 h 807"/>
                <a:gd name="T8" fmla="*/ 960 w 1065"/>
                <a:gd name="T9" fmla="*/ 104 h 807"/>
                <a:gd name="T10" fmla="*/ 1065 w 1065"/>
                <a:gd name="T11" fmla="*/ 0 h 807"/>
                <a:gd name="T12" fmla="*/ 1065 w 1065"/>
                <a:gd name="T13" fmla="*/ 798 h 807"/>
                <a:gd name="T14" fmla="*/ 0 w 1065"/>
                <a:gd name="T15" fmla="*/ 807 h 8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65" h="807">
                  <a:moveTo>
                    <a:pt x="0" y="807"/>
                  </a:moveTo>
                  <a:lnTo>
                    <a:pt x="227" y="746"/>
                  </a:lnTo>
                  <a:lnTo>
                    <a:pt x="397" y="628"/>
                  </a:lnTo>
                  <a:lnTo>
                    <a:pt x="777" y="262"/>
                  </a:lnTo>
                  <a:lnTo>
                    <a:pt x="960" y="104"/>
                  </a:lnTo>
                  <a:lnTo>
                    <a:pt x="1065" y="0"/>
                  </a:lnTo>
                  <a:lnTo>
                    <a:pt x="1065" y="798"/>
                  </a:lnTo>
                  <a:lnTo>
                    <a:pt x="0" y="80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1" name="Line 6"/>
            <p:cNvSpPr>
              <a:spLocks noChangeShapeType="1"/>
            </p:cNvSpPr>
            <p:nvPr/>
          </p:nvSpPr>
          <p:spPr bwMode="auto">
            <a:xfrm>
              <a:off x="2989" y="2858"/>
              <a:ext cx="0" cy="7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8678" name="Freeform 8"/>
          <p:cNvSpPr>
            <a:spLocks/>
          </p:cNvSpPr>
          <p:nvPr/>
        </p:nvSpPr>
        <p:spPr bwMode="auto">
          <a:xfrm>
            <a:off x="4745038" y="5334000"/>
            <a:ext cx="838200" cy="457200"/>
          </a:xfrm>
          <a:custGeom>
            <a:avLst/>
            <a:gdLst>
              <a:gd name="T0" fmla="*/ 0 w 528"/>
              <a:gd name="T1" fmla="*/ 0 h 288"/>
              <a:gd name="T2" fmla="*/ 2147483647 w 528"/>
              <a:gd name="T3" fmla="*/ 2147483647 h 288"/>
              <a:gd name="T4" fmla="*/ 2147483647 w 528"/>
              <a:gd name="T5" fmla="*/ 2147483647 h 288"/>
              <a:gd name="T6" fmla="*/ 2147483647 w 528"/>
              <a:gd name="T7" fmla="*/ 2147483647 h 288"/>
              <a:gd name="T8" fmla="*/ 2147483647 w 528"/>
              <a:gd name="T9" fmla="*/ 2147483647 h 288"/>
              <a:gd name="T10" fmla="*/ 0 w 528"/>
              <a:gd name="T11" fmla="*/ 0 h 2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28" h="288">
                <a:moveTo>
                  <a:pt x="0" y="0"/>
                </a:moveTo>
                <a:lnTo>
                  <a:pt x="9" y="288"/>
                </a:lnTo>
                <a:lnTo>
                  <a:pt x="528" y="288"/>
                </a:lnTo>
                <a:lnTo>
                  <a:pt x="323" y="240"/>
                </a:lnTo>
                <a:lnTo>
                  <a:pt x="140" y="1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15"/>
          <p:cNvSpPr>
            <a:spLocks noChangeShapeType="1"/>
          </p:cNvSpPr>
          <p:nvPr/>
        </p:nvSpPr>
        <p:spPr bwMode="auto">
          <a:xfrm>
            <a:off x="4743450" y="53467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19"/>
          <p:cNvSpPr>
            <a:spLocks noChangeShapeType="1"/>
          </p:cNvSpPr>
          <p:nvPr/>
        </p:nvSpPr>
        <p:spPr bwMode="auto">
          <a:xfrm>
            <a:off x="838200" y="5797550"/>
            <a:ext cx="50625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1" name="Line 20"/>
          <p:cNvSpPr>
            <a:spLocks noChangeShapeType="1"/>
          </p:cNvSpPr>
          <p:nvPr/>
        </p:nvSpPr>
        <p:spPr bwMode="auto">
          <a:xfrm>
            <a:off x="3402013" y="4370388"/>
            <a:ext cx="0" cy="1412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Text Box 22"/>
          <p:cNvSpPr txBox="1">
            <a:spLocks noChangeArrowheads="1"/>
          </p:cNvSpPr>
          <p:nvPr/>
        </p:nvSpPr>
        <p:spPr bwMode="auto">
          <a:xfrm>
            <a:off x="2995613" y="5765800"/>
            <a:ext cx="7921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altLang="en-US" sz="1800" b="0">
                <a:solidFill>
                  <a:schemeClr val="tx1"/>
                </a:solidFill>
              </a:rPr>
              <a:t>= 170</a:t>
            </a:r>
          </a:p>
        </p:txBody>
      </p:sp>
      <p:sp>
        <p:nvSpPr>
          <p:cNvPr id="28683" name="Text Box 24"/>
          <p:cNvSpPr txBox="1">
            <a:spLocks noChangeArrowheads="1"/>
          </p:cNvSpPr>
          <p:nvPr/>
        </p:nvSpPr>
        <p:spPr bwMode="auto">
          <a:xfrm>
            <a:off x="5000625" y="577215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Symbol" charset="2"/>
              </a:rPr>
              <a:t>m=</a:t>
            </a:r>
            <a:r>
              <a:rPr lang="en-US" altLang="en-US" sz="1800" b="0">
                <a:solidFill>
                  <a:schemeClr val="tx1"/>
                </a:solidFill>
              </a:rPr>
              <a:t>180</a:t>
            </a:r>
          </a:p>
        </p:txBody>
      </p:sp>
      <p:sp>
        <p:nvSpPr>
          <p:cNvPr id="28684" name="Line 29"/>
          <p:cNvSpPr>
            <a:spLocks noChangeShapeType="1"/>
          </p:cNvSpPr>
          <p:nvPr/>
        </p:nvSpPr>
        <p:spPr bwMode="auto">
          <a:xfrm>
            <a:off x="2603500" y="5797550"/>
            <a:ext cx="533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5" name="Line 30"/>
          <p:cNvSpPr>
            <a:spLocks noChangeShapeType="1"/>
          </p:cNvSpPr>
          <p:nvPr/>
        </p:nvSpPr>
        <p:spPr bwMode="auto">
          <a:xfrm>
            <a:off x="5305425" y="4356100"/>
            <a:ext cx="0" cy="1441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686" name="Group 44"/>
          <p:cNvGrpSpPr>
            <a:grpSpLocks/>
          </p:cNvGrpSpPr>
          <p:nvPr/>
        </p:nvGrpSpPr>
        <p:grpSpPr bwMode="auto">
          <a:xfrm>
            <a:off x="901700" y="4370388"/>
            <a:ext cx="4999038" cy="1427162"/>
            <a:chOff x="568" y="2753"/>
            <a:chExt cx="3149" cy="899"/>
          </a:xfrm>
        </p:grpSpPr>
        <p:sp>
          <p:nvSpPr>
            <p:cNvPr id="28708" name="Freeform 12"/>
            <p:cNvSpPr>
              <a:spLocks/>
            </p:cNvSpPr>
            <p:nvPr/>
          </p:nvSpPr>
          <p:spPr bwMode="auto">
            <a:xfrm>
              <a:off x="568" y="2753"/>
              <a:ext cx="1608" cy="899"/>
            </a:xfrm>
            <a:custGeom>
              <a:avLst/>
              <a:gdLst>
                <a:gd name="T0" fmla="*/ 0 w 1152"/>
                <a:gd name="T1" fmla="*/ 569 h 1008"/>
                <a:gd name="T2" fmla="*/ 2034 w 1152"/>
                <a:gd name="T3" fmla="*/ 489 h 1008"/>
                <a:gd name="T4" fmla="*/ 4577 w 1152"/>
                <a:gd name="T5" fmla="*/ 81 h 1008"/>
                <a:gd name="T6" fmla="*/ 6107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09" name="Freeform 13"/>
            <p:cNvSpPr>
              <a:spLocks/>
            </p:cNvSpPr>
            <p:nvPr/>
          </p:nvSpPr>
          <p:spPr bwMode="auto">
            <a:xfrm flipH="1">
              <a:off x="2109" y="2753"/>
              <a:ext cx="1608" cy="899"/>
            </a:xfrm>
            <a:custGeom>
              <a:avLst/>
              <a:gdLst>
                <a:gd name="T0" fmla="*/ 0 w 1152"/>
                <a:gd name="T1" fmla="*/ 569 h 1008"/>
                <a:gd name="T2" fmla="*/ 2034 w 1152"/>
                <a:gd name="T3" fmla="*/ 489 h 1008"/>
                <a:gd name="T4" fmla="*/ 4577 w 1152"/>
                <a:gd name="T5" fmla="*/ 81 h 1008"/>
                <a:gd name="T6" fmla="*/ 6107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8115" name="Group 51"/>
          <p:cNvGrpSpPr>
            <a:grpSpLocks/>
          </p:cNvGrpSpPr>
          <p:nvPr/>
        </p:nvGrpSpPr>
        <p:grpSpPr bwMode="auto">
          <a:xfrm>
            <a:off x="3124200" y="4724400"/>
            <a:ext cx="2514600" cy="1066800"/>
            <a:chOff x="1968" y="2976"/>
            <a:chExt cx="1584" cy="672"/>
          </a:xfrm>
        </p:grpSpPr>
        <p:grpSp>
          <p:nvGrpSpPr>
            <p:cNvPr id="28702" name="Group 46"/>
            <p:cNvGrpSpPr>
              <a:grpSpLocks/>
            </p:cNvGrpSpPr>
            <p:nvPr/>
          </p:nvGrpSpPr>
          <p:grpSpPr bwMode="auto">
            <a:xfrm>
              <a:off x="1968" y="2976"/>
              <a:ext cx="1584" cy="672"/>
              <a:chOff x="1968" y="2976"/>
              <a:chExt cx="1584" cy="672"/>
            </a:xfrm>
          </p:grpSpPr>
          <p:sp>
            <p:nvSpPr>
              <p:cNvPr id="28704" name="Freeform 38"/>
              <p:cNvSpPr>
                <a:spLocks/>
              </p:cNvSpPr>
              <p:nvPr/>
            </p:nvSpPr>
            <p:spPr bwMode="auto">
              <a:xfrm>
                <a:off x="2832" y="3216"/>
                <a:ext cx="720" cy="432"/>
              </a:xfrm>
              <a:custGeom>
                <a:avLst/>
                <a:gdLst>
                  <a:gd name="T0" fmla="*/ 0 w 528"/>
                  <a:gd name="T1" fmla="*/ 0 h 288"/>
                  <a:gd name="T2" fmla="*/ 41 w 528"/>
                  <a:gd name="T3" fmla="*/ 2187 h 288"/>
                  <a:gd name="T4" fmla="*/ 2490 w 528"/>
                  <a:gd name="T5" fmla="*/ 2187 h 288"/>
                  <a:gd name="T6" fmla="*/ 1520 w 528"/>
                  <a:gd name="T7" fmla="*/ 1823 h 288"/>
                  <a:gd name="T8" fmla="*/ 660 w 528"/>
                  <a:gd name="T9" fmla="*/ 930 h 288"/>
                  <a:gd name="T10" fmla="*/ 0 w 528"/>
                  <a:gd name="T11" fmla="*/ 0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8" h="288">
                    <a:moveTo>
                      <a:pt x="0" y="0"/>
                    </a:moveTo>
                    <a:lnTo>
                      <a:pt x="9" y="288"/>
                    </a:lnTo>
                    <a:lnTo>
                      <a:pt x="528" y="288"/>
                    </a:lnTo>
                    <a:lnTo>
                      <a:pt x="323" y="240"/>
                    </a:lnTo>
                    <a:lnTo>
                      <a:pt x="140" y="1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705" name="Group 39"/>
              <p:cNvGrpSpPr>
                <a:grpSpLocks/>
              </p:cNvGrpSpPr>
              <p:nvPr/>
            </p:nvGrpSpPr>
            <p:grpSpPr bwMode="auto">
              <a:xfrm>
                <a:off x="1968" y="2976"/>
                <a:ext cx="869" cy="663"/>
                <a:chOff x="1920" y="2841"/>
                <a:chExt cx="1069" cy="807"/>
              </a:xfrm>
            </p:grpSpPr>
            <p:sp>
              <p:nvSpPr>
                <p:cNvPr id="28706" name="Freeform 40"/>
                <p:cNvSpPr>
                  <a:spLocks/>
                </p:cNvSpPr>
                <p:nvPr/>
              </p:nvSpPr>
              <p:spPr bwMode="auto">
                <a:xfrm>
                  <a:off x="1920" y="2841"/>
                  <a:ext cx="1065" cy="807"/>
                </a:xfrm>
                <a:custGeom>
                  <a:avLst/>
                  <a:gdLst>
                    <a:gd name="T0" fmla="*/ 0 w 1065"/>
                    <a:gd name="T1" fmla="*/ 807 h 807"/>
                    <a:gd name="T2" fmla="*/ 227 w 1065"/>
                    <a:gd name="T3" fmla="*/ 746 h 807"/>
                    <a:gd name="T4" fmla="*/ 397 w 1065"/>
                    <a:gd name="T5" fmla="*/ 628 h 807"/>
                    <a:gd name="T6" fmla="*/ 777 w 1065"/>
                    <a:gd name="T7" fmla="*/ 262 h 807"/>
                    <a:gd name="T8" fmla="*/ 960 w 1065"/>
                    <a:gd name="T9" fmla="*/ 104 h 807"/>
                    <a:gd name="T10" fmla="*/ 1065 w 1065"/>
                    <a:gd name="T11" fmla="*/ 0 h 807"/>
                    <a:gd name="T12" fmla="*/ 1065 w 1065"/>
                    <a:gd name="T13" fmla="*/ 798 h 807"/>
                    <a:gd name="T14" fmla="*/ 0 w 1065"/>
                    <a:gd name="T15" fmla="*/ 807 h 80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65" h="807">
                      <a:moveTo>
                        <a:pt x="0" y="807"/>
                      </a:moveTo>
                      <a:lnTo>
                        <a:pt x="227" y="746"/>
                      </a:lnTo>
                      <a:lnTo>
                        <a:pt x="397" y="628"/>
                      </a:lnTo>
                      <a:lnTo>
                        <a:pt x="777" y="262"/>
                      </a:lnTo>
                      <a:lnTo>
                        <a:pt x="960" y="104"/>
                      </a:lnTo>
                      <a:lnTo>
                        <a:pt x="1065" y="0"/>
                      </a:lnTo>
                      <a:lnTo>
                        <a:pt x="1065" y="798"/>
                      </a:lnTo>
                      <a:lnTo>
                        <a:pt x="0" y="807"/>
                      </a:lnTo>
                      <a:close/>
                    </a:path>
                  </a:pathLst>
                </a:custGeom>
                <a:solidFill>
                  <a:srgbClr val="E800E8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7" name="Line 41"/>
                <p:cNvSpPr>
                  <a:spLocks noChangeShapeType="1"/>
                </p:cNvSpPr>
                <p:nvPr/>
              </p:nvSpPr>
              <p:spPr bwMode="auto">
                <a:xfrm>
                  <a:off x="2989" y="2858"/>
                  <a:ext cx="0" cy="77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28703" name="Line 37"/>
            <p:cNvSpPr>
              <a:spLocks noChangeShapeType="1"/>
            </p:cNvSpPr>
            <p:nvPr/>
          </p:nvSpPr>
          <p:spPr bwMode="auto">
            <a:xfrm flipV="1">
              <a:off x="2832" y="2976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88" name="Text Box 47"/>
          <p:cNvSpPr txBox="1">
            <a:spLocks noChangeArrowheads="1"/>
          </p:cNvSpPr>
          <p:nvPr/>
        </p:nvSpPr>
        <p:spPr bwMode="auto">
          <a:xfrm>
            <a:off x="5065713" y="3408363"/>
            <a:ext cx="477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Symbol" charset="2"/>
              </a:rPr>
              <a:t>a</a:t>
            </a:r>
            <a:r>
              <a:rPr lang="en-US" altLang="en-US" sz="2400" baseline="-25000">
                <a:solidFill>
                  <a:schemeClr val="tx1"/>
                </a:solidFill>
                <a:latin typeface="Symbol" charset="2"/>
              </a:rPr>
              <a:t>1</a:t>
            </a:r>
            <a:endParaRPr lang="en-US" altLang="en-US" sz="2400">
              <a:solidFill>
                <a:schemeClr val="tx1"/>
              </a:solidFill>
              <a:latin typeface="Symbol" charset="2"/>
            </a:endParaRPr>
          </a:p>
        </p:txBody>
      </p:sp>
      <p:sp>
        <p:nvSpPr>
          <p:cNvPr id="28689" name="Text Box 48"/>
          <p:cNvSpPr txBox="1">
            <a:spLocks noChangeArrowheads="1"/>
          </p:cNvSpPr>
          <p:nvPr/>
        </p:nvSpPr>
        <p:spPr bwMode="auto">
          <a:xfrm>
            <a:off x="3454400" y="3463925"/>
            <a:ext cx="454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Symbol" charset="2"/>
              </a:rPr>
              <a:t>b</a:t>
            </a:r>
            <a:r>
              <a:rPr lang="en-US" altLang="en-US" sz="2400" baseline="-25000">
                <a:solidFill>
                  <a:schemeClr val="tx1"/>
                </a:solidFill>
                <a:latin typeface="Symbol" charset="2"/>
              </a:rPr>
              <a:t>1</a:t>
            </a:r>
            <a:endParaRPr lang="en-US" altLang="en-US" sz="2400">
              <a:solidFill>
                <a:schemeClr val="tx1"/>
              </a:solidFill>
              <a:latin typeface="Symbol" charset="2"/>
            </a:endParaRPr>
          </a:p>
        </p:txBody>
      </p:sp>
      <p:grpSp>
        <p:nvGrpSpPr>
          <p:cNvPr id="88121" name="Group 57"/>
          <p:cNvGrpSpPr>
            <a:grpSpLocks/>
          </p:cNvGrpSpPr>
          <p:nvPr/>
        </p:nvGrpSpPr>
        <p:grpSpPr bwMode="auto">
          <a:xfrm>
            <a:off x="3733800" y="3884613"/>
            <a:ext cx="1514475" cy="1649412"/>
            <a:chOff x="2352" y="2447"/>
            <a:chExt cx="954" cy="1039"/>
          </a:xfrm>
        </p:grpSpPr>
        <p:sp>
          <p:nvSpPr>
            <p:cNvPr id="28700" name="Line 49"/>
            <p:cNvSpPr>
              <a:spLocks noChangeShapeType="1"/>
            </p:cNvSpPr>
            <p:nvPr/>
          </p:nvSpPr>
          <p:spPr bwMode="auto">
            <a:xfrm>
              <a:off x="2352" y="2448"/>
              <a:ext cx="28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Line 50"/>
            <p:cNvSpPr>
              <a:spLocks noChangeShapeType="1"/>
            </p:cNvSpPr>
            <p:nvPr/>
          </p:nvSpPr>
          <p:spPr bwMode="auto">
            <a:xfrm flipH="1">
              <a:off x="3053" y="2447"/>
              <a:ext cx="253" cy="1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91" name="Group 42"/>
          <p:cNvGrpSpPr>
            <a:grpSpLocks/>
          </p:cNvGrpSpPr>
          <p:nvPr/>
        </p:nvGrpSpPr>
        <p:grpSpPr bwMode="auto">
          <a:xfrm>
            <a:off x="2670175" y="4356100"/>
            <a:ext cx="5267325" cy="1441450"/>
            <a:chOff x="1682" y="2744"/>
            <a:chExt cx="3318" cy="908"/>
          </a:xfrm>
        </p:grpSpPr>
        <p:sp>
          <p:nvSpPr>
            <p:cNvPr id="28698" name="Freeform 27"/>
            <p:cNvSpPr>
              <a:spLocks/>
            </p:cNvSpPr>
            <p:nvPr/>
          </p:nvSpPr>
          <p:spPr bwMode="auto">
            <a:xfrm>
              <a:off x="1682" y="2744"/>
              <a:ext cx="1694" cy="908"/>
            </a:xfrm>
            <a:custGeom>
              <a:avLst/>
              <a:gdLst>
                <a:gd name="T0" fmla="*/ 0 w 1152"/>
                <a:gd name="T1" fmla="*/ 598 h 1008"/>
                <a:gd name="T2" fmla="*/ 2642 w 1152"/>
                <a:gd name="T3" fmla="*/ 512 h 1008"/>
                <a:gd name="T4" fmla="*/ 5942 w 1152"/>
                <a:gd name="T5" fmla="*/ 86 h 1008"/>
                <a:gd name="T6" fmla="*/ 7920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699" name="Freeform 28"/>
            <p:cNvSpPr>
              <a:spLocks/>
            </p:cNvSpPr>
            <p:nvPr/>
          </p:nvSpPr>
          <p:spPr bwMode="auto">
            <a:xfrm flipH="1">
              <a:off x="3306" y="2744"/>
              <a:ext cx="1694" cy="908"/>
            </a:xfrm>
            <a:custGeom>
              <a:avLst/>
              <a:gdLst>
                <a:gd name="T0" fmla="*/ 0 w 1152"/>
                <a:gd name="T1" fmla="*/ 598 h 1008"/>
                <a:gd name="T2" fmla="*/ 2642 w 1152"/>
                <a:gd name="T3" fmla="*/ 512 h 1008"/>
                <a:gd name="T4" fmla="*/ 5942 w 1152"/>
                <a:gd name="T5" fmla="*/ 86 h 1008"/>
                <a:gd name="T6" fmla="*/ 7920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8122" name="Group 58"/>
          <p:cNvGrpSpPr>
            <a:grpSpLocks/>
          </p:cNvGrpSpPr>
          <p:nvPr/>
        </p:nvGrpSpPr>
        <p:grpSpPr bwMode="auto">
          <a:xfrm>
            <a:off x="2908300" y="3422650"/>
            <a:ext cx="2262188" cy="2139950"/>
            <a:chOff x="1832" y="2156"/>
            <a:chExt cx="1425" cy="1348"/>
          </a:xfrm>
        </p:grpSpPr>
        <p:grpSp>
          <p:nvGrpSpPr>
            <p:cNvPr id="28693" name="Group 54"/>
            <p:cNvGrpSpPr>
              <a:grpSpLocks/>
            </p:cNvGrpSpPr>
            <p:nvPr/>
          </p:nvGrpSpPr>
          <p:grpSpPr bwMode="auto">
            <a:xfrm>
              <a:off x="1832" y="2156"/>
              <a:ext cx="1425" cy="336"/>
              <a:chOff x="1832" y="2156"/>
              <a:chExt cx="1425" cy="336"/>
            </a:xfrm>
          </p:grpSpPr>
          <p:sp>
            <p:nvSpPr>
              <p:cNvPr id="28696" name="Text Box 52"/>
              <p:cNvSpPr txBox="1">
                <a:spLocks noChangeArrowheads="1"/>
              </p:cNvSpPr>
              <p:nvPr/>
            </p:nvSpPr>
            <p:spPr bwMode="auto">
              <a:xfrm>
                <a:off x="2782" y="2156"/>
                <a:ext cx="47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har char="•"/>
                  <a:defRPr sz="3200">
                    <a:solidFill>
                      <a:schemeClr val="accent2"/>
                    </a:solidFill>
                    <a:latin typeface="Arial Narrow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har char="–"/>
                  <a:defRPr sz="2800">
                    <a:solidFill>
                      <a:schemeClr val="accent2"/>
                    </a:solidFill>
                    <a:latin typeface="Arial Narrow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 Narrow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tx1"/>
                    </a:solidFill>
                    <a:latin typeface="Symbol" charset="2"/>
                  </a:rPr>
                  <a:t>a</a:t>
                </a:r>
                <a:r>
                  <a:rPr lang="en-US" altLang="en-US" sz="2400" baseline="-250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>
                    <a:solidFill>
                      <a:schemeClr val="tx1"/>
                    </a:solidFill>
                  </a:rPr>
                  <a:t>  &gt;</a:t>
                </a:r>
              </a:p>
            </p:txBody>
          </p:sp>
          <p:sp>
            <p:nvSpPr>
              <p:cNvPr id="28697" name="Text Box 53"/>
              <p:cNvSpPr txBox="1">
                <a:spLocks noChangeArrowheads="1"/>
              </p:cNvSpPr>
              <p:nvPr/>
            </p:nvSpPr>
            <p:spPr bwMode="auto">
              <a:xfrm>
                <a:off x="1832" y="2204"/>
                <a:ext cx="4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har char="•"/>
                  <a:defRPr sz="3200">
                    <a:solidFill>
                      <a:schemeClr val="accent2"/>
                    </a:solidFill>
                    <a:latin typeface="Arial Narrow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har char="–"/>
                  <a:defRPr sz="2800">
                    <a:solidFill>
                      <a:schemeClr val="accent2"/>
                    </a:solidFill>
                    <a:latin typeface="Arial Narrow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 Narrow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tx1"/>
                    </a:solidFill>
                    <a:latin typeface="Symbol" charset="2"/>
                  </a:rPr>
                  <a:t>b</a:t>
                </a:r>
                <a:r>
                  <a:rPr lang="en-US" altLang="en-US" sz="2400" baseline="-250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>
                    <a:solidFill>
                      <a:schemeClr val="tx1"/>
                    </a:solidFill>
                  </a:rPr>
                  <a:t> &lt; </a:t>
                </a:r>
              </a:p>
            </p:txBody>
          </p:sp>
        </p:grpSp>
        <p:sp>
          <p:nvSpPr>
            <p:cNvPr id="28694" name="Line 55"/>
            <p:cNvSpPr>
              <a:spLocks noChangeShapeType="1"/>
            </p:cNvSpPr>
            <p:nvPr/>
          </p:nvSpPr>
          <p:spPr bwMode="auto">
            <a:xfrm>
              <a:off x="2064" y="2544"/>
              <a:ext cx="48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5" name="Line 56"/>
            <p:cNvSpPr>
              <a:spLocks noChangeShapeType="1"/>
            </p:cNvSpPr>
            <p:nvPr/>
          </p:nvSpPr>
          <p:spPr bwMode="auto">
            <a:xfrm>
              <a:off x="2928" y="240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84D2601-ED96-4E7A-9D07-93358F9302A0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01000" cy="4572000"/>
          </a:xfrm>
        </p:spPr>
        <p:txBody>
          <a:bodyPr/>
          <a:lstStyle/>
          <a:p>
            <a:endParaRPr lang="en-US" altLang="en-US" smtClean="0"/>
          </a:p>
          <a:p>
            <a:r>
              <a:rPr lang="en-US" altLang="en-US" smtClean="0"/>
              <a:t>A hypothesis test is effectively defined by the significance level </a:t>
            </a:r>
            <a:r>
              <a:rPr lang="en-US" altLang="en-US" smtClean="0">
                <a:latin typeface="Symbol" charset="2"/>
              </a:rPr>
              <a:t>a </a:t>
            </a:r>
            <a:r>
              <a:rPr lang="en-US" altLang="en-US" smtClean="0"/>
              <a:t>and by the sample size n.</a:t>
            </a:r>
            <a:br>
              <a:rPr lang="en-US" altLang="en-US" smtClean="0"/>
            </a:br>
            <a:endParaRPr lang="en-US" altLang="en-US" smtClean="0"/>
          </a:p>
          <a:p>
            <a:r>
              <a:rPr lang="en-US" altLang="en-US" smtClean="0"/>
              <a:t>If the probability of a Type II error </a:t>
            </a:r>
            <a:r>
              <a:rPr lang="en-US" altLang="en-US" smtClean="0">
                <a:latin typeface="Symbol" charset="2"/>
              </a:rPr>
              <a:t>b </a:t>
            </a:r>
            <a:r>
              <a:rPr lang="en-US" altLang="en-US" smtClean="0"/>
              <a:t>is judged to be too large, we can reduce it by</a:t>
            </a:r>
          </a:p>
          <a:p>
            <a:pPr lvl="1"/>
            <a:r>
              <a:rPr lang="en-US" altLang="en-US" smtClean="0"/>
              <a:t>increasing </a:t>
            </a:r>
            <a:r>
              <a:rPr lang="en-US" altLang="en-US" smtClean="0">
                <a:latin typeface="Symbol" charset="2"/>
              </a:rPr>
              <a:t>a</a:t>
            </a:r>
            <a:r>
              <a:rPr lang="en-US" altLang="en-US" smtClean="0"/>
              <a:t>, and/or</a:t>
            </a:r>
          </a:p>
          <a:p>
            <a:pPr lvl="1"/>
            <a:r>
              <a:rPr lang="en-US" altLang="en-US" smtClean="0"/>
              <a:t>increasing the sample size.</a:t>
            </a: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z="4000" smtClean="0"/>
              <a:t>Judging the Test</a:t>
            </a:r>
            <a:endParaRPr lang="en-US" altLang="en-US" sz="4000" smtClean="0">
              <a:latin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E7DF60B8-561F-436D-A3A7-BABA01EC37E3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762000"/>
          </a:xfrm>
        </p:spPr>
        <p:txBody>
          <a:bodyPr/>
          <a:lstStyle/>
          <a:p>
            <a:r>
              <a:rPr lang="en-US" altLang="en-US" smtClean="0"/>
              <a:t>Increasing the sample size reduces </a:t>
            </a:r>
            <a:r>
              <a:rPr lang="en-US" altLang="en-US" smtClean="0">
                <a:latin typeface="Symbol" charset="2"/>
              </a:rPr>
              <a:t>b</a:t>
            </a:r>
            <a:endParaRPr lang="en-US" altLang="en-US" smtClean="0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z="4000" smtClean="0"/>
              <a:t>Judging the Test</a:t>
            </a:r>
            <a:endParaRPr lang="en-US" altLang="en-US" sz="4000" smtClean="0">
              <a:latin typeface="Symbol" charset="2"/>
            </a:endParaRP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2133600" y="3908425"/>
            <a:ext cx="4419600" cy="2308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By increasing the sample size the standard deviation of the sampling distribution of the mean decreases.  </a:t>
            </a:r>
            <a:br>
              <a:rPr lang="en-US" altLang="en-US" sz="2400" b="0">
                <a:solidFill>
                  <a:schemeClr val="tx1"/>
                </a:solidFill>
              </a:rPr>
            </a:br>
            <a:r>
              <a:rPr lang="en-US" altLang="en-US" sz="2400" b="0">
                <a:solidFill>
                  <a:schemeClr val="tx1"/>
                </a:solidFill>
              </a:rPr>
              <a:t>Thus, the cutoff value of      for the rejection region decreases.</a:t>
            </a:r>
            <a:br>
              <a:rPr lang="en-US" altLang="en-US" sz="2400" b="0">
                <a:solidFill>
                  <a:schemeClr val="tx1"/>
                </a:solidFill>
              </a:rPr>
            </a:br>
            <a:r>
              <a:rPr lang="en-US" altLang="en-US" sz="2400" b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90120" name="Object 8"/>
          <p:cNvGraphicFramePr>
            <a:graphicFrameLocks noChangeAspect="1"/>
          </p:cNvGraphicFramePr>
          <p:nvPr/>
        </p:nvGraphicFramePr>
        <p:xfrm>
          <a:off x="838200" y="2667000"/>
          <a:ext cx="67040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3" imgW="2971800" imgH="444500" progId="Equation.DSMT4">
                  <p:embed/>
                </p:oleObj>
              </mc:Choice>
              <mc:Fallback>
                <p:oleObj name="Equation" r:id="rId3" imgW="2971800" imgH="444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667000"/>
                        <a:ext cx="67040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76800" y="5053572"/>
            <a:ext cx="418704" cy="46166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C1401D06-8E1E-40A3-9DF7-56A33C03936A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89176" name="Group 88"/>
          <p:cNvGrpSpPr>
            <a:grpSpLocks/>
          </p:cNvGrpSpPr>
          <p:nvPr/>
        </p:nvGrpSpPr>
        <p:grpSpPr bwMode="auto">
          <a:xfrm>
            <a:off x="838200" y="4779963"/>
            <a:ext cx="7099300" cy="1925637"/>
            <a:chOff x="528" y="3011"/>
            <a:chExt cx="4472" cy="1213"/>
          </a:xfrm>
        </p:grpSpPr>
        <p:grpSp>
          <p:nvGrpSpPr>
            <p:cNvPr id="31769" name="Group 82"/>
            <p:cNvGrpSpPr>
              <a:grpSpLocks/>
            </p:cNvGrpSpPr>
            <p:nvPr/>
          </p:nvGrpSpPr>
          <p:grpSpPr bwMode="auto">
            <a:xfrm>
              <a:off x="528" y="3011"/>
              <a:ext cx="4462" cy="1213"/>
              <a:chOff x="528" y="3011"/>
              <a:chExt cx="4462" cy="1213"/>
            </a:xfrm>
          </p:grpSpPr>
          <p:sp>
            <p:nvSpPr>
              <p:cNvPr id="31772" name="Freeform 7"/>
              <p:cNvSpPr>
                <a:spLocks/>
              </p:cNvSpPr>
              <p:nvPr/>
            </p:nvSpPr>
            <p:spPr bwMode="auto">
              <a:xfrm>
                <a:off x="2989" y="3627"/>
                <a:ext cx="528" cy="288"/>
              </a:xfrm>
              <a:custGeom>
                <a:avLst/>
                <a:gdLst>
                  <a:gd name="T0" fmla="*/ 0 w 528"/>
                  <a:gd name="T1" fmla="*/ 0 h 288"/>
                  <a:gd name="T2" fmla="*/ 9 w 528"/>
                  <a:gd name="T3" fmla="*/ 288 h 288"/>
                  <a:gd name="T4" fmla="*/ 528 w 528"/>
                  <a:gd name="T5" fmla="*/ 288 h 288"/>
                  <a:gd name="T6" fmla="*/ 323 w 528"/>
                  <a:gd name="T7" fmla="*/ 240 h 288"/>
                  <a:gd name="T8" fmla="*/ 140 w 528"/>
                  <a:gd name="T9" fmla="*/ 122 h 288"/>
                  <a:gd name="T10" fmla="*/ 0 w 528"/>
                  <a:gd name="T11" fmla="*/ 0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8" h="288">
                    <a:moveTo>
                      <a:pt x="0" y="0"/>
                    </a:moveTo>
                    <a:lnTo>
                      <a:pt x="9" y="288"/>
                    </a:lnTo>
                    <a:lnTo>
                      <a:pt x="528" y="288"/>
                    </a:lnTo>
                    <a:lnTo>
                      <a:pt x="323" y="240"/>
                    </a:lnTo>
                    <a:lnTo>
                      <a:pt x="140" y="1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773" name="Group 4"/>
              <p:cNvGrpSpPr>
                <a:grpSpLocks/>
              </p:cNvGrpSpPr>
              <p:nvPr/>
            </p:nvGrpSpPr>
            <p:grpSpPr bwMode="auto">
              <a:xfrm>
                <a:off x="1920" y="3095"/>
                <a:ext cx="1069" cy="807"/>
                <a:chOff x="1920" y="2841"/>
                <a:chExt cx="1069" cy="807"/>
              </a:xfrm>
            </p:grpSpPr>
            <p:sp>
              <p:nvSpPr>
                <p:cNvPr id="31788" name="Freeform 5"/>
                <p:cNvSpPr>
                  <a:spLocks/>
                </p:cNvSpPr>
                <p:nvPr/>
              </p:nvSpPr>
              <p:spPr bwMode="auto">
                <a:xfrm>
                  <a:off x="1920" y="2841"/>
                  <a:ext cx="1065" cy="807"/>
                </a:xfrm>
                <a:custGeom>
                  <a:avLst/>
                  <a:gdLst>
                    <a:gd name="T0" fmla="*/ 0 w 1065"/>
                    <a:gd name="T1" fmla="*/ 807 h 807"/>
                    <a:gd name="T2" fmla="*/ 227 w 1065"/>
                    <a:gd name="T3" fmla="*/ 746 h 807"/>
                    <a:gd name="T4" fmla="*/ 397 w 1065"/>
                    <a:gd name="T5" fmla="*/ 628 h 807"/>
                    <a:gd name="T6" fmla="*/ 777 w 1065"/>
                    <a:gd name="T7" fmla="*/ 262 h 807"/>
                    <a:gd name="T8" fmla="*/ 960 w 1065"/>
                    <a:gd name="T9" fmla="*/ 104 h 807"/>
                    <a:gd name="T10" fmla="*/ 1065 w 1065"/>
                    <a:gd name="T11" fmla="*/ 0 h 807"/>
                    <a:gd name="T12" fmla="*/ 1065 w 1065"/>
                    <a:gd name="T13" fmla="*/ 798 h 807"/>
                    <a:gd name="T14" fmla="*/ 0 w 1065"/>
                    <a:gd name="T15" fmla="*/ 807 h 80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65" h="807">
                      <a:moveTo>
                        <a:pt x="0" y="807"/>
                      </a:moveTo>
                      <a:lnTo>
                        <a:pt x="227" y="746"/>
                      </a:lnTo>
                      <a:lnTo>
                        <a:pt x="397" y="628"/>
                      </a:lnTo>
                      <a:lnTo>
                        <a:pt x="777" y="262"/>
                      </a:lnTo>
                      <a:lnTo>
                        <a:pt x="960" y="104"/>
                      </a:lnTo>
                      <a:lnTo>
                        <a:pt x="1065" y="0"/>
                      </a:lnTo>
                      <a:lnTo>
                        <a:pt x="1065" y="798"/>
                      </a:lnTo>
                      <a:lnTo>
                        <a:pt x="0" y="8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89" name="Line 6"/>
                <p:cNvSpPr>
                  <a:spLocks noChangeShapeType="1"/>
                </p:cNvSpPr>
                <p:nvPr/>
              </p:nvSpPr>
              <p:spPr bwMode="auto">
                <a:xfrm>
                  <a:off x="2989" y="2858"/>
                  <a:ext cx="0" cy="77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774" name="Group 81"/>
              <p:cNvGrpSpPr>
                <a:grpSpLocks/>
              </p:cNvGrpSpPr>
              <p:nvPr/>
            </p:nvGrpSpPr>
            <p:grpSpPr bwMode="auto">
              <a:xfrm>
                <a:off x="528" y="3011"/>
                <a:ext cx="4462" cy="1213"/>
                <a:chOff x="528" y="3011"/>
                <a:chExt cx="4462" cy="1213"/>
              </a:xfrm>
            </p:grpSpPr>
            <p:sp>
              <p:nvSpPr>
                <p:cNvPr id="31775" name="Line 9"/>
                <p:cNvSpPr>
                  <a:spLocks noChangeShapeType="1"/>
                </p:cNvSpPr>
                <p:nvPr/>
              </p:nvSpPr>
              <p:spPr bwMode="auto">
                <a:xfrm>
                  <a:off x="528" y="3919"/>
                  <a:ext cx="3189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31776" name="Group 80"/>
                <p:cNvGrpSpPr>
                  <a:grpSpLocks/>
                </p:cNvGrpSpPr>
                <p:nvPr/>
              </p:nvGrpSpPr>
              <p:grpSpPr bwMode="auto">
                <a:xfrm>
                  <a:off x="568" y="3011"/>
                  <a:ext cx="4422" cy="1213"/>
                  <a:chOff x="568" y="3011"/>
                  <a:chExt cx="4422" cy="1213"/>
                </a:xfrm>
              </p:grpSpPr>
              <p:graphicFrame>
                <p:nvGraphicFramePr>
                  <p:cNvPr id="31777" name="Object 60"/>
                  <p:cNvGraphicFramePr>
                    <a:graphicFrameLocks noChangeAspect="1"/>
                  </p:cNvGraphicFramePr>
                  <p:nvPr/>
                </p:nvGraphicFramePr>
                <p:xfrm>
                  <a:off x="2919" y="3924"/>
                  <a:ext cx="238" cy="3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839" name="Equation" r:id="rId3" imgW="152334" imgH="190417" progId="Equation.3">
                          <p:embed/>
                        </p:oleObj>
                      </mc:Choice>
                      <mc:Fallback>
                        <p:oleObj name="Equation" r:id="rId3" imgW="152334" imgH="190417" progId="Equation.3">
                          <p:embed/>
                          <p:pic>
                            <p:nvPicPr>
                              <p:cNvPr id="0" name="Object 6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19" y="3924"/>
                                <a:ext cx="238" cy="3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31778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143" y="3020"/>
                    <a:ext cx="0" cy="89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79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342" y="3011"/>
                    <a:ext cx="0" cy="90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80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0" y="3903"/>
                    <a:ext cx="476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algn="l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1pPr>
                    <a:lvl2pPr marL="742950" indent="-285750" algn="l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2pPr>
                    <a:lvl3pPr marL="1143000" indent="-228600" algn="l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3pPr>
                    <a:lvl4pPr marL="1600200" indent="-228600" algn="l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4pPr>
                    <a:lvl5pPr marL="2057400" indent="-228600" algn="l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800" b="0">
                        <a:solidFill>
                          <a:schemeClr val="tx1"/>
                        </a:solidFill>
                        <a:latin typeface="Symbol" charset="2"/>
                      </a:rPr>
                      <a:t>m=</a:t>
                    </a:r>
                    <a:r>
                      <a:rPr lang="en-US" altLang="en-US" sz="1800" b="0">
                        <a:solidFill>
                          <a:schemeClr val="tx1"/>
                        </a:solidFill>
                      </a:rPr>
                      <a:t>180</a:t>
                    </a:r>
                  </a:p>
                </p:txBody>
              </p:sp>
              <p:grpSp>
                <p:nvGrpSpPr>
                  <p:cNvPr id="31781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568" y="3011"/>
                    <a:ext cx="4422" cy="908"/>
                    <a:chOff x="568" y="3011"/>
                    <a:chExt cx="4422" cy="908"/>
                  </a:xfrm>
                </p:grpSpPr>
                <p:grpSp>
                  <p:nvGrpSpPr>
                    <p:cNvPr id="31782" name="Group 7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68" y="3020"/>
                      <a:ext cx="3149" cy="899"/>
                      <a:chOff x="568" y="3020"/>
                      <a:chExt cx="3149" cy="899"/>
                    </a:xfrm>
                  </p:grpSpPr>
                  <p:sp>
                    <p:nvSpPr>
                      <p:cNvPr id="31786" name="Freeform 1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68" y="3020"/>
                        <a:ext cx="1608" cy="899"/>
                      </a:xfrm>
                      <a:custGeom>
                        <a:avLst/>
                        <a:gdLst>
                          <a:gd name="T0" fmla="*/ 0 w 1152"/>
                          <a:gd name="T1" fmla="*/ 569 h 1008"/>
                          <a:gd name="T2" fmla="*/ 2034 w 1152"/>
                          <a:gd name="T3" fmla="*/ 489 h 1008"/>
                          <a:gd name="T4" fmla="*/ 4577 w 1152"/>
                          <a:gd name="T5" fmla="*/ 81 h 1008"/>
                          <a:gd name="T6" fmla="*/ 6107 w 1152"/>
                          <a:gd name="T7" fmla="*/ 0 h 1008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0" t="0" r="r" b="b"/>
                        <a:pathLst>
                          <a:path w="1152" h="1008">
                            <a:moveTo>
                              <a:pt x="0" y="1008"/>
                            </a:moveTo>
                            <a:cubicBezTo>
                              <a:pt x="120" y="1008"/>
                              <a:pt x="240" y="1008"/>
                              <a:pt x="384" y="864"/>
                            </a:cubicBezTo>
                            <a:cubicBezTo>
                              <a:pt x="528" y="720"/>
                              <a:pt x="736" y="288"/>
                              <a:pt x="864" y="144"/>
                            </a:cubicBezTo>
                            <a:cubicBezTo>
                              <a:pt x="992" y="0"/>
                              <a:pt x="1072" y="0"/>
                              <a:pt x="1152" y="0"/>
                            </a:cubicBezTo>
                          </a:path>
                        </a:pathLst>
                      </a:custGeom>
                      <a:noFill/>
                      <a:ln w="38100" cap="rnd" cmpd="sng">
                        <a:solidFill>
                          <a:schemeClr val="tx1"/>
                        </a:solidFill>
                        <a:prstDash val="sysDot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1787" name="Freeform 17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2109" y="3020"/>
                        <a:ext cx="1608" cy="899"/>
                      </a:xfrm>
                      <a:custGeom>
                        <a:avLst/>
                        <a:gdLst>
                          <a:gd name="T0" fmla="*/ 0 w 1152"/>
                          <a:gd name="T1" fmla="*/ 569 h 1008"/>
                          <a:gd name="T2" fmla="*/ 2034 w 1152"/>
                          <a:gd name="T3" fmla="*/ 489 h 1008"/>
                          <a:gd name="T4" fmla="*/ 4577 w 1152"/>
                          <a:gd name="T5" fmla="*/ 81 h 1008"/>
                          <a:gd name="T6" fmla="*/ 6107 w 1152"/>
                          <a:gd name="T7" fmla="*/ 0 h 1008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0" t="0" r="r" b="b"/>
                        <a:pathLst>
                          <a:path w="1152" h="1008">
                            <a:moveTo>
                              <a:pt x="0" y="1008"/>
                            </a:moveTo>
                            <a:cubicBezTo>
                              <a:pt x="120" y="1008"/>
                              <a:pt x="240" y="1008"/>
                              <a:pt x="384" y="864"/>
                            </a:cubicBezTo>
                            <a:cubicBezTo>
                              <a:pt x="528" y="720"/>
                              <a:pt x="736" y="288"/>
                              <a:pt x="864" y="144"/>
                            </a:cubicBezTo>
                            <a:cubicBezTo>
                              <a:pt x="992" y="0"/>
                              <a:pt x="1072" y="0"/>
                              <a:pt x="1152" y="0"/>
                            </a:cubicBezTo>
                          </a:path>
                        </a:pathLst>
                      </a:custGeom>
                      <a:noFill/>
                      <a:ln w="38100" cap="rnd" cmpd="sng">
                        <a:solidFill>
                          <a:schemeClr val="tx1"/>
                        </a:solidFill>
                        <a:prstDash val="sysDot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1783" name="Group 7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72" y="3011"/>
                      <a:ext cx="3318" cy="908"/>
                      <a:chOff x="1672" y="3011"/>
                      <a:chExt cx="3318" cy="908"/>
                    </a:xfrm>
                  </p:grpSpPr>
                  <p:sp>
                    <p:nvSpPr>
                      <p:cNvPr id="31784" name="Freeform 3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72" y="3011"/>
                        <a:ext cx="1694" cy="908"/>
                      </a:xfrm>
                      <a:custGeom>
                        <a:avLst/>
                        <a:gdLst>
                          <a:gd name="T0" fmla="*/ 0 w 1152"/>
                          <a:gd name="T1" fmla="*/ 598 h 1008"/>
                          <a:gd name="T2" fmla="*/ 2642 w 1152"/>
                          <a:gd name="T3" fmla="*/ 512 h 1008"/>
                          <a:gd name="T4" fmla="*/ 5942 w 1152"/>
                          <a:gd name="T5" fmla="*/ 86 h 1008"/>
                          <a:gd name="T6" fmla="*/ 7920 w 1152"/>
                          <a:gd name="T7" fmla="*/ 0 h 1008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0" t="0" r="r" b="b"/>
                        <a:pathLst>
                          <a:path w="1152" h="1008">
                            <a:moveTo>
                              <a:pt x="0" y="1008"/>
                            </a:moveTo>
                            <a:cubicBezTo>
                              <a:pt x="120" y="1008"/>
                              <a:pt x="240" y="1008"/>
                              <a:pt x="384" y="864"/>
                            </a:cubicBezTo>
                            <a:cubicBezTo>
                              <a:pt x="528" y="720"/>
                              <a:pt x="736" y="288"/>
                              <a:pt x="864" y="144"/>
                            </a:cubicBezTo>
                            <a:cubicBezTo>
                              <a:pt x="992" y="0"/>
                              <a:pt x="1072" y="0"/>
                              <a:pt x="1152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1785" name="Freeform 32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3296" y="3011"/>
                        <a:ext cx="1694" cy="908"/>
                      </a:xfrm>
                      <a:custGeom>
                        <a:avLst/>
                        <a:gdLst>
                          <a:gd name="T0" fmla="*/ 0 w 1152"/>
                          <a:gd name="T1" fmla="*/ 598 h 1008"/>
                          <a:gd name="T2" fmla="*/ 2642 w 1152"/>
                          <a:gd name="T3" fmla="*/ 512 h 1008"/>
                          <a:gd name="T4" fmla="*/ 5942 w 1152"/>
                          <a:gd name="T5" fmla="*/ 86 h 1008"/>
                          <a:gd name="T6" fmla="*/ 7920 w 1152"/>
                          <a:gd name="T7" fmla="*/ 0 h 1008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0" t="0" r="r" b="b"/>
                        <a:pathLst>
                          <a:path w="1152" h="1008">
                            <a:moveTo>
                              <a:pt x="0" y="1008"/>
                            </a:moveTo>
                            <a:cubicBezTo>
                              <a:pt x="120" y="1008"/>
                              <a:pt x="240" y="1008"/>
                              <a:pt x="384" y="864"/>
                            </a:cubicBezTo>
                            <a:cubicBezTo>
                              <a:pt x="528" y="720"/>
                              <a:pt x="736" y="288"/>
                              <a:pt x="864" y="144"/>
                            </a:cubicBezTo>
                            <a:cubicBezTo>
                              <a:pt x="992" y="0"/>
                              <a:pt x="1072" y="0"/>
                              <a:pt x="1152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</p:grpSp>
        <p:sp>
          <p:nvSpPr>
            <p:cNvPr id="31770" name="Text Box 11"/>
            <p:cNvSpPr txBox="1">
              <a:spLocks noChangeArrowheads="1"/>
            </p:cNvSpPr>
            <p:nvPr/>
          </p:nvSpPr>
          <p:spPr bwMode="auto">
            <a:xfrm>
              <a:off x="1887" y="3899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</a:t>
              </a:r>
              <a:r>
                <a:rPr lang="en-US" altLang="en-US" sz="1800" b="0">
                  <a:solidFill>
                    <a:schemeClr val="tx1"/>
                  </a:solidFill>
                </a:rPr>
                <a:t>= 170</a:t>
              </a:r>
            </a:p>
          </p:txBody>
        </p:sp>
        <p:sp>
          <p:nvSpPr>
            <p:cNvPr id="31771" name="Line 13"/>
            <p:cNvSpPr>
              <a:spLocks noChangeShapeType="1"/>
            </p:cNvSpPr>
            <p:nvPr/>
          </p:nvSpPr>
          <p:spPr bwMode="auto">
            <a:xfrm>
              <a:off x="1640" y="3919"/>
              <a:ext cx="33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1748" name="Rectangle 4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z="4000" smtClean="0"/>
              <a:t>Judging the Test</a:t>
            </a:r>
            <a:endParaRPr lang="en-US" altLang="en-US" sz="4000" smtClean="0">
              <a:latin typeface="Symbol" charset="2"/>
            </a:endParaRPr>
          </a:p>
        </p:txBody>
      </p:sp>
      <p:graphicFrame>
        <p:nvGraphicFramePr>
          <p:cNvPr id="89150" name="Object 62"/>
          <p:cNvGraphicFramePr>
            <a:graphicFrameLocks noChangeAspect="1"/>
          </p:cNvGraphicFramePr>
          <p:nvPr/>
        </p:nvGraphicFramePr>
        <p:xfrm>
          <a:off x="4267200" y="6229350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0" name="Equation" r:id="rId5" imgW="152334" imgH="190417" progId="Equation.3">
                  <p:embed/>
                </p:oleObj>
              </mc:Choice>
              <mc:Fallback>
                <p:oleObj name="Equation" r:id="rId5" imgW="152334" imgH="190417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229350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40" name="Line 52"/>
          <p:cNvSpPr>
            <a:spLocks noChangeShapeType="1"/>
          </p:cNvSpPr>
          <p:nvPr/>
        </p:nvSpPr>
        <p:spPr bwMode="auto">
          <a:xfrm flipV="1">
            <a:off x="4398963" y="5410200"/>
            <a:ext cx="0" cy="80962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9173" name="Group 85"/>
          <p:cNvGrpSpPr>
            <a:grpSpLocks/>
          </p:cNvGrpSpPr>
          <p:nvPr/>
        </p:nvGrpSpPr>
        <p:grpSpPr bwMode="auto">
          <a:xfrm>
            <a:off x="1587500" y="4181475"/>
            <a:ext cx="5535613" cy="2057400"/>
            <a:chOff x="1000" y="2634"/>
            <a:chExt cx="3487" cy="1296"/>
          </a:xfrm>
        </p:grpSpPr>
        <p:sp>
          <p:nvSpPr>
            <p:cNvPr id="31760" name="Freeform 83"/>
            <p:cNvSpPr>
              <a:spLocks/>
            </p:cNvSpPr>
            <p:nvPr/>
          </p:nvSpPr>
          <p:spPr bwMode="auto">
            <a:xfrm>
              <a:off x="2788" y="3535"/>
              <a:ext cx="319" cy="366"/>
            </a:xfrm>
            <a:custGeom>
              <a:avLst/>
              <a:gdLst>
                <a:gd name="T0" fmla="*/ 0 w 288"/>
                <a:gd name="T1" fmla="*/ 0 h 327"/>
                <a:gd name="T2" fmla="*/ 132 w 288"/>
                <a:gd name="T3" fmla="*/ 252 h 327"/>
                <a:gd name="T4" fmla="*/ 307 w 288"/>
                <a:gd name="T5" fmla="*/ 459 h 327"/>
                <a:gd name="T6" fmla="*/ 480 w 288"/>
                <a:gd name="T7" fmla="*/ 575 h 327"/>
                <a:gd name="T8" fmla="*/ 0 w 288"/>
                <a:gd name="T9" fmla="*/ 575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8" h="327">
                  <a:moveTo>
                    <a:pt x="0" y="0"/>
                  </a:moveTo>
                  <a:lnTo>
                    <a:pt x="79" y="144"/>
                  </a:lnTo>
                  <a:lnTo>
                    <a:pt x="184" y="261"/>
                  </a:lnTo>
                  <a:lnTo>
                    <a:pt x="288" y="327"/>
                  </a:lnTo>
                  <a:lnTo>
                    <a:pt x="0" y="32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Freeform 84"/>
            <p:cNvSpPr>
              <a:spLocks/>
            </p:cNvSpPr>
            <p:nvPr/>
          </p:nvSpPr>
          <p:spPr bwMode="auto">
            <a:xfrm>
              <a:off x="2356" y="3360"/>
              <a:ext cx="415" cy="550"/>
            </a:xfrm>
            <a:custGeom>
              <a:avLst/>
              <a:gdLst>
                <a:gd name="T0" fmla="*/ 0 w 384"/>
                <a:gd name="T1" fmla="*/ 648 h 528"/>
                <a:gd name="T2" fmla="*/ 566 w 384"/>
                <a:gd name="T3" fmla="*/ 648 h 528"/>
                <a:gd name="T4" fmla="*/ 566 w 384"/>
                <a:gd name="T5" fmla="*/ 0 h 528"/>
                <a:gd name="T6" fmla="*/ 457 w 384"/>
                <a:gd name="T7" fmla="*/ 231 h 528"/>
                <a:gd name="T8" fmla="*/ 322 w 384"/>
                <a:gd name="T9" fmla="*/ 440 h 528"/>
                <a:gd name="T10" fmla="*/ 147 w 384"/>
                <a:gd name="T11" fmla="*/ 568 h 528"/>
                <a:gd name="T12" fmla="*/ 0 w 384"/>
                <a:gd name="T13" fmla="*/ 648 h 5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4" h="528">
                  <a:moveTo>
                    <a:pt x="0" y="528"/>
                  </a:moveTo>
                  <a:lnTo>
                    <a:pt x="384" y="528"/>
                  </a:lnTo>
                  <a:lnTo>
                    <a:pt x="384" y="0"/>
                  </a:lnTo>
                  <a:lnTo>
                    <a:pt x="310" y="188"/>
                  </a:lnTo>
                  <a:lnTo>
                    <a:pt x="218" y="358"/>
                  </a:lnTo>
                  <a:lnTo>
                    <a:pt x="100" y="463"/>
                  </a:lnTo>
                  <a:lnTo>
                    <a:pt x="0" y="52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62" name="Group 76"/>
            <p:cNvGrpSpPr>
              <a:grpSpLocks/>
            </p:cNvGrpSpPr>
            <p:nvPr/>
          </p:nvGrpSpPr>
          <p:grpSpPr bwMode="auto">
            <a:xfrm>
              <a:off x="1000" y="2634"/>
              <a:ext cx="3487" cy="1296"/>
              <a:chOff x="974" y="2619"/>
              <a:chExt cx="3487" cy="1296"/>
            </a:xfrm>
          </p:grpSpPr>
          <p:grpSp>
            <p:nvGrpSpPr>
              <p:cNvPr id="31763" name="Group 43"/>
              <p:cNvGrpSpPr>
                <a:grpSpLocks/>
              </p:cNvGrpSpPr>
              <p:nvPr/>
            </p:nvGrpSpPr>
            <p:grpSpPr bwMode="auto">
              <a:xfrm>
                <a:off x="974" y="2619"/>
                <a:ext cx="2304" cy="1296"/>
                <a:chOff x="568" y="2753"/>
                <a:chExt cx="3149" cy="899"/>
              </a:xfrm>
            </p:grpSpPr>
            <p:sp>
              <p:nvSpPr>
                <p:cNvPr id="31767" name="Freeform 44"/>
                <p:cNvSpPr>
                  <a:spLocks/>
                </p:cNvSpPr>
                <p:nvPr/>
              </p:nvSpPr>
              <p:spPr bwMode="auto">
                <a:xfrm>
                  <a:off x="568" y="2753"/>
                  <a:ext cx="1608" cy="899"/>
                </a:xfrm>
                <a:custGeom>
                  <a:avLst/>
                  <a:gdLst>
                    <a:gd name="T0" fmla="*/ 0 w 1152"/>
                    <a:gd name="T1" fmla="*/ 569 h 1008"/>
                    <a:gd name="T2" fmla="*/ 2034 w 1152"/>
                    <a:gd name="T3" fmla="*/ 489 h 1008"/>
                    <a:gd name="T4" fmla="*/ 4577 w 1152"/>
                    <a:gd name="T5" fmla="*/ 81 h 1008"/>
                    <a:gd name="T6" fmla="*/ 6107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rnd" cmpd="sng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768" name="Freeform 45"/>
                <p:cNvSpPr>
                  <a:spLocks/>
                </p:cNvSpPr>
                <p:nvPr/>
              </p:nvSpPr>
              <p:spPr bwMode="auto">
                <a:xfrm flipH="1">
                  <a:off x="2109" y="2753"/>
                  <a:ext cx="1608" cy="899"/>
                </a:xfrm>
                <a:custGeom>
                  <a:avLst/>
                  <a:gdLst>
                    <a:gd name="T0" fmla="*/ 0 w 1152"/>
                    <a:gd name="T1" fmla="*/ 569 h 1008"/>
                    <a:gd name="T2" fmla="*/ 2034 w 1152"/>
                    <a:gd name="T3" fmla="*/ 489 h 1008"/>
                    <a:gd name="T4" fmla="*/ 4577 w 1152"/>
                    <a:gd name="T5" fmla="*/ 81 h 1008"/>
                    <a:gd name="T6" fmla="*/ 6107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rnd" cmpd="sng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764" name="Group 49"/>
              <p:cNvGrpSpPr>
                <a:grpSpLocks/>
              </p:cNvGrpSpPr>
              <p:nvPr/>
            </p:nvGrpSpPr>
            <p:grpSpPr bwMode="auto">
              <a:xfrm>
                <a:off x="2157" y="2619"/>
                <a:ext cx="2304" cy="1296"/>
                <a:chOff x="568" y="2753"/>
                <a:chExt cx="3149" cy="899"/>
              </a:xfrm>
            </p:grpSpPr>
            <p:sp>
              <p:nvSpPr>
                <p:cNvPr id="31765" name="Freeform 50"/>
                <p:cNvSpPr>
                  <a:spLocks/>
                </p:cNvSpPr>
                <p:nvPr/>
              </p:nvSpPr>
              <p:spPr bwMode="auto">
                <a:xfrm>
                  <a:off x="568" y="2753"/>
                  <a:ext cx="1608" cy="899"/>
                </a:xfrm>
                <a:custGeom>
                  <a:avLst/>
                  <a:gdLst>
                    <a:gd name="T0" fmla="*/ 0 w 1152"/>
                    <a:gd name="T1" fmla="*/ 569 h 1008"/>
                    <a:gd name="T2" fmla="*/ 2034 w 1152"/>
                    <a:gd name="T3" fmla="*/ 489 h 1008"/>
                    <a:gd name="T4" fmla="*/ 4577 w 1152"/>
                    <a:gd name="T5" fmla="*/ 81 h 1008"/>
                    <a:gd name="T6" fmla="*/ 6107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766" name="Freeform 51"/>
                <p:cNvSpPr>
                  <a:spLocks/>
                </p:cNvSpPr>
                <p:nvPr/>
              </p:nvSpPr>
              <p:spPr bwMode="auto">
                <a:xfrm flipH="1">
                  <a:off x="2109" y="2753"/>
                  <a:ext cx="1608" cy="899"/>
                </a:xfrm>
                <a:custGeom>
                  <a:avLst/>
                  <a:gdLst>
                    <a:gd name="T0" fmla="*/ 0 w 1152"/>
                    <a:gd name="T1" fmla="*/ 569 h 1008"/>
                    <a:gd name="T2" fmla="*/ 2034 w 1152"/>
                    <a:gd name="T3" fmla="*/ 489 h 1008"/>
                    <a:gd name="T4" fmla="*/ 4577 w 1152"/>
                    <a:gd name="T5" fmla="*/ 81 h 1008"/>
                    <a:gd name="T6" fmla="*/ 6107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89178" name="Text Box 90"/>
          <p:cNvSpPr txBox="1">
            <a:spLocks noChangeArrowheads="1"/>
          </p:cNvSpPr>
          <p:nvPr/>
        </p:nvSpPr>
        <p:spPr bwMode="auto">
          <a:xfrm>
            <a:off x="2130425" y="3659188"/>
            <a:ext cx="451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/>
              <a:t>Note what happens when n increases: </a:t>
            </a:r>
          </a:p>
        </p:txBody>
      </p:sp>
      <p:graphicFrame>
        <p:nvGraphicFramePr>
          <p:cNvPr id="89179" name="Object 91"/>
          <p:cNvGraphicFramePr>
            <a:graphicFrameLocks noChangeAspect="1"/>
          </p:cNvGraphicFramePr>
          <p:nvPr/>
        </p:nvGraphicFramePr>
        <p:xfrm>
          <a:off x="4384675" y="6227763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1" name="Equation" r:id="rId6" imgW="152334" imgH="190417" progId="Equation.3">
                  <p:embed/>
                </p:oleObj>
              </mc:Choice>
              <mc:Fallback>
                <p:oleObj name="Equation" r:id="rId6" imgW="152334" imgH="190417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75" y="6227763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80" name="Object 92"/>
          <p:cNvGraphicFramePr>
            <a:graphicFrameLocks noChangeAspect="1"/>
          </p:cNvGraphicFramePr>
          <p:nvPr/>
        </p:nvGraphicFramePr>
        <p:xfrm>
          <a:off x="4467225" y="6227763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2" name="Equation" r:id="rId7" imgW="152334" imgH="190417" progId="Equation.3">
                  <p:embed/>
                </p:oleObj>
              </mc:Choice>
              <mc:Fallback>
                <p:oleObj name="Equation" r:id="rId7" imgW="152334" imgH="190417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6227763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81" name="Object 93"/>
          <p:cNvGraphicFramePr>
            <a:graphicFrameLocks noChangeAspect="1"/>
          </p:cNvGraphicFramePr>
          <p:nvPr/>
        </p:nvGraphicFramePr>
        <p:xfrm>
          <a:off x="4322763" y="6227763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3" name="Equation" r:id="rId8" imgW="152334" imgH="190417" progId="Equation.3">
                  <p:embed/>
                </p:oleObj>
              </mc:Choice>
              <mc:Fallback>
                <p:oleObj name="Equation" r:id="rId8" imgW="152334" imgH="190417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3" y="6227763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82" name="Object 94"/>
          <p:cNvGraphicFramePr>
            <a:graphicFrameLocks noChangeAspect="1"/>
          </p:cNvGraphicFramePr>
          <p:nvPr/>
        </p:nvGraphicFramePr>
        <p:xfrm>
          <a:off x="4548188" y="6234113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4" name="Equation" r:id="rId9" imgW="152334" imgH="190417" progId="Equation.3">
                  <p:embed/>
                </p:oleObj>
              </mc:Choice>
              <mc:Fallback>
                <p:oleObj name="Equation" r:id="rId9" imgW="152334" imgH="190417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6234113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84" name="Text Box 96"/>
          <p:cNvSpPr txBox="1">
            <a:spLocks noChangeArrowheads="1"/>
          </p:cNvSpPr>
          <p:nvPr/>
        </p:nvSpPr>
        <p:spPr bwMode="auto">
          <a:xfrm>
            <a:off x="6096000" y="4191000"/>
            <a:ext cx="2733675" cy="8223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Symbol" charset="2"/>
              </a:rPr>
              <a:t>a</a:t>
            </a:r>
            <a:r>
              <a:rPr lang="en-US" altLang="en-US" sz="2400" b="0"/>
              <a:t> does not change,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/>
              <a:t>but </a:t>
            </a:r>
            <a:r>
              <a:rPr lang="en-US" altLang="en-US" sz="2400" b="0">
                <a:latin typeface="Symbol" charset="2"/>
              </a:rPr>
              <a:t>b</a:t>
            </a:r>
            <a:r>
              <a:rPr lang="en-US" altLang="en-US" sz="2400" b="0"/>
              <a:t> becomes smaller</a:t>
            </a:r>
          </a:p>
        </p:txBody>
      </p:sp>
      <p:sp>
        <p:nvSpPr>
          <p:cNvPr id="31758" name="Rectangle 98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Increasing the sample size reduces </a:t>
            </a:r>
            <a:r>
              <a:rPr lang="en-US" altLang="en-US" smtClean="0">
                <a:latin typeface="Symbol" charset="2"/>
              </a:rPr>
              <a:t>b</a:t>
            </a:r>
            <a:endParaRPr lang="en-US" altLang="en-US" smtClean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073150" y="2638425"/>
          <a:ext cx="67040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5" name="Equation" r:id="rId10" imgW="2971800" imgH="444500" progId="Equation.DSMT4">
                  <p:embed/>
                </p:oleObj>
              </mc:Choice>
              <mc:Fallback>
                <p:oleObj name="Equation" r:id="rId10" imgW="2971800" imgH="4445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2638425"/>
                        <a:ext cx="67040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75"/>
                            </p:stCondLst>
                            <p:childTnLst>
                              <p:par>
                                <p:cTn id="2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2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2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40" grpId="0" animBg="1"/>
      <p:bldP spid="89178" grpId="0" autoUpdateAnimBg="0"/>
      <p:bldP spid="8918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E814C3A1-8C12-4D09-8F8B-898FC98BE20B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5383" name="Rectangle 87"/>
          <p:cNvSpPr>
            <a:spLocks noGrp="1" noChangeArrowheads="1"/>
          </p:cNvSpPr>
          <p:nvPr>
            <p:ph type="body" idx="1"/>
          </p:nvPr>
        </p:nvSpPr>
        <p:spPr>
          <a:xfrm>
            <a:off x="762000" y="1987550"/>
            <a:ext cx="7772400" cy="1676400"/>
          </a:xfrm>
          <a:noFill/>
        </p:spPr>
        <p:txBody>
          <a:bodyPr/>
          <a:lstStyle/>
          <a:p>
            <a:r>
              <a:rPr lang="en-US" altLang="en-US" smtClean="0"/>
              <a:t>Increasing the sample size reduces </a:t>
            </a:r>
            <a:r>
              <a:rPr lang="en-US" altLang="en-US" smtClean="0">
                <a:latin typeface="Symbol" charset="2"/>
              </a:rPr>
              <a:t>b</a:t>
            </a:r>
          </a:p>
          <a:p>
            <a:r>
              <a:rPr lang="en-US" altLang="en-US" smtClean="0"/>
              <a:t>In the example, suppose n increases from 400 to 1000.</a:t>
            </a:r>
          </a:p>
        </p:txBody>
      </p:sp>
      <p:graphicFrame>
        <p:nvGraphicFramePr>
          <p:cNvPr id="55384" name="Object 88"/>
          <p:cNvGraphicFramePr>
            <a:graphicFrameLocks noChangeAspect="1"/>
          </p:cNvGraphicFramePr>
          <p:nvPr/>
        </p:nvGraphicFramePr>
        <p:xfrm>
          <a:off x="1565275" y="3462338"/>
          <a:ext cx="652145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Equation" r:id="rId3" imgW="2730500" imgH="889000" progId="Equation.DSMT4">
                  <p:embed/>
                </p:oleObj>
              </mc:Choice>
              <mc:Fallback>
                <p:oleObj name="Equation" r:id="rId3" imgW="2730500" imgH="889000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3462338"/>
                        <a:ext cx="6521450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8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z="4000" smtClean="0"/>
              <a:t>Judging the Test</a:t>
            </a:r>
            <a:endParaRPr lang="en-US" altLang="en-US" sz="4000" smtClean="0">
              <a:latin typeface="Symbol" charset="2"/>
            </a:endParaRPr>
          </a:p>
        </p:txBody>
      </p:sp>
      <p:sp>
        <p:nvSpPr>
          <p:cNvPr id="55387" name="Rectangle 91"/>
          <p:cNvSpPr>
            <a:spLocks noChangeArrowheads="1"/>
          </p:cNvSpPr>
          <p:nvPr/>
        </p:nvSpPr>
        <p:spPr bwMode="auto">
          <a:xfrm>
            <a:off x="914400" y="5334000"/>
            <a:ext cx="7772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r>
              <a:rPr lang="en-US" altLang="en-US" b="0" dirty="0"/>
              <a:t> </a:t>
            </a:r>
            <a:r>
              <a:rPr lang="en-US" altLang="en-US" b="0" dirty="0">
                <a:latin typeface="Symbol" charset="2"/>
              </a:rPr>
              <a:t>a</a:t>
            </a:r>
            <a:r>
              <a:rPr lang="en-US" altLang="en-US" b="0" dirty="0"/>
              <a:t> remains 5%, but the probability of a Type II </a:t>
            </a:r>
            <a:r>
              <a:rPr lang="en-US" altLang="en-US" b="0" dirty="0" smtClean="0"/>
              <a:t>error decreases </a:t>
            </a:r>
            <a:r>
              <a:rPr lang="en-US" altLang="en-US" b="0" dirty="0"/>
              <a:t>dramatically.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5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83" grpId="0" build="p" autoUpdateAnimBg="0"/>
      <p:bldP spid="5538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69B8BBF0-314B-41E5-955F-005151BA8D6B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r>
              <a:rPr lang="en-US" altLang="en-US" smtClean="0"/>
              <a:t>A Left - Tail Test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7724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Self-Addressed Stamped Envelopes.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The chief financial officer in FedEx believes that including a stamped self-addressed (SSA) envelope in the monthly invoice sent to customers will decrease the amount of time it take for customers to pay their monthly bills.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Currently, customers return their payments in 24 days on the average, with a standard deviation of 6 days.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Stamped self-addressed envelopes are included with the bills for 75 randomly selected customers.  The number of days until they return their payment is recorded.</a:t>
            </a:r>
          </a:p>
          <a:p>
            <a:pPr lvl="1">
              <a:lnSpc>
                <a:spcPct val="90000"/>
              </a:lnSpc>
            </a:pP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44CAD23-D256-4D6E-90E4-6B6236D57B96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2339975" algn="l"/>
              </a:tabLst>
            </a:pPr>
            <a:r>
              <a:rPr lang="en-US" altLang="en-US" smtClean="0"/>
              <a:t>The parameter tested is the population mean payment period (</a:t>
            </a:r>
            <a:r>
              <a:rPr lang="en-US" altLang="en-US" smtClean="0">
                <a:latin typeface="Symbol" charset="2"/>
              </a:rPr>
              <a:t>m</a:t>
            </a:r>
            <a:r>
              <a:rPr lang="en-US" altLang="en-US" smtClean="0"/>
              <a:t>) for customers who receive self-addressed stamped envelopes with their bill</a:t>
            </a:r>
            <a:r>
              <a:rPr lang="en-US" altLang="en-US" smtClean="0">
                <a:latin typeface="Symbol" charset="2"/>
              </a:rPr>
              <a:t>.</a:t>
            </a:r>
          </a:p>
          <a:p>
            <a:pPr>
              <a:tabLst>
                <a:tab pos="2339975" algn="l"/>
              </a:tabLst>
            </a:pPr>
            <a:r>
              <a:rPr lang="en-US" altLang="en-US" smtClean="0"/>
              <a:t>The hypotheses are:</a:t>
            </a:r>
            <a:br>
              <a:rPr lang="en-US" altLang="en-US" smtClean="0"/>
            </a:br>
            <a:r>
              <a:rPr lang="en-US" altLang="en-US" smtClean="0"/>
              <a:t>H</a:t>
            </a:r>
            <a:r>
              <a:rPr lang="en-US" altLang="en-US" baseline="-25000" smtClean="0"/>
              <a:t>0</a:t>
            </a:r>
            <a:r>
              <a:rPr lang="en-US" altLang="en-US" smtClean="0"/>
              <a:t>: </a:t>
            </a:r>
            <a:r>
              <a:rPr lang="en-US" altLang="en-US" smtClean="0">
                <a:latin typeface="Symbol" charset="2"/>
              </a:rPr>
              <a:t>m</a:t>
            </a:r>
            <a:r>
              <a:rPr lang="en-US" altLang="en-US" smtClean="0"/>
              <a:t> = 24</a:t>
            </a:r>
            <a:br>
              <a:rPr lang="en-US" altLang="en-US" smtClean="0"/>
            </a:br>
            <a:r>
              <a:rPr lang="en-US" altLang="en-US" smtClean="0"/>
              <a:t>H</a:t>
            </a:r>
            <a:r>
              <a:rPr lang="en-US" altLang="en-US" baseline="-25000" smtClean="0"/>
              <a:t>1</a:t>
            </a:r>
            <a:r>
              <a:rPr lang="en-US" altLang="en-US" smtClean="0"/>
              <a:t>: </a:t>
            </a:r>
            <a:r>
              <a:rPr lang="en-US" altLang="en-US" smtClean="0">
                <a:latin typeface="Symbol" charset="2"/>
              </a:rPr>
              <a:t>m</a:t>
            </a:r>
            <a:r>
              <a:rPr lang="en-US" altLang="en-US" smtClean="0"/>
              <a:t> &lt; 24</a:t>
            </a:r>
          </a:p>
          <a:p>
            <a:pPr>
              <a:tabLst>
                <a:tab pos="2339975" algn="l"/>
              </a:tabLst>
            </a:pPr>
            <a:r>
              <a:rPr lang="en-US" altLang="en-US" smtClean="0"/>
              <a:t>Use </a:t>
            </a:r>
            <a:r>
              <a:rPr lang="en-US" altLang="en-US" smtClean="0">
                <a:sym typeface="Mathematica1" pitchFamily="2" charset="2"/>
              </a:rPr>
              <a:t> = .05; n = 75.</a:t>
            </a:r>
            <a:endParaRPr lang="en-US" altLang="en-US" smtClean="0"/>
          </a:p>
          <a:p>
            <a:pPr lvl="1">
              <a:tabLst>
                <a:tab pos="2339975" algn="l"/>
              </a:tabLst>
            </a:pPr>
            <a:endParaRPr lang="en-US" altLang="en-US" smtClean="0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A Left - Tail Test: Hypotheses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6C7FBB1-CA86-4866-B45D-73868EAECF0B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209800"/>
          </a:xfrm>
        </p:spPr>
        <p:txBody>
          <a:bodyPr/>
          <a:lstStyle/>
          <a:p>
            <a:r>
              <a:rPr lang="en-US" altLang="en-US" smtClean="0"/>
              <a:t>The rejection region: </a:t>
            </a:r>
          </a:p>
          <a:p>
            <a:r>
              <a:rPr lang="en-US" altLang="en-US" i="1" smtClean="0"/>
              <a:t>t &lt; </a:t>
            </a:r>
            <a:r>
              <a:rPr lang="en-US" altLang="en-US" i="1" smtClean="0">
                <a:sym typeface="Mathematica1" pitchFamily="2" charset="2"/>
              </a:rPr>
              <a:t>t</a:t>
            </a:r>
            <a:r>
              <a:rPr lang="en-US" altLang="en-US" i="1" baseline="-25000" smtClean="0">
                <a:sym typeface="Mathematica1" pitchFamily="2" charset="2"/>
              </a:rPr>
              <a:t>.05,74</a:t>
            </a:r>
            <a:r>
              <a:rPr lang="en-US" altLang="en-US" i="1" smtClean="0">
                <a:sym typeface="Mathematica1" pitchFamily="2" charset="2"/>
              </a:rPr>
              <a:t> = </a:t>
            </a:r>
            <a:r>
              <a:rPr lang="en-US" altLang="en-US" smtClean="0">
                <a:sym typeface="Mathematica1" pitchFamily="2" charset="2"/>
              </a:rPr>
              <a:t>1.666</a:t>
            </a:r>
          </a:p>
          <a:p>
            <a:r>
              <a:rPr lang="en-US" altLang="en-US" smtClean="0">
                <a:sym typeface="Mathematica1" pitchFamily="2" charset="2"/>
              </a:rPr>
              <a:t>Results from the 75 randomly selected customers: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A Left - Tail Test: Rejection Region</a:t>
            </a:r>
          </a:p>
        </p:txBody>
      </p:sp>
      <p:graphicFrame>
        <p:nvGraphicFramePr>
          <p:cNvPr id="35845" name="Object 1"/>
          <p:cNvGraphicFramePr>
            <a:graphicFrameLocks noChangeAspect="1"/>
          </p:cNvGraphicFramePr>
          <p:nvPr/>
        </p:nvGraphicFramePr>
        <p:xfrm>
          <a:off x="1752600" y="4419600"/>
          <a:ext cx="5572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Equation" r:id="rId3" imgW="1651000" imgH="203200" progId="Equation.DSMT4">
                  <p:embed/>
                </p:oleObj>
              </mc:Choice>
              <mc:Fallback>
                <p:oleObj name="Equation" r:id="rId3" imgW="1651000" imgH="20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19600"/>
                        <a:ext cx="5572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bldLvl="2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3BBD7DF5-0F85-451D-BFA1-54B0412926EA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685800"/>
          </a:xfrm>
        </p:spPr>
        <p:txBody>
          <a:bodyPr/>
          <a:lstStyle/>
          <a:p>
            <a:r>
              <a:rPr lang="en-US" altLang="en-US" smtClean="0"/>
              <a:t>The test statistic is: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A Left -Tail Test: Test Statistic</a:t>
            </a:r>
            <a:endParaRPr lang="en-US" altLang="en-US" smtClean="0">
              <a:hlinkClick r:id="rId3" action="ppaction://hlinkfile"/>
            </a:endParaRPr>
          </a:p>
        </p:txBody>
      </p:sp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3886200" y="3514725"/>
          <a:ext cx="36655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9" name="Equation" r:id="rId4" imgW="1435100" imgH="228600" progId="Equation.DSMT4">
                  <p:embed/>
                </p:oleObj>
              </mc:Choice>
              <mc:Fallback>
                <p:oleObj name="Equation" r:id="rId4" imgW="14351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514725"/>
                        <a:ext cx="3665538" cy="588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91581" dir="19578596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7" name="Group 9"/>
          <p:cNvGrpSpPr>
            <a:grpSpLocks/>
          </p:cNvGrpSpPr>
          <p:nvPr/>
        </p:nvGrpSpPr>
        <p:grpSpPr bwMode="auto">
          <a:xfrm>
            <a:off x="1504950" y="2368550"/>
            <a:ext cx="7058025" cy="1060450"/>
            <a:chOff x="956" y="2291"/>
            <a:chExt cx="4363" cy="709"/>
          </a:xfrm>
        </p:grpSpPr>
        <p:sp>
          <p:nvSpPr>
            <p:cNvPr id="36873" name="Rectangle 6"/>
            <p:cNvSpPr>
              <a:spLocks noChangeArrowheads="1"/>
            </p:cNvSpPr>
            <p:nvPr/>
          </p:nvSpPr>
          <p:spPr bwMode="auto">
            <a:xfrm>
              <a:off x="3312" y="2616"/>
              <a:ext cx="200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lvl="1">
                <a:buFontTx/>
                <a:buNone/>
              </a:pPr>
              <a:endParaRPr lang="en-US" altLang="en-US" sz="2400" b="0">
                <a:solidFill>
                  <a:schemeClr val="tx1"/>
                </a:solidFill>
              </a:endParaRPr>
            </a:p>
          </p:txBody>
        </p:sp>
        <p:graphicFrame>
          <p:nvGraphicFramePr>
            <p:cNvPr id="36874" name="Object 7"/>
            <p:cNvGraphicFramePr>
              <a:graphicFrameLocks noChangeAspect="1"/>
            </p:cNvGraphicFramePr>
            <p:nvPr/>
          </p:nvGraphicFramePr>
          <p:xfrm>
            <a:off x="956" y="2291"/>
            <a:ext cx="2520" cy="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90" name="Equation" r:id="rId6" imgW="1905000" imgH="444500" progId="Equation.DSMT4">
                    <p:embed/>
                  </p:oleObj>
                </mc:Choice>
                <mc:Fallback>
                  <p:oleObj name="Equation" r:id="rId6" imgW="1905000" imgH="4445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2291"/>
                          <a:ext cx="2520" cy="7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533400" y="4343400"/>
            <a:ext cx="80295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800"/>
              <a:t>We do not reject the null hypothesis</a:t>
            </a:r>
            <a:r>
              <a:rPr lang="en-US" altLang="en-US" sz="2800" b="0"/>
              <a:t>.</a:t>
            </a:r>
          </a:p>
          <a:p>
            <a:pPr>
              <a:buFontTx/>
              <a:buNone/>
            </a:pPr>
            <a:r>
              <a:rPr lang="en-US" altLang="en-US" sz="2800" b="0"/>
              <a:t> Note that the P-value = P(</a:t>
            </a:r>
            <a:r>
              <a:rPr lang="en-US" altLang="en-US" sz="2800" b="0" i="1"/>
              <a:t>t</a:t>
            </a:r>
            <a:r>
              <a:rPr lang="en-US" altLang="en-US" sz="2800" b="0" baseline="-25000"/>
              <a:t>74</a:t>
            </a:r>
            <a:r>
              <a:rPr lang="en-US" altLang="en-US" sz="2800" b="0"/>
              <a:t> </a:t>
            </a:r>
            <a:r>
              <a:rPr lang="en-US" altLang="en-US" sz="2800" b="0" i="1"/>
              <a:t>&lt; </a:t>
            </a:r>
            <a:r>
              <a:rPr lang="en-US" altLang="en-US" sz="2800" b="0"/>
              <a:t>-1.52) = .066.</a:t>
            </a:r>
          </a:p>
          <a:p>
            <a:pPr>
              <a:buFontTx/>
              <a:buNone/>
            </a:pPr>
            <a:r>
              <a:rPr lang="en-US" altLang="en-US" sz="2800" b="0"/>
              <a:t>Since our decision is to not reject the null hypothesis,</a:t>
            </a:r>
          </a:p>
          <a:p>
            <a:pPr>
              <a:buFontTx/>
              <a:buNone/>
            </a:pPr>
            <a:r>
              <a:rPr lang="en-US" altLang="en-US" sz="2800"/>
              <a:t>A Type II error is possible.</a:t>
            </a:r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381000" y="3514725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 b="0"/>
              <a:t>Since the rejection region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6" grpId="0" build="p" bldLvl="2" autoUpdateAnimBg="0"/>
      <p:bldP spid="942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EABA7200-3AF6-4C77-90C7-9CD264A3D8EA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900" smtClean="0"/>
              <a:t>The CFO thinks that a </a:t>
            </a:r>
            <a:r>
              <a:rPr lang="en-US" altLang="en-US" sz="2900" u="sng" smtClean="0"/>
              <a:t>decrease of one day</a:t>
            </a:r>
            <a:r>
              <a:rPr lang="en-US" altLang="en-US" sz="2900" smtClean="0"/>
              <a:t> in the average payment return time will cover the costs of the envelopes since customer checks can be deposited earlier.</a:t>
            </a:r>
          </a:p>
          <a:p>
            <a:pPr>
              <a:lnSpc>
                <a:spcPct val="90000"/>
              </a:lnSpc>
            </a:pPr>
            <a:r>
              <a:rPr lang="en-US" altLang="en-US" sz="2900" smtClean="0"/>
              <a:t>What is </a:t>
            </a:r>
            <a:r>
              <a:rPr lang="en-US" altLang="en-US" sz="2900" smtClean="0">
                <a:sym typeface="Mathematica1" pitchFamily="2" charset="2"/>
              </a:rPr>
              <a:t>(23)</a:t>
            </a:r>
            <a:r>
              <a:rPr lang="en-US" altLang="en-US" sz="2900" smtClean="0"/>
              <a:t>, the probability of a Type II error when the true mean payment return time </a:t>
            </a:r>
            <a:r>
              <a:rPr lang="en-US" altLang="en-US" sz="2900" smtClean="0">
                <a:sym typeface="Mathematica1" pitchFamily="2" charset="2"/>
              </a:rPr>
              <a:t></a:t>
            </a:r>
            <a:r>
              <a:rPr lang="en-US" altLang="en-US" sz="2900" smtClean="0"/>
              <a:t> is 23 days?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371600"/>
          </a:xfrm>
          <a:noFill/>
        </p:spPr>
        <p:txBody>
          <a:bodyPr/>
          <a:lstStyle/>
          <a:p>
            <a:r>
              <a:rPr lang="en-US" altLang="en-US" smtClean="0"/>
              <a:t>Left-Tail Test: Calculating </a:t>
            </a:r>
            <a:r>
              <a:rPr lang="en-US" altLang="en-US" smtClean="0">
                <a:sym typeface="Mathematica1" pitchFamily="2" charset="2"/>
              </a:rPr>
              <a:t>,</a:t>
            </a:r>
            <a:r>
              <a:rPr lang="en-US" altLang="en-US" smtClean="0"/>
              <a:t> the Probability of a Type II Error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D38D2A51-6A53-4381-B30E-9F5402ABE4D6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077200" cy="1600200"/>
          </a:xfrm>
        </p:spPr>
        <p:txBody>
          <a:bodyPr/>
          <a:lstStyle/>
          <a:p>
            <a:pPr lvl="1">
              <a:lnSpc>
                <a:spcPct val="90000"/>
              </a:lnSpc>
              <a:defRPr/>
            </a:pPr>
            <a:r>
              <a:rPr lang="en-US" sz="3200" dirty="0" smtClean="0"/>
              <a:t>Test statistic: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sz="3200" dirty="0" smtClean="0"/>
              <a:t>		H</a:t>
            </a:r>
            <a:r>
              <a:rPr lang="en-US" sz="3200" baseline="-25000" dirty="0" smtClean="0"/>
              <a:t>0</a:t>
            </a:r>
            <a:r>
              <a:rPr lang="en-US" sz="3200" dirty="0" smtClean="0"/>
              <a:t> : </a:t>
            </a:r>
            <a:r>
              <a:rPr lang="en-US" sz="3200" dirty="0" smtClean="0">
                <a:latin typeface="Symbol" charset="2"/>
              </a:rPr>
              <a:t>m</a:t>
            </a:r>
            <a:r>
              <a:rPr lang="en-US" sz="3200" dirty="0" smtClean="0"/>
              <a:t> = 24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sz="3200" dirty="0" smtClean="0"/>
              <a:t>		H</a:t>
            </a:r>
            <a:r>
              <a:rPr lang="en-US" sz="3200" baseline="-25000" dirty="0" smtClean="0"/>
              <a:t>A</a:t>
            </a:r>
            <a:r>
              <a:rPr lang="en-US" sz="3200" dirty="0" smtClean="0"/>
              <a:t> : </a:t>
            </a:r>
            <a:r>
              <a:rPr lang="en-US" sz="3200" dirty="0" smtClean="0">
                <a:latin typeface="Symbol" charset="2"/>
              </a:rPr>
              <a:t>m</a:t>
            </a:r>
            <a:r>
              <a:rPr lang="en-US" sz="3200" dirty="0" smtClean="0"/>
              <a:t> &lt; 24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Choose </a:t>
            </a:r>
            <a:r>
              <a:rPr lang="en-US" dirty="0" smtClean="0">
                <a:sym typeface="Mathematica1"/>
              </a:rPr>
              <a:t> = .05</a:t>
            </a: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r>
              <a:rPr lang="en-US" dirty="0" smtClean="0">
                <a:sym typeface="Mathematica1"/>
              </a:rPr>
              <a:t>Rejection region in terms of z: z &lt; -z</a:t>
            </a:r>
            <a:r>
              <a:rPr lang="en-US" baseline="-25000" dirty="0" smtClean="0">
                <a:sym typeface="Mathematica1"/>
              </a:rPr>
              <a:t>.05</a:t>
            </a:r>
            <a:r>
              <a:rPr lang="en-US" dirty="0" smtClean="0">
                <a:sym typeface="Mathematica1"/>
              </a:rPr>
              <a:t> = -1.645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  <a:noFill/>
        </p:spPr>
        <p:txBody>
          <a:bodyPr/>
          <a:lstStyle/>
          <a:p>
            <a:r>
              <a:rPr lang="en-US" altLang="en-US" sz="4000" smtClean="0"/>
              <a:t>Left-tail test: calculating </a:t>
            </a:r>
            <a:r>
              <a:rPr lang="en-US" altLang="en-US" sz="4000" smtClean="0">
                <a:sym typeface="Mathematica1" pitchFamily="2" charset="2"/>
              </a:rPr>
              <a:t> (cont.)</a:t>
            </a:r>
            <a:endParaRPr lang="en-US" altLang="en-US" sz="4000" smtClean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09550" y="3810000"/>
          <a:ext cx="4340225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0" name="Equation" r:id="rId3" imgW="1879600" imgH="1257300" progId="Equation.DSMT4">
                  <p:embed/>
                </p:oleObj>
              </mc:Choice>
              <mc:Fallback>
                <p:oleObj name="Equation" r:id="rId3" imgW="1879600" imgH="1257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" y="3810000"/>
                        <a:ext cx="4340225" cy="2708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8" name="Group 5"/>
          <p:cNvGrpSpPr>
            <a:grpSpLocks/>
          </p:cNvGrpSpPr>
          <p:nvPr/>
        </p:nvGrpSpPr>
        <p:grpSpPr bwMode="auto">
          <a:xfrm>
            <a:off x="6081713" y="4010025"/>
            <a:ext cx="1981200" cy="1600200"/>
            <a:chOff x="1776" y="1008"/>
            <a:chExt cx="2256" cy="1008"/>
          </a:xfrm>
        </p:grpSpPr>
        <p:sp>
          <p:nvSpPr>
            <p:cNvPr id="38927" name="Freeform 6"/>
            <p:cNvSpPr>
              <a:spLocks/>
            </p:cNvSpPr>
            <p:nvPr/>
          </p:nvSpPr>
          <p:spPr bwMode="auto">
            <a:xfrm>
              <a:off x="1776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928" name="Freeform 7"/>
            <p:cNvSpPr>
              <a:spLocks/>
            </p:cNvSpPr>
            <p:nvPr/>
          </p:nvSpPr>
          <p:spPr bwMode="auto">
            <a:xfrm flipH="1">
              <a:off x="2880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8919" name="Text Box 9"/>
          <p:cNvSpPr txBox="1">
            <a:spLocks noChangeArrowheads="1"/>
          </p:cNvSpPr>
          <p:nvPr/>
        </p:nvSpPr>
        <p:spPr bwMode="auto">
          <a:xfrm>
            <a:off x="4813300" y="4648200"/>
            <a:ext cx="407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  <a:latin typeface="Symbol" charset="2"/>
              </a:rPr>
              <a:t>a</a:t>
            </a:r>
            <a:endParaRPr lang="en-US" altLang="en-US" sz="2800" b="0">
              <a:solidFill>
                <a:schemeClr val="tx1"/>
              </a:solidFill>
            </a:endParaRPr>
          </a:p>
        </p:txBody>
      </p:sp>
      <p:sp>
        <p:nvSpPr>
          <p:cNvPr id="38920" name="Line 10"/>
          <p:cNvSpPr>
            <a:spLocks noChangeShapeType="1"/>
          </p:cNvSpPr>
          <p:nvPr/>
        </p:nvSpPr>
        <p:spPr bwMode="auto">
          <a:xfrm>
            <a:off x="5613400" y="5191125"/>
            <a:ext cx="655638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Line 11"/>
          <p:cNvSpPr>
            <a:spLocks noChangeShapeType="1"/>
          </p:cNvSpPr>
          <p:nvPr/>
        </p:nvSpPr>
        <p:spPr bwMode="auto">
          <a:xfrm>
            <a:off x="5319713" y="5626100"/>
            <a:ext cx="297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5267325" y="4706938"/>
            <a:ext cx="1001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= 0.05</a:t>
            </a:r>
          </a:p>
        </p:txBody>
      </p:sp>
      <p:sp>
        <p:nvSpPr>
          <p:cNvPr id="38923" name="Line 14"/>
          <p:cNvSpPr>
            <a:spLocks noChangeShapeType="1"/>
          </p:cNvSpPr>
          <p:nvPr/>
        </p:nvSpPr>
        <p:spPr bwMode="auto">
          <a:xfrm flipV="1">
            <a:off x="7072313" y="4010025"/>
            <a:ext cx="0" cy="16208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4" name="Object 19"/>
          <p:cNvGraphicFramePr>
            <a:graphicFrameLocks noChangeAspect="1"/>
          </p:cNvGraphicFramePr>
          <p:nvPr/>
        </p:nvGraphicFramePr>
        <p:xfrm>
          <a:off x="5911850" y="5791200"/>
          <a:ext cx="6762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1" name="Equation" r:id="rId5" imgW="393359" imgH="177646" progId="Equation.DSMT4">
                  <p:embed/>
                </p:oleObj>
              </mc:Choice>
              <mc:Fallback>
                <p:oleObj name="Equation" r:id="rId5" imgW="393359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850" y="5791200"/>
                        <a:ext cx="67627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5" name="Line 20"/>
          <p:cNvSpPr>
            <a:spLocks noChangeShapeType="1"/>
          </p:cNvSpPr>
          <p:nvPr/>
        </p:nvSpPr>
        <p:spPr bwMode="auto">
          <a:xfrm>
            <a:off x="6592888" y="4908550"/>
            <a:ext cx="0" cy="717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6" name="Object 3"/>
          <p:cNvGraphicFramePr>
            <a:graphicFrameLocks noChangeAspect="1"/>
          </p:cNvGraphicFramePr>
          <p:nvPr/>
        </p:nvGraphicFramePr>
        <p:xfrm>
          <a:off x="6875463" y="5715000"/>
          <a:ext cx="35083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2" name="Equation" r:id="rId7" imgW="203024" imgH="164957" progId="Equation.DSMT4">
                  <p:embed/>
                </p:oleObj>
              </mc:Choice>
              <mc:Fallback>
                <p:oleObj name="Equation" r:id="rId7" imgW="203024" imgH="16495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5715000"/>
                        <a:ext cx="35083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 advAuto="0"/>
      <p:bldP spid="1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7630B182-E476-487E-AC10-0CD02F83B310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9939" name="AutoShape 2"/>
          <p:cNvSpPr>
            <a:spLocks noChangeArrowheads="1"/>
          </p:cNvSpPr>
          <p:nvPr/>
        </p:nvSpPr>
        <p:spPr bwMode="auto">
          <a:xfrm>
            <a:off x="5715000" y="914400"/>
            <a:ext cx="3082925" cy="1066800"/>
          </a:xfrm>
          <a:prstGeom prst="cloudCallout">
            <a:avLst>
              <a:gd name="adj1" fmla="val -34861"/>
              <a:gd name="adj2" fmla="val 6711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/>
              <a:t>Express the rejection region </a:t>
            </a:r>
            <a:r>
              <a:rPr lang="en-US" altLang="en-US" sz="1800" b="0" u="sng"/>
              <a:t>directly</a:t>
            </a:r>
            <a:r>
              <a:rPr lang="en-US" altLang="en-US" sz="1800" b="0"/>
              <a:t>, not in standardized terms</a:t>
            </a:r>
          </a:p>
        </p:txBody>
      </p:sp>
      <p:sp>
        <p:nvSpPr>
          <p:cNvPr id="39940" name="Text Box 15"/>
          <p:cNvSpPr txBox="1">
            <a:spLocks noChangeArrowheads="1"/>
          </p:cNvSpPr>
          <p:nvPr/>
        </p:nvSpPr>
        <p:spPr bwMode="auto">
          <a:xfrm>
            <a:off x="7210425" y="5216525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0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838450" y="4973638"/>
            <a:ext cx="1436688" cy="841375"/>
            <a:chOff x="2838334" y="4974365"/>
            <a:chExt cx="1437386" cy="840648"/>
          </a:xfrm>
        </p:grpSpPr>
        <p:sp>
          <p:nvSpPr>
            <p:cNvPr id="39978" name="Freeform 5"/>
            <p:cNvSpPr>
              <a:spLocks/>
            </p:cNvSpPr>
            <p:nvPr/>
          </p:nvSpPr>
          <p:spPr bwMode="auto">
            <a:xfrm flipH="1">
              <a:off x="3687763" y="5399088"/>
              <a:ext cx="585787" cy="344488"/>
            </a:xfrm>
            <a:custGeom>
              <a:avLst/>
              <a:gdLst>
                <a:gd name="T0" fmla="*/ 0 w 528"/>
                <a:gd name="T1" fmla="*/ 0 h 288"/>
                <a:gd name="T2" fmla="*/ 4923717 w 528"/>
                <a:gd name="T3" fmla="*/ 234642977 h 288"/>
                <a:gd name="T4" fmla="*/ 317564230 w 528"/>
                <a:gd name="T5" fmla="*/ 234642977 h 288"/>
                <a:gd name="T6" fmla="*/ 194476846 w 528"/>
                <a:gd name="T7" fmla="*/ 194581894 h 288"/>
                <a:gd name="T8" fmla="*/ 83698755 w 528"/>
                <a:gd name="T9" fmla="*/ 98722127 h 288"/>
                <a:gd name="T10" fmla="*/ 0 w 528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8" h="288">
                  <a:moveTo>
                    <a:pt x="0" y="0"/>
                  </a:moveTo>
                  <a:lnTo>
                    <a:pt x="9" y="288"/>
                  </a:lnTo>
                  <a:lnTo>
                    <a:pt x="528" y="288"/>
                  </a:lnTo>
                  <a:lnTo>
                    <a:pt x="323" y="240"/>
                  </a:lnTo>
                  <a:lnTo>
                    <a:pt x="140" y="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9" name="Line 12"/>
            <p:cNvSpPr>
              <a:spLocks noChangeShapeType="1"/>
            </p:cNvSpPr>
            <p:nvPr/>
          </p:nvSpPr>
          <p:spPr bwMode="auto">
            <a:xfrm>
              <a:off x="4275720" y="5398603"/>
              <a:ext cx="0" cy="416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0" name="Text Box 14"/>
            <p:cNvSpPr txBox="1">
              <a:spLocks noChangeArrowheads="1"/>
            </p:cNvSpPr>
            <p:nvPr/>
          </p:nvSpPr>
          <p:spPr bwMode="auto">
            <a:xfrm>
              <a:off x="2838334" y="4974365"/>
              <a:ext cx="756360" cy="396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chemeClr val="tx1"/>
                  </a:solidFill>
                  <a:latin typeface="Symbol" charset="2"/>
                </a:rPr>
                <a:t>a</a:t>
              </a:r>
              <a:r>
                <a:rPr lang="en-US" altLang="en-US" sz="2000" b="0">
                  <a:solidFill>
                    <a:schemeClr val="tx1"/>
                  </a:solidFill>
                </a:rPr>
                <a:t>=.05</a:t>
              </a:r>
            </a:p>
          </p:txBody>
        </p:sp>
        <p:sp>
          <p:nvSpPr>
            <p:cNvPr id="39981" name="Line 18"/>
            <p:cNvSpPr>
              <a:spLocks noChangeShapeType="1"/>
            </p:cNvSpPr>
            <p:nvPr/>
          </p:nvSpPr>
          <p:spPr bwMode="auto">
            <a:xfrm>
              <a:off x="3347596" y="5310937"/>
              <a:ext cx="578570" cy="22542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9942" name="Rectangle 20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066800"/>
          </a:xfrm>
          <a:noFill/>
        </p:spPr>
        <p:txBody>
          <a:bodyPr/>
          <a:lstStyle/>
          <a:p>
            <a:r>
              <a:rPr lang="en-US" altLang="en-US" sz="3600" smtClean="0"/>
              <a:t>Left-tail test: calculating </a:t>
            </a:r>
            <a:r>
              <a:rPr lang="en-US" altLang="en-US" sz="3600" smtClean="0">
                <a:sym typeface="Mathematica1" pitchFamily="2" charset="2"/>
              </a:rPr>
              <a:t> (cont.)</a:t>
            </a:r>
            <a:endParaRPr lang="en-US" altLang="en-US" sz="3600" smtClean="0"/>
          </a:p>
        </p:txBody>
      </p:sp>
      <p:grpSp>
        <p:nvGrpSpPr>
          <p:cNvPr id="39943" name="Group 21"/>
          <p:cNvGrpSpPr>
            <a:grpSpLocks/>
          </p:cNvGrpSpPr>
          <p:nvPr/>
        </p:nvGrpSpPr>
        <p:grpSpPr bwMode="auto">
          <a:xfrm>
            <a:off x="685800" y="1447800"/>
            <a:ext cx="7772400" cy="1143000"/>
            <a:chOff x="432" y="912"/>
            <a:chExt cx="4896" cy="720"/>
          </a:xfrm>
        </p:grpSpPr>
        <p:sp>
          <p:nvSpPr>
            <p:cNvPr id="39976" name="Rectangle 22"/>
            <p:cNvSpPr>
              <a:spLocks noChangeArrowheads="1"/>
            </p:cNvSpPr>
            <p:nvPr/>
          </p:nvSpPr>
          <p:spPr bwMode="auto">
            <a:xfrm>
              <a:off x="432" y="912"/>
              <a:ext cx="4896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lvl="1"/>
              <a:r>
                <a:rPr lang="en-US" altLang="en-US" b="0"/>
                <a:t>The rejection region with </a:t>
              </a:r>
              <a:r>
                <a:rPr lang="en-US" altLang="en-US" b="0">
                  <a:latin typeface="Symbol" charset="2"/>
                </a:rPr>
                <a:t>a</a:t>
              </a:r>
              <a:r>
                <a:rPr lang="en-US" altLang="en-US" b="0"/>
                <a:t> = .05.</a:t>
              </a:r>
            </a:p>
          </p:txBody>
        </p:sp>
        <p:graphicFrame>
          <p:nvGraphicFramePr>
            <p:cNvPr id="39977" name="Object 23"/>
            <p:cNvGraphicFramePr>
              <a:graphicFrameLocks noChangeAspect="1"/>
            </p:cNvGraphicFramePr>
            <p:nvPr/>
          </p:nvGraphicFramePr>
          <p:xfrm>
            <a:off x="2635" y="1278"/>
            <a:ext cx="1029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96" name="Equation" r:id="rId3" imgW="634449" imgH="177646" progId="Equation.DSMT4">
                    <p:embed/>
                  </p:oleObj>
                </mc:Choice>
                <mc:Fallback>
                  <p:oleObj name="Equation" r:id="rId3" imgW="634449" imgH="177646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5" y="1278"/>
                          <a:ext cx="1029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5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4313238" y="4633913"/>
            <a:ext cx="4300537" cy="1120775"/>
            <a:chOff x="4313238" y="4633913"/>
            <a:chExt cx="4300537" cy="1120775"/>
          </a:xfrm>
        </p:grpSpPr>
        <p:sp>
          <p:nvSpPr>
            <p:cNvPr id="39970" name="Rectangle 3"/>
            <p:cNvSpPr>
              <a:spLocks noChangeArrowheads="1"/>
            </p:cNvSpPr>
            <p:nvPr/>
          </p:nvSpPr>
          <p:spPr bwMode="auto">
            <a:xfrm>
              <a:off x="4313238" y="5422900"/>
              <a:ext cx="4300537" cy="331788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9971" name="Text Box 24"/>
            <p:cNvSpPr txBox="1">
              <a:spLocks noChangeArrowheads="1"/>
            </p:cNvSpPr>
            <p:nvPr/>
          </p:nvSpPr>
          <p:spPr bwMode="auto">
            <a:xfrm>
              <a:off x="6237288" y="4633913"/>
              <a:ext cx="19494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Do not reject H</a:t>
              </a:r>
              <a:r>
                <a:rPr lang="en-US" altLang="en-US" sz="2400" b="0" baseline="-25000">
                  <a:solidFill>
                    <a:schemeClr val="tx1"/>
                  </a:solidFill>
                </a:rPr>
                <a:t>0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39972" name="Group 25"/>
            <p:cNvGrpSpPr>
              <a:grpSpLocks/>
            </p:cNvGrpSpPr>
            <p:nvPr/>
          </p:nvGrpSpPr>
          <p:grpSpPr bwMode="auto">
            <a:xfrm>
              <a:off x="5113338" y="5049838"/>
              <a:ext cx="3071812" cy="347662"/>
              <a:chOff x="-214" y="2276"/>
              <a:chExt cx="2084" cy="384"/>
            </a:xfrm>
          </p:grpSpPr>
          <p:sp>
            <p:nvSpPr>
              <p:cNvPr id="39973" name="Line 26"/>
              <p:cNvSpPr>
                <a:spLocks noChangeShapeType="1"/>
              </p:cNvSpPr>
              <p:nvPr/>
            </p:nvSpPr>
            <p:spPr bwMode="auto">
              <a:xfrm flipH="1">
                <a:off x="-214" y="2304"/>
                <a:ext cx="1174" cy="35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4" name="Line 27"/>
              <p:cNvSpPr>
                <a:spLocks noChangeShapeType="1"/>
              </p:cNvSpPr>
              <p:nvPr/>
            </p:nvSpPr>
            <p:spPr bwMode="auto">
              <a:xfrm flipH="1">
                <a:off x="960" y="2304"/>
                <a:ext cx="144" cy="33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5" name="Line 28"/>
              <p:cNvSpPr>
                <a:spLocks noChangeShapeType="1"/>
              </p:cNvSpPr>
              <p:nvPr/>
            </p:nvSpPr>
            <p:spPr bwMode="auto">
              <a:xfrm>
                <a:off x="1254" y="2276"/>
                <a:ext cx="616" cy="36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2214563" y="3124200"/>
            <a:ext cx="6227762" cy="3033713"/>
            <a:chOff x="2214563" y="3124200"/>
            <a:chExt cx="6227762" cy="3033713"/>
          </a:xfrm>
        </p:grpSpPr>
        <p:sp>
          <p:nvSpPr>
            <p:cNvPr id="39956" name="Line 16"/>
            <p:cNvSpPr>
              <a:spLocks noChangeShapeType="1"/>
            </p:cNvSpPr>
            <p:nvPr/>
          </p:nvSpPr>
          <p:spPr bwMode="auto">
            <a:xfrm>
              <a:off x="2214563" y="5779008"/>
              <a:ext cx="50624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9957" name="Group 6"/>
            <p:cNvGrpSpPr>
              <a:grpSpLocks/>
            </p:cNvGrpSpPr>
            <p:nvPr/>
          </p:nvGrpSpPr>
          <p:grpSpPr bwMode="auto">
            <a:xfrm>
              <a:off x="3108325" y="3124200"/>
              <a:ext cx="5334000" cy="3033713"/>
              <a:chOff x="3108325" y="3124200"/>
              <a:chExt cx="5334000" cy="3033713"/>
            </a:xfrm>
          </p:grpSpPr>
          <p:graphicFrame>
            <p:nvGraphicFramePr>
              <p:cNvPr id="39958" name="Object 6"/>
              <p:cNvGraphicFramePr>
                <a:graphicFrameLocks noChangeAspect="1"/>
              </p:cNvGraphicFramePr>
              <p:nvPr/>
            </p:nvGraphicFramePr>
            <p:xfrm>
              <a:off x="3814763" y="5902325"/>
              <a:ext cx="561975" cy="2555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97" name="Equation" r:id="rId5" imgW="393359" imgH="177646" progId="Equation.DSMT4">
                      <p:embed/>
                    </p:oleObj>
                  </mc:Choice>
                  <mc:Fallback>
                    <p:oleObj name="Equation" r:id="rId5" imgW="393359" imgH="177646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4763" y="5902325"/>
                            <a:ext cx="561975" cy="255588"/>
                          </a:xfrm>
                          <a:prstGeom prst="rect">
                            <a:avLst/>
                          </a:prstGeom>
                          <a:noFill/>
                          <a:ln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A3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107763" dir="18900000" algn="ctr" rotWithShape="0">
                                    <a:srgbClr val="FF000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9959" name="Group 1"/>
              <p:cNvGrpSpPr>
                <a:grpSpLocks/>
              </p:cNvGrpSpPr>
              <p:nvPr/>
            </p:nvGrpSpPr>
            <p:grpSpPr bwMode="auto">
              <a:xfrm>
                <a:off x="3108325" y="3124200"/>
                <a:ext cx="5334000" cy="2989263"/>
                <a:chOff x="3108325" y="3124200"/>
                <a:chExt cx="5334000" cy="2989263"/>
              </a:xfrm>
            </p:grpSpPr>
            <p:grpSp>
              <p:nvGrpSpPr>
                <p:cNvPr id="39960" name="Group 30"/>
                <p:cNvGrpSpPr>
                  <a:grpSpLocks/>
                </p:cNvGrpSpPr>
                <p:nvPr/>
              </p:nvGrpSpPr>
              <p:grpSpPr bwMode="auto">
                <a:xfrm>
                  <a:off x="3108325" y="4329113"/>
                  <a:ext cx="5334000" cy="1784350"/>
                  <a:chOff x="1640" y="2744"/>
                  <a:chExt cx="3360" cy="1124"/>
                </a:xfrm>
              </p:grpSpPr>
              <p:sp>
                <p:nvSpPr>
                  <p:cNvPr id="39963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82" y="3635"/>
                    <a:ext cx="413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571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algn="l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1pPr>
                    <a:lvl2pPr marL="742950" indent="-285750" algn="l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2pPr>
                    <a:lvl3pPr marL="1143000" indent="-228600" algn="l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3pPr>
                    <a:lvl4pPr marL="1600200" indent="-228600" algn="l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4pPr>
                    <a:lvl5pPr marL="2057400" indent="-228600" algn="l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accent2"/>
                        </a:solidFill>
                        <a:latin typeface="Arial Narrow" pitchFamily="34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800" b="0">
                        <a:solidFill>
                          <a:schemeClr val="tx1"/>
                        </a:solidFill>
                        <a:latin typeface="Symbol" charset="2"/>
                      </a:rPr>
                      <a:t>m=</a:t>
                    </a:r>
                    <a:r>
                      <a:rPr lang="en-US" altLang="en-US" sz="1800" b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grpSp>
                <p:nvGrpSpPr>
                  <p:cNvPr id="39964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1640" y="2744"/>
                    <a:ext cx="3360" cy="908"/>
                    <a:chOff x="1152" y="2976"/>
                    <a:chExt cx="1680" cy="912"/>
                  </a:xfrm>
                </p:grpSpPr>
                <p:grpSp>
                  <p:nvGrpSpPr>
                    <p:cNvPr id="39965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73" y="2976"/>
                      <a:ext cx="1659" cy="912"/>
                      <a:chOff x="1776" y="1008"/>
                      <a:chExt cx="2256" cy="1008"/>
                    </a:xfrm>
                  </p:grpSpPr>
                  <p:sp>
                    <p:nvSpPr>
                      <p:cNvPr id="39968" name="Freeform 3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76" y="1008"/>
                        <a:ext cx="1152" cy="1008"/>
                      </a:xfrm>
                      <a:custGeom>
                        <a:avLst/>
                        <a:gdLst>
                          <a:gd name="T0" fmla="*/ 0 w 1152"/>
                          <a:gd name="T1" fmla="*/ 1008 h 1008"/>
                          <a:gd name="T2" fmla="*/ 384 w 1152"/>
                          <a:gd name="T3" fmla="*/ 864 h 1008"/>
                          <a:gd name="T4" fmla="*/ 864 w 1152"/>
                          <a:gd name="T5" fmla="*/ 144 h 1008"/>
                          <a:gd name="T6" fmla="*/ 1152 w 1152"/>
                          <a:gd name="T7" fmla="*/ 0 h 1008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0" t="0" r="r" b="b"/>
                        <a:pathLst>
                          <a:path w="1152" h="1008">
                            <a:moveTo>
                              <a:pt x="0" y="1008"/>
                            </a:moveTo>
                            <a:cubicBezTo>
                              <a:pt x="120" y="1008"/>
                              <a:pt x="240" y="1008"/>
                              <a:pt x="384" y="864"/>
                            </a:cubicBezTo>
                            <a:cubicBezTo>
                              <a:pt x="528" y="720"/>
                              <a:pt x="736" y="288"/>
                              <a:pt x="864" y="144"/>
                            </a:cubicBezTo>
                            <a:cubicBezTo>
                              <a:pt x="992" y="0"/>
                              <a:pt x="1072" y="0"/>
                              <a:pt x="1152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969" name="Freeform 35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2880" y="1008"/>
                        <a:ext cx="1152" cy="1008"/>
                      </a:xfrm>
                      <a:custGeom>
                        <a:avLst/>
                        <a:gdLst>
                          <a:gd name="T0" fmla="*/ 0 w 1152"/>
                          <a:gd name="T1" fmla="*/ 1008 h 1008"/>
                          <a:gd name="T2" fmla="*/ 384 w 1152"/>
                          <a:gd name="T3" fmla="*/ 864 h 1008"/>
                          <a:gd name="T4" fmla="*/ 864 w 1152"/>
                          <a:gd name="T5" fmla="*/ 144 h 1008"/>
                          <a:gd name="T6" fmla="*/ 1152 w 1152"/>
                          <a:gd name="T7" fmla="*/ 0 h 1008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0" t="0" r="r" b="b"/>
                        <a:pathLst>
                          <a:path w="1152" h="1008">
                            <a:moveTo>
                              <a:pt x="0" y="1008"/>
                            </a:moveTo>
                            <a:cubicBezTo>
                              <a:pt x="120" y="1008"/>
                              <a:pt x="240" y="1008"/>
                              <a:pt x="384" y="864"/>
                            </a:cubicBezTo>
                            <a:cubicBezTo>
                              <a:pt x="528" y="720"/>
                              <a:pt x="736" y="288"/>
                              <a:pt x="864" y="144"/>
                            </a:cubicBezTo>
                            <a:cubicBezTo>
                              <a:pt x="992" y="0"/>
                              <a:pt x="1072" y="0"/>
                              <a:pt x="1152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39966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3888"/>
                      <a:ext cx="1680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anchor="ctr">
                      <a:sp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967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03" y="2976"/>
                      <a:ext cx="0" cy="91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39961" name="Freeform 40"/>
                <p:cNvSpPr>
                  <a:spLocks/>
                </p:cNvSpPr>
                <p:nvPr/>
              </p:nvSpPr>
              <p:spPr bwMode="auto">
                <a:xfrm>
                  <a:off x="5529263" y="3438525"/>
                  <a:ext cx="609600" cy="931863"/>
                </a:xfrm>
                <a:custGeom>
                  <a:avLst/>
                  <a:gdLst>
                    <a:gd name="T0" fmla="*/ 0 w 384"/>
                    <a:gd name="T1" fmla="*/ 0 h 288"/>
                    <a:gd name="T2" fmla="*/ 967740000 w 384"/>
                    <a:gd name="T3" fmla="*/ 0 h 288"/>
                    <a:gd name="T4" fmla="*/ 967740000 w 384"/>
                    <a:gd name="T5" fmla="*/ 2147483647 h 28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0"/>
                      </a:moveTo>
                      <a:lnTo>
                        <a:pt x="384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010769" y="3124200"/>
                  <a:ext cx="1556594" cy="5238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>
                    <a:spcBef>
                      <a:spcPct val="20000"/>
                    </a:spcBef>
                    <a:buChar char="•"/>
                    <a:defRPr sz="3200">
                      <a:solidFill>
                        <a:schemeClr val="accent2"/>
                      </a:solidFill>
                      <a:latin typeface="Arial Narrow" pitchFamily="34" charset="0"/>
                    </a:defRPr>
                  </a:lvl1pPr>
                  <a:lvl2pPr marL="742950" indent="-285750" algn="l">
                    <a:spcBef>
                      <a:spcPct val="20000"/>
                    </a:spcBef>
                    <a:buChar char="–"/>
                    <a:defRPr sz="2800">
                      <a:solidFill>
                        <a:schemeClr val="accent2"/>
                      </a:solidFill>
                      <a:latin typeface="Arial Narrow" pitchFamily="34" charset="0"/>
                    </a:defRPr>
                  </a:lvl2pPr>
                  <a:lvl3pPr marL="1143000" indent="-228600" algn="l"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 Narrow" pitchFamily="34" charset="0"/>
                    </a:defRPr>
                  </a:lvl3pPr>
                  <a:lvl4pPr marL="1600200" indent="-228600" algn="l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2"/>
                      </a:solidFill>
                      <a:latin typeface="Arial Narrow" pitchFamily="34" charset="0"/>
                    </a:defRPr>
                  </a:lvl4pPr>
                  <a:lvl5pPr marL="2057400" indent="-228600" algn="l">
                    <a:spcBef>
                      <a:spcPct val="20000"/>
                    </a:spcBef>
                    <a:buChar char="»"/>
                    <a:defRPr sz="2000">
                      <a:solidFill>
                        <a:schemeClr val="accent2"/>
                      </a:solidFill>
                      <a:latin typeface="Arial Narrow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accent2"/>
                      </a:solidFill>
                      <a:latin typeface="Arial Narrow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accent2"/>
                      </a:solidFill>
                      <a:latin typeface="Arial Narrow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accent2"/>
                      </a:solidFill>
                      <a:latin typeface="Arial Narrow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accent2"/>
                      </a:solidFill>
                      <a:latin typeface="Arial Narrow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800"/>
                    <a:t>H</a:t>
                  </a:r>
                  <a:r>
                    <a:rPr lang="en-US" altLang="en-US" sz="2800" baseline="-25000"/>
                    <a:t>0</a:t>
                  </a:r>
                  <a:r>
                    <a:rPr lang="en-US" altLang="en-US" sz="2800"/>
                    <a:t>: </a:t>
                  </a:r>
                  <a:r>
                    <a:rPr lang="en-US" altLang="en-US" sz="2800">
                      <a:latin typeface="Symbol" charset="2"/>
                    </a:rPr>
                    <a:t>m</a:t>
                  </a:r>
                  <a:r>
                    <a:rPr lang="en-US" altLang="en-US" sz="2800"/>
                    <a:t> = 24</a:t>
                  </a:r>
                  <a:endParaRPr lang="en-US" altLang="en-US" sz="24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2278063" y="3754438"/>
            <a:ext cx="4999037" cy="2359025"/>
            <a:chOff x="2277844" y="3753696"/>
            <a:chExt cx="4999209" cy="2359767"/>
          </a:xfrm>
        </p:grpSpPr>
        <p:grpSp>
          <p:nvGrpSpPr>
            <p:cNvPr id="39949" name="Group 4"/>
            <p:cNvGrpSpPr>
              <a:grpSpLocks/>
            </p:cNvGrpSpPr>
            <p:nvPr/>
          </p:nvGrpSpPr>
          <p:grpSpPr bwMode="auto">
            <a:xfrm>
              <a:off x="2277844" y="4349750"/>
              <a:ext cx="4999209" cy="1763713"/>
              <a:chOff x="2277844" y="4349750"/>
              <a:chExt cx="4999209" cy="1763713"/>
            </a:xfrm>
          </p:grpSpPr>
          <p:sp>
            <p:nvSpPr>
              <p:cNvPr id="39952" name="Freeform 9"/>
              <p:cNvSpPr>
                <a:spLocks/>
              </p:cNvSpPr>
              <p:nvPr/>
            </p:nvSpPr>
            <p:spPr bwMode="auto">
              <a:xfrm>
                <a:off x="2277844" y="4349750"/>
                <a:ext cx="2552788" cy="1427841"/>
              </a:xfrm>
              <a:custGeom>
                <a:avLst/>
                <a:gdLst>
                  <a:gd name="T0" fmla="*/ 0 w 1152"/>
                  <a:gd name="T1" fmla="*/ 2022549525 h 1008"/>
                  <a:gd name="T2" fmla="*/ 1885626163 w 1152"/>
                  <a:gd name="T3" fmla="*/ 1733614283 h 1008"/>
                  <a:gd name="T4" fmla="*/ 2147483647 w 1152"/>
                  <a:gd name="T5" fmla="*/ 288935242 h 1008"/>
                  <a:gd name="T6" fmla="*/ 2147483647 w 1152"/>
                  <a:gd name="T7" fmla="*/ 0 h 10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120" y="1008"/>
                      <a:pt x="240" y="1008"/>
                      <a:pt x="384" y="864"/>
                    </a:cubicBezTo>
                    <a:cubicBezTo>
                      <a:pt x="528" y="720"/>
                      <a:pt x="736" y="288"/>
                      <a:pt x="864" y="144"/>
                    </a:cubicBezTo>
                    <a:cubicBezTo>
                      <a:pt x="992" y="0"/>
                      <a:pt x="1072" y="0"/>
                      <a:pt x="1152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53" name="Freeform 10"/>
              <p:cNvSpPr>
                <a:spLocks/>
              </p:cNvSpPr>
              <p:nvPr/>
            </p:nvSpPr>
            <p:spPr bwMode="auto">
              <a:xfrm flipH="1">
                <a:off x="4724265" y="4351167"/>
                <a:ext cx="2552788" cy="1427841"/>
              </a:xfrm>
              <a:custGeom>
                <a:avLst/>
                <a:gdLst>
                  <a:gd name="T0" fmla="*/ 0 w 1152"/>
                  <a:gd name="T1" fmla="*/ 2022549525 h 1008"/>
                  <a:gd name="T2" fmla="*/ 1885626163 w 1152"/>
                  <a:gd name="T3" fmla="*/ 1733614283 h 1008"/>
                  <a:gd name="T4" fmla="*/ 2147483647 w 1152"/>
                  <a:gd name="T5" fmla="*/ 288935242 h 1008"/>
                  <a:gd name="T6" fmla="*/ 2147483647 w 1152"/>
                  <a:gd name="T7" fmla="*/ 0 h 10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120" y="1008"/>
                      <a:pt x="240" y="1008"/>
                      <a:pt x="384" y="864"/>
                    </a:cubicBezTo>
                    <a:cubicBezTo>
                      <a:pt x="528" y="720"/>
                      <a:pt x="736" y="288"/>
                      <a:pt x="864" y="144"/>
                    </a:cubicBezTo>
                    <a:cubicBezTo>
                      <a:pt x="992" y="0"/>
                      <a:pt x="1072" y="0"/>
                      <a:pt x="1152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54" name="Line 17"/>
              <p:cNvSpPr>
                <a:spLocks noChangeShapeType="1"/>
              </p:cNvSpPr>
              <p:nvPr/>
            </p:nvSpPr>
            <p:spPr bwMode="auto">
              <a:xfrm>
                <a:off x="4778955" y="4351315"/>
                <a:ext cx="0" cy="14136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5" name="Text Box 19"/>
              <p:cNvSpPr txBox="1">
                <a:spLocks noChangeArrowheads="1"/>
              </p:cNvSpPr>
              <p:nvPr/>
            </p:nvSpPr>
            <p:spPr bwMode="auto">
              <a:xfrm>
                <a:off x="4421188" y="5743575"/>
                <a:ext cx="692150" cy="369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99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>
                  <a:spcBef>
                    <a:spcPct val="20000"/>
                  </a:spcBef>
                  <a:buChar char="•"/>
                  <a:defRPr sz="3200">
                    <a:solidFill>
                      <a:schemeClr val="accent2"/>
                    </a:solidFill>
                    <a:latin typeface="Arial Narrow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har char="–"/>
                  <a:defRPr sz="2800">
                    <a:solidFill>
                      <a:schemeClr val="accent2"/>
                    </a:solidFill>
                    <a:latin typeface="Arial Narrow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 Narrow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solidFill>
                      <a:schemeClr val="tx1"/>
                    </a:solidFill>
                    <a:latin typeface="Symbol" charset="2"/>
                  </a:rPr>
                  <a:t>m</a:t>
                </a:r>
                <a:r>
                  <a:rPr lang="en-US" altLang="en-US" sz="1800" b="0">
                    <a:solidFill>
                      <a:schemeClr val="tx1"/>
                    </a:solidFill>
                  </a:rPr>
                  <a:t>= 23</a:t>
                </a:r>
              </a:p>
            </p:txBody>
          </p:sp>
        </p:grpSp>
        <p:sp>
          <p:nvSpPr>
            <p:cNvPr id="39950" name="Text Box 39"/>
            <p:cNvSpPr txBox="1">
              <a:spLocks noChangeArrowheads="1"/>
            </p:cNvSpPr>
            <p:nvPr/>
          </p:nvSpPr>
          <p:spPr bwMode="auto">
            <a:xfrm>
              <a:off x="3927475" y="3753696"/>
              <a:ext cx="1587500" cy="274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A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23</a:t>
              </a:r>
            </a:p>
          </p:txBody>
        </p:sp>
        <p:sp>
          <p:nvSpPr>
            <p:cNvPr id="39951" name="Freeform 43"/>
            <p:cNvSpPr>
              <a:spLocks/>
            </p:cNvSpPr>
            <p:nvPr/>
          </p:nvSpPr>
          <p:spPr bwMode="auto">
            <a:xfrm>
              <a:off x="3756025" y="3905250"/>
              <a:ext cx="340700" cy="838200"/>
            </a:xfrm>
            <a:custGeom>
              <a:avLst/>
              <a:gdLst>
                <a:gd name="T0" fmla="*/ 97612324 w 384"/>
                <a:gd name="T1" fmla="*/ 0 h 480"/>
                <a:gd name="T2" fmla="*/ 0 w 384"/>
                <a:gd name="T3" fmla="*/ 0 h 480"/>
                <a:gd name="T4" fmla="*/ 0 w 384"/>
                <a:gd name="T5" fmla="*/ 1948560048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480">
                  <a:moveTo>
                    <a:pt x="384" y="0"/>
                  </a:moveTo>
                  <a:lnTo>
                    <a:pt x="0" y="0"/>
                  </a:lnTo>
                  <a:lnTo>
                    <a:pt x="0" y="48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088" name="AutoShape 48"/>
          <p:cNvSpPr>
            <a:spLocks noChangeArrowheads="1"/>
          </p:cNvSpPr>
          <p:nvPr/>
        </p:nvSpPr>
        <p:spPr bwMode="auto">
          <a:xfrm>
            <a:off x="450850" y="3595688"/>
            <a:ext cx="2797175" cy="1122362"/>
          </a:xfrm>
          <a:prstGeom prst="cloudCallout">
            <a:avLst>
              <a:gd name="adj1" fmla="val 49500"/>
              <a:gd name="adj2" fmla="val 6619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 u="sng"/>
              <a:t>Specify</a:t>
            </a:r>
            <a:r>
              <a:rPr lang="en-US" altLang="en-US" sz="1800" b="0"/>
              <a:t> the alternative value under H</a:t>
            </a:r>
            <a:r>
              <a:rPr lang="en-US" altLang="en-US" sz="1800" b="0" baseline="-25000"/>
              <a:t>A</a:t>
            </a:r>
            <a:r>
              <a:rPr lang="en-US" altLang="en-US" sz="1800" b="0"/>
              <a:t>.</a:t>
            </a:r>
          </a:p>
        </p:txBody>
      </p:sp>
      <p:sp>
        <p:nvSpPr>
          <p:cNvPr id="87089" name="Rectangle 49"/>
          <p:cNvSpPr>
            <a:spLocks noChangeArrowheads="1"/>
          </p:cNvSpPr>
          <p:nvPr/>
        </p:nvSpPr>
        <p:spPr bwMode="auto">
          <a:xfrm>
            <a:off x="706438" y="25908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lvl="1"/>
            <a:r>
              <a:rPr lang="en-US" altLang="en-US" b="0">
                <a:solidFill>
                  <a:srgbClr val="A50021"/>
                </a:solidFill>
              </a:rPr>
              <a:t>Let the alternative value be </a:t>
            </a:r>
            <a:r>
              <a:rPr lang="en-US" altLang="en-US" b="0">
                <a:solidFill>
                  <a:srgbClr val="A50021"/>
                </a:solidFill>
                <a:latin typeface="Symbol" charset="2"/>
              </a:rPr>
              <a:t>m</a:t>
            </a:r>
            <a:r>
              <a:rPr lang="en-US" altLang="en-US" b="0">
                <a:solidFill>
                  <a:srgbClr val="A50021"/>
                </a:solidFill>
              </a:rPr>
              <a:t> = 23 (rather than just </a:t>
            </a:r>
            <a:r>
              <a:rPr lang="en-US" altLang="en-US" b="0">
                <a:solidFill>
                  <a:srgbClr val="A50021"/>
                </a:solidFill>
                <a:latin typeface="Symbol" charset="2"/>
              </a:rPr>
              <a:t>m </a:t>
            </a:r>
            <a:r>
              <a:rPr lang="en-US" altLang="en-US" b="0">
                <a:solidFill>
                  <a:srgbClr val="A50021"/>
                </a:solidFill>
              </a:rPr>
              <a:t>&lt; 24)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88" grpId="0" animBg="1" autoUpdateAnimBg="0"/>
      <p:bldP spid="8708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C8AC1373-FA84-4552-B0F7-4E75E1C0EC26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63" name="Freeform 1028"/>
          <p:cNvSpPr>
            <a:spLocks/>
          </p:cNvSpPr>
          <p:nvPr/>
        </p:nvSpPr>
        <p:spPr bwMode="auto">
          <a:xfrm flipH="1">
            <a:off x="3124200" y="5486400"/>
            <a:ext cx="533400" cy="311150"/>
          </a:xfrm>
          <a:custGeom>
            <a:avLst/>
            <a:gdLst>
              <a:gd name="T0" fmla="*/ 0 w 528"/>
              <a:gd name="T1" fmla="*/ 0 h 288"/>
              <a:gd name="T2" fmla="*/ 2147483647 w 528"/>
              <a:gd name="T3" fmla="*/ 2147483647 h 288"/>
              <a:gd name="T4" fmla="*/ 2147483647 w 528"/>
              <a:gd name="T5" fmla="*/ 2147483647 h 288"/>
              <a:gd name="T6" fmla="*/ 2147483647 w 528"/>
              <a:gd name="T7" fmla="*/ 2147483647 h 288"/>
              <a:gd name="T8" fmla="*/ 2147483647 w 528"/>
              <a:gd name="T9" fmla="*/ 2147483647 h 288"/>
              <a:gd name="T10" fmla="*/ 0 w 528"/>
              <a:gd name="T11" fmla="*/ 0 h 2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28" h="288">
                <a:moveTo>
                  <a:pt x="0" y="0"/>
                </a:moveTo>
                <a:lnTo>
                  <a:pt x="9" y="288"/>
                </a:lnTo>
                <a:lnTo>
                  <a:pt x="528" y="288"/>
                </a:lnTo>
                <a:lnTo>
                  <a:pt x="323" y="240"/>
                </a:lnTo>
                <a:lnTo>
                  <a:pt x="140" y="1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964" name="Object 1029"/>
          <p:cNvGraphicFramePr>
            <a:graphicFrameLocks noChangeAspect="1"/>
          </p:cNvGraphicFramePr>
          <p:nvPr/>
        </p:nvGraphicFramePr>
        <p:xfrm>
          <a:off x="3109913" y="5934075"/>
          <a:ext cx="56197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6" name="Equation" r:id="rId3" imgW="393359" imgH="177646" progId="Equation.DSMT4">
                  <p:embed/>
                </p:oleObj>
              </mc:Choice>
              <mc:Fallback>
                <p:oleObj name="Equation" r:id="rId3" imgW="393359" imgH="177646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913" y="5934075"/>
                        <a:ext cx="561975" cy="255588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Freeform 1032"/>
          <p:cNvSpPr>
            <a:spLocks/>
          </p:cNvSpPr>
          <p:nvPr/>
        </p:nvSpPr>
        <p:spPr bwMode="auto">
          <a:xfrm>
            <a:off x="1512888" y="4370388"/>
            <a:ext cx="2552700" cy="1427162"/>
          </a:xfrm>
          <a:custGeom>
            <a:avLst/>
            <a:gdLst>
              <a:gd name="T0" fmla="*/ 0 w 1152"/>
              <a:gd name="T1" fmla="*/ 2147483647 h 1008"/>
              <a:gd name="T2" fmla="*/ 2147483647 w 1152"/>
              <a:gd name="T3" fmla="*/ 2147483647 h 1008"/>
              <a:gd name="T4" fmla="*/ 2147483647 w 1152"/>
              <a:gd name="T5" fmla="*/ 2147483647 h 1008"/>
              <a:gd name="T6" fmla="*/ 2147483647 w 1152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52" h="1008">
                <a:moveTo>
                  <a:pt x="0" y="1008"/>
                </a:moveTo>
                <a:cubicBezTo>
                  <a:pt x="120" y="1008"/>
                  <a:pt x="240" y="1008"/>
                  <a:pt x="384" y="864"/>
                </a:cubicBezTo>
                <a:cubicBezTo>
                  <a:pt x="528" y="720"/>
                  <a:pt x="736" y="288"/>
                  <a:pt x="864" y="144"/>
                </a:cubicBezTo>
                <a:cubicBezTo>
                  <a:pt x="992" y="0"/>
                  <a:pt x="1072" y="0"/>
                  <a:pt x="1152" y="0"/>
                </a:cubicBez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966" name="Freeform 1033"/>
          <p:cNvSpPr>
            <a:spLocks/>
          </p:cNvSpPr>
          <p:nvPr/>
        </p:nvSpPr>
        <p:spPr bwMode="auto">
          <a:xfrm flipH="1">
            <a:off x="3959225" y="4370388"/>
            <a:ext cx="2552700" cy="1427162"/>
          </a:xfrm>
          <a:custGeom>
            <a:avLst/>
            <a:gdLst>
              <a:gd name="T0" fmla="*/ 0 w 1152"/>
              <a:gd name="T1" fmla="*/ 2147483647 h 1008"/>
              <a:gd name="T2" fmla="*/ 2147483647 w 1152"/>
              <a:gd name="T3" fmla="*/ 2147483647 h 1008"/>
              <a:gd name="T4" fmla="*/ 2147483647 w 1152"/>
              <a:gd name="T5" fmla="*/ 2147483647 h 1008"/>
              <a:gd name="T6" fmla="*/ 2147483647 w 1152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52" h="1008">
                <a:moveTo>
                  <a:pt x="0" y="1008"/>
                </a:moveTo>
                <a:cubicBezTo>
                  <a:pt x="120" y="1008"/>
                  <a:pt x="240" y="1008"/>
                  <a:pt x="384" y="864"/>
                </a:cubicBezTo>
                <a:cubicBezTo>
                  <a:pt x="528" y="720"/>
                  <a:pt x="736" y="288"/>
                  <a:pt x="864" y="144"/>
                </a:cubicBezTo>
                <a:cubicBezTo>
                  <a:pt x="992" y="0"/>
                  <a:pt x="1072" y="0"/>
                  <a:pt x="1152" y="0"/>
                </a:cubicBez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967" name="Line 1035"/>
          <p:cNvSpPr>
            <a:spLocks noChangeShapeType="1"/>
          </p:cNvSpPr>
          <p:nvPr/>
        </p:nvSpPr>
        <p:spPr bwMode="auto">
          <a:xfrm flipH="1">
            <a:off x="3670300" y="5527675"/>
            <a:ext cx="0" cy="255588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8" name="Line 1039"/>
          <p:cNvSpPr>
            <a:spLocks noChangeShapeType="1"/>
          </p:cNvSpPr>
          <p:nvPr/>
        </p:nvSpPr>
        <p:spPr bwMode="auto">
          <a:xfrm>
            <a:off x="838200" y="5797550"/>
            <a:ext cx="5062538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69" name="Text Box 1042"/>
          <p:cNvSpPr txBox="1">
            <a:spLocks noChangeArrowheads="1"/>
          </p:cNvSpPr>
          <p:nvPr/>
        </p:nvSpPr>
        <p:spPr bwMode="auto">
          <a:xfrm>
            <a:off x="3719513" y="5845175"/>
            <a:ext cx="692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altLang="en-US" sz="1800" b="0">
                <a:solidFill>
                  <a:schemeClr val="tx1"/>
                </a:solidFill>
              </a:rPr>
              <a:t>= 23</a:t>
            </a:r>
          </a:p>
        </p:txBody>
      </p:sp>
      <p:sp>
        <p:nvSpPr>
          <p:cNvPr id="40970" name="Rectangle 1045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14400"/>
          </a:xfrm>
          <a:noFill/>
        </p:spPr>
        <p:txBody>
          <a:bodyPr/>
          <a:lstStyle/>
          <a:p>
            <a:r>
              <a:rPr lang="en-US" altLang="en-US" sz="3600" dirty="0" smtClean="0"/>
              <a:t>Left-tail test: calculating </a:t>
            </a:r>
            <a:r>
              <a:rPr lang="en-US" altLang="en-US" sz="3600" dirty="0" smtClean="0">
                <a:sym typeface="Mathematica1" pitchFamily="2" charset="2"/>
              </a:rPr>
              <a:t> (cont.)</a:t>
            </a:r>
            <a:endParaRPr lang="en-US" altLang="en-US" sz="3600" dirty="0" smtClean="0"/>
          </a:p>
        </p:txBody>
      </p:sp>
      <p:grpSp>
        <p:nvGrpSpPr>
          <p:cNvPr id="40971" name="Group 1055"/>
          <p:cNvGrpSpPr>
            <a:grpSpLocks/>
          </p:cNvGrpSpPr>
          <p:nvPr/>
        </p:nvGrpSpPr>
        <p:grpSpPr bwMode="auto">
          <a:xfrm>
            <a:off x="2603500" y="4356100"/>
            <a:ext cx="5334000" cy="1784350"/>
            <a:chOff x="1640" y="2744"/>
            <a:chExt cx="3360" cy="1124"/>
          </a:xfrm>
        </p:grpSpPr>
        <p:sp>
          <p:nvSpPr>
            <p:cNvPr id="40988" name="Text Box 1056"/>
            <p:cNvSpPr txBox="1">
              <a:spLocks noChangeArrowheads="1"/>
            </p:cNvSpPr>
            <p:nvPr/>
          </p:nvSpPr>
          <p:spPr bwMode="auto">
            <a:xfrm>
              <a:off x="3182" y="3635"/>
              <a:ext cx="4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m=</a:t>
              </a:r>
              <a:r>
                <a:rPr lang="en-US" altLang="en-US" sz="1800" b="0">
                  <a:solidFill>
                    <a:schemeClr val="tx1"/>
                  </a:solidFill>
                </a:rPr>
                <a:t>24</a:t>
              </a:r>
            </a:p>
          </p:txBody>
        </p:sp>
        <p:grpSp>
          <p:nvGrpSpPr>
            <p:cNvPr id="40989" name="Group 1057"/>
            <p:cNvGrpSpPr>
              <a:grpSpLocks/>
            </p:cNvGrpSpPr>
            <p:nvPr/>
          </p:nvGrpSpPr>
          <p:grpSpPr bwMode="auto">
            <a:xfrm>
              <a:off x="1640" y="2744"/>
              <a:ext cx="3360" cy="908"/>
              <a:chOff x="1152" y="2976"/>
              <a:chExt cx="1680" cy="912"/>
            </a:xfrm>
          </p:grpSpPr>
          <p:grpSp>
            <p:nvGrpSpPr>
              <p:cNvPr id="40990" name="Group 1058"/>
              <p:cNvGrpSpPr>
                <a:grpSpLocks/>
              </p:cNvGrpSpPr>
              <p:nvPr/>
            </p:nvGrpSpPr>
            <p:grpSpPr bwMode="auto">
              <a:xfrm>
                <a:off x="1173" y="2976"/>
                <a:ext cx="1659" cy="912"/>
                <a:chOff x="1776" y="1008"/>
                <a:chExt cx="2256" cy="1008"/>
              </a:xfrm>
            </p:grpSpPr>
            <p:sp>
              <p:nvSpPr>
                <p:cNvPr id="40993" name="Freeform 1059"/>
                <p:cNvSpPr>
                  <a:spLocks/>
                </p:cNvSpPr>
                <p:nvPr/>
              </p:nvSpPr>
              <p:spPr bwMode="auto">
                <a:xfrm>
                  <a:off x="1776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4" name="Freeform 1060"/>
                <p:cNvSpPr>
                  <a:spLocks/>
                </p:cNvSpPr>
                <p:nvPr/>
              </p:nvSpPr>
              <p:spPr bwMode="auto">
                <a:xfrm flipH="1">
                  <a:off x="2880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0991" name="Line 1061"/>
              <p:cNvSpPr>
                <a:spLocks noChangeShapeType="1"/>
              </p:cNvSpPr>
              <p:nvPr/>
            </p:nvSpPr>
            <p:spPr bwMode="auto">
              <a:xfrm>
                <a:off x="1152" y="3888"/>
                <a:ext cx="16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992" name="Line 1062"/>
              <p:cNvSpPr>
                <a:spLocks noChangeShapeType="1"/>
              </p:cNvSpPr>
              <p:nvPr/>
            </p:nvSpPr>
            <p:spPr bwMode="auto">
              <a:xfrm>
                <a:off x="2003" y="2976"/>
                <a:ext cx="0" cy="9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0972" name="Group 1063"/>
          <p:cNvGrpSpPr>
            <a:grpSpLocks/>
          </p:cNvGrpSpPr>
          <p:nvPr/>
        </p:nvGrpSpPr>
        <p:grpSpPr bwMode="auto">
          <a:xfrm>
            <a:off x="3927475" y="3451225"/>
            <a:ext cx="2236788" cy="1235075"/>
            <a:chOff x="2474" y="2174"/>
            <a:chExt cx="1409" cy="778"/>
          </a:xfrm>
        </p:grpSpPr>
        <p:sp>
          <p:nvSpPr>
            <p:cNvPr id="40986" name="Text Box 1064"/>
            <p:cNvSpPr txBox="1">
              <a:spLocks noChangeArrowheads="1"/>
            </p:cNvSpPr>
            <p:nvPr/>
          </p:nvSpPr>
          <p:spPr bwMode="auto">
            <a:xfrm>
              <a:off x="2474" y="2419"/>
              <a:ext cx="1000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A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23</a:t>
              </a:r>
            </a:p>
          </p:txBody>
        </p:sp>
        <p:sp>
          <p:nvSpPr>
            <p:cNvPr id="40987" name="Freeform 1065"/>
            <p:cNvSpPr>
              <a:spLocks/>
            </p:cNvSpPr>
            <p:nvPr/>
          </p:nvSpPr>
          <p:spPr bwMode="auto">
            <a:xfrm>
              <a:off x="3499" y="2174"/>
              <a:ext cx="384" cy="778"/>
            </a:xfrm>
            <a:custGeom>
              <a:avLst/>
              <a:gdLst>
                <a:gd name="T0" fmla="*/ 0 w 384"/>
                <a:gd name="T1" fmla="*/ 0 h 288"/>
                <a:gd name="T2" fmla="*/ 384 w 384"/>
                <a:gd name="T3" fmla="*/ 0 h 288"/>
                <a:gd name="T4" fmla="*/ 384 w 384"/>
                <a:gd name="T5" fmla="*/ 2300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288">
                  <a:moveTo>
                    <a:pt x="0" y="0"/>
                  </a:moveTo>
                  <a:lnTo>
                    <a:pt x="384" y="0"/>
                  </a:lnTo>
                  <a:lnTo>
                    <a:pt x="384" y="28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73" name="Group 1066"/>
          <p:cNvGrpSpPr>
            <a:grpSpLocks/>
          </p:cNvGrpSpPr>
          <p:nvPr/>
        </p:nvGrpSpPr>
        <p:grpSpPr bwMode="auto">
          <a:xfrm>
            <a:off x="3300413" y="3124200"/>
            <a:ext cx="2254250" cy="1562100"/>
            <a:chOff x="2079" y="1968"/>
            <a:chExt cx="1420" cy="984"/>
          </a:xfrm>
        </p:grpSpPr>
        <p:sp>
          <p:nvSpPr>
            <p:cNvPr id="40984" name="Text Box 1067"/>
            <p:cNvSpPr txBox="1">
              <a:spLocks noChangeArrowheads="1"/>
            </p:cNvSpPr>
            <p:nvPr/>
          </p:nvSpPr>
          <p:spPr bwMode="auto">
            <a:xfrm>
              <a:off x="2519" y="1968"/>
              <a:ext cx="9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24</a:t>
              </a: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0985" name="Freeform 1068"/>
            <p:cNvSpPr>
              <a:spLocks/>
            </p:cNvSpPr>
            <p:nvPr/>
          </p:nvSpPr>
          <p:spPr bwMode="auto">
            <a:xfrm>
              <a:off x="2079" y="2530"/>
              <a:ext cx="384" cy="422"/>
            </a:xfrm>
            <a:custGeom>
              <a:avLst/>
              <a:gdLst>
                <a:gd name="T0" fmla="*/ 384 w 384"/>
                <a:gd name="T1" fmla="*/ 0 h 480"/>
                <a:gd name="T2" fmla="*/ 0 w 384"/>
                <a:gd name="T3" fmla="*/ 0 h 480"/>
                <a:gd name="T4" fmla="*/ 0 w 384"/>
                <a:gd name="T5" fmla="*/ 316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480">
                  <a:moveTo>
                    <a:pt x="384" y="0"/>
                  </a:moveTo>
                  <a:lnTo>
                    <a:pt x="0" y="0"/>
                  </a:lnTo>
                  <a:lnTo>
                    <a:pt x="0" y="48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86066" name="Object 1074"/>
          <p:cNvGraphicFramePr>
            <a:graphicFrameLocks noChangeAspect="1"/>
          </p:cNvGraphicFramePr>
          <p:nvPr/>
        </p:nvGraphicFramePr>
        <p:xfrm>
          <a:off x="439738" y="1077913"/>
          <a:ext cx="696118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7" name="Equation" r:id="rId5" imgW="3136900" imgH="457200" progId="Equation.DSMT4">
                  <p:embed/>
                </p:oleObj>
              </mc:Choice>
              <mc:Fallback>
                <p:oleObj name="Equation" r:id="rId5" imgW="3136900" imgH="457200" progId="Equation.DSMT4">
                  <p:embed/>
                  <p:pic>
                    <p:nvPicPr>
                      <p:cNvPr id="0" name="Object 1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1077913"/>
                        <a:ext cx="6961187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67" name="Object 10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576056"/>
              </p:ext>
            </p:extLst>
          </p:nvPr>
        </p:nvGraphicFramePr>
        <p:xfrm>
          <a:off x="1117600" y="2176463"/>
          <a:ext cx="38893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8" name="Equation" r:id="rId7" imgW="1752480" imgH="507960" progId="Equation.DSMT4">
                  <p:embed/>
                </p:oleObj>
              </mc:Choice>
              <mc:Fallback>
                <p:oleObj name="Equation" r:id="rId7" imgW="1752480" imgH="507960" progId="Equation.DSMT4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2176463"/>
                        <a:ext cx="38893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69" name="Freeform 1077"/>
          <p:cNvSpPr>
            <a:spLocks/>
          </p:cNvSpPr>
          <p:nvPr/>
        </p:nvSpPr>
        <p:spPr bwMode="auto">
          <a:xfrm>
            <a:off x="615950" y="1627188"/>
            <a:ext cx="3575050" cy="3219450"/>
          </a:xfrm>
          <a:custGeom>
            <a:avLst/>
            <a:gdLst>
              <a:gd name="T0" fmla="*/ 2147483647 w 1968"/>
              <a:gd name="T1" fmla="*/ 0 h 2496"/>
              <a:gd name="T2" fmla="*/ 0 w 1968"/>
              <a:gd name="T3" fmla="*/ 0 h 2496"/>
              <a:gd name="T4" fmla="*/ 0 w 1968"/>
              <a:gd name="T5" fmla="*/ 2147483647 h 2496"/>
              <a:gd name="T6" fmla="*/ 2147483647 w 1968"/>
              <a:gd name="T7" fmla="*/ 2147483647 h 2496"/>
              <a:gd name="T8" fmla="*/ 2147483647 w 1968"/>
              <a:gd name="T9" fmla="*/ 2147483647 h 24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68" h="2496">
                <a:moveTo>
                  <a:pt x="192" y="0"/>
                </a:moveTo>
                <a:lnTo>
                  <a:pt x="0" y="0"/>
                </a:lnTo>
                <a:lnTo>
                  <a:pt x="0" y="2160"/>
                </a:lnTo>
                <a:lnTo>
                  <a:pt x="1248" y="2160"/>
                </a:lnTo>
                <a:lnTo>
                  <a:pt x="1968" y="2496"/>
                </a:lnTo>
              </a:path>
            </a:pathLst>
          </a:cu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632450" y="2514600"/>
            <a:ext cx="2743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Power when </a:t>
            </a:r>
            <a:r>
              <a:rPr lang="en-US" altLang="en-US" sz="2400" dirty="0">
                <a:solidFill>
                  <a:schemeClr val="tx1"/>
                </a:solidFill>
                <a:sym typeface="Mathematica1" pitchFamily="2" charset="2"/>
              </a:rPr>
              <a:t>=23</a:t>
            </a:r>
            <a:r>
              <a:rPr lang="en-US" altLang="en-US" sz="2400" dirty="0">
                <a:solidFill>
                  <a:schemeClr val="tx1"/>
                </a:solidFill>
              </a:rPr>
              <a:t> is 1-</a:t>
            </a:r>
            <a:r>
              <a:rPr lang="en-US" altLang="en-US" sz="2400" dirty="0">
                <a:solidFill>
                  <a:schemeClr val="tx1"/>
                </a:solidFill>
                <a:sym typeface="Mathematica1" pitchFamily="2" charset="2"/>
              </a:rPr>
              <a:t>(23</a:t>
            </a:r>
            <a:r>
              <a:rPr lang="en-US" altLang="en-US" sz="2400" dirty="0" smtClean="0">
                <a:solidFill>
                  <a:schemeClr val="tx1"/>
                </a:solidFill>
                <a:sym typeface="Mathematica1" pitchFamily="2" charset="2"/>
              </a:rPr>
              <a:t>)=1-.58=.</a:t>
            </a:r>
            <a:r>
              <a:rPr lang="en-US" altLang="en-US" sz="2400" dirty="0" smtClean="0">
                <a:solidFill>
                  <a:schemeClr val="tx1"/>
                </a:solidFill>
                <a:sym typeface="Mathematica1" pitchFamily="2" charset="2"/>
              </a:rPr>
              <a:t>4</a:t>
            </a:r>
            <a:r>
              <a:rPr lang="en-US" altLang="en-US" sz="2400" dirty="0" smtClean="0">
                <a:solidFill>
                  <a:schemeClr val="tx1"/>
                </a:solidFill>
                <a:sym typeface="Mathematica1" pitchFamily="2" charset="2"/>
              </a:rPr>
              <a:t>2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40978" name="Line 1040"/>
          <p:cNvSpPr>
            <a:spLocks noChangeShapeType="1"/>
          </p:cNvSpPr>
          <p:nvPr/>
        </p:nvSpPr>
        <p:spPr bwMode="auto">
          <a:xfrm>
            <a:off x="4014788" y="4370388"/>
            <a:ext cx="0" cy="141287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9" name="Line 1073"/>
          <p:cNvSpPr>
            <a:spLocks noChangeShapeType="1"/>
          </p:cNvSpPr>
          <p:nvPr/>
        </p:nvSpPr>
        <p:spPr bwMode="auto">
          <a:xfrm>
            <a:off x="3657600" y="4495800"/>
            <a:ext cx="12700" cy="127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80" name="Rectangle 2"/>
          <p:cNvSpPr>
            <a:spLocks noChangeArrowheads="1"/>
          </p:cNvSpPr>
          <p:nvPr/>
        </p:nvSpPr>
        <p:spPr bwMode="auto">
          <a:xfrm>
            <a:off x="1573213" y="4846638"/>
            <a:ext cx="8778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Symbol" charset="2"/>
              </a:rPr>
              <a:t>a</a:t>
            </a:r>
            <a:r>
              <a:rPr lang="en-US" altLang="en-US" sz="2400" b="0">
                <a:solidFill>
                  <a:schemeClr val="tx1"/>
                </a:solidFill>
              </a:rPr>
              <a:t>=.05</a:t>
            </a:r>
          </a:p>
        </p:txBody>
      </p:sp>
      <p:cxnSp>
        <p:nvCxnSpPr>
          <p:cNvPr id="40981" name="Straight Arrow Connector 4"/>
          <p:cNvCxnSpPr>
            <a:cxnSpLocks noChangeShapeType="1"/>
          </p:cNvCxnSpPr>
          <p:nvPr/>
        </p:nvCxnSpPr>
        <p:spPr bwMode="auto">
          <a:xfrm>
            <a:off x="2603500" y="5307013"/>
            <a:ext cx="787400" cy="34925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2" name="Straight Arrow Connector 6"/>
          <p:cNvCxnSpPr>
            <a:cxnSpLocks noChangeShapeType="1"/>
          </p:cNvCxnSpPr>
          <p:nvPr/>
        </p:nvCxnSpPr>
        <p:spPr bwMode="auto">
          <a:xfrm>
            <a:off x="2451100" y="5133975"/>
            <a:ext cx="919163" cy="508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83" name="Freeform 11"/>
          <p:cNvSpPr>
            <a:spLocks/>
          </p:cNvSpPr>
          <p:nvPr/>
        </p:nvSpPr>
        <p:spPr bwMode="auto">
          <a:xfrm>
            <a:off x="3516313" y="4352925"/>
            <a:ext cx="2647950" cy="1497013"/>
          </a:xfrm>
          <a:custGeom>
            <a:avLst/>
            <a:gdLst>
              <a:gd name="T0" fmla="*/ 155234 w 2649215"/>
              <a:gd name="T1" fmla="*/ 124607 h 1497267"/>
              <a:gd name="T2" fmla="*/ 490928 w 2649215"/>
              <a:gd name="T3" fmla="*/ 43966 h 1497267"/>
              <a:gd name="T4" fmla="*/ 746057 w 2649215"/>
              <a:gd name="T5" fmla="*/ 84286 h 1497267"/>
              <a:gd name="T6" fmla="*/ 1095180 w 2649215"/>
              <a:gd name="T7" fmla="*/ 245567 h 1497267"/>
              <a:gd name="T8" fmla="*/ 2035126 w 2649215"/>
              <a:gd name="T9" fmla="*/ 1186384 h 1497267"/>
              <a:gd name="T10" fmla="*/ 2343966 w 2649215"/>
              <a:gd name="T11" fmla="*/ 1334227 h 1497267"/>
              <a:gd name="T12" fmla="*/ 2505099 w 2649215"/>
              <a:gd name="T13" fmla="*/ 1414867 h 1497267"/>
              <a:gd name="T14" fmla="*/ 168660 w 2649215"/>
              <a:gd name="T15" fmla="*/ 1414867 h 1497267"/>
              <a:gd name="T16" fmla="*/ 182089 w 2649215"/>
              <a:gd name="T17" fmla="*/ 1401426 h 1497267"/>
              <a:gd name="T18" fmla="*/ 168660 w 2649215"/>
              <a:gd name="T19" fmla="*/ 1401426 h 1497267"/>
              <a:gd name="T20" fmla="*/ 155234 w 2649215"/>
              <a:gd name="T21" fmla="*/ 124607 h 149726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649215" h="1497267">
                <a:moveTo>
                  <a:pt x="155456" y="124670"/>
                </a:moveTo>
                <a:cubicBezTo>
                  <a:pt x="209244" y="-101689"/>
                  <a:pt x="393021" y="50711"/>
                  <a:pt x="491633" y="43987"/>
                </a:cubicBezTo>
                <a:cubicBezTo>
                  <a:pt x="590245" y="37263"/>
                  <a:pt x="646274" y="50710"/>
                  <a:pt x="747127" y="84328"/>
                </a:cubicBezTo>
                <a:cubicBezTo>
                  <a:pt x="847980" y="117946"/>
                  <a:pt x="881597" y="61917"/>
                  <a:pt x="1096750" y="245693"/>
                </a:cubicBezTo>
                <a:cubicBezTo>
                  <a:pt x="1311903" y="429469"/>
                  <a:pt x="1829615" y="1005452"/>
                  <a:pt x="2038044" y="1186987"/>
                </a:cubicBezTo>
                <a:cubicBezTo>
                  <a:pt x="2246474" y="1368522"/>
                  <a:pt x="2268886" y="1296805"/>
                  <a:pt x="2347327" y="1334905"/>
                </a:cubicBezTo>
                <a:cubicBezTo>
                  <a:pt x="2425768" y="1373005"/>
                  <a:pt x="2871762" y="1402140"/>
                  <a:pt x="2508691" y="1415587"/>
                </a:cubicBezTo>
                <a:cubicBezTo>
                  <a:pt x="2145620" y="1429034"/>
                  <a:pt x="556627" y="1417828"/>
                  <a:pt x="168903" y="1415587"/>
                </a:cubicBezTo>
                <a:cubicBezTo>
                  <a:pt x="-218821" y="1413346"/>
                  <a:pt x="182350" y="1404381"/>
                  <a:pt x="182350" y="1402140"/>
                </a:cubicBezTo>
                <a:cubicBezTo>
                  <a:pt x="182350" y="1399899"/>
                  <a:pt x="175626" y="1617293"/>
                  <a:pt x="168903" y="1402140"/>
                </a:cubicBezTo>
                <a:cubicBezTo>
                  <a:pt x="162180" y="1186987"/>
                  <a:pt x="101668" y="351029"/>
                  <a:pt x="155456" y="124670"/>
                </a:cubicBezTo>
                <a:close/>
              </a:path>
            </a:pathLst>
          </a:custGeom>
          <a:solidFill>
            <a:schemeClr val="accent2">
              <a:alpha val="5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69" grpId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23E7A663-4379-4C0C-AA74-D9DD8A7B6C3B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altLang="en-US" smtClean="0"/>
              <a:t>A Two - Tail Test for </a:t>
            </a:r>
            <a:r>
              <a:rPr lang="en-US" altLang="en-US" smtClean="0">
                <a:sym typeface="Mathematica1" pitchFamily="2" charset="2"/>
              </a:rPr>
              <a:t></a:t>
            </a:r>
            <a:endParaRPr lang="en-US" altLang="en-US" smtClean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5029200"/>
          </a:xfrm>
        </p:spPr>
        <p:txBody>
          <a:bodyPr/>
          <a:lstStyle/>
          <a:p>
            <a:r>
              <a:rPr lang="en-US" altLang="en-US" smtClean="0"/>
              <a:t>The Federal Communications Commission (FCC) wants competition between phone companies. The FCC wants to investigate if AT&amp;T rates differ from their competitor’s rates.</a:t>
            </a:r>
          </a:p>
          <a:p>
            <a:r>
              <a:rPr lang="en-US" altLang="en-US" smtClean="0"/>
              <a:t>According to data from the (FCC) the mean monthly long-distance bills for all AT&amp;T residential customers is $17.09.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D55924A0-08C9-4E84-81B4-70902A6788B7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altLang="en-US" smtClean="0"/>
              <a:t>A Two - Tail Test (cont.)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029200"/>
          </a:xfrm>
        </p:spPr>
        <p:txBody>
          <a:bodyPr/>
          <a:lstStyle/>
          <a:p>
            <a:r>
              <a:rPr lang="en-US" altLang="en-US" smtClean="0"/>
              <a:t>A random sample of 100 AT&amp;T customers is selected and their bills are recalculated using a leading competitor’s rates.</a:t>
            </a:r>
          </a:p>
          <a:p>
            <a:r>
              <a:rPr lang="en-US" altLang="en-US" smtClean="0"/>
              <a:t>The mean and standard deviation of the bills using the competitor’s rates are</a:t>
            </a:r>
          </a:p>
          <a:p>
            <a:endParaRPr lang="en-US" altLang="en-US" smtClean="0"/>
          </a:p>
          <a:p>
            <a:r>
              <a:rPr lang="en-US" altLang="en-US" smtClean="0"/>
              <a:t>Can we infer that there is a difference between AT&amp;T’s bills and the competitor’s bills (on the average)? </a:t>
            </a:r>
          </a:p>
        </p:txBody>
      </p:sp>
      <p:graphicFrame>
        <p:nvGraphicFramePr>
          <p:cNvPr id="43013" name="Object 1"/>
          <p:cNvGraphicFramePr>
            <a:graphicFrameLocks noChangeAspect="1"/>
          </p:cNvGraphicFramePr>
          <p:nvPr/>
        </p:nvGraphicFramePr>
        <p:xfrm>
          <a:off x="2651125" y="4038600"/>
          <a:ext cx="31654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Equation" r:id="rId3" imgW="1358310" imgH="203112" progId="Equation.DSMT4">
                  <p:embed/>
                </p:oleObj>
              </mc:Choice>
              <mc:Fallback>
                <p:oleObj name="Equation" r:id="rId3" imgW="1358310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4038600"/>
                        <a:ext cx="31654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74F27399-8A9E-40CC-A3A3-9DF67510B139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r>
              <a:rPr lang="en-US" altLang="en-US" smtClean="0"/>
              <a:t>Is the mean different from 17.09?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n = 100; use </a:t>
            </a:r>
            <a:r>
              <a:rPr lang="en-US" altLang="en-US" smtClean="0">
                <a:sym typeface="Mathematica1" pitchFamily="2" charset="2"/>
              </a:rPr>
              <a:t> = .05</a:t>
            </a:r>
            <a:endParaRPr lang="en-US" altLang="en-US" smtClean="0"/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2482850" y="2209800"/>
            <a:ext cx="1931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H</a:t>
            </a:r>
            <a:r>
              <a:rPr lang="en-US" altLang="en-US" sz="2800" b="0" baseline="-25000">
                <a:solidFill>
                  <a:schemeClr val="tx1"/>
                </a:solidFill>
              </a:rPr>
              <a:t>0</a:t>
            </a:r>
            <a:r>
              <a:rPr lang="en-US" altLang="en-US" sz="2800" b="0">
                <a:solidFill>
                  <a:schemeClr val="tx1"/>
                </a:solidFill>
              </a:rPr>
              <a:t>: </a:t>
            </a:r>
            <a:r>
              <a:rPr lang="en-US" altLang="en-US" sz="2800" b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altLang="en-US" sz="2800" b="0">
                <a:solidFill>
                  <a:schemeClr val="tx1"/>
                </a:solidFill>
              </a:rPr>
              <a:t> = 17.09</a:t>
            </a:r>
          </a:p>
        </p:txBody>
      </p:sp>
      <p:graphicFrame>
        <p:nvGraphicFramePr>
          <p:cNvPr id="44037" name="Object 7"/>
          <p:cNvGraphicFramePr>
            <a:graphicFrameLocks noChangeAspect="1"/>
          </p:cNvGraphicFramePr>
          <p:nvPr/>
        </p:nvGraphicFramePr>
        <p:xfrm>
          <a:off x="2482850" y="2819400"/>
          <a:ext cx="21717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6" name="Equation" r:id="rId3" imgW="927100" imgH="228600" progId="Equation.DSMT4">
                  <p:embed/>
                </p:oleObj>
              </mc:Choice>
              <mc:Fallback>
                <p:oleObj name="Equation" r:id="rId3" imgW="9271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2819400"/>
                        <a:ext cx="21717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A Two - Tail Test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7536536F-B8CE-439F-B504-6DF75AC017EC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45059" name="Group 8"/>
          <p:cNvGrpSpPr>
            <a:grpSpLocks/>
          </p:cNvGrpSpPr>
          <p:nvPr/>
        </p:nvGrpSpPr>
        <p:grpSpPr bwMode="auto">
          <a:xfrm>
            <a:off x="5453063" y="3773488"/>
            <a:ext cx="2700337" cy="2333625"/>
            <a:chOff x="3435" y="1680"/>
            <a:chExt cx="1701" cy="1470"/>
          </a:xfrm>
        </p:grpSpPr>
        <p:sp>
          <p:nvSpPr>
            <p:cNvPr id="45086" name="Line 9"/>
            <p:cNvSpPr>
              <a:spLocks noChangeShapeType="1"/>
            </p:cNvSpPr>
            <p:nvPr/>
          </p:nvSpPr>
          <p:spPr bwMode="auto">
            <a:xfrm flipV="1">
              <a:off x="4225" y="1680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087" name="Group 10"/>
            <p:cNvGrpSpPr>
              <a:grpSpLocks/>
            </p:cNvGrpSpPr>
            <p:nvPr/>
          </p:nvGrpSpPr>
          <p:grpSpPr bwMode="auto">
            <a:xfrm>
              <a:off x="3523" y="1684"/>
              <a:ext cx="1392" cy="1200"/>
              <a:chOff x="1776" y="1008"/>
              <a:chExt cx="2256" cy="1008"/>
            </a:xfrm>
          </p:grpSpPr>
          <p:sp>
            <p:nvSpPr>
              <p:cNvPr id="45090" name="Freeform 11"/>
              <p:cNvSpPr>
                <a:spLocks/>
              </p:cNvSpPr>
              <p:nvPr/>
            </p:nvSpPr>
            <p:spPr bwMode="auto">
              <a:xfrm>
                <a:off x="1776" y="1008"/>
                <a:ext cx="1152" cy="1008"/>
              </a:xfrm>
              <a:custGeom>
                <a:avLst/>
                <a:gdLst>
                  <a:gd name="T0" fmla="*/ 0 w 1152"/>
                  <a:gd name="T1" fmla="*/ 1008 h 1008"/>
                  <a:gd name="T2" fmla="*/ 384 w 1152"/>
                  <a:gd name="T3" fmla="*/ 864 h 1008"/>
                  <a:gd name="T4" fmla="*/ 864 w 1152"/>
                  <a:gd name="T5" fmla="*/ 144 h 1008"/>
                  <a:gd name="T6" fmla="*/ 1152 w 1152"/>
                  <a:gd name="T7" fmla="*/ 0 h 10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120" y="1008"/>
                      <a:pt x="240" y="1008"/>
                      <a:pt x="384" y="864"/>
                    </a:cubicBezTo>
                    <a:cubicBezTo>
                      <a:pt x="528" y="720"/>
                      <a:pt x="736" y="288"/>
                      <a:pt x="864" y="144"/>
                    </a:cubicBezTo>
                    <a:cubicBezTo>
                      <a:pt x="992" y="0"/>
                      <a:pt x="1072" y="0"/>
                      <a:pt x="1152" y="0"/>
                    </a:cubicBez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091" name="Freeform 12"/>
              <p:cNvSpPr>
                <a:spLocks/>
              </p:cNvSpPr>
              <p:nvPr/>
            </p:nvSpPr>
            <p:spPr bwMode="auto">
              <a:xfrm flipH="1">
                <a:off x="2880" y="1008"/>
                <a:ext cx="1152" cy="1008"/>
              </a:xfrm>
              <a:custGeom>
                <a:avLst/>
                <a:gdLst>
                  <a:gd name="T0" fmla="*/ 0 w 1152"/>
                  <a:gd name="T1" fmla="*/ 1008 h 1008"/>
                  <a:gd name="T2" fmla="*/ 384 w 1152"/>
                  <a:gd name="T3" fmla="*/ 864 h 1008"/>
                  <a:gd name="T4" fmla="*/ 864 w 1152"/>
                  <a:gd name="T5" fmla="*/ 144 h 1008"/>
                  <a:gd name="T6" fmla="*/ 1152 w 1152"/>
                  <a:gd name="T7" fmla="*/ 0 h 10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120" y="1008"/>
                      <a:pt x="240" y="1008"/>
                      <a:pt x="384" y="864"/>
                    </a:cubicBezTo>
                    <a:cubicBezTo>
                      <a:pt x="528" y="720"/>
                      <a:pt x="736" y="288"/>
                      <a:pt x="864" y="144"/>
                    </a:cubicBezTo>
                    <a:cubicBezTo>
                      <a:pt x="992" y="0"/>
                      <a:pt x="1072" y="0"/>
                      <a:pt x="1152" y="0"/>
                    </a:cubicBez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5088" name="Line 13"/>
            <p:cNvSpPr>
              <a:spLocks noChangeShapeType="1"/>
            </p:cNvSpPr>
            <p:nvPr/>
          </p:nvSpPr>
          <p:spPr bwMode="auto">
            <a:xfrm flipV="1">
              <a:off x="3435" y="2910"/>
              <a:ext cx="170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89" name="Text Box 14"/>
            <p:cNvSpPr txBox="1">
              <a:spLocks noChangeArrowheads="1"/>
            </p:cNvSpPr>
            <p:nvPr/>
          </p:nvSpPr>
          <p:spPr bwMode="auto">
            <a:xfrm>
              <a:off x="4131" y="2900"/>
              <a:ext cx="1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45060" name="Group 33"/>
          <p:cNvGrpSpPr>
            <a:grpSpLocks/>
          </p:cNvGrpSpPr>
          <p:nvPr/>
        </p:nvGrpSpPr>
        <p:grpSpPr bwMode="auto">
          <a:xfrm>
            <a:off x="4648200" y="4611688"/>
            <a:ext cx="4102100" cy="949325"/>
            <a:chOff x="2928" y="2208"/>
            <a:chExt cx="2584" cy="598"/>
          </a:xfrm>
        </p:grpSpPr>
        <p:sp>
          <p:nvSpPr>
            <p:cNvPr id="45082" name="Line 34"/>
            <p:cNvSpPr>
              <a:spLocks noChangeShapeType="1"/>
            </p:cNvSpPr>
            <p:nvPr/>
          </p:nvSpPr>
          <p:spPr bwMode="auto">
            <a:xfrm>
              <a:off x="3327" y="2487"/>
              <a:ext cx="273" cy="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83" name="Text Box 35"/>
            <p:cNvSpPr txBox="1">
              <a:spLocks noChangeArrowheads="1"/>
            </p:cNvSpPr>
            <p:nvPr/>
          </p:nvSpPr>
          <p:spPr bwMode="auto">
            <a:xfrm>
              <a:off x="2928" y="2208"/>
              <a:ext cx="9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a/</a:t>
              </a:r>
              <a:r>
                <a:rPr lang="en-US" altLang="en-US" sz="2400" b="0">
                  <a:solidFill>
                    <a:schemeClr val="tx1"/>
                  </a:solidFill>
                </a:rPr>
                <a:t>2</a:t>
              </a: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 = </a:t>
              </a:r>
              <a:r>
                <a:rPr lang="en-US" altLang="en-US" sz="2400" b="0">
                  <a:solidFill>
                    <a:schemeClr val="tx1"/>
                  </a:solidFill>
                </a:rPr>
                <a:t>0.025</a:t>
              </a:r>
            </a:p>
          </p:txBody>
        </p:sp>
        <p:sp>
          <p:nvSpPr>
            <p:cNvPr id="45084" name="Text Box 36"/>
            <p:cNvSpPr txBox="1">
              <a:spLocks noChangeArrowheads="1"/>
            </p:cNvSpPr>
            <p:nvPr/>
          </p:nvSpPr>
          <p:spPr bwMode="auto">
            <a:xfrm>
              <a:off x="4537" y="2208"/>
              <a:ext cx="9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a/</a:t>
              </a:r>
              <a:r>
                <a:rPr lang="en-US" altLang="en-US" sz="2400" b="0">
                  <a:solidFill>
                    <a:schemeClr val="tx1"/>
                  </a:solidFill>
                </a:rPr>
                <a:t>2</a:t>
              </a: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 = </a:t>
              </a:r>
              <a:r>
                <a:rPr lang="en-US" altLang="en-US" sz="2400" b="0">
                  <a:solidFill>
                    <a:schemeClr val="tx1"/>
                  </a:solidFill>
                </a:rPr>
                <a:t>0.025</a:t>
              </a:r>
            </a:p>
          </p:txBody>
        </p:sp>
        <p:sp>
          <p:nvSpPr>
            <p:cNvPr id="45085" name="Line 37"/>
            <p:cNvSpPr>
              <a:spLocks noChangeShapeType="1"/>
            </p:cNvSpPr>
            <p:nvPr/>
          </p:nvSpPr>
          <p:spPr bwMode="auto">
            <a:xfrm flipH="1">
              <a:off x="4800" y="2496"/>
              <a:ext cx="24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1958" name="Group 38"/>
          <p:cNvGrpSpPr>
            <a:grpSpLocks/>
          </p:cNvGrpSpPr>
          <p:nvPr/>
        </p:nvGrpSpPr>
        <p:grpSpPr bwMode="auto">
          <a:xfrm>
            <a:off x="4237038" y="5705475"/>
            <a:ext cx="4656137" cy="61913"/>
            <a:chOff x="2669" y="2897"/>
            <a:chExt cx="2933" cy="39"/>
          </a:xfrm>
        </p:grpSpPr>
        <p:sp>
          <p:nvSpPr>
            <p:cNvPr id="45080" name="Rectangle 39"/>
            <p:cNvSpPr>
              <a:spLocks noChangeArrowheads="1"/>
            </p:cNvSpPr>
            <p:nvPr/>
          </p:nvSpPr>
          <p:spPr bwMode="auto">
            <a:xfrm>
              <a:off x="2669" y="2897"/>
              <a:ext cx="1123" cy="39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5081" name="Rectangle 40"/>
            <p:cNvSpPr>
              <a:spLocks noChangeArrowheads="1"/>
            </p:cNvSpPr>
            <p:nvPr/>
          </p:nvSpPr>
          <p:spPr bwMode="auto">
            <a:xfrm>
              <a:off x="4657" y="2902"/>
              <a:ext cx="945" cy="3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81961" name="Object 41"/>
          <p:cNvGraphicFramePr>
            <a:graphicFrameLocks noChangeAspect="1"/>
          </p:cNvGraphicFramePr>
          <p:nvPr/>
        </p:nvGraphicFramePr>
        <p:xfrm>
          <a:off x="438150" y="3330575"/>
          <a:ext cx="40989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6" name="Equation" r:id="rId3" imgW="2019300" imgH="444500" progId="Equation.DSMT4">
                  <p:embed/>
                </p:oleObj>
              </mc:Choice>
              <mc:Fallback>
                <p:oleObj name="Equation" r:id="rId3" imgW="2019300" imgH="4445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3330575"/>
                        <a:ext cx="40989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63" name="Group 42"/>
          <p:cNvGrpSpPr>
            <a:grpSpLocks/>
          </p:cNvGrpSpPr>
          <p:nvPr/>
        </p:nvGrpSpPr>
        <p:grpSpPr bwMode="auto">
          <a:xfrm>
            <a:off x="4953000" y="5297488"/>
            <a:ext cx="3338513" cy="865187"/>
            <a:chOff x="3120" y="2640"/>
            <a:chExt cx="2103" cy="545"/>
          </a:xfrm>
        </p:grpSpPr>
        <p:sp>
          <p:nvSpPr>
            <p:cNvPr id="45075" name="Line 43"/>
            <p:cNvSpPr>
              <a:spLocks noChangeShapeType="1"/>
            </p:cNvSpPr>
            <p:nvPr/>
          </p:nvSpPr>
          <p:spPr bwMode="auto">
            <a:xfrm>
              <a:off x="3792" y="2640"/>
              <a:ext cx="0" cy="257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6" name="Line 44"/>
            <p:cNvSpPr>
              <a:spLocks noChangeShapeType="1"/>
            </p:cNvSpPr>
            <p:nvPr/>
          </p:nvSpPr>
          <p:spPr bwMode="auto">
            <a:xfrm>
              <a:off x="4656" y="2640"/>
              <a:ext cx="0" cy="257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077" name="Group 45"/>
            <p:cNvGrpSpPr>
              <a:grpSpLocks/>
            </p:cNvGrpSpPr>
            <p:nvPr/>
          </p:nvGrpSpPr>
          <p:grpSpPr bwMode="auto">
            <a:xfrm>
              <a:off x="3120" y="2928"/>
              <a:ext cx="2103" cy="257"/>
              <a:chOff x="3120" y="2928"/>
              <a:chExt cx="2103" cy="257"/>
            </a:xfrm>
          </p:grpSpPr>
          <p:sp>
            <p:nvSpPr>
              <p:cNvPr id="45078" name="Text Box 46"/>
              <p:cNvSpPr txBox="1">
                <a:spLocks noChangeArrowheads="1"/>
              </p:cNvSpPr>
              <p:nvPr/>
            </p:nvSpPr>
            <p:spPr bwMode="auto">
              <a:xfrm>
                <a:off x="3120" y="2933"/>
                <a:ext cx="9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har char="•"/>
                  <a:defRPr sz="3200">
                    <a:solidFill>
                      <a:schemeClr val="accent2"/>
                    </a:solidFill>
                    <a:latin typeface="Arial Narrow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har char="–"/>
                  <a:defRPr sz="2800">
                    <a:solidFill>
                      <a:schemeClr val="accent2"/>
                    </a:solidFill>
                    <a:latin typeface="Arial Narrow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 Narrow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0070C0"/>
                    </a:solidFill>
                  </a:rPr>
                  <a:t>-t</a:t>
                </a:r>
                <a:r>
                  <a:rPr lang="en-US" altLang="en-US" sz="2000" baseline="-25000">
                    <a:solidFill>
                      <a:srgbClr val="0070C0"/>
                    </a:solidFill>
                    <a:latin typeface="Symbol" charset="2"/>
                  </a:rPr>
                  <a:t>a/2</a:t>
                </a:r>
                <a:r>
                  <a:rPr lang="en-US" altLang="en-US" sz="2000">
                    <a:solidFill>
                      <a:srgbClr val="0070C0"/>
                    </a:solidFill>
                    <a:latin typeface="Symbol" charset="2"/>
                  </a:rPr>
                  <a:t> </a:t>
                </a:r>
                <a:r>
                  <a:rPr lang="en-US" altLang="en-US" sz="2000">
                    <a:solidFill>
                      <a:srgbClr val="0070C0"/>
                    </a:solidFill>
                  </a:rPr>
                  <a:t>= -1.9842</a:t>
                </a:r>
              </a:p>
            </p:txBody>
          </p:sp>
          <p:sp>
            <p:nvSpPr>
              <p:cNvPr id="45079" name="Text Box 47"/>
              <p:cNvSpPr txBox="1">
                <a:spLocks noChangeArrowheads="1"/>
              </p:cNvSpPr>
              <p:nvPr/>
            </p:nvSpPr>
            <p:spPr bwMode="auto">
              <a:xfrm>
                <a:off x="4359" y="2928"/>
                <a:ext cx="86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>
                  <a:spcBef>
                    <a:spcPct val="20000"/>
                  </a:spcBef>
                  <a:buChar char="•"/>
                  <a:defRPr sz="3200">
                    <a:solidFill>
                      <a:schemeClr val="accent2"/>
                    </a:solidFill>
                    <a:latin typeface="Arial Narrow" pitchFamily="34" charset="0"/>
                  </a:defRPr>
                </a:lvl1pPr>
                <a:lvl2pPr marL="742950" indent="-285750" algn="l">
                  <a:spcBef>
                    <a:spcPct val="20000"/>
                  </a:spcBef>
                  <a:buChar char="–"/>
                  <a:defRPr sz="2800">
                    <a:solidFill>
                      <a:schemeClr val="accent2"/>
                    </a:solidFill>
                    <a:latin typeface="Arial Narrow" pitchFamily="34" charset="0"/>
                  </a:defRPr>
                </a:lvl2pPr>
                <a:lvl3pPr marL="1143000" indent="-228600" algn="l"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 Narrow" pitchFamily="34" charset="0"/>
                  </a:defRPr>
                </a:lvl3pPr>
                <a:lvl4pPr marL="1600200" indent="-228600" algn="l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4pPr>
                <a:lvl5pPr marL="2057400" indent="-228600" algn="l">
                  <a:spcBef>
                    <a:spcPct val="20000"/>
                  </a:spcBef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accent2"/>
                    </a:solidFill>
                    <a:latin typeface="Arial Narrow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0070C0"/>
                    </a:solidFill>
                  </a:rPr>
                  <a:t>t</a:t>
                </a:r>
                <a:r>
                  <a:rPr lang="en-US" altLang="en-US" sz="2000" baseline="-25000">
                    <a:solidFill>
                      <a:srgbClr val="0070C0"/>
                    </a:solidFill>
                    <a:latin typeface="Symbol" charset="2"/>
                  </a:rPr>
                  <a:t>a/2</a:t>
                </a:r>
                <a:r>
                  <a:rPr lang="en-US" altLang="en-US" sz="2000">
                    <a:solidFill>
                      <a:srgbClr val="0070C0"/>
                    </a:solidFill>
                    <a:latin typeface="Symbol" charset="2"/>
                  </a:rPr>
                  <a:t> </a:t>
                </a:r>
                <a:r>
                  <a:rPr lang="en-US" altLang="en-US" sz="2000">
                    <a:solidFill>
                      <a:srgbClr val="0070C0"/>
                    </a:solidFill>
                  </a:rPr>
                  <a:t>= 1.9842</a:t>
                </a:r>
              </a:p>
            </p:txBody>
          </p:sp>
        </p:grpSp>
      </p:grpSp>
      <p:grpSp>
        <p:nvGrpSpPr>
          <p:cNvPr id="81968" name="Group 48"/>
          <p:cNvGrpSpPr>
            <a:grpSpLocks/>
          </p:cNvGrpSpPr>
          <p:nvPr/>
        </p:nvGrpSpPr>
        <p:grpSpPr bwMode="auto">
          <a:xfrm>
            <a:off x="4876800" y="5830888"/>
            <a:ext cx="3581400" cy="935037"/>
            <a:chOff x="3072" y="2976"/>
            <a:chExt cx="2256" cy="845"/>
          </a:xfrm>
        </p:grpSpPr>
        <p:sp>
          <p:nvSpPr>
            <p:cNvPr id="45072" name="Text Box 49"/>
            <p:cNvSpPr txBox="1">
              <a:spLocks noChangeArrowheads="1"/>
            </p:cNvSpPr>
            <p:nvPr/>
          </p:nvSpPr>
          <p:spPr bwMode="auto">
            <a:xfrm>
              <a:off x="3600" y="3408"/>
              <a:ext cx="1258" cy="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Rejection region</a:t>
              </a:r>
            </a:p>
          </p:txBody>
        </p:sp>
        <p:sp>
          <p:nvSpPr>
            <p:cNvPr id="45073" name="Freeform 50"/>
            <p:cNvSpPr>
              <a:spLocks/>
            </p:cNvSpPr>
            <p:nvPr/>
          </p:nvSpPr>
          <p:spPr bwMode="auto">
            <a:xfrm>
              <a:off x="3072" y="2976"/>
              <a:ext cx="528" cy="576"/>
            </a:xfrm>
            <a:custGeom>
              <a:avLst/>
              <a:gdLst>
                <a:gd name="T0" fmla="*/ 528 w 528"/>
                <a:gd name="T1" fmla="*/ 576 h 576"/>
                <a:gd name="T2" fmla="*/ 0 w 528"/>
                <a:gd name="T3" fmla="*/ 576 h 576"/>
                <a:gd name="T4" fmla="*/ 0 w 528"/>
                <a:gd name="T5" fmla="*/ 0 h 5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8" h="576">
                  <a:moveTo>
                    <a:pt x="528" y="576"/>
                  </a:moveTo>
                  <a:lnTo>
                    <a:pt x="0" y="57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4" name="Freeform 51"/>
            <p:cNvSpPr>
              <a:spLocks/>
            </p:cNvSpPr>
            <p:nvPr/>
          </p:nvSpPr>
          <p:spPr bwMode="auto">
            <a:xfrm flipH="1">
              <a:off x="4800" y="2976"/>
              <a:ext cx="528" cy="576"/>
            </a:xfrm>
            <a:custGeom>
              <a:avLst/>
              <a:gdLst>
                <a:gd name="T0" fmla="*/ 528 w 528"/>
                <a:gd name="T1" fmla="*/ 576 h 576"/>
                <a:gd name="T2" fmla="*/ 0 w 528"/>
                <a:gd name="T3" fmla="*/ 576 h 576"/>
                <a:gd name="T4" fmla="*/ 0 w 528"/>
                <a:gd name="T5" fmla="*/ 0 h 5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8" h="576">
                  <a:moveTo>
                    <a:pt x="528" y="576"/>
                  </a:moveTo>
                  <a:lnTo>
                    <a:pt x="0" y="57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975" name="Line 55"/>
          <p:cNvSpPr>
            <a:spLocks noChangeShapeType="1"/>
          </p:cNvSpPr>
          <p:nvPr/>
        </p:nvSpPr>
        <p:spPr bwMode="auto">
          <a:xfrm>
            <a:off x="7086600" y="5561013"/>
            <a:ext cx="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6" name="Text Box 63"/>
          <p:cNvSpPr txBox="1">
            <a:spLocks noChangeArrowheads="1"/>
          </p:cNvSpPr>
          <p:nvPr/>
        </p:nvSpPr>
        <p:spPr bwMode="auto">
          <a:xfrm>
            <a:off x="677863" y="1219200"/>
            <a:ext cx="2311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0"/>
              <a:t>Rejection region</a:t>
            </a:r>
          </a:p>
        </p:txBody>
      </p:sp>
      <p:sp>
        <p:nvSpPr>
          <p:cNvPr id="45067" name="Rectangle 65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/>
          <a:lstStyle/>
          <a:p>
            <a:r>
              <a:rPr lang="en-US" altLang="en-US" smtClean="0"/>
              <a:t>A Two – Tail Test (cont.)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302000" y="1600200"/>
          <a:ext cx="4441825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7" name="Equation" r:id="rId5" imgW="1562100" imgH="457200" progId="Equation.DSMT4">
                  <p:embed/>
                </p:oleObj>
              </mc:Choice>
              <mc:Fallback>
                <p:oleObj name="Equation" r:id="rId5" imgW="15621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1600200"/>
                        <a:ext cx="4441825" cy="13096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91581" dir="19578596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>
            <a:cxnSpLocks noChangeShapeType="1"/>
            <a:endCxn id="81975" idx="0"/>
          </p:cNvCxnSpPr>
          <p:nvPr/>
        </p:nvCxnSpPr>
        <p:spPr bwMode="auto">
          <a:xfrm>
            <a:off x="6019800" y="3779838"/>
            <a:ext cx="1066800" cy="17811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4648200" y="3773488"/>
            <a:ext cx="1371600" cy="635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71" name="TextBox 10"/>
          <p:cNvSpPr txBox="1">
            <a:spLocks noChangeArrowheads="1"/>
          </p:cNvSpPr>
          <p:nvPr/>
        </p:nvSpPr>
        <p:spPr bwMode="auto">
          <a:xfrm>
            <a:off x="6996113" y="3516313"/>
            <a:ext cx="715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t</a:t>
            </a:r>
            <a:r>
              <a:rPr lang="en-US" altLang="en-US" sz="2400" baseline="-25000">
                <a:solidFill>
                  <a:schemeClr val="tx1"/>
                </a:solidFill>
              </a:rPr>
              <a:t>99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D1A03FC-8554-47B2-8C2D-962565016BAF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79908" name="Group 36"/>
          <p:cNvGrpSpPr>
            <a:grpSpLocks/>
          </p:cNvGrpSpPr>
          <p:nvPr/>
        </p:nvGrpSpPr>
        <p:grpSpPr bwMode="auto">
          <a:xfrm>
            <a:off x="5661025" y="3962400"/>
            <a:ext cx="2100263" cy="1416050"/>
            <a:chOff x="3552" y="2098"/>
            <a:chExt cx="1350" cy="810"/>
          </a:xfrm>
        </p:grpSpPr>
        <p:sp>
          <p:nvSpPr>
            <p:cNvPr id="46111" name="Freeform 34"/>
            <p:cNvSpPr>
              <a:spLocks/>
            </p:cNvSpPr>
            <p:nvPr/>
          </p:nvSpPr>
          <p:spPr bwMode="auto">
            <a:xfrm>
              <a:off x="3552" y="2099"/>
              <a:ext cx="439" cy="809"/>
            </a:xfrm>
            <a:custGeom>
              <a:avLst/>
              <a:gdLst>
                <a:gd name="T0" fmla="*/ 0 w 439"/>
                <a:gd name="T1" fmla="*/ 809 h 809"/>
                <a:gd name="T2" fmla="*/ 123 w 439"/>
                <a:gd name="T3" fmla="*/ 740 h 809"/>
                <a:gd name="T4" fmla="*/ 206 w 439"/>
                <a:gd name="T5" fmla="*/ 631 h 809"/>
                <a:gd name="T6" fmla="*/ 439 w 439"/>
                <a:gd name="T7" fmla="*/ 0 h 809"/>
                <a:gd name="T8" fmla="*/ 439 w 439"/>
                <a:gd name="T9" fmla="*/ 809 h 809"/>
                <a:gd name="T10" fmla="*/ 0 w 439"/>
                <a:gd name="T11" fmla="*/ 809 h 8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9" h="809">
                  <a:moveTo>
                    <a:pt x="0" y="809"/>
                  </a:moveTo>
                  <a:lnTo>
                    <a:pt x="123" y="740"/>
                  </a:lnTo>
                  <a:lnTo>
                    <a:pt x="206" y="631"/>
                  </a:lnTo>
                  <a:lnTo>
                    <a:pt x="439" y="0"/>
                  </a:lnTo>
                  <a:lnTo>
                    <a:pt x="439" y="809"/>
                  </a:lnTo>
                  <a:lnTo>
                    <a:pt x="0" y="809"/>
                  </a:lnTo>
                  <a:close/>
                </a:path>
              </a:pathLst>
            </a:custGeom>
            <a:solidFill>
              <a:srgbClr val="00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2" name="Freeform 35"/>
            <p:cNvSpPr>
              <a:spLocks/>
            </p:cNvSpPr>
            <p:nvPr/>
          </p:nvSpPr>
          <p:spPr bwMode="auto">
            <a:xfrm flipH="1">
              <a:off x="4463" y="2098"/>
              <a:ext cx="439" cy="809"/>
            </a:xfrm>
            <a:custGeom>
              <a:avLst/>
              <a:gdLst>
                <a:gd name="T0" fmla="*/ 0 w 439"/>
                <a:gd name="T1" fmla="*/ 809 h 809"/>
                <a:gd name="T2" fmla="*/ 123 w 439"/>
                <a:gd name="T3" fmla="*/ 740 h 809"/>
                <a:gd name="T4" fmla="*/ 206 w 439"/>
                <a:gd name="T5" fmla="*/ 631 h 809"/>
                <a:gd name="T6" fmla="*/ 439 w 439"/>
                <a:gd name="T7" fmla="*/ 0 h 809"/>
                <a:gd name="T8" fmla="*/ 439 w 439"/>
                <a:gd name="T9" fmla="*/ 809 h 809"/>
                <a:gd name="T10" fmla="*/ 0 w 439"/>
                <a:gd name="T11" fmla="*/ 809 h 8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9" h="809">
                  <a:moveTo>
                    <a:pt x="0" y="809"/>
                  </a:moveTo>
                  <a:lnTo>
                    <a:pt x="123" y="740"/>
                  </a:lnTo>
                  <a:lnTo>
                    <a:pt x="206" y="631"/>
                  </a:lnTo>
                  <a:lnTo>
                    <a:pt x="439" y="0"/>
                  </a:lnTo>
                  <a:lnTo>
                    <a:pt x="439" y="809"/>
                  </a:lnTo>
                  <a:lnTo>
                    <a:pt x="0" y="809"/>
                  </a:lnTo>
                  <a:close/>
                </a:path>
              </a:pathLst>
            </a:custGeom>
            <a:solidFill>
              <a:srgbClr val="00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084" name="Line 6"/>
          <p:cNvSpPr>
            <a:spLocks noChangeShapeType="1"/>
          </p:cNvSpPr>
          <p:nvPr/>
        </p:nvSpPr>
        <p:spPr bwMode="auto">
          <a:xfrm flipV="1">
            <a:off x="6707188" y="3429000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5" name="Line 7"/>
          <p:cNvSpPr>
            <a:spLocks noChangeShapeType="1"/>
          </p:cNvSpPr>
          <p:nvPr/>
        </p:nvSpPr>
        <p:spPr bwMode="auto">
          <a:xfrm flipV="1">
            <a:off x="5453063" y="5381625"/>
            <a:ext cx="270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6" name="Line 9"/>
          <p:cNvSpPr>
            <a:spLocks noChangeShapeType="1"/>
          </p:cNvSpPr>
          <p:nvPr/>
        </p:nvSpPr>
        <p:spPr bwMode="auto">
          <a:xfrm>
            <a:off x="6019800" y="4953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7" name="Line 10"/>
          <p:cNvSpPr>
            <a:spLocks noChangeShapeType="1"/>
          </p:cNvSpPr>
          <p:nvPr/>
        </p:nvSpPr>
        <p:spPr bwMode="auto">
          <a:xfrm>
            <a:off x="7391400" y="4953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8" name="Text Box 11"/>
          <p:cNvSpPr txBox="1">
            <a:spLocks noChangeArrowheads="1"/>
          </p:cNvSpPr>
          <p:nvPr/>
        </p:nvSpPr>
        <p:spPr bwMode="auto">
          <a:xfrm>
            <a:off x="4572000" y="4267200"/>
            <a:ext cx="1547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Symbol" charset="2"/>
              </a:rPr>
              <a:t>a/</a:t>
            </a:r>
            <a:r>
              <a:rPr lang="en-US" altLang="en-US" sz="2400" b="0">
                <a:solidFill>
                  <a:schemeClr val="tx1"/>
                </a:solidFill>
              </a:rPr>
              <a:t>2</a:t>
            </a:r>
            <a:r>
              <a:rPr lang="en-US" altLang="en-US" sz="2400" b="0">
                <a:solidFill>
                  <a:schemeClr val="tx1"/>
                </a:solidFill>
                <a:latin typeface="Symbol" charset="2"/>
              </a:rPr>
              <a:t> = </a:t>
            </a:r>
            <a:r>
              <a:rPr lang="en-US" altLang="en-US" sz="2400" b="0">
                <a:solidFill>
                  <a:schemeClr val="tx1"/>
                </a:solidFill>
              </a:rPr>
              <a:t>0.025</a:t>
            </a:r>
          </a:p>
        </p:txBody>
      </p:sp>
      <p:sp>
        <p:nvSpPr>
          <p:cNvPr id="46089" name="Text Box 12"/>
          <p:cNvSpPr txBox="1">
            <a:spLocks noChangeArrowheads="1"/>
          </p:cNvSpPr>
          <p:nvPr/>
        </p:nvSpPr>
        <p:spPr bwMode="auto">
          <a:xfrm>
            <a:off x="7315200" y="4267200"/>
            <a:ext cx="1547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  <a:latin typeface="Symbol" charset="2"/>
              </a:rPr>
              <a:t>a/</a:t>
            </a:r>
            <a:r>
              <a:rPr lang="en-US" altLang="en-US" sz="2400" b="0">
                <a:solidFill>
                  <a:schemeClr val="tx1"/>
                </a:solidFill>
              </a:rPr>
              <a:t>2</a:t>
            </a:r>
            <a:r>
              <a:rPr lang="en-US" altLang="en-US" sz="2400" b="0">
                <a:solidFill>
                  <a:schemeClr val="tx1"/>
                </a:solidFill>
                <a:latin typeface="Symbol" charset="2"/>
              </a:rPr>
              <a:t> = </a:t>
            </a:r>
            <a:r>
              <a:rPr lang="en-US" altLang="en-US" sz="2400" b="0">
                <a:solidFill>
                  <a:schemeClr val="tx1"/>
                </a:solidFill>
              </a:rPr>
              <a:t>0.025</a:t>
            </a:r>
          </a:p>
        </p:txBody>
      </p:sp>
      <p:graphicFrame>
        <p:nvGraphicFramePr>
          <p:cNvPr id="46090" name="Object 13"/>
          <p:cNvGraphicFramePr>
            <a:graphicFrameLocks noChangeAspect="1"/>
          </p:cNvGraphicFramePr>
          <p:nvPr/>
        </p:nvGraphicFramePr>
        <p:xfrm>
          <a:off x="228600" y="4068763"/>
          <a:ext cx="41179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0" name="Equation" r:id="rId3" imgW="2019300" imgH="444500" progId="Equation.DSMT4">
                  <p:embed/>
                </p:oleObj>
              </mc:Choice>
              <mc:Fallback>
                <p:oleObj name="Equation" r:id="rId3" imgW="2019300" imgH="444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068763"/>
                        <a:ext cx="41179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91" name="Group 14"/>
          <p:cNvGrpSpPr>
            <a:grpSpLocks/>
          </p:cNvGrpSpPr>
          <p:nvPr/>
        </p:nvGrpSpPr>
        <p:grpSpPr bwMode="auto">
          <a:xfrm>
            <a:off x="4953000" y="5614988"/>
            <a:ext cx="3338513" cy="407987"/>
            <a:chOff x="3120" y="2928"/>
            <a:chExt cx="2103" cy="257"/>
          </a:xfrm>
        </p:grpSpPr>
        <p:sp>
          <p:nvSpPr>
            <p:cNvPr id="46109" name="Text Box 15"/>
            <p:cNvSpPr txBox="1">
              <a:spLocks noChangeArrowheads="1"/>
            </p:cNvSpPr>
            <p:nvPr/>
          </p:nvSpPr>
          <p:spPr bwMode="auto">
            <a:xfrm>
              <a:off x="3120" y="2933"/>
              <a:ext cx="95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chemeClr val="tx1"/>
                  </a:solidFill>
                </a:rPr>
                <a:t>-t</a:t>
              </a:r>
              <a:r>
                <a:rPr lang="en-US" altLang="en-US" sz="2000" b="0" baseline="-25000">
                  <a:solidFill>
                    <a:schemeClr val="tx1"/>
                  </a:solidFill>
                  <a:latin typeface="Symbol" charset="2"/>
                </a:rPr>
                <a:t>a/2</a:t>
              </a:r>
              <a:r>
                <a:rPr lang="en-US" altLang="en-US" sz="2000" b="0">
                  <a:solidFill>
                    <a:schemeClr val="tx1"/>
                  </a:solidFill>
                  <a:latin typeface="Symbol" charset="2"/>
                </a:rPr>
                <a:t> </a:t>
              </a:r>
              <a:r>
                <a:rPr lang="en-US" altLang="en-US" sz="2000" b="0">
                  <a:solidFill>
                    <a:schemeClr val="tx1"/>
                  </a:solidFill>
                </a:rPr>
                <a:t>= -1.9842</a:t>
              </a:r>
            </a:p>
          </p:txBody>
        </p:sp>
        <p:sp>
          <p:nvSpPr>
            <p:cNvPr id="46110" name="Text Box 16"/>
            <p:cNvSpPr txBox="1">
              <a:spLocks noChangeArrowheads="1"/>
            </p:cNvSpPr>
            <p:nvPr/>
          </p:nvSpPr>
          <p:spPr bwMode="auto">
            <a:xfrm>
              <a:off x="4359" y="2928"/>
              <a:ext cx="86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solidFill>
                    <a:schemeClr val="tx1"/>
                  </a:solidFill>
                </a:rPr>
                <a:t>t</a:t>
              </a:r>
              <a:r>
                <a:rPr lang="en-US" altLang="en-US" sz="2000" b="0" baseline="-25000">
                  <a:solidFill>
                    <a:schemeClr val="tx1"/>
                  </a:solidFill>
                  <a:latin typeface="Symbol" charset="2"/>
                </a:rPr>
                <a:t>a/2</a:t>
              </a:r>
              <a:r>
                <a:rPr lang="en-US" altLang="en-US" sz="2000" b="0">
                  <a:solidFill>
                    <a:schemeClr val="tx1"/>
                  </a:solidFill>
                  <a:latin typeface="Symbol" charset="2"/>
                </a:rPr>
                <a:t> </a:t>
              </a:r>
              <a:r>
                <a:rPr lang="en-US" altLang="en-US" sz="2000" b="0">
                  <a:solidFill>
                    <a:schemeClr val="tx1"/>
                  </a:solidFill>
                </a:rPr>
                <a:t>= 1.9842</a:t>
              </a:r>
            </a:p>
          </p:txBody>
        </p:sp>
      </p:grpSp>
      <p:sp>
        <p:nvSpPr>
          <p:cNvPr id="46092" name="Text Box 18"/>
          <p:cNvSpPr txBox="1">
            <a:spLocks noChangeArrowheads="1"/>
          </p:cNvSpPr>
          <p:nvPr/>
        </p:nvSpPr>
        <p:spPr bwMode="auto">
          <a:xfrm>
            <a:off x="914400" y="1219200"/>
            <a:ext cx="7543800" cy="955675"/>
          </a:xfrm>
          <a:prstGeom prst="rect">
            <a:avLst/>
          </a:prstGeom>
          <a:solidFill>
            <a:srgbClr val="00FF99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5002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There is insufficient evidence to conclude that there is a difference between the bills of AT&amp;T and the competitor.</a:t>
            </a:r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5984875" y="5380038"/>
            <a:ext cx="612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-1.19</a:t>
            </a:r>
          </a:p>
        </p:txBody>
      </p:sp>
      <p:sp>
        <p:nvSpPr>
          <p:cNvPr id="46094" name="Freeform 20"/>
          <p:cNvSpPr>
            <a:spLocks/>
          </p:cNvSpPr>
          <p:nvPr/>
        </p:nvSpPr>
        <p:spPr bwMode="auto">
          <a:xfrm>
            <a:off x="6019800" y="4495800"/>
            <a:ext cx="228600" cy="762000"/>
          </a:xfrm>
          <a:custGeom>
            <a:avLst/>
            <a:gdLst>
              <a:gd name="T0" fmla="*/ 2147483647 w 192"/>
              <a:gd name="T1" fmla="*/ 0 h 480"/>
              <a:gd name="T2" fmla="*/ 2147483647 w 192"/>
              <a:gd name="T3" fmla="*/ 0 h 480"/>
              <a:gd name="T4" fmla="*/ 2147483647 w 192"/>
              <a:gd name="T5" fmla="*/ 2147483647 h 480"/>
              <a:gd name="T6" fmla="*/ 0 w 192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2" h="480">
                <a:moveTo>
                  <a:pt x="48" y="0"/>
                </a:moveTo>
                <a:lnTo>
                  <a:pt x="192" y="0"/>
                </a:lnTo>
                <a:lnTo>
                  <a:pt x="192" y="480"/>
                </a:lnTo>
                <a:lnTo>
                  <a:pt x="0" y="48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6095" name="Freeform 21"/>
          <p:cNvSpPr>
            <a:spLocks/>
          </p:cNvSpPr>
          <p:nvPr/>
        </p:nvSpPr>
        <p:spPr bwMode="auto">
          <a:xfrm flipH="1">
            <a:off x="7162800" y="4495800"/>
            <a:ext cx="228600" cy="762000"/>
          </a:xfrm>
          <a:custGeom>
            <a:avLst/>
            <a:gdLst>
              <a:gd name="T0" fmla="*/ 2147483647 w 192"/>
              <a:gd name="T1" fmla="*/ 0 h 480"/>
              <a:gd name="T2" fmla="*/ 2147483647 w 192"/>
              <a:gd name="T3" fmla="*/ 0 h 480"/>
              <a:gd name="T4" fmla="*/ 2147483647 w 192"/>
              <a:gd name="T5" fmla="*/ 2147483647 h 480"/>
              <a:gd name="T6" fmla="*/ 0 w 192"/>
              <a:gd name="T7" fmla="*/ 2147483647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2" h="480">
                <a:moveTo>
                  <a:pt x="48" y="0"/>
                </a:moveTo>
                <a:lnTo>
                  <a:pt x="192" y="0"/>
                </a:lnTo>
                <a:lnTo>
                  <a:pt x="192" y="480"/>
                </a:lnTo>
                <a:lnTo>
                  <a:pt x="0" y="48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95" name="Text Box 23"/>
          <p:cNvSpPr txBox="1">
            <a:spLocks noChangeArrowheads="1"/>
          </p:cNvSpPr>
          <p:nvPr/>
        </p:nvSpPr>
        <p:spPr bwMode="auto">
          <a:xfrm>
            <a:off x="474663" y="2590800"/>
            <a:ext cx="46561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u="sng">
                <a:solidFill>
                  <a:schemeClr val="tx1"/>
                </a:solidFill>
              </a:rPr>
              <a:t>Also, by the P-value approach: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The P-value = P(t &lt; -1.19) + P(t &gt; 1.19)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= 2(.1184) = .2368 &gt; .05</a:t>
            </a:r>
          </a:p>
        </p:txBody>
      </p:sp>
      <p:sp>
        <p:nvSpPr>
          <p:cNvPr id="79896" name="Text Box 24"/>
          <p:cNvSpPr txBox="1">
            <a:spLocks noChangeArrowheads="1"/>
          </p:cNvSpPr>
          <p:nvPr/>
        </p:nvSpPr>
        <p:spPr bwMode="auto">
          <a:xfrm>
            <a:off x="6788150" y="5380038"/>
            <a:ext cx="550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1.19</a:t>
            </a:r>
          </a:p>
        </p:txBody>
      </p:sp>
      <p:sp>
        <p:nvSpPr>
          <p:cNvPr id="46098" name="Line 32"/>
          <p:cNvSpPr>
            <a:spLocks noChangeShapeType="1"/>
          </p:cNvSpPr>
          <p:nvPr/>
        </p:nvSpPr>
        <p:spPr bwMode="auto">
          <a:xfrm flipV="1">
            <a:off x="6343650" y="5226050"/>
            <a:ext cx="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9" name="Line 33"/>
          <p:cNvSpPr>
            <a:spLocks noChangeShapeType="1"/>
          </p:cNvSpPr>
          <p:nvPr/>
        </p:nvSpPr>
        <p:spPr bwMode="auto">
          <a:xfrm flipV="1">
            <a:off x="7067550" y="5257800"/>
            <a:ext cx="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100" name="Group 25"/>
          <p:cNvGrpSpPr>
            <a:grpSpLocks/>
          </p:cNvGrpSpPr>
          <p:nvPr/>
        </p:nvGrpSpPr>
        <p:grpSpPr bwMode="auto">
          <a:xfrm>
            <a:off x="5453063" y="3429000"/>
            <a:ext cx="2700337" cy="2333625"/>
            <a:chOff x="3435" y="1680"/>
            <a:chExt cx="1701" cy="1470"/>
          </a:xfrm>
        </p:grpSpPr>
        <p:sp>
          <p:nvSpPr>
            <p:cNvPr id="46103" name="Line 26"/>
            <p:cNvSpPr>
              <a:spLocks noChangeShapeType="1"/>
            </p:cNvSpPr>
            <p:nvPr/>
          </p:nvSpPr>
          <p:spPr bwMode="auto">
            <a:xfrm flipV="1">
              <a:off x="4225" y="1680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6104" name="Group 27"/>
            <p:cNvGrpSpPr>
              <a:grpSpLocks/>
            </p:cNvGrpSpPr>
            <p:nvPr/>
          </p:nvGrpSpPr>
          <p:grpSpPr bwMode="auto">
            <a:xfrm>
              <a:off x="3523" y="1684"/>
              <a:ext cx="1392" cy="1200"/>
              <a:chOff x="1776" y="1008"/>
              <a:chExt cx="2256" cy="1008"/>
            </a:xfrm>
          </p:grpSpPr>
          <p:sp>
            <p:nvSpPr>
              <p:cNvPr id="46107" name="Freeform 28"/>
              <p:cNvSpPr>
                <a:spLocks/>
              </p:cNvSpPr>
              <p:nvPr/>
            </p:nvSpPr>
            <p:spPr bwMode="auto">
              <a:xfrm>
                <a:off x="1776" y="1008"/>
                <a:ext cx="1152" cy="1008"/>
              </a:xfrm>
              <a:custGeom>
                <a:avLst/>
                <a:gdLst>
                  <a:gd name="T0" fmla="*/ 0 w 1152"/>
                  <a:gd name="T1" fmla="*/ 1008 h 1008"/>
                  <a:gd name="T2" fmla="*/ 384 w 1152"/>
                  <a:gd name="T3" fmla="*/ 864 h 1008"/>
                  <a:gd name="T4" fmla="*/ 864 w 1152"/>
                  <a:gd name="T5" fmla="*/ 144 h 1008"/>
                  <a:gd name="T6" fmla="*/ 1152 w 1152"/>
                  <a:gd name="T7" fmla="*/ 0 h 10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120" y="1008"/>
                      <a:pt x="240" y="1008"/>
                      <a:pt x="384" y="864"/>
                    </a:cubicBezTo>
                    <a:cubicBezTo>
                      <a:pt x="528" y="720"/>
                      <a:pt x="736" y="288"/>
                      <a:pt x="864" y="144"/>
                    </a:cubicBezTo>
                    <a:cubicBezTo>
                      <a:pt x="992" y="0"/>
                      <a:pt x="1072" y="0"/>
                      <a:pt x="1152" y="0"/>
                    </a:cubicBez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108" name="Freeform 29"/>
              <p:cNvSpPr>
                <a:spLocks/>
              </p:cNvSpPr>
              <p:nvPr/>
            </p:nvSpPr>
            <p:spPr bwMode="auto">
              <a:xfrm flipH="1">
                <a:off x="2880" y="1008"/>
                <a:ext cx="1152" cy="1008"/>
              </a:xfrm>
              <a:custGeom>
                <a:avLst/>
                <a:gdLst>
                  <a:gd name="T0" fmla="*/ 0 w 1152"/>
                  <a:gd name="T1" fmla="*/ 1008 h 1008"/>
                  <a:gd name="T2" fmla="*/ 384 w 1152"/>
                  <a:gd name="T3" fmla="*/ 864 h 1008"/>
                  <a:gd name="T4" fmla="*/ 864 w 1152"/>
                  <a:gd name="T5" fmla="*/ 144 h 1008"/>
                  <a:gd name="T6" fmla="*/ 1152 w 1152"/>
                  <a:gd name="T7" fmla="*/ 0 h 10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52" h="1008">
                    <a:moveTo>
                      <a:pt x="0" y="1008"/>
                    </a:moveTo>
                    <a:cubicBezTo>
                      <a:pt x="120" y="1008"/>
                      <a:pt x="240" y="1008"/>
                      <a:pt x="384" y="864"/>
                    </a:cubicBezTo>
                    <a:cubicBezTo>
                      <a:pt x="528" y="720"/>
                      <a:pt x="736" y="288"/>
                      <a:pt x="864" y="144"/>
                    </a:cubicBezTo>
                    <a:cubicBezTo>
                      <a:pt x="992" y="0"/>
                      <a:pt x="1072" y="0"/>
                      <a:pt x="1152" y="0"/>
                    </a:cubicBez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6105" name="Line 30"/>
            <p:cNvSpPr>
              <a:spLocks noChangeShapeType="1"/>
            </p:cNvSpPr>
            <p:nvPr/>
          </p:nvSpPr>
          <p:spPr bwMode="auto">
            <a:xfrm flipV="1">
              <a:off x="3435" y="2910"/>
              <a:ext cx="170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6" name="Text Box 31"/>
            <p:cNvSpPr txBox="1">
              <a:spLocks noChangeArrowheads="1"/>
            </p:cNvSpPr>
            <p:nvPr/>
          </p:nvSpPr>
          <p:spPr bwMode="auto">
            <a:xfrm>
              <a:off x="4131" y="2900"/>
              <a:ext cx="1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46101" name="Rectangle 37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  <a:noFill/>
        </p:spPr>
        <p:txBody>
          <a:bodyPr/>
          <a:lstStyle/>
          <a:p>
            <a:r>
              <a:rPr lang="en-US" altLang="en-US" smtClean="0"/>
              <a:t>A Two – Tail Test: Conclusion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04800" y="5135563"/>
            <a:ext cx="457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A Type II error is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9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9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91" grpId="0" autoUpdateAnimBg="0"/>
      <p:bldP spid="79895" grpId="0" autoUpdateAnimBg="0"/>
      <p:bldP spid="79896" grpId="0" autoUpdateAnimBg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6403F3C-2F3F-4DD5-9FFB-2848C592EFE6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900" smtClean="0"/>
              <a:t>The FCC would like to detect a </a:t>
            </a:r>
            <a:r>
              <a:rPr lang="en-US" altLang="en-US" sz="2900" u="sng" smtClean="0"/>
              <a:t>decrease of $1.50</a:t>
            </a:r>
            <a:r>
              <a:rPr lang="en-US" altLang="en-US" sz="2900" smtClean="0"/>
              <a:t> in the average competitor’s bill. (17.09-1.50=15.59)</a:t>
            </a:r>
          </a:p>
          <a:p>
            <a:pPr>
              <a:lnSpc>
                <a:spcPct val="90000"/>
              </a:lnSpc>
            </a:pPr>
            <a:endParaRPr lang="en-US" altLang="en-US" sz="2900" smtClean="0"/>
          </a:p>
          <a:p>
            <a:pPr>
              <a:lnSpc>
                <a:spcPct val="90000"/>
              </a:lnSpc>
            </a:pPr>
            <a:r>
              <a:rPr lang="en-US" altLang="en-US" sz="2900" smtClean="0"/>
              <a:t>What is </a:t>
            </a:r>
            <a:r>
              <a:rPr lang="en-US" altLang="en-US" sz="2900" smtClean="0">
                <a:sym typeface="Mathematica1" pitchFamily="2" charset="2"/>
              </a:rPr>
              <a:t>(15.59)</a:t>
            </a:r>
            <a:r>
              <a:rPr lang="en-US" altLang="en-US" sz="2900" smtClean="0"/>
              <a:t>, the probability of a Type II error when the true mean competitor’s bill </a:t>
            </a:r>
            <a:r>
              <a:rPr lang="en-US" altLang="en-US" sz="2900" smtClean="0">
                <a:sym typeface="Mathematica1" pitchFamily="2" charset="2"/>
              </a:rPr>
              <a:t></a:t>
            </a:r>
            <a:r>
              <a:rPr lang="en-US" altLang="en-US" sz="2900" smtClean="0"/>
              <a:t> is $15.59?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371600"/>
          </a:xfrm>
          <a:noFill/>
        </p:spPr>
        <p:txBody>
          <a:bodyPr/>
          <a:lstStyle/>
          <a:p>
            <a:r>
              <a:rPr lang="en-US" altLang="en-US" smtClean="0"/>
              <a:t>Two-Tail Test: Calculating </a:t>
            </a:r>
            <a:r>
              <a:rPr lang="en-US" altLang="en-US" smtClean="0">
                <a:sym typeface="Mathematica1" pitchFamily="2" charset="2"/>
              </a:rPr>
              <a:t>,</a:t>
            </a:r>
            <a:r>
              <a:rPr lang="en-US" altLang="en-US" smtClean="0"/>
              <a:t> the Probability of a Type II Error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A243F01-ABA0-46FA-823D-904739336137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81947" name="Group 27"/>
          <p:cNvGrpSpPr>
            <a:grpSpLocks/>
          </p:cNvGrpSpPr>
          <p:nvPr/>
        </p:nvGrpSpPr>
        <p:grpSpPr bwMode="auto">
          <a:xfrm>
            <a:off x="3476625" y="3605213"/>
            <a:ext cx="1547813" cy="765175"/>
            <a:chOff x="308" y="960"/>
            <a:chExt cx="975" cy="482"/>
          </a:xfrm>
        </p:grpSpPr>
        <p:sp>
          <p:nvSpPr>
            <p:cNvPr id="48157" name="Text Box 28"/>
            <p:cNvSpPr txBox="1">
              <a:spLocks noChangeArrowheads="1"/>
            </p:cNvSpPr>
            <p:nvPr/>
          </p:nvSpPr>
          <p:spPr bwMode="auto">
            <a:xfrm>
              <a:off x="308" y="960"/>
              <a:ext cx="9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a/</a:t>
              </a:r>
              <a:r>
                <a:rPr lang="en-US" altLang="en-US" sz="2400" b="0">
                  <a:solidFill>
                    <a:schemeClr val="tx1"/>
                  </a:solidFill>
                </a:rPr>
                <a:t>2</a:t>
              </a: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 = </a:t>
              </a:r>
              <a:r>
                <a:rPr lang="en-US" altLang="en-US" sz="2400" b="0">
                  <a:solidFill>
                    <a:schemeClr val="tx1"/>
                  </a:solidFill>
                </a:rPr>
                <a:t>0.025</a:t>
              </a:r>
            </a:p>
          </p:txBody>
        </p:sp>
        <p:sp>
          <p:nvSpPr>
            <p:cNvPr id="48158" name="Line 29"/>
            <p:cNvSpPr>
              <a:spLocks noChangeShapeType="1"/>
            </p:cNvSpPr>
            <p:nvPr/>
          </p:nvSpPr>
          <p:spPr bwMode="auto">
            <a:xfrm>
              <a:off x="851" y="1200"/>
              <a:ext cx="123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922" name="Line 2"/>
          <p:cNvSpPr>
            <a:spLocks noChangeShapeType="1"/>
          </p:cNvSpPr>
          <p:nvPr/>
        </p:nvSpPr>
        <p:spPr bwMode="auto">
          <a:xfrm flipV="1">
            <a:off x="5807075" y="3300413"/>
            <a:ext cx="3175" cy="1347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1923" name="Group 3"/>
          <p:cNvGrpSpPr>
            <a:grpSpLocks/>
          </p:cNvGrpSpPr>
          <p:nvPr/>
        </p:nvGrpSpPr>
        <p:grpSpPr bwMode="auto">
          <a:xfrm>
            <a:off x="4054475" y="3300413"/>
            <a:ext cx="3533775" cy="1295400"/>
            <a:chOff x="1776" y="1008"/>
            <a:chExt cx="2256" cy="1008"/>
          </a:xfrm>
        </p:grpSpPr>
        <p:sp>
          <p:nvSpPr>
            <p:cNvPr id="48155" name="Freeform 4"/>
            <p:cNvSpPr>
              <a:spLocks/>
            </p:cNvSpPr>
            <p:nvPr/>
          </p:nvSpPr>
          <p:spPr bwMode="auto">
            <a:xfrm>
              <a:off x="1776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156" name="Freeform 5"/>
            <p:cNvSpPr>
              <a:spLocks/>
            </p:cNvSpPr>
            <p:nvPr/>
          </p:nvSpPr>
          <p:spPr bwMode="auto">
            <a:xfrm flipH="1">
              <a:off x="2880" y="1008"/>
              <a:ext cx="1152" cy="1008"/>
            </a:xfrm>
            <a:custGeom>
              <a:avLst/>
              <a:gdLst>
                <a:gd name="T0" fmla="*/ 0 w 1152"/>
                <a:gd name="T1" fmla="*/ 1008 h 1008"/>
                <a:gd name="T2" fmla="*/ 384 w 1152"/>
                <a:gd name="T3" fmla="*/ 864 h 1008"/>
                <a:gd name="T4" fmla="*/ 864 w 1152"/>
                <a:gd name="T5" fmla="*/ 144 h 1008"/>
                <a:gd name="T6" fmla="*/ 1152 w 1152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2" h="1008">
                  <a:moveTo>
                    <a:pt x="0" y="1008"/>
                  </a:moveTo>
                  <a:cubicBezTo>
                    <a:pt x="120" y="1008"/>
                    <a:pt x="240" y="1008"/>
                    <a:pt x="384" y="864"/>
                  </a:cubicBezTo>
                  <a:cubicBezTo>
                    <a:pt x="528" y="720"/>
                    <a:pt x="736" y="288"/>
                    <a:pt x="864" y="144"/>
                  </a:cubicBezTo>
                  <a:cubicBezTo>
                    <a:pt x="992" y="0"/>
                    <a:pt x="1072" y="0"/>
                    <a:pt x="1152" y="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1926" name="Line 6"/>
          <p:cNvSpPr>
            <a:spLocks noChangeShapeType="1"/>
          </p:cNvSpPr>
          <p:nvPr/>
        </p:nvSpPr>
        <p:spPr bwMode="auto">
          <a:xfrm flipV="1">
            <a:off x="3902075" y="4637088"/>
            <a:ext cx="40084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5502275" y="4632325"/>
            <a:ext cx="81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17.09</a:t>
            </a:r>
          </a:p>
        </p:txBody>
      </p:sp>
      <p:grpSp>
        <p:nvGrpSpPr>
          <p:cNvPr id="81936" name="Group 16"/>
          <p:cNvGrpSpPr>
            <a:grpSpLocks/>
          </p:cNvGrpSpPr>
          <p:nvPr/>
        </p:nvGrpSpPr>
        <p:grpSpPr bwMode="auto">
          <a:xfrm>
            <a:off x="4200525" y="4611688"/>
            <a:ext cx="3152775" cy="476250"/>
            <a:chOff x="707" y="1594"/>
            <a:chExt cx="2116" cy="300"/>
          </a:xfrm>
        </p:grpSpPr>
        <p:graphicFrame>
          <p:nvGraphicFramePr>
            <p:cNvPr id="48153" name="Object 17"/>
            <p:cNvGraphicFramePr>
              <a:graphicFrameLocks noChangeAspect="1"/>
            </p:cNvGraphicFramePr>
            <p:nvPr/>
          </p:nvGraphicFramePr>
          <p:xfrm>
            <a:off x="707" y="1594"/>
            <a:ext cx="57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7" name="Equation" r:id="rId3" imgW="342603" imgH="177646" progId="Equation.DSMT4">
                    <p:embed/>
                  </p:oleObj>
                </mc:Choice>
                <mc:Fallback>
                  <p:oleObj name="Equation" r:id="rId3" imgW="342603" imgH="177646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" y="1594"/>
                          <a:ext cx="570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5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4" name="Object 18"/>
            <p:cNvGraphicFramePr>
              <a:graphicFrameLocks noChangeAspect="1"/>
            </p:cNvGraphicFramePr>
            <p:nvPr/>
          </p:nvGraphicFramePr>
          <p:xfrm>
            <a:off x="2230" y="1594"/>
            <a:ext cx="593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8" name="Equation" r:id="rId5" imgW="355138" imgH="177569" progId="Equation.DSMT4">
                    <p:embed/>
                  </p:oleObj>
                </mc:Choice>
                <mc:Fallback>
                  <p:oleObj name="Equation" r:id="rId5" imgW="355138" imgH="177569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" y="1594"/>
                          <a:ext cx="593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5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939" name="Group 19"/>
          <p:cNvGrpSpPr>
            <a:grpSpLocks/>
          </p:cNvGrpSpPr>
          <p:nvPr/>
        </p:nvGrpSpPr>
        <p:grpSpPr bwMode="auto">
          <a:xfrm>
            <a:off x="4667250" y="4349750"/>
            <a:ext cx="2286000" cy="304800"/>
            <a:chOff x="1008" y="1488"/>
            <a:chExt cx="1536" cy="144"/>
          </a:xfrm>
        </p:grpSpPr>
        <p:sp>
          <p:nvSpPr>
            <p:cNvPr id="48151" name="Line 20"/>
            <p:cNvSpPr>
              <a:spLocks noChangeShapeType="1"/>
            </p:cNvSpPr>
            <p:nvPr/>
          </p:nvSpPr>
          <p:spPr bwMode="auto">
            <a:xfrm>
              <a:off x="1008" y="1498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2" name="Line 21"/>
            <p:cNvSpPr>
              <a:spLocks noChangeShapeType="1"/>
            </p:cNvSpPr>
            <p:nvPr/>
          </p:nvSpPr>
          <p:spPr bwMode="auto">
            <a:xfrm>
              <a:off x="2544" y="1488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1950" name="Group 30"/>
          <p:cNvGrpSpPr>
            <a:grpSpLocks/>
          </p:cNvGrpSpPr>
          <p:nvPr/>
        </p:nvGrpSpPr>
        <p:grpSpPr bwMode="auto">
          <a:xfrm>
            <a:off x="7239000" y="3611563"/>
            <a:ext cx="1639888" cy="863600"/>
            <a:chOff x="2678" y="1776"/>
            <a:chExt cx="1033" cy="665"/>
          </a:xfrm>
        </p:grpSpPr>
        <p:sp>
          <p:nvSpPr>
            <p:cNvPr id="48149" name="Text Box 31"/>
            <p:cNvSpPr txBox="1">
              <a:spLocks noChangeArrowheads="1"/>
            </p:cNvSpPr>
            <p:nvPr/>
          </p:nvSpPr>
          <p:spPr bwMode="auto">
            <a:xfrm>
              <a:off x="2736" y="1776"/>
              <a:ext cx="9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a/</a:t>
              </a:r>
              <a:r>
                <a:rPr lang="en-US" altLang="en-US" sz="2400" b="0">
                  <a:solidFill>
                    <a:schemeClr val="tx1"/>
                  </a:solidFill>
                </a:rPr>
                <a:t>2</a:t>
              </a:r>
              <a:r>
                <a:rPr lang="en-US" altLang="en-US" sz="2400" b="0">
                  <a:solidFill>
                    <a:schemeClr val="tx1"/>
                  </a:solidFill>
                  <a:latin typeface="Symbol" charset="2"/>
                </a:rPr>
                <a:t> = </a:t>
              </a:r>
              <a:r>
                <a:rPr lang="en-US" altLang="en-US" sz="2400" b="0">
                  <a:solidFill>
                    <a:schemeClr val="tx1"/>
                  </a:solidFill>
                </a:rPr>
                <a:t>0.025</a:t>
              </a:r>
            </a:p>
          </p:txBody>
        </p:sp>
        <p:sp>
          <p:nvSpPr>
            <p:cNvPr id="48150" name="Line 32"/>
            <p:cNvSpPr>
              <a:spLocks noChangeShapeType="1"/>
            </p:cNvSpPr>
            <p:nvPr/>
          </p:nvSpPr>
          <p:spPr bwMode="auto">
            <a:xfrm flipH="1">
              <a:off x="2678" y="2113"/>
              <a:ext cx="298" cy="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139" name="Text Box 63"/>
          <p:cNvSpPr txBox="1">
            <a:spLocks noChangeArrowheads="1"/>
          </p:cNvSpPr>
          <p:nvPr/>
        </p:nvSpPr>
        <p:spPr bwMode="auto">
          <a:xfrm>
            <a:off x="533400" y="914400"/>
            <a:ext cx="2311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0"/>
              <a:t>Rejection region</a:t>
            </a:r>
          </a:p>
        </p:txBody>
      </p:sp>
      <p:sp>
        <p:nvSpPr>
          <p:cNvPr id="48140" name="Rectangle 65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82000" cy="990600"/>
          </a:xfrm>
          <a:noFill/>
        </p:spPr>
        <p:txBody>
          <a:bodyPr/>
          <a:lstStyle/>
          <a:p>
            <a:r>
              <a:rPr lang="en-US" altLang="en-US" sz="4000" smtClean="0"/>
              <a:t>Two – Tail Test: Calculating </a:t>
            </a:r>
            <a:r>
              <a:rPr lang="en-US" altLang="en-US" sz="4000" smtClean="0">
                <a:sym typeface="Mathematica1" pitchFamily="2" charset="2"/>
              </a:rPr>
              <a:t> (cont.)</a:t>
            </a:r>
            <a:endParaRPr lang="en-US" altLang="en-US" sz="4000" smtClean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967163" y="1066800"/>
          <a:ext cx="3684587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9" name="Equation" r:id="rId7" imgW="1295400" imgH="457200" progId="Equation.DSMT4">
                  <p:embed/>
                </p:oleObj>
              </mc:Choice>
              <mc:Fallback>
                <p:oleObj name="Equation" r:id="rId7" imgW="12954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3" y="1066800"/>
                        <a:ext cx="3684587" cy="1311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91581" dir="19578596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50813" y="1438275"/>
          <a:ext cx="3343275" cy="506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0" name="Equation" r:id="rId9" imgW="1447800" imgH="2362200" progId="Equation.DSMT4">
                  <p:embed/>
                </p:oleObj>
              </mc:Choice>
              <mc:Fallback>
                <p:oleObj name="Equation" r:id="rId9" imgW="1447800" imgH="2362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3" y="1438275"/>
                        <a:ext cx="3343275" cy="5065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476625" y="4608513"/>
            <a:ext cx="1190625" cy="460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953250" y="4597400"/>
            <a:ext cx="1190625" cy="57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0600" y="4321175"/>
            <a:ext cx="2057400" cy="3079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Do not reject H0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024438" y="5240338"/>
            <a:ext cx="1528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Reject H0</a:t>
            </a:r>
          </a:p>
        </p:txBody>
      </p:sp>
      <p:cxnSp>
        <p:nvCxnSpPr>
          <p:cNvPr id="24" name="Straight Arrow Connector 23"/>
          <p:cNvCxnSpPr>
            <a:cxnSpLocks noChangeShapeType="1"/>
          </p:cNvCxnSpPr>
          <p:nvPr/>
        </p:nvCxnSpPr>
        <p:spPr bwMode="auto">
          <a:xfrm flipV="1">
            <a:off x="6473825" y="4754563"/>
            <a:ext cx="1238250" cy="669925"/>
          </a:xfrm>
          <a:prstGeom prst="straightConnector1">
            <a:avLst/>
          </a:prstGeom>
          <a:noFill/>
          <a:ln w="19050" algn="ctr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Straight Arrow Connector 83"/>
          <p:cNvCxnSpPr>
            <a:cxnSpLocks noChangeShapeType="1"/>
          </p:cNvCxnSpPr>
          <p:nvPr/>
        </p:nvCxnSpPr>
        <p:spPr bwMode="auto">
          <a:xfrm flipH="1" flipV="1">
            <a:off x="3902075" y="4754563"/>
            <a:ext cx="1262063" cy="731837"/>
          </a:xfrm>
          <a:prstGeom prst="straightConnector1">
            <a:avLst/>
          </a:prstGeom>
          <a:noFill/>
          <a:ln w="19050" algn="ctr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1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1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nimBg="1"/>
      <p:bldP spid="81926" grpId="0" animBg="1"/>
      <p:bldP spid="81927" grpId="0"/>
      <p:bldP spid="4" grpId="0" animBg="1"/>
      <p:bldP spid="61" grpId="0" animBg="1"/>
      <p:bldP spid="6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3C23828D-6D48-4E9F-9B88-47CB5DE49854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49156" name="Object 1029"/>
          <p:cNvGraphicFramePr>
            <a:graphicFrameLocks noChangeAspect="1"/>
          </p:cNvGraphicFramePr>
          <p:nvPr/>
        </p:nvGraphicFramePr>
        <p:xfrm>
          <a:off x="4508500" y="6324600"/>
          <a:ext cx="525463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9" name="Equation" r:id="rId3" imgW="368140" imgH="177723" progId="Equation.DSMT4">
                  <p:embed/>
                </p:oleObj>
              </mc:Choice>
              <mc:Fallback>
                <p:oleObj name="Equation" r:id="rId3" imgW="368140" imgH="177723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6324600"/>
                        <a:ext cx="525463" cy="255588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Freeform 1032"/>
          <p:cNvSpPr>
            <a:spLocks/>
          </p:cNvSpPr>
          <p:nvPr/>
        </p:nvSpPr>
        <p:spPr bwMode="auto">
          <a:xfrm>
            <a:off x="1512888" y="4370388"/>
            <a:ext cx="2552700" cy="1427162"/>
          </a:xfrm>
          <a:custGeom>
            <a:avLst/>
            <a:gdLst>
              <a:gd name="T0" fmla="*/ 0 w 1152"/>
              <a:gd name="T1" fmla="*/ 2147483647 h 1008"/>
              <a:gd name="T2" fmla="*/ 2147483647 w 1152"/>
              <a:gd name="T3" fmla="*/ 2147483647 h 1008"/>
              <a:gd name="T4" fmla="*/ 2147483647 w 1152"/>
              <a:gd name="T5" fmla="*/ 2147483647 h 1008"/>
              <a:gd name="T6" fmla="*/ 2147483647 w 1152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52" h="1008">
                <a:moveTo>
                  <a:pt x="0" y="1008"/>
                </a:moveTo>
                <a:cubicBezTo>
                  <a:pt x="120" y="1008"/>
                  <a:pt x="240" y="1008"/>
                  <a:pt x="384" y="864"/>
                </a:cubicBezTo>
                <a:cubicBezTo>
                  <a:pt x="528" y="720"/>
                  <a:pt x="736" y="288"/>
                  <a:pt x="864" y="144"/>
                </a:cubicBezTo>
                <a:cubicBezTo>
                  <a:pt x="992" y="0"/>
                  <a:pt x="1072" y="0"/>
                  <a:pt x="1152" y="0"/>
                </a:cubicBez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8" name="Freeform 1033"/>
          <p:cNvSpPr>
            <a:spLocks/>
          </p:cNvSpPr>
          <p:nvPr/>
        </p:nvSpPr>
        <p:spPr bwMode="auto">
          <a:xfrm flipH="1">
            <a:off x="3959225" y="4370388"/>
            <a:ext cx="2552700" cy="1427162"/>
          </a:xfrm>
          <a:custGeom>
            <a:avLst/>
            <a:gdLst>
              <a:gd name="T0" fmla="*/ 0 w 1152"/>
              <a:gd name="T1" fmla="*/ 2147483647 h 1008"/>
              <a:gd name="T2" fmla="*/ 2147483647 w 1152"/>
              <a:gd name="T3" fmla="*/ 2147483647 h 1008"/>
              <a:gd name="T4" fmla="*/ 2147483647 w 1152"/>
              <a:gd name="T5" fmla="*/ 2147483647 h 1008"/>
              <a:gd name="T6" fmla="*/ 2147483647 w 1152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52" h="1008">
                <a:moveTo>
                  <a:pt x="0" y="1008"/>
                </a:moveTo>
                <a:cubicBezTo>
                  <a:pt x="120" y="1008"/>
                  <a:pt x="240" y="1008"/>
                  <a:pt x="384" y="864"/>
                </a:cubicBezTo>
                <a:cubicBezTo>
                  <a:pt x="528" y="720"/>
                  <a:pt x="736" y="288"/>
                  <a:pt x="864" y="144"/>
                </a:cubicBezTo>
                <a:cubicBezTo>
                  <a:pt x="992" y="0"/>
                  <a:pt x="1072" y="0"/>
                  <a:pt x="1152" y="0"/>
                </a:cubicBez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60" name="Line 1039"/>
          <p:cNvSpPr>
            <a:spLocks noChangeShapeType="1"/>
          </p:cNvSpPr>
          <p:nvPr/>
        </p:nvSpPr>
        <p:spPr bwMode="auto">
          <a:xfrm>
            <a:off x="838200" y="5797550"/>
            <a:ext cx="5062538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9161" name="Text Box 1042"/>
          <p:cNvSpPr txBox="1">
            <a:spLocks noChangeArrowheads="1"/>
          </p:cNvSpPr>
          <p:nvPr/>
        </p:nvSpPr>
        <p:spPr bwMode="auto">
          <a:xfrm>
            <a:off x="3587750" y="5845175"/>
            <a:ext cx="9572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70C0"/>
                </a:solidFill>
                <a:latin typeface="Symbol" charset="2"/>
              </a:rPr>
              <a:t>m</a:t>
            </a:r>
            <a:r>
              <a:rPr lang="en-US" altLang="en-US" sz="1800">
                <a:solidFill>
                  <a:srgbClr val="0070C0"/>
                </a:solidFill>
              </a:rPr>
              <a:t>= 15.59</a:t>
            </a:r>
          </a:p>
        </p:txBody>
      </p:sp>
      <p:sp>
        <p:nvSpPr>
          <p:cNvPr id="49162" name="Rectangle 1045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14400"/>
          </a:xfrm>
          <a:noFill/>
        </p:spPr>
        <p:txBody>
          <a:bodyPr/>
          <a:lstStyle/>
          <a:p>
            <a:r>
              <a:rPr lang="en-US" altLang="en-US" sz="3600" smtClean="0"/>
              <a:t>Two – Tail Test: Calculating </a:t>
            </a:r>
            <a:r>
              <a:rPr lang="en-US" altLang="en-US" sz="3600" smtClean="0">
                <a:sym typeface="Mathematica1" pitchFamily="2" charset="2"/>
              </a:rPr>
              <a:t> (cont.)</a:t>
            </a:r>
            <a:endParaRPr lang="en-US" altLang="en-US" sz="3600" smtClean="0"/>
          </a:p>
        </p:txBody>
      </p:sp>
      <p:grpSp>
        <p:nvGrpSpPr>
          <p:cNvPr id="49163" name="Group 1055"/>
          <p:cNvGrpSpPr>
            <a:grpSpLocks/>
          </p:cNvGrpSpPr>
          <p:nvPr/>
        </p:nvGrpSpPr>
        <p:grpSpPr bwMode="auto">
          <a:xfrm>
            <a:off x="2603500" y="4356100"/>
            <a:ext cx="5334000" cy="1784350"/>
            <a:chOff x="1640" y="2744"/>
            <a:chExt cx="3360" cy="1124"/>
          </a:xfrm>
        </p:grpSpPr>
        <p:sp>
          <p:nvSpPr>
            <p:cNvPr id="49184" name="Text Box 1056"/>
            <p:cNvSpPr txBox="1">
              <a:spLocks noChangeArrowheads="1"/>
            </p:cNvSpPr>
            <p:nvPr/>
          </p:nvSpPr>
          <p:spPr bwMode="auto">
            <a:xfrm>
              <a:off x="3100" y="3635"/>
              <a:ext cx="5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  <a:latin typeface="Symbol" charset="2"/>
                </a:rPr>
                <a:t>m=</a:t>
              </a:r>
              <a:r>
                <a:rPr lang="en-US" altLang="en-US" sz="1800" b="0">
                  <a:solidFill>
                    <a:schemeClr val="tx1"/>
                  </a:solidFill>
                </a:rPr>
                <a:t>17.09</a:t>
              </a:r>
            </a:p>
          </p:txBody>
        </p:sp>
        <p:grpSp>
          <p:nvGrpSpPr>
            <p:cNvPr id="49185" name="Group 1057"/>
            <p:cNvGrpSpPr>
              <a:grpSpLocks/>
            </p:cNvGrpSpPr>
            <p:nvPr/>
          </p:nvGrpSpPr>
          <p:grpSpPr bwMode="auto">
            <a:xfrm>
              <a:off x="1640" y="2744"/>
              <a:ext cx="3360" cy="908"/>
              <a:chOff x="1152" y="2976"/>
              <a:chExt cx="1680" cy="912"/>
            </a:xfrm>
          </p:grpSpPr>
          <p:grpSp>
            <p:nvGrpSpPr>
              <p:cNvPr id="49186" name="Group 1058"/>
              <p:cNvGrpSpPr>
                <a:grpSpLocks/>
              </p:cNvGrpSpPr>
              <p:nvPr/>
            </p:nvGrpSpPr>
            <p:grpSpPr bwMode="auto">
              <a:xfrm>
                <a:off x="1173" y="2976"/>
                <a:ext cx="1659" cy="912"/>
                <a:chOff x="1776" y="1008"/>
                <a:chExt cx="2256" cy="1008"/>
              </a:xfrm>
            </p:grpSpPr>
            <p:sp>
              <p:nvSpPr>
                <p:cNvPr id="49189" name="Freeform 1059"/>
                <p:cNvSpPr>
                  <a:spLocks/>
                </p:cNvSpPr>
                <p:nvPr/>
              </p:nvSpPr>
              <p:spPr bwMode="auto">
                <a:xfrm>
                  <a:off x="1776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9190" name="Freeform 1060"/>
                <p:cNvSpPr>
                  <a:spLocks/>
                </p:cNvSpPr>
                <p:nvPr/>
              </p:nvSpPr>
              <p:spPr bwMode="auto">
                <a:xfrm flipH="1">
                  <a:off x="2880" y="1008"/>
                  <a:ext cx="1152" cy="1008"/>
                </a:xfrm>
                <a:custGeom>
                  <a:avLst/>
                  <a:gdLst>
                    <a:gd name="T0" fmla="*/ 0 w 1152"/>
                    <a:gd name="T1" fmla="*/ 1008 h 1008"/>
                    <a:gd name="T2" fmla="*/ 384 w 1152"/>
                    <a:gd name="T3" fmla="*/ 864 h 1008"/>
                    <a:gd name="T4" fmla="*/ 864 w 1152"/>
                    <a:gd name="T5" fmla="*/ 144 h 1008"/>
                    <a:gd name="T6" fmla="*/ 1152 w 1152"/>
                    <a:gd name="T7" fmla="*/ 0 h 100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52" h="1008">
                      <a:moveTo>
                        <a:pt x="0" y="1008"/>
                      </a:moveTo>
                      <a:cubicBezTo>
                        <a:pt x="120" y="1008"/>
                        <a:pt x="240" y="1008"/>
                        <a:pt x="384" y="864"/>
                      </a:cubicBezTo>
                      <a:cubicBezTo>
                        <a:pt x="528" y="720"/>
                        <a:pt x="736" y="288"/>
                        <a:pt x="864" y="144"/>
                      </a:cubicBezTo>
                      <a:cubicBezTo>
                        <a:pt x="992" y="0"/>
                        <a:pt x="1072" y="0"/>
                        <a:pt x="1152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9187" name="Line 1061"/>
              <p:cNvSpPr>
                <a:spLocks noChangeShapeType="1"/>
              </p:cNvSpPr>
              <p:nvPr/>
            </p:nvSpPr>
            <p:spPr bwMode="auto">
              <a:xfrm>
                <a:off x="1152" y="3888"/>
                <a:ext cx="16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88" name="Line 1062"/>
              <p:cNvSpPr>
                <a:spLocks noChangeShapeType="1"/>
              </p:cNvSpPr>
              <p:nvPr/>
            </p:nvSpPr>
            <p:spPr bwMode="auto">
              <a:xfrm>
                <a:off x="2003" y="2976"/>
                <a:ext cx="0" cy="9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9164" name="Group 1063"/>
          <p:cNvGrpSpPr>
            <a:grpSpLocks/>
          </p:cNvGrpSpPr>
          <p:nvPr/>
        </p:nvGrpSpPr>
        <p:grpSpPr bwMode="auto">
          <a:xfrm>
            <a:off x="3927475" y="3451225"/>
            <a:ext cx="2236788" cy="1235075"/>
            <a:chOff x="2474" y="2174"/>
            <a:chExt cx="1409" cy="778"/>
          </a:xfrm>
        </p:grpSpPr>
        <p:sp>
          <p:nvSpPr>
            <p:cNvPr id="49182" name="Text Box 1064"/>
            <p:cNvSpPr txBox="1">
              <a:spLocks noChangeArrowheads="1"/>
            </p:cNvSpPr>
            <p:nvPr/>
          </p:nvSpPr>
          <p:spPr bwMode="auto">
            <a:xfrm>
              <a:off x="2474" y="2415"/>
              <a:ext cx="125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0070C0"/>
                  </a:solidFill>
                </a:rPr>
                <a:t>H</a:t>
              </a:r>
              <a:r>
                <a:rPr lang="en-US" altLang="en-US" sz="2800" baseline="-25000">
                  <a:solidFill>
                    <a:srgbClr val="0070C0"/>
                  </a:solidFill>
                </a:rPr>
                <a:t>A</a:t>
              </a:r>
              <a:r>
                <a:rPr lang="en-US" altLang="en-US" sz="2800">
                  <a:solidFill>
                    <a:srgbClr val="0070C0"/>
                  </a:solidFill>
                </a:rPr>
                <a:t>: </a:t>
              </a:r>
              <a:r>
                <a:rPr lang="en-US" altLang="en-US" sz="2800">
                  <a:solidFill>
                    <a:srgbClr val="0070C0"/>
                  </a:solidFill>
                  <a:latin typeface="Symbol" charset="2"/>
                </a:rPr>
                <a:t>m</a:t>
              </a:r>
              <a:r>
                <a:rPr lang="en-US" altLang="en-US" sz="2800">
                  <a:solidFill>
                    <a:srgbClr val="0070C0"/>
                  </a:solidFill>
                </a:rPr>
                <a:t> = 15.59</a:t>
              </a:r>
            </a:p>
          </p:txBody>
        </p:sp>
        <p:sp>
          <p:nvSpPr>
            <p:cNvPr id="49183" name="Freeform 1065"/>
            <p:cNvSpPr>
              <a:spLocks/>
            </p:cNvSpPr>
            <p:nvPr/>
          </p:nvSpPr>
          <p:spPr bwMode="auto">
            <a:xfrm>
              <a:off x="3499" y="2174"/>
              <a:ext cx="384" cy="778"/>
            </a:xfrm>
            <a:custGeom>
              <a:avLst/>
              <a:gdLst>
                <a:gd name="T0" fmla="*/ 0 w 384"/>
                <a:gd name="T1" fmla="*/ 0 h 288"/>
                <a:gd name="T2" fmla="*/ 384 w 384"/>
                <a:gd name="T3" fmla="*/ 0 h 288"/>
                <a:gd name="T4" fmla="*/ 384 w 384"/>
                <a:gd name="T5" fmla="*/ 2300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288">
                  <a:moveTo>
                    <a:pt x="0" y="0"/>
                  </a:moveTo>
                  <a:lnTo>
                    <a:pt x="384" y="0"/>
                  </a:lnTo>
                  <a:lnTo>
                    <a:pt x="384" y="28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165" name="Group 1066"/>
          <p:cNvGrpSpPr>
            <a:grpSpLocks/>
          </p:cNvGrpSpPr>
          <p:nvPr/>
        </p:nvGrpSpPr>
        <p:grpSpPr bwMode="auto">
          <a:xfrm>
            <a:off x="3390900" y="3124200"/>
            <a:ext cx="2368550" cy="1379538"/>
            <a:chOff x="2136" y="1968"/>
            <a:chExt cx="1492" cy="869"/>
          </a:xfrm>
        </p:grpSpPr>
        <p:sp>
          <p:nvSpPr>
            <p:cNvPr id="49180" name="Text Box 1067"/>
            <p:cNvSpPr txBox="1">
              <a:spLocks noChangeArrowheads="1"/>
            </p:cNvSpPr>
            <p:nvPr/>
          </p:nvSpPr>
          <p:spPr bwMode="auto">
            <a:xfrm>
              <a:off x="2391" y="1968"/>
              <a:ext cx="123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Arial Narrow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Arial Narrow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 Narrow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Arial Narrow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H</a:t>
              </a:r>
              <a:r>
                <a:rPr lang="en-US" altLang="en-US" sz="2800" baseline="-25000"/>
                <a:t>0</a:t>
              </a:r>
              <a:r>
                <a:rPr lang="en-US" altLang="en-US" sz="2800"/>
                <a:t>: </a:t>
              </a:r>
              <a:r>
                <a:rPr lang="en-US" altLang="en-US" sz="2800">
                  <a:latin typeface="Symbol" charset="2"/>
                </a:rPr>
                <a:t>m</a:t>
              </a:r>
              <a:r>
                <a:rPr lang="en-US" altLang="en-US" sz="2800"/>
                <a:t> = 17.09</a:t>
              </a: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9181" name="Freeform 1068"/>
            <p:cNvSpPr>
              <a:spLocks/>
            </p:cNvSpPr>
            <p:nvPr/>
          </p:nvSpPr>
          <p:spPr bwMode="auto">
            <a:xfrm>
              <a:off x="2136" y="2415"/>
              <a:ext cx="384" cy="422"/>
            </a:xfrm>
            <a:custGeom>
              <a:avLst/>
              <a:gdLst>
                <a:gd name="T0" fmla="*/ 384 w 384"/>
                <a:gd name="T1" fmla="*/ 0 h 480"/>
                <a:gd name="T2" fmla="*/ 0 w 384"/>
                <a:gd name="T3" fmla="*/ 0 h 480"/>
                <a:gd name="T4" fmla="*/ 0 w 384"/>
                <a:gd name="T5" fmla="*/ 316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480">
                  <a:moveTo>
                    <a:pt x="384" y="0"/>
                  </a:moveTo>
                  <a:lnTo>
                    <a:pt x="0" y="0"/>
                  </a:lnTo>
                  <a:lnTo>
                    <a:pt x="0" y="48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86066" name="Object 1074"/>
          <p:cNvGraphicFramePr>
            <a:graphicFrameLocks noChangeAspect="1"/>
          </p:cNvGraphicFramePr>
          <p:nvPr/>
        </p:nvGraphicFramePr>
        <p:xfrm>
          <a:off x="204788" y="1160463"/>
          <a:ext cx="79724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0" name="Equation" r:id="rId5" imgW="3327400" imgH="203200" progId="Equation.DSMT4">
                  <p:embed/>
                </p:oleObj>
              </mc:Choice>
              <mc:Fallback>
                <p:oleObj name="Equation" r:id="rId5" imgW="3327400" imgH="203200" progId="Equation.DSMT4">
                  <p:embed/>
                  <p:pic>
                    <p:nvPicPr>
                      <p:cNvPr id="0" name="Object 1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8" y="1160463"/>
                        <a:ext cx="79724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67" name="Object 1075"/>
          <p:cNvGraphicFramePr>
            <a:graphicFrameLocks noChangeAspect="1"/>
          </p:cNvGraphicFramePr>
          <p:nvPr/>
        </p:nvGraphicFramePr>
        <p:xfrm>
          <a:off x="1282700" y="1524000"/>
          <a:ext cx="6989763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1" name="Equation" r:id="rId7" imgW="3149600" imgH="711200" progId="Equation.DSMT4">
                  <p:embed/>
                </p:oleObj>
              </mc:Choice>
              <mc:Fallback>
                <p:oleObj name="Equation" r:id="rId7" imgW="3149600" imgH="711200" progId="Equation.DSMT4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1524000"/>
                        <a:ext cx="6989763" cy="170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69" name="Freeform 1077"/>
          <p:cNvSpPr>
            <a:spLocks/>
          </p:cNvSpPr>
          <p:nvPr/>
        </p:nvSpPr>
        <p:spPr bwMode="auto">
          <a:xfrm>
            <a:off x="615950" y="1776413"/>
            <a:ext cx="4157663" cy="3357562"/>
          </a:xfrm>
          <a:custGeom>
            <a:avLst/>
            <a:gdLst>
              <a:gd name="T0" fmla="*/ 2147483647 w 1968"/>
              <a:gd name="T1" fmla="*/ 0 h 2496"/>
              <a:gd name="T2" fmla="*/ 0 w 1968"/>
              <a:gd name="T3" fmla="*/ 0 h 2496"/>
              <a:gd name="T4" fmla="*/ 0 w 1968"/>
              <a:gd name="T5" fmla="*/ 2147483647 h 2496"/>
              <a:gd name="T6" fmla="*/ 2147483647 w 1968"/>
              <a:gd name="T7" fmla="*/ 2147483647 h 2496"/>
              <a:gd name="T8" fmla="*/ 2147483647 w 1968"/>
              <a:gd name="T9" fmla="*/ 2147483647 h 24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68" h="2496">
                <a:moveTo>
                  <a:pt x="192" y="0"/>
                </a:moveTo>
                <a:lnTo>
                  <a:pt x="0" y="0"/>
                </a:lnTo>
                <a:lnTo>
                  <a:pt x="0" y="2160"/>
                </a:lnTo>
                <a:lnTo>
                  <a:pt x="1248" y="2160"/>
                </a:lnTo>
                <a:lnTo>
                  <a:pt x="1968" y="2496"/>
                </a:lnTo>
              </a:path>
            </a:pathLst>
          </a:cu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70700" y="2968625"/>
            <a:ext cx="2133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Power when </a:t>
            </a:r>
            <a:r>
              <a:rPr lang="en-US" altLang="en-US" sz="2400">
                <a:solidFill>
                  <a:schemeClr val="tx1"/>
                </a:solidFill>
                <a:sym typeface="Mathematica1" pitchFamily="2" charset="2"/>
              </a:rPr>
              <a:t>=15.59</a:t>
            </a:r>
            <a:r>
              <a:rPr lang="en-US" altLang="en-US" sz="2400">
                <a:solidFill>
                  <a:schemeClr val="tx1"/>
                </a:solidFill>
              </a:rPr>
              <a:t> is 1-</a:t>
            </a:r>
            <a:r>
              <a:rPr lang="en-US" altLang="en-US" sz="2400">
                <a:solidFill>
                  <a:schemeClr val="tx1"/>
                </a:solidFill>
                <a:sym typeface="Mathematica1" pitchFamily="2" charset="2"/>
              </a:rPr>
              <a:t>(15.59)=.972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9170" name="Line 1040"/>
          <p:cNvSpPr>
            <a:spLocks noChangeShapeType="1"/>
          </p:cNvSpPr>
          <p:nvPr/>
        </p:nvSpPr>
        <p:spPr bwMode="auto">
          <a:xfrm>
            <a:off x="4014788" y="4370388"/>
            <a:ext cx="0" cy="141287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Line 1073"/>
          <p:cNvSpPr>
            <a:spLocks noChangeShapeType="1"/>
          </p:cNvSpPr>
          <p:nvPr/>
        </p:nvSpPr>
        <p:spPr bwMode="auto">
          <a:xfrm>
            <a:off x="4778375" y="4686300"/>
            <a:ext cx="0" cy="1111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49173" name="Straight Arrow Connector 4"/>
          <p:cNvCxnSpPr>
            <a:cxnSpLocks noChangeShapeType="1"/>
          </p:cNvCxnSpPr>
          <p:nvPr/>
        </p:nvCxnSpPr>
        <p:spPr bwMode="auto">
          <a:xfrm>
            <a:off x="2603500" y="5307013"/>
            <a:ext cx="787400" cy="34925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175" name="Straight Arrow Connector 5"/>
          <p:cNvCxnSpPr>
            <a:cxnSpLocks noChangeShapeType="1"/>
          </p:cNvCxnSpPr>
          <p:nvPr/>
        </p:nvCxnSpPr>
        <p:spPr bwMode="auto">
          <a:xfrm flipV="1">
            <a:off x="4773613" y="5845175"/>
            <a:ext cx="0" cy="3698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176" name="Straight Connector 8"/>
          <p:cNvCxnSpPr>
            <a:cxnSpLocks noChangeShapeType="1"/>
          </p:cNvCxnSpPr>
          <p:nvPr/>
        </p:nvCxnSpPr>
        <p:spPr bwMode="auto">
          <a:xfrm>
            <a:off x="5759450" y="5656263"/>
            <a:ext cx="0" cy="127000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9177" name="Object 9"/>
          <p:cNvGraphicFramePr>
            <a:graphicFrameLocks noChangeAspect="1"/>
          </p:cNvGraphicFramePr>
          <p:nvPr/>
        </p:nvGraphicFramePr>
        <p:xfrm>
          <a:off x="5675313" y="6324600"/>
          <a:ext cx="525462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2" name="Equation" r:id="rId9" imgW="368140" imgH="177723" progId="Equation.DSMT4">
                  <p:embed/>
                </p:oleObj>
              </mc:Choice>
              <mc:Fallback>
                <p:oleObj name="Equation" r:id="rId9" imgW="368140" imgH="17772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6324600"/>
                        <a:ext cx="525462" cy="255588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A3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FF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178" name="Straight Arrow Connector 39"/>
          <p:cNvCxnSpPr>
            <a:cxnSpLocks noChangeShapeType="1"/>
          </p:cNvCxnSpPr>
          <p:nvPr/>
        </p:nvCxnSpPr>
        <p:spPr bwMode="auto">
          <a:xfrm flipH="1" flipV="1">
            <a:off x="5842000" y="5845175"/>
            <a:ext cx="177800" cy="4079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179" name="Freeform 14"/>
          <p:cNvSpPr>
            <a:spLocks/>
          </p:cNvSpPr>
          <p:nvPr/>
        </p:nvSpPr>
        <p:spPr bwMode="auto">
          <a:xfrm>
            <a:off x="4760913" y="4719638"/>
            <a:ext cx="996950" cy="1049337"/>
          </a:xfrm>
          <a:custGeom>
            <a:avLst/>
            <a:gdLst>
              <a:gd name="T0" fmla="*/ 26432 w 996421"/>
              <a:gd name="T1" fmla="*/ 0 h 1048870"/>
              <a:gd name="T2" fmla="*/ 26432 w 996421"/>
              <a:gd name="T3" fmla="*/ 0 h 1048870"/>
              <a:gd name="T4" fmla="*/ 120711 w 996421"/>
              <a:gd name="T5" fmla="*/ 94255 h 1048870"/>
              <a:gd name="T6" fmla="*/ 134179 w 996421"/>
              <a:gd name="T7" fmla="*/ 134650 h 1048870"/>
              <a:gd name="T8" fmla="*/ 201523 w 996421"/>
              <a:gd name="T9" fmla="*/ 175045 h 1048870"/>
              <a:gd name="T10" fmla="*/ 268866 w 996421"/>
              <a:gd name="T11" fmla="*/ 242371 h 1048870"/>
              <a:gd name="T12" fmla="*/ 282334 w 996421"/>
              <a:gd name="T13" fmla="*/ 282766 h 1048870"/>
              <a:gd name="T14" fmla="*/ 322738 w 996421"/>
              <a:gd name="T15" fmla="*/ 309696 h 1048870"/>
              <a:gd name="T16" fmla="*/ 349675 w 996421"/>
              <a:gd name="T17" fmla="*/ 350091 h 1048870"/>
              <a:gd name="T18" fmla="*/ 390082 w 996421"/>
              <a:gd name="T19" fmla="*/ 363556 h 1048870"/>
              <a:gd name="T20" fmla="*/ 403550 w 996421"/>
              <a:gd name="T21" fmla="*/ 403951 h 1048870"/>
              <a:gd name="T22" fmla="*/ 470893 w 996421"/>
              <a:gd name="T23" fmla="*/ 457812 h 1048870"/>
              <a:gd name="T24" fmla="*/ 484361 w 996421"/>
              <a:gd name="T25" fmla="*/ 498207 h 1048870"/>
              <a:gd name="T26" fmla="*/ 605576 w 996421"/>
              <a:gd name="T27" fmla="*/ 565531 h 1048870"/>
              <a:gd name="T28" fmla="*/ 619045 w 996421"/>
              <a:gd name="T29" fmla="*/ 619391 h 1048870"/>
              <a:gd name="T30" fmla="*/ 659452 w 996421"/>
              <a:gd name="T31" fmla="*/ 646321 h 1048870"/>
              <a:gd name="T32" fmla="*/ 686388 w 996421"/>
              <a:gd name="T33" fmla="*/ 673251 h 1048870"/>
              <a:gd name="T34" fmla="*/ 713325 w 996421"/>
              <a:gd name="T35" fmla="*/ 713646 h 1048870"/>
              <a:gd name="T36" fmla="*/ 726793 w 996421"/>
              <a:gd name="T37" fmla="*/ 754041 h 1048870"/>
              <a:gd name="T38" fmla="*/ 780667 w 996421"/>
              <a:gd name="T39" fmla="*/ 767506 h 1048870"/>
              <a:gd name="T40" fmla="*/ 807604 w 996421"/>
              <a:gd name="T41" fmla="*/ 807901 h 1048870"/>
              <a:gd name="T42" fmla="*/ 848010 w 996421"/>
              <a:gd name="T43" fmla="*/ 821366 h 1048870"/>
              <a:gd name="T44" fmla="*/ 942289 w 996421"/>
              <a:gd name="T45" fmla="*/ 861761 h 1048870"/>
              <a:gd name="T46" fmla="*/ 955758 w 996421"/>
              <a:gd name="T47" fmla="*/ 902156 h 1048870"/>
              <a:gd name="T48" fmla="*/ 996163 w 996421"/>
              <a:gd name="T49" fmla="*/ 929086 h 1048870"/>
              <a:gd name="T50" fmla="*/ 982694 w 996421"/>
              <a:gd name="T51" fmla="*/ 1050271 h 1048870"/>
              <a:gd name="T52" fmla="*/ 942289 w 996421"/>
              <a:gd name="T53" fmla="*/ 1036806 h 1048870"/>
              <a:gd name="T54" fmla="*/ 26432 w 996421"/>
              <a:gd name="T55" fmla="*/ 1023341 h 1048870"/>
              <a:gd name="T56" fmla="*/ 12964 w 996421"/>
              <a:gd name="T57" fmla="*/ 861761 h 1048870"/>
              <a:gd name="T58" fmla="*/ 26432 w 996421"/>
              <a:gd name="T59" fmla="*/ 552066 h 1048870"/>
              <a:gd name="T60" fmla="*/ 53368 w 996421"/>
              <a:gd name="T61" fmla="*/ 471277 h 1048870"/>
              <a:gd name="T62" fmla="*/ 26432 w 996421"/>
              <a:gd name="T63" fmla="*/ 0 h 104887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996421" h="1048870">
                <a:moveTo>
                  <a:pt x="26390" y="0"/>
                </a:moveTo>
                <a:lnTo>
                  <a:pt x="26390" y="0"/>
                </a:lnTo>
                <a:cubicBezTo>
                  <a:pt x="57766" y="31376"/>
                  <a:pt x="92800" y="59480"/>
                  <a:pt x="120519" y="94129"/>
                </a:cubicBezTo>
                <a:cubicBezTo>
                  <a:pt x="129374" y="105197"/>
                  <a:pt x="126673" y="122316"/>
                  <a:pt x="133966" y="134470"/>
                </a:cubicBezTo>
                <a:cubicBezTo>
                  <a:pt x="152425" y="165233"/>
                  <a:pt x="169471" y="164234"/>
                  <a:pt x="201202" y="174811"/>
                </a:cubicBezTo>
                <a:cubicBezTo>
                  <a:pt x="231458" y="295836"/>
                  <a:pt x="184393" y="174812"/>
                  <a:pt x="268437" y="242047"/>
                </a:cubicBezTo>
                <a:cubicBezTo>
                  <a:pt x="279505" y="250902"/>
                  <a:pt x="273029" y="271320"/>
                  <a:pt x="281884" y="282388"/>
                </a:cubicBezTo>
                <a:cubicBezTo>
                  <a:pt x="291980" y="295008"/>
                  <a:pt x="308778" y="300317"/>
                  <a:pt x="322225" y="309282"/>
                </a:cubicBezTo>
                <a:cubicBezTo>
                  <a:pt x="331190" y="322729"/>
                  <a:pt x="336499" y="339527"/>
                  <a:pt x="349119" y="349623"/>
                </a:cubicBezTo>
                <a:cubicBezTo>
                  <a:pt x="360188" y="358478"/>
                  <a:pt x="379438" y="353047"/>
                  <a:pt x="389461" y="363070"/>
                </a:cubicBezTo>
                <a:cubicBezTo>
                  <a:pt x="399484" y="373093"/>
                  <a:pt x="395615" y="391257"/>
                  <a:pt x="402908" y="403411"/>
                </a:cubicBezTo>
                <a:cubicBezTo>
                  <a:pt x="415683" y="424703"/>
                  <a:pt x="451818" y="444983"/>
                  <a:pt x="470143" y="457200"/>
                </a:cubicBezTo>
                <a:cubicBezTo>
                  <a:pt x="474625" y="470647"/>
                  <a:pt x="473567" y="487518"/>
                  <a:pt x="483590" y="497541"/>
                </a:cubicBezTo>
                <a:cubicBezTo>
                  <a:pt x="529828" y="543779"/>
                  <a:pt x="553885" y="547867"/>
                  <a:pt x="604613" y="564776"/>
                </a:cubicBezTo>
                <a:cubicBezTo>
                  <a:pt x="609096" y="582705"/>
                  <a:pt x="607809" y="603187"/>
                  <a:pt x="618061" y="618564"/>
                </a:cubicBezTo>
                <a:cubicBezTo>
                  <a:pt x="627026" y="632011"/>
                  <a:pt x="645782" y="635362"/>
                  <a:pt x="658402" y="645458"/>
                </a:cubicBezTo>
                <a:cubicBezTo>
                  <a:pt x="668302" y="653378"/>
                  <a:pt x="677376" y="662453"/>
                  <a:pt x="685296" y="672353"/>
                </a:cubicBezTo>
                <a:cubicBezTo>
                  <a:pt x="695392" y="684973"/>
                  <a:pt x="704962" y="698239"/>
                  <a:pt x="712190" y="712694"/>
                </a:cubicBezTo>
                <a:cubicBezTo>
                  <a:pt x="718529" y="725372"/>
                  <a:pt x="714569" y="744180"/>
                  <a:pt x="725637" y="753035"/>
                </a:cubicBezTo>
                <a:cubicBezTo>
                  <a:pt x="740068" y="764580"/>
                  <a:pt x="761496" y="762000"/>
                  <a:pt x="779425" y="766482"/>
                </a:cubicBezTo>
                <a:cubicBezTo>
                  <a:pt x="788390" y="779929"/>
                  <a:pt x="793699" y="796727"/>
                  <a:pt x="806319" y="806823"/>
                </a:cubicBezTo>
                <a:cubicBezTo>
                  <a:pt x="817388" y="815678"/>
                  <a:pt x="833983" y="813931"/>
                  <a:pt x="846661" y="820270"/>
                </a:cubicBezTo>
                <a:cubicBezTo>
                  <a:pt x="939527" y="866702"/>
                  <a:pt x="828843" y="832624"/>
                  <a:pt x="940790" y="860611"/>
                </a:cubicBezTo>
                <a:cubicBezTo>
                  <a:pt x="945272" y="874058"/>
                  <a:pt x="945382" y="889884"/>
                  <a:pt x="954237" y="900953"/>
                </a:cubicBezTo>
                <a:cubicBezTo>
                  <a:pt x="964333" y="913573"/>
                  <a:pt x="991687" y="911946"/>
                  <a:pt x="994578" y="927847"/>
                </a:cubicBezTo>
                <a:cubicBezTo>
                  <a:pt x="1001839" y="967782"/>
                  <a:pt x="985613" y="1008529"/>
                  <a:pt x="981131" y="1048870"/>
                </a:cubicBezTo>
                <a:cubicBezTo>
                  <a:pt x="967684" y="1044388"/>
                  <a:pt x="954959" y="1035822"/>
                  <a:pt x="940790" y="1035423"/>
                </a:cubicBezTo>
                <a:cubicBezTo>
                  <a:pt x="636078" y="1026840"/>
                  <a:pt x="325953" y="1078415"/>
                  <a:pt x="26390" y="1021976"/>
                </a:cubicBezTo>
                <a:cubicBezTo>
                  <a:pt x="-26652" y="1011983"/>
                  <a:pt x="17425" y="914399"/>
                  <a:pt x="12943" y="860611"/>
                </a:cubicBezTo>
                <a:cubicBezTo>
                  <a:pt x="17425" y="757517"/>
                  <a:pt x="15772" y="653973"/>
                  <a:pt x="26390" y="551329"/>
                </a:cubicBezTo>
                <a:cubicBezTo>
                  <a:pt x="29307" y="523131"/>
                  <a:pt x="53284" y="470647"/>
                  <a:pt x="53284" y="470647"/>
                </a:cubicBezTo>
                <a:cubicBezTo>
                  <a:pt x="-14715" y="266646"/>
                  <a:pt x="30872" y="78441"/>
                  <a:pt x="263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69" grpId="0" animBg="1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en-US" sz="4000" smtClean="0"/>
              <a:t>General formula: Type II Error Probability </a:t>
            </a:r>
            <a:r>
              <a:rPr lang="en-US" altLang="en-US" sz="4000" smtClean="0">
                <a:sym typeface="Mathematica1" pitchFamily="2" charset="2"/>
              </a:rPr>
              <a:t>(</a:t>
            </a:r>
            <a:r>
              <a:rPr lang="en-US" altLang="en-US" sz="4000" baseline="-25000" smtClean="0">
                <a:sym typeface="Mathematica1" pitchFamily="2" charset="2"/>
              </a:rPr>
              <a:t>A</a:t>
            </a:r>
            <a:r>
              <a:rPr lang="en-US" altLang="en-US" sz="4000" smtClean="0">
                <a:sym typeface="Mathematica1" pitchFamily="2" charset="2"/>
              </a:rPr>
              <a:t>) for a Level  Test</a:t>
            </a:r>
            <a:endParaRPr lang="en-US" altLang="en-US" sz="4000" smtClean="0"/>
          </a:p>
        </p:txBody>
      </p:sp>
      <p:sp>
        <p:nvSpPr>
          <p:cNvPr id="5017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AA7323B8-6258-41E0-AA28-4AEAAB653246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50180" name="Object 3"/>
          <p:cNvGraphicFramePr>
            <a:graphicFrameLocks noChangeAspect="1"/>
          </p:cNvGraphicFramePr>
          <p:nvPr/>
        </p:nvGraphicFramePr>
        <p:xfrm>
          <a:off x="311150" y="1981200"/>
          <a:ext cx="871537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name="Equation" r:id="rId3" imgW="3873500" imgH="1524000" progId="Equation.DSMT4">
                  <p:embed/>
                </p:oleObj>
              </mc:Choice>
              <mc:Fallback>
                <p:oleObj name="Equation" r:id="rId3" imgW="3873500" imgH="152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1981200"/>
                        <a:ext cx="8715375" cy="3429000"/>
                      </a:xfrm>
                      <a:prstGeom prst="rect">
                        <a:avLst/>
                      </a:prstGeom>
                      <a:blipFill dpi="0" rotWithShape="1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sz="4000" smtClean="0"/>
              <a:t>Sample Size </a:t>
            </a:r>
            <a:r>
              <a:rPr lang="en-US" altLang="en-US" sz="4000" i="1" smtClean="0"/>
              <a:t>n </a:t>
            </a:r>
            <a:r>
              <a:rPr lang="en-US" altLang="en-US" sz="4000" smtClean="0"/>
              <a:t>for which a level </a:t>
            </a:r>
            <a:r>
              <a:rPr lang="en-US" altLang="en-US" sz="4000" smtClean="0">
                <a:sym typeface="Mathematica1" pitchFamily="2" charset="2"/>
              </a:rPr>
              <a:t> test also has (</a:t>
            </a:r>
            <a:r>
              <a:rPr lang="en-US" altLang="en-US" sz="4000" baseline="-25000" smtClean="0">
                <a:sym typeface="Mathematica1" pitchFamily="2" charset="2"/>
              </a:rPr>
              <a:t>A</a:t>
            </a:r>
            <a:r>
              <a:rPr lang="en-US" altLang="en-US" sz="4000" smtClean="0">
                <a:sym typeface="Mathematica1" pitchFamily="2" charset="2"/>
              </a:rPr>
              <a:t>) = </a:t>
            </a:r>
            <a:endParaRPr lang="en-US" altLang="en-US" sz="4000" smtClean="0"/>
          </a:p>
        </p:txBody>
      </p:sp>
      <p:sp>
        <p:nvSpPr>
          <p:cNvPr id="5120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Arial Narrow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Arial Narrow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 Narrow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 Narrow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Arial Narrow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0EF3ADA-67FB-4A63-B2D1-831660279828}" type="slidenum">
              <a:rPr lang="en-US" altLang="en-US" sz="1400" smtClean="0">
                <a:solidFill>
                  <a:schemeClr val="tx1"/>
                </a:solidFill>
                <a:latin typeface="Times New Roman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51204" name="Object 3"/>
          <p:cNvGraphicFramePr>
            <a:graphicFrameLocks noChangeAspect="1"/>
          </p:cNvGraphicFramePr>
          <p:nvPr/>
        </p:nvGraphicFramePr>
        <p:xfrm>
          <a:off x="903288" y="2057400"/>
          <a:ext cx="7326312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2" name="Equation" r:id="rId3" imgW="3556000" imgH="1066800" progId="Equation.DSMT4">
                  <p:embed/>
                </p:oleObj>
              </mc:Choice>
              <mc:Fallback>
                <p:oleObj name="Equation" r:id="rId3" imgW="3556000" imgH="106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2057400"/>
                        <a:ext cx="7326312" cy="2362200"/>
                      </a:xfrm>
                      <a:prstGeom prst="rect">
                        <a:avLst/>
                      </a:prstGeom>
                      <a:blipFill dpi="0" rotWithShape="1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0033CC"/>
      </a:folHlink>
    </a:clrScheme>
    <a:fontScheme name="Default Design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00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9531</TotalTime>
  <Words>1488</Words>
  <Application>Microsoft Office PowerPoint</Application>
  <PresentationFormat>On-screen Show (4:3)</PresentationFormat>
  <Paragraphs>234</Paragraphs>
  <Slides>34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Default Design</vt:lpstr>
      <vt:lpstr>Equation</vt:lpstr>
      <vt:lpstr>MathType 6.0 Equation</vt:lpstr>
      <vt:lpstr>Type II Error, Power and Sample Size Calculations</vt:lpstr>
      <vt:lpstr>Hypothesis Testing for , Type II Error Probabilities (Right-tail example)</vt:lpstr>
      <vt:lpstr> Example (cont.)</vt:lpstr>
      <vt:lpstr>Example (cont.)</vt:lpstr>
      <vt:lpstr>Example (cont.)</vt:lpstr>
      <vt:lpstr>Calculating , the Probability of a Type II Error</vt:lpstr>
      <vt:lpstr>Calculating , the Probability of a Type II Error (cont.)</vt:lpstr>
      <vt:lpstr>Example (cont.) calculating </vt:lpstr>
      <vt:lpstr>Example (cont.) calculating </vt:lpstr>
      <vt:lpstr>Example (cont.) calculating </vt:lpstr>
      <vt:lpstr>Example (cont.) calculating  </vt:lpstr>
      <vt:lpstr>Effects on b of changing a</vt:lpstr>
      <vt:lpstr>Judging the Test</vt:lpstr>
      <vt:lpstr>Judging the Test</vt:lpstr>
      <vt:lpstr>Judging the Test</vt:lpstr>
      <vt:lpstr>Judging the Test</vt:lpstr>
      <vt:lpstr>A Left - Tail Test</vt:lpstr>
      <vt:lpstr>A Left - Tail Test: Hypotheses</vt:lpstr>
      <vt:lpstr>A Left - Tail Test: Rejection Region</vt:lpstr>
      <vt:lpstr>A Left -Tail Test: Test Statistic</vt:lpstr>
      <vt:lpstr>Left-Tail Test: Calculating , the Probability of a Type II Error</vt:lpstr>
      <vt:lpstr>Left-tail test: calculating  (cont.)</vt:lpstr>
      <vt:lpstr>Left-tail test: calculating  (cont.)</vt:lpstr>
      <vt:lpstr>Left-tail test: calculating  (cont.)</vt:lpstr>
      <vt:lpstr>A Two - Tail Test for </vt:lpstr>
      <vt:lpstr>A Two - Tail Test (cont.)</vt:lpstr>
      <vt:lpstr>A Two - Tail Test (cont.)</vt:lpstr>
      <vt:lpstr>A Two – Tail Test (cont.)</vt:lpstr>
      <vt:lpstr>A Two – Tail Test: Conclusion</vt:lpstr>
      <vt:lpstr>Two-Tail Test: Calculating , the Probability of a Type II Error</vt:lpstr>
      <vt:lpstr>Two – Tail Test: Calculating  (cont.)</vt:lpstr>
      <vt:lpstr>Two – Tail Test: Calculating  (cont.)</vt:lpstr>
      <vt:lpstr>General formula: Type II Error Probability (A) for a Level  Test</vt:lpstr>
      <vt:lpstr>Sample Size n for which a level  test also has (A) = </vt:lpstr>
    </vt:vector>
  </TitlesOfParts>
  <Company>csuf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Hypothesis Testing</dc:title>
  <dc:creator>sbae</dc:creator>
  <cp:lastModifiedBy>Tom Reiland</cp:lastModifiedBy>
  <cp:revision>196</cp:revision>
  <cp:lastPrinted>2012-04-09T02:19:40Z</cp:lastPrinted>
  <dcterms:created xsi:type="dcterms:W3CDTF">1999-02-26T06:36:06Z</dcterms:created>
  <dcterms:modified xsi:type="dcterms:W3CDTF">2015-03-31T16:06:00Z</dcterms:modified>
</cp:coreProperties>
</file>